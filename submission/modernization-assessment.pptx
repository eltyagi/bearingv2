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business decision, not the age of the technology. We are not proposing a rewrite because a service is old. We are proposing a bounded assessment of what makes the next change expensive or risky. Keep a working system unchanged when the evidence supports it. This deck describes a proposed project, not shipped modernization functionality or an official GitHub service.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Primary sources: https://www.kyndryl.com/us/en/insights/readiness-report-2025</a:t>
            </a:r>
          </a:p>
          <a:p>
            <a:r>
              <a:t>https://www.kyndryl.com/us/en/about-us/news/2024/10/kyndryl-readiness-report-2024</a:t>
            </a:r>
          </a:p>
          <a:p>
            <a:r>
              <a:t>The 2025 survey was conducted by Edelman DXI for Kyndryl, June 20–August 15, 2025. The 44% figure is from Bridge operational observations, not the 3,200-person 2024 survey. Do not infer that 44% of enterprise code is legacy or that either statistic describes this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customer case study or a finding about bearingV2. The business constraint is uncertainty about a consequential change. AI can help explore, but its explanation does not establish coverage, dependencies or runtime performance. Bring the accountable service owner into the assessment before selecting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observed, measured, hypothesis and unknown. Pin the source commit and date all evidence. A file reference is not correctness certification. Dependencies and business criticality require service-owner confirmation; code alone cannot establish them. Inspect existing CI and coverage reports in discovery. Additional instrumentation, test execution or production-data use requires separate approval.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coverage does not prove correct business behavior, and no report is not zero coverage. Characterization tests should preserve owner-confirmed intentional behavior, not accidentally freeze a bug. Use customer-agreed observation windows. Calculate median/p95 only with enough samples, and compare like workflows, runner classes, branches and cache states. Do not monetize all saved CI minutes as engineer time. Customer-specific targets are agreed only after the baseline exists.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 is a planning assumption, not an SLA. Discovery remains read-only. Running tests/builds and all implementation work use separately approved permissions and delivery workflows. A retain-as-is decision is a successful assessment outcome. Record unresolved unknowns rather than forcing an improvement to meet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GitHub Projects design; no live project or issue has been created. Suggested full statuses: Discovery, Evidence review, Ready for decision, Approved, In progress, Validating, Done. Also record disposition (retain/improve/reshape/retire), blocked reasons, business journey, criticality, confidence, effort, target date and workstream. Use issues for evidence-rich work items, a table for triage, a board for status and a roadmap for approved dated work. Normal branch protections and deployment controls remain in force; a project field is not policy enforcement.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claim these candidates have been diagnosed. Evidence gaps create investigation issues, not confident prescriptions. Caching, parallelization and upgrades are options after measurement, not guaranteed fixes. Every implemented action needs an owner, acceptance checks and rollback.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decision aid, not an automated risk model. Urgent compliance/support obligations take precedence according to customer policy. Compare measured friction, frequency, effort, confidence and reversibility. Retire only after business-owner approval of dependencies, retention and exit plans. Reshape a boundary only when repeated change constraints justify the larger investment.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behavior is verified against README.md and plugins/bearing/skills/onboard-repo/SKILL.md, the repo-cartographer and pr-historian agent instructions, and section-validation code. Path/line checks are reference validation, not semantic correctness certification. The prototype targets small repositories on github.com, not production monorepo/large-estate analysis or GitHub Enterprise Server. Production rollout still needs approved data/model handling, access, retention, auditability, quality criteria and operational ownership.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customer to nominate the service, journey and accountable owner. Agree measurement and review gates before selecting the intervention. Track comparable CI/test-stage performance, failure behavior and confidence for the named journey. For assessment value, record evidence completeness, time to owner-approved first meaningful PR and repeated orientation questions. All targets are customer-agreed pilot hypotheses, not claimed Bearing outcomes.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qualifications:</a:t>
            </a:r>
          </a:p>
          <a:p>
            <a:r>
              <a:t>https://www.kyndryl.com/us/en/insights/readiness-report-2025</a:t>
            </a:r>
          </a:p>
          <a:p>
            <a:r>
              <a:t>https://www.kyndryl.com/us/en/about-us/news/2024/10/kyndryl-readiness-report-2024</a:t>
            </a:r>
          </a:p>
          <a:p>
            <a:r>
              <a:t>https://github.blog/news-insights/research/good-devex-increases-productivity/</a:t>
            </a:r>
          </a:p>
          <a:p>
            <a:r>
              <a:t>Underlying DevEx paper: https://queue.acm.org/detail.cfm?id=3639443</a:t>
            </a:r>
          </a:p>
          <a:p>
            <a:r>
              <a:t>Brand: https://brand.github.com/foundations/color and https://brand.github.com/foundations/typography</a:t>
            </a:r>
          </a:p>
          <a:p>
            <a:r>
              <a:t>The Kyndryl 2025 survey dates are June 20–August 15, 2025. The 2024 announcement was October 16, 2024. Vendor research describes its stated populations, not the customer's estate. The four-week schedule and all backlog examples are illustrative. Artifacts use the official neutral/green palette with a restrained Copilot Purple accent and Arial for Office portability. They do not imply GitHub endorsement of Bearing.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yndryl.com/us/en/insights/readiness-report-2025" TargetMode="External"/><Relationship Id="rId3" Type="http://schemas.openxmlformats.org/officeDocument/2006/relationships/hyperlink" Target="https://www.kyndryl.com/us/en/about-us/news/2024/10/kyndryl-readiness-report-2024" TargetMode="External"/><Relationship Id="rId4" Type="http://schemas.openxmlformats.org/officeDocument/2006/relationships/hyperlink" Target="https://github.blog/news-insights/research/good-devex-increases-productivity/" TargetMode="External"/><Relationship Id="rId5"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411"/>
        </a:solidFill>
        <a:effectLst/>
      </p:bgPr>
    </p:bg>
    <p:spTree>
      <p:nvGrpSpPr>
        <p:cNvPr id="1" name=""/>
        <p:cNvGrpSpPr/>
        <p:nvPr/>
      </p:nvGrpSpPr>
      <p:grpSpPr/>
      <p:sp>
        <p:nvSpPr>
          <p:cNvPr id="2" name="Keep what work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FFFFFF"/>
                </a:solidFill>
                <a:latin typeface="Arial"/>
              </a:rPr>
              <a:t>Keep what works.</a:t>
            </a:r>
          </a:p>
        </p:txBody>
      </p:sp>
      <p:sp>
        <p:nvSpPr>
          <p:cNvPr id="3" name="Rectangle 2"/>
          <p:cNvSpPr/>
          <p:nvPr/>
        </p:nvSpPr>
        <p:spPr>
          <a:xfrm>
            <a:off x="594360" y="6327648"/>
            <a:ext cx="10972800" cy="10972"/>
          </a:xfrm>
          <a:prstGeom prst="rect">
            <a:avLst/>
          </a:prstGeom>
          <a:solidFill>
            <a:srgbClr val="505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Bearing  |  GitHub Copilot App workflow</a:t>
            </a:r>
          </a:p>
        </p:txBody>
      </p:sp>
      <p:sp>
        <p:nvSpPr>
          <p:cNvPr id="5" name="01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01 / 12</a:t>
            </a:r>
          </a:p>
        </p:txBody>
      </p:sp>
      <p:sp>
        <p:nvSpPr>
          <p:cNvPr id="6" name="Make change safer."/>
          <p:cNvSpPr txBox="1"/>
          <p:nvPr/>
        </p:nvSpPr>
        <p:spPr>
          <a:xfrm>
            <a:off x="594360" y="1417320"/>
            <a:ext cx="7680960" cy="777240"/>
          </a:xfrm>
          <a:prstGeom prst="rect">
            <a:avLst/>
          </a:prstGeom>
          <a:noFill/>
        </p:spPr>
        <p:txBody>
          <a:bodyPr wrap="square" lIns="0" rIns="0" tIns="0" bIns="0">
            <a:spAutoFit/>
          </a:bodyPr>
          <a:lstStyle/>
          <a:p>
            <a:pPr>
              <a:lnSpc>
                <a:spcPct val="107000"/>
              </a:lnSpc>
              <a:spcAft>
                <a:spcPts val="500"/>
              </a:spcAft>
            </a:pPr>
            <a:r>
              <a:rPr sz="4300" b="1">
                <a:solidFill>
                  <a:srgbClr val="0FBF3E"/>
                </a:solidFill>
                <a:latin typeface="Arial"/>
              </a:rPr>
              <a:t>Make change safer.</a:t>
            </a:r>
          </a:p>
        </p:txBody>
      </p:sp>
      <p:sp>
        <p:nvSpPr>
          <p:cNvPr id="7" name="An evidence-led"/>
          <p:cNvSpPr txBox="1"/>
          <p:nvPr/>
        </p:nvSpPr>
        <p:spPr>
          <a:xfrm>
            <a:off x="594360" y="2542032"/>
            <a:ext cx="6675120" cy="1097280"/>
          </a:xfrm>
          <a:prstGeom prst="rect">
            <a:avLst/>
          </a:prstGeom>
          <a:noFill/>
        </p:spPr>
        <p:txBody>
          <a:bodyPr wrap="square" lIns="0" rIns="0" tIns="0" bIns="0">
            <a:spAutoFit/>
          </a:bodyPr>
          <a:lstStyle/>
          <a:p>
            <a:pPr>
              <a:lnSpc>
                <a:spcPct val="107000"/>
              </a:lnSpc>
              <a:spcAft>
                <a:spcPts val="500"/>
              </a:spcAft>
            </a:pPr>
            <a:r>
              <a:rPr sz="2800" b="0">
                <a:solidFill>
                  <a:srgbClr val="FFFFFF"/>
                </a:solidFill>
                <a:latin typeface="Arial"/>
              </a:rPr>
              <a:t>An evidence-led</a:t>
            </a:r>
          </a:p>
          <a:p>
            <a:pPr>
              <a:lnSpc>
                <a:spcPct val="107000"/>
              </a:lnSpc>
              <a:spcAft>
                <a:spcPts val="500"/>
              </a:spcAft>
            </a:pPr>
            <a:r>
              <a:rPr sz="2800" b="0">
                <a:solidFill>
                  <a:srgbClr val="FFFFFF"/>
                </a:solidFill>
                <a:latin typeface="Arial"/>
              </a:rPr>
              <a:t>modernization assessment</a:t>
            </a:r>
          </a:p>
        </p:txBody>
      </p:sp>
      <p:sp>
        <p:nvSpPr>
          <p:cNvPr id="8" name="Understand the service. Measure the constraint."/>
          <p:cNvSpPr txBox="1"/>
          <p:nvPr/>
        </p:nvSpPr>
        <p:spPr>
          <a:xfrm>
            <a:off x="594360" y="3968496"/>
            <a:ext cx="6766560" cy="1024128"/>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Understand the service. Measure the constraint.</a:t>
            </a:r>
          </a:p>
          <a:p>
            <a:pPr>
              <a:lnSpc>
                <a:spcPct val="107000"/>
              </a:lnSpc>
              <a:spcAft>
                <a:spcPts val="500"/>
              </a:spcAft>
            </a:pPr>
            <a:r>
              <a:rPr sz="2100" b="0">
                <a:solidFill>
                  <a:srgbClr val="B6BFB8"/>
                </a:solidFill>
                <a:latin typeface="Arial"/>
              </a:rPr>
              <a:t>Approve the smallest justified improvement.</a:t>
            </a:r>
          </a:p>
        </p:txBody>
      </p:sp>
      <p:sp>
        <p:nvSpPr>
          <p:cNvPr id="9" name="Rectangle 8"/>
          <p:cNvSpPr/>
          <p:nvPr/>
        </p:nvSpPr>
        <p:spPr>
          <a:xfrm>
            <a:off x="8229600" y="182880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orking service"/>
          <p:cNvSpPr txBox="1"/>
          <p:nvPr/>
        </p:nvSpPr>
        <p:spPr>
          <a:xfrm>
            <a:off x="8412480" y="1993392"/>
            <a:ext cx="2651760" cy="411480"/>
          </a:xfrm>
          <a:prstGeom prst="rect">
            <a:avLst/>
          </a:prstGeom>
          <a:noFill/>
        </p:spPr>
        <p:txBody>
          <a:bodyPr wrap="square" lIns="0" rIns="0" tIns="0" bIns="0">
            <a:spAutoFit/>
          </a:bodyPr>
          <a:lstStyle/>
          <a:p>
            <a:pPr>
              <a:lnSpc>
                <a:spcPct val="107000"/>
              </a:lnSpc>
              <a:spcAft>
                <a:spcPts val="500"/>
              </a:spcAft>
            </a:pPr>
            <a:r>
              <a:rPr sz="2000" b="1">
                <a:solidFill>
                  <a:srgbClr val="FFFFFF"/>
                </a:solidFill>
                <a:latin typeface="Arial"/>
              </a:rPr>
              <a:t>Working service</a:t>
            </a:r>
          </a:p>
        </p:txBody>
      </p:sp>
      <p:sp>
        <p:nvSpPr>
          <p:cNvPr id="11" name="Rectangle 10"/>
          <p:cNvSpPr/>
          <p:nvPr/>
        </p:nvSpPr>
        <p:spPr>
          <a:xfrm>
            <a:off x="9729216" y="2542032"/>
            <a:ext cx="16459" cy="338328"/>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29600" y="288036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Evidence + context"/>
          <p:cNvSpPr txBox="1"/>
          <p:nvPr/>
        </p:nvSpPr>
        <p:spPr>
          <a:xfrm>
            <a:off x="8412480" y="3044952"/>
            <a:ext cx="2651760" cy="411480"/>
          </a:xfrm>
          <a:prstGeom prst="rect">
            <a:avLst/>
          </a:prstGeom>
          <a:noFill/>
        </p:spPr>
        <p:txBody>
          <a:bodyPr wrap="square" lIns="0" rIns="0" tIns="0" bIns="0">
            <a:spAutoFit/>
          </a:bodyPr>
          <a:lstStyle/>
          <a:p>
            <a:pPr>
              <a:lnSpc>
                <a:spcPct val="107000"/>
              </a:lnSpc>
              <a:spcAft>
                <a:spcPts val="500"/>
              </a:spcAft>
            </a:pPr>
            <a:r>
              <a:rPr sz="2000" b="1">
                <a:solidFill>
                  <a:srgbClr val="0FBF3E"/>
                </a:solidFill>
                <a:latin typeface="Arial"/>
              </a:rPr>
              <a:t>Evidence + context</a:t>
            </a:r>
          </a:p>
        </p:txBody>
      </p:sp>
      <p:sp>
        <p:nvSpPr>
          <p:cNvPr id="14" name="Rectangle 13"/>
          <p:cNvSpPr/>
          <p:nvPr/>
        </p:nvSpPr>
        <p:spPr>
          <a:xfrm>
            <a:off x="9729216" y="3593591"/>
            <a:ext cx="16459" cy="338328"/>
          </a:xfrm>
          <a:prstGeom prst="rect">
            <a:avLst/>
          </a:prstGeom>
          <a:solidFill>
            <a:srgbClr val="B6BF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3931920"/>
            <a:ext cx="3017520" cy="713232"/>
          </a:xfrm>
          <a:prstGeom prst="rect">
            <a:avLst/>
          </a:prstGeom>
          <a:solidFill>
            <a:srgbClr val="2329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Human decision"/>
          <p:cNvSpPr txBox="1"/>
          <p:nvPr/>
        </p:nvSpPr>
        <p:spPr>
          <a:xfrm>
            <a:off x="8412480" y="4096511"/>
            <a:ext cx="2651760" cy="411480"/>
          </a:xfrm>
          <a:prstGeom prst="rect">
            <a:avLst/>
          </a:prstGeom>
          <a:noFill/>
        </p:spPr>
        <p:txBody>
          <a:bodyPr wrap="square" lIns="0" rIns="0" tIns="0" bIns="0">
            <a:spAutoFit/>
          </a:bodyPr>
          <a:lstStyle/>
          <a:p>
            <a:pPr>
              <a:lnSpc>
                <a:spcPct val="107000"/>
              </a:lnSpc>
              <a:spcAft>
                <a:spcPts val="500"/>
              </a:spcAft>
            </a:pPr>
            <a:r>
              <a:rPr sz="2000" b="1">
                <a:solidFill>
                  <a:srgbClr val="FFFFFF"/>
                </a:solidFill>
                <a:latin typeface="Arial"/>
              </a:rPr>
              <a:t>Human decision</a:t>
            </a:r>
          </a:p>
        </p:txBody>
      </p:sp>
      <p:sp>
        <p:nvSpPr>
          <p:cNvPr id="17" name="Customer project proposal. Independent Bearing prototype."/>
          <p:cNvSpPr txBox="1"/>
          <p:nvPr/>
        </p:nvSpPr>
        <p:spPr>
          <a:xfrm>
            <a:off x="594360" y="5577840"/>
            <a:ext cx="10607040" cy="320040"/>
          </a:xfrm>
          <a:prstGeom prst="rect">
            <a:avLst/>
          </a:prstGeom>
          <a:noFill/>
        </p:spPr>
        <p:txBody>
          <a:bodyPr wrap="square" lIns="0" rIns="0" tIns="0" bIns="0">
            <a:spAutoFit/>
          </a:bodyPr>
          <a:lstStyle/>
          <a:p>
            <a:pPr>
              <a:lnSpc>
                <a:spcPct val="107000"/>
              </a:lnSpc>
              <a:spcAft>
                <a:spcPts val="500"/>
              </a:spcAft>
            </a:pPr>
            <a:r>
              <a:rPr sz="1400" b="0">
                <a:solidFill>
                  <a:srgbClr val="B6BFB8"/>
                </a:solidFill>
                <a:latin typeface="Arial"/>
              </a:rPr>
              <a:t>Customer project proposal. Independent Bearing prototype.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he estate works. That does not mean it is ready."/>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The estate works. That does not mean it is ready.</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2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02 / 12</a:t>
            </a:r>
          </a:p>
        </p:txBody>
      </p:sp>
      <p:sp>
        <p:nvSpPr>
          <p:cNvPr id="6" name="Sources: Kyndryl Readiness Reports 2025 and 2024. Population"/>
          <p:cNvSpPr txBox="1"/>
          <p:nvPr/>
        </p:nvSpPr>
        <p:spPr>
          <a:xfrm>
            <a:off x="594360" y="6007608"/>
            <a:ext cx="10881360" cy="237744"/>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Sources: Kyndryl Readiness Reports 2025 and 2024. Populations differ; neither measures legacy-code share.</a:t>
            </a:r>
          </a:p>
        </p:txBody>
      </p:sp>
      <p:sp>
        <p:nvSpPr>
          <p:cNvPr id="7" name="Innovation is delayed."/>
          <p:cNvSpPr txBox="1"/>
          <p:nvPr/>
        </p:nvSpPr>
        <p:spPr>
          <a:xfrm>
            <a:off x="594360" y="1783080"/>
            <a:ext cx="3794760" cy="502920"/>
          </a:xfrm>
          <a:prstGeom prst="rect">
            <a:avLst/>
          </a:prstGeom>
          <a:noFill/>
        </p:spPr>
        <p:txBody>
          <a:bodyPr wrap="square" lIns="0" rIns="0" tIns="0" bIns="0">
            <a:spAutoFit/>
          </a:bodyPr>
          <a:lstStyle/>
          <a:p>
            <a:pPr>
              <a:lnSpc>
                <a:spcPct val="107000"/>
              </a:lnSpc>
              <a:spcAft>
                <a:spcPts val="500"/>
              </a:spcAft>
            </a:pPr>
            <a:r>
              <a:rPr sz="2700" b="1">
                <a:solidFill>
                  <a:srgbClr val="08872B"/>
                </a:solidFill>
                <a:latin typeface="Arial"/>
              </a:rPr>
              <a:t>Innovation is delayed.</a:t>
            </a:r>
          </a:p>
        </p:txBody>
      </p:sp>
      <p:sp>
        <p:nvSpPr>
          <p:cNvPr id="8" name="57% of surveyed leaders say technology-stack issues delay th"/>
          <p:cNvSpPr txBox="1"/>
          <p:nvPr/>
        </p:nvSpPr>
        <p:spPr>
          <a:xfrm>
            <a:off x="4617720" y="1737360"/>
            <a:ext cx="6812280" cy="1005840"/>
          </a:xfrm>
          <a:prstGeom prst="rect">
            <a:avLst/>
          </a:prstGeom>
          <a:noFill/>
        </p:spPr>
        <p:txBody>
          <a:bodyPr wrap="square" lIns="0" rIns="0" tIns="0" bIns="0">
            <a:spAutoFit/>
          </a:bodyPr>
          <a:lstStyle/>
          <a:p>
            <a:pPr>
              <a:lnSpc>
                <a:spcPct val="107000"/>
              </a:lnSpc>
              <a:spcAft>
                <a:spcPts val="500"/>
              </a:spcAft>
            </a:pPr>
            <a:r>
              <a:rPr b="1" sz="2400">
                <a:solidFill>
                  <a:srgbClr val="101411"/>
                </a:solidFill>
                <a:latin typeface="Arial"/>
              </a:rPr>
              <a:t>57% of surveyed leaders say technology-stack issues delay their company’s innovation.</a:t>
            </a:r>
          </a:p>
        </p:txBody>
      </p:sp>
      <p:sp>
        <p:nvSpPr>
          <p:cNvPr id="9" name="2025 survey: 3,700 senior leaders in 21 countries; commissio"/>
          <p:cNvSpPr txBox="1"/>
          <p:nvPr/>
        </p:nvSpPr>
        <p:spPr>
          <a:xfrm>
            <a:off x="4617720" y="2743200"/>
            <a:ext cx="6675120" cy="502920"/>
          </a:xfrm>
          <a:prstGeom prst="rect">
            <a:avLst/>
          </a:prstGeom>
          <a:noFill/>
        </p:spPr>
        <p:txBody>
          <a:bodyPr wrap="square" lIns="0" rIns="0" tIns="0" bIns="0">
            <a:spAutoFit/>
          </a:bodyPr>
          <a:lstStyle/>
          <a:p>
            <a:pPr>
              <a:lnSpc>
                <a:spcPct val="107000"/>
              </a:lnSpc>
              <a:spcAft>
                <a:spcPts val="500"/>
              </a:spcAft>
            </a:pPr>
            <a:r>
              <a:rPr sz="1600" b="0">
                <a:solidFill>
                  <a:srgbClr val="505B53"/>
                </a:solidFill>
                <a:latin typeface="Arial"/>
              </a:rPr>
              <a:t>2025 survey: 3,700 senior leaders in 21 countries; commissioned by Kyndryl.</a:t>
            </a:r>
          </a:p>
        </p:txBody>
      </p:sp>
      <p:sp>
        <p:nvSpPr>
          <p:cNvPr id="10" name="Rectangle 9"/>
          <p:cNvSpPr/>
          <p:nvPr/>
        </p:nvSpPr>
        <p:spPr>
          <a:xfrm>
            <a:off x="594360" y="344728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upport risk accumulates."/>
          <p:cNvSpPr txBox="1"/>
          <p:nvPr/>
        </p:nvSpPr>
        <p:spPr>
          <a:xfrm>
            <a:off x="594360" y="3767328"/>
            <a:ext cx="3749039" cy="914400"/>
          </a:xfrm>
          <a:prstGeom prst="rect">
            <a:avLst/>
          </a:prstGeom>
          <a:noFill/>
        </p:spPr>
        <p:txBody>
          <a:bodyPr wrap="square" lIns="0" rIns="0" tIns="0" bIns="0">
            <a:spAutoFit/>
          </a:bodyPr>
          <a:lstStyle/>
          <a:p>
            <a:pPr>
              <a:lnSpc>
                <a:spcPct val="107000"/>
              </a:lnSpc>
              <a:spcAft>
                <a:spcPts val="500"/>
              </a:spcAft>
            </a:pPr>
            <a:r>
              <a:rPr sz="2700" b="1">
                <a:solidFill>
                  <a:srgbClr val="08872B"/>
                </a:solidFill>
                <a:latin typeface="Arial"/>
              </a:rPr>
              <a:t>Support risk accumulates.</a:t>
            </a:r>
          </a:p>
        </p:txBody>
      </p:sp>
      <p:sp>
        <p:nvSpPr>
          <p:cNvPr id="12" name="44% of mission-critical IT infrastructure was approaching or"/>
          <p:cNvSpPr txBox="1"/>
          <p:nvPr/>
        </p:nvSpPr>
        <p:spPr>
          <a:xfrm>
            <a:off x="4617720" y="3749039"/>
            <a:ext cx="6812280" cy="914400"/>
          </a:xfrm>
          <a:prstGeom prst="rect">
            <a:avLst/>
          </a:prstGeom>
          <a:noFill/>
        </p:spPr>
        <p:txBody>
          <a:bodyPr wrap="square" lIns="0" rIns="0" tIns="0" bIns="0">
            <a:spAutoFit/>
          </a:bodyPr>
          <a:lstStyle/>
          <a:p>
            <a:pPr>
              <a:lnSpc>
                <a:spcPct val="107000"/>
              </a:lnSpc>
              <a:spcAft>
                <a:spcPts val="500"/>
              </a:spcAft>
            </a:pPr>
            <a:r>
              <a:rPr sz="2600" b="1">
                <a:solidFill>
                  <a:srgbClr val="101411"/>
                </a:solidFill>
                <a:latin typeface="Arial"/>
              </a:rPr>
              <a:t>44% of mission-critical IT infrastructure was approaching or at end-of-life.</a:t>
            </a:r>
          </a:p>
        </p:txBody>
      </p:sp>
      <p:sp>
        <p:nvSpPr>
          <p:cNvPr id="13" name="2024 Kyndryl Bridge operational data. Infrastructure—not the"/>
          <p:cNvSpPr txBox="1"/>
          <p:nvPr/>
        </p:nvSpPr>
        <p:spPr>
          <a:xfrm>
            <a:off x="4617720" y="4782312"/>
            <a:ext cx="6675120" cy="731520"/>
          </a:xfrm>
          <a:prstGeom prst="rect">
            <a:avLst/>
          </a:prstGeom>
          <a:noFill/>
        </p:spPr>
        <p:txBody>
          <a:bodyPr wrap="square" lIns="0" rIns="0" tIns="0" bIns="0">
            <a:spAutoFit/>
          </a:bodyPr>
          <a:lstStyle/>
          <a:p>
            <a:pPr>
              <a:lnSpc>
                <a:spcPct val="107000"/>
              </a:lnSpc>
              <a:spcAft>
                <a:spcPts val="500"/>
              </a:spcAft>
            </a:pPr>
            <a:r>
              <a:rPr sz="1600" b="0">
                <a:solidFill>
                  <a:srgbClr val="505B53"/>
                </a:solidFill>
                <a:latin typeface="Arial"/>
              </a:rPr>
              <a:t>2024 Kyndryl Bridge operational data. Infrastructure—not the percentage of old source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mall change. Unclear blast radiu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Small change. Unclear blast radius.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3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03 / 12</a:t>
            </a:r>
          </a:p>
        </p:txBody>
      </p:sp>
      <p:sp>
        <p:nvSpPr>
          <p:cNvPr id="6" name="An engineer inherits a working order-processing service."/>
          <p:cNvSpPr txBox="1"/>
          <p:nvPr/>
        </p:nvSpPr>
        <p:spPr>
          <a:xfrm>
            <a:off x="594360" y="1645920"/>
            <a:ext cx="10698480" cy="960120"/>
          </a:xfrm>
          <a:prstGeom prst="rect">
            <a:avLst/>
          </a:prstGeom>
          <a:noFill/>
        </p:spPr>
        <p:txBody>
          <a:bodyPr wrap="square" lIns="0" rIns="0" tIns="0" bIns="0">
            <a:spAutoFit/>
          </a:bodyPr>
          <a:lstStyle/>
          <a:p>
            <a:pPr>
              <a:lnSpc>
                <a:spcPct val="107000"/>
              </a:lnSpc>
              <a:spcAft>
                <a:spcPts val="500"/>
              </a:spcAft>
            </a:pPr>
            <a:r>
              <a:rPr sz="2700" b="0">
                <a:solidFill>
                  <a:srgbClr val="101411"/>
                </a:solidFill>
                <a:latin typeface="Arial"/>
              </a:rPr>
              <a:t>An engineer inherits a working order-processing service.</a:t>
            </a:r>
          </a:p>
          <a:p>
            <a:pPr>
              <a:lnSpc>
                <a:spcPct val="107000"/>
              </a:lnSpc>
              <a:spcAft>
                <a:spcPts val="500"/>
              </a:spcAft>
            </a:pPr>
            <a:r>
              <a:rPr sz="2700" b="0">
                <a:solidFill>
                  <a:srgbClr val="101411"/>
                </a:solidFill>
                <a:latin typeface="Arial"/>
              </a:rPr>
              <a:t>The business asks for one validation change.</a:t>
            </a:r>
          </a:p>
        </p:txBody>
      </p:sp>
      <p:sp>
        <p:nvSpPr>
          <p:cNvPr id="7" name="The service runs."/>
          <p:cNvSpPr txBox="1"/>
          <p:nvPr/>
        </p:nvSpPr>
        <p:spPr>
          <a:xfrm>
            <a:off x="594360"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Arial"/>
              </a:rPr>
              <a:t>The service runs.</a:t>
            </a:r>
          </a:p>
        </p:txBody>
      </p:sp>
      <p:sp>
        <p:nvSpPr>
          <p:cNvPr id="8" name="Orders still flow."/>
          <p:cNvSpPr txBox="1"/>
          <p:nvPr/>
        </p:nvSpPr>
        <p:spPr>
          <a:xfrm>
            <a:off x="594360"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Orders still flow.</a:t>
            </a:r>
          </a:p>
          <a:p>
            <a:pPr>
              <a:lnSpc>
                <a:spcPct val="107000"/>
              </a:lnSpc>
              <a:spcAft>
                <a:spcPts val="500"/>
              </a:spcAft>
            </a:pPr>
            <a:r>
              <a:rPr sz="2000" b="0">
                <a:solidFill>
                  <a:srgbClr val="232925"/>
                </a:solidFill>
                <a:latin typeface="Arial"/>
              </a:rPr>
              <a:t>Age alone is not a reason</a:t>
            </a:r>
          </a:p>
          <a:p>
            <a:pPr>
              <a:lnSpc>
                <a:spcPct val="107000"/>
              </a:lnSpc>
              <a:spcAft>
                <a:spcPts val="500"/>
              </a:spcAft>
            </a:pPr>
            <a:r>
              <a:rPr sz="2000" b="0">
                <a:solidFill>
                  <a:srgbClr val="232925"/>
                </a:solidFill>
                <a:latin typeface="Arial"/>
              </a:rPr>
              <a:t>to replace the system.</a:t>
            </a:r>
          </a:p>
        </p:txBody>
      </p:sp>
      <p:sp>
        <p:nvSpPr>
          <p:cNvPr id="9" name="The evidence is scattered."/>
          <p:cNvSpPr txBox="1"/>
          <p:nvPr/>
        </p:nvSpPr>
        <p:spPr>
          <a:xfrm>
            <a:off x="4416552"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Arial"/>
              </a:rPr>
              <a:t>The evidence is scattered.</a:t>
            </a:r>
          </a:p>
        </p:txBody>
      </p:sp>
      <p:sp>
        <p:nvSpPr>
          <p:cNvPr id="10" name="Which callers rely on it?"/>
          <p:cNvSpPr txBox="1"/>
          <p:nvPr/>
        </p:nvSpPr>
        <p:spPr>
          <a:xfrm>
            <a:off x="4416552"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Which callers rely on it?</a:t>
            </a:r>
          </a:p>
          <a:p>
            <a:pPr>
              <a:lnSpc>
                <a:spcPct val="107000"/>
              </a:lnSpc>
              <a:spcAft>
                <a:spcPts val="500"/>
              </a:spcAft>
            </a:pPr>
            <a:r>
              <a:rPr sz="2000" b="0">
                <a:solidFill>
                  <a:srgbClr val="232925"/>
                </a:solidFill>
                <a:latin typeface="Arial"/>
              </a:rPr>
              <a:t>Which tests catch regressions?</a:t>
            </a:r>
          </a:p>
          <a:p>
            <a:pPr>
              <a:lnSpc>
                <a:spcPct val="107000"/>
              </a:lnSpc>
              <a:spcAft>
                <a:spcPts val="500"/>
              </a:spcAft>
            </a:pPr>
            <a:r>
              <a:rPr sz="2000" b="0">
                <a:solidFill>
                  <a:srgbClr val="232925"/>
                </a:solidFill>
                <a:latin typeface="Arial"/>
              </a:rPr>
              <a:t>Which CI stage causes delay?</a:t>
            </a:r>
          </a:p>
        </p:txBody>
      </p:sp>
      <p:sp>
        <p:nvSpPr>
          <p:cNvPr id="11" name="The decision is blocked."/>
          <p:cNvSpPr txBox="1"/>
          <p:nvPr/>
        </p:nvSpPr>
        <p:spPr>
          <a:xfrm>
            <a:off x="8247888" y="2971800"/>
            <a:ext cx="3337560" cy="777240"/>
          </a:xfrm>
          <a:prstGeom prst="rect">
            <a:avLst/>
          </a:prstGeom>
          <a:noFill/>
        </p:spPr>
        <p:txBody>
          <a:bodyPr wrap="square" lIns="0" rIns="0" tIns="0" bIns="0">
            <a:spAutoFit/>
          </a:bodyPr>
          <a:lstStyle/>
          <a:p>
            <a:pPr>
              <a:lnSpc>
                <a:spcPct val="107000"/>
              </a:lnSpc>
              <a:spcAft>
                <a:spcPts val="500"/>
              </a:spcAft>
            </a:pPr>
            <a:r>
              <a:rPr sz="2300" b="1">
                <a:solidFill>
                  <a:srgbClr val="08872B"/>
                </a:solidFill>
                <a:latin typeface="Arial"/>
              </a:rPr>
              <a:t>The decision is blocked.</a:t>
            </a:r>
          </a:p>
        </p:txBody>
      </p:sp>
      <p:sp>
        <p:nvSpPr>
          <p:cNvPr id="12" name="Ask the one expert,"/>
          <p:cNvSpPr txBox="1"/>
          <p:nvPr/>
        </p:nvSpPr>
        <p:spPr>
          <a:xfrm>
            <a:off x="8247888" y="3840480"/>
            <a:ext cx="3337560" cy="1508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Ask the one expert,</a:t>
            </a:r>
          </a:p>
          <a:p>
            <a:pPr>
              <a:lnSpc>
                <a:spcPct val="107000"/>
              </a:lnSpc>
              <a:spcAft>
                <a:spcPts val="500"/>
              </a:spcAft>
            </a:pPr>
            <a:r>
              <a:rPr sz="2000" b="0">
                <a:solidFill>
                  <a:srgbClr val="232925"/>
                </a:solidFill>
                <a:latin typeface="Arial"/>
              </a:rPr>
              <a:t>guess from an AI answer,</a:t>
            </a:r>
          </a:p>
          <a:p>
            <a:pPr>
              <a:lnSpc>
                <a:spcPct val="107000"/>
              </a:lnSpc>
              <a:spcAft>
                <a:spcPts val="500"/>
              </a:spcAft>
            </a:pPr>
            <a:r>
              <a:rPr sz="2000" b="0">
                <a:solidFill>
                  <a:srgbClr val="232925"/>
                </a:solidFill>
                <a:latin typeface="Arial"/>
              </a:rPr>
              <a:t>or establish the facts.</a:t>
            </a:r>
          </a:p>
        </p:txBody>
      </p:sp>
      <p:sp>
        <p:nvSpPr>
          <p:cNvPr id="13" name="The goal is change confidence—not a prettier repository summ"/>
          <p:cNvSpPr txBox="1"/>
          <p:nvPr/>
        </p:nvSpPr>
        <p:spPr>
          <a:xfrm>
            <a:off x="594360" y="5596128"/>
            <a:ext cx="1097280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Arial"/>
              </a:rPr>
              <a:t>The goal is change confidence—not a prettier repository summary.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ssess changeability, not ag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Assess changeability, not age.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4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04 / 12</a:t>
            </a:r>
          </a:p>
        </p:txBody>
      </p:sp>
      <p:sp>
        <p:nvSpPr>
          <p:cNvPr id="6" name="Rectangle 5"/>
          <p:cNvSpPr/>
          <p:nvPr/>
        </p:nvSpPr>
        <p:spPr>
          <a:xfrm>
            <a:off x="594360" y="1682496"/>
            <a:ext cx="10972800" cy="50292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Evidence lane"/>
          <p:cNvSpPr txBox="1"/>
          <p:nvPr/>
        </p:nvSpPr>
        <p:spPr>
          <a:xfrm>
            <a:off x="704088" y="1792224"/>
            <a:ext cx="2112263"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Evidence lane</a:t>
            </a:r>
          </a:p>
        </p:txBody>
      </p:sp>
      <p:sp>
        <p:nvSpPr>
          <p:cNvPr id="8" name="What we inspect"/>
          <p:cNvSpPr txBox="1"/>
          <p:nvPr/>
        </p:nvSpPr>
        <p:spPr>
          <a:xfrm>
            <a:off x="3035808" y="1792224"/>
            <a:ext cx="4764024"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What we inspect</a:t>
            </a:r>
          </a:p>
        </p:txBody>
      </p:sp>
      <p:sp>
        <p:nvSpPr>
          <p:cNvPr id="9" name="Decision it enables"/>
          <p:cNvSpPr txBox="1"/>
          <p:nvPr/>
        </p:nvSpPr>
        <p:spPr>
          <a:xfrm>
            <a:off x="8019288" y="1792224"/>
            <a:ext cx="3438144" cy="356616"/>
          </a:xfrm>
          <a:prstGeom prst="rect">
            <a:avLst/>
          </a:prstGeom>
          <a:noFill/>
        </p:spPr>
        <p:txBody>
          <a:bodyPr wrap="square" lIns="0" rIns="0" tIns="0" bIns="0">
            <a:spAutoFit/>
          </a:bodyPr>
          <a:lstStyle/>
          <a:p>
            <a:pPr>
              <a:lnSpc>
                <a:spcPct val="107000"/>
              </a:lnSpc>
              <a:spcAft>
                <a:spcPts val="500"/>
              </a:spcAft>
            </a:pPr>
            <a:r>
              <a:rPr sz="1800" b="1">
                <a:solidFill>
                  <a:srgbClr val="FFFFFF"/>
                </a:solidFill>
                <a:latin typeface="Arial"/>
              </a:rPr>
              <a:t>Decision it enables</a:t>
            </a:r>
          </a:p>
        </p:txBody>
      </p:sp>
      <p:sp>
        <p:nvSpPr>
          <p:cNvPr id="10" name="Rectangle 9"/>
          <p:cNvSpPr/>
          <p:nvPr/>
        </p:nvSpPr>
        <p:spPr>
          <a:xfrm>
            <a:off x="594360" y="310713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ystem context"/>
          <p:cNvSpPr txBox="1"/>
          <p:nvPr/>
        </p:nvSpPr>
        <p:spPr>
          <a:xfrm>
            <a:off x="704088" y="244144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System context</a:t>
            </a:r>
          </a:p>
        </p:txBody>
      </p:sp>
      <p:sp>
        <p:nvSpPr>
          <p:cNvPr id="12" name="Entry points, critical journeys,"/>
          <p:cNvSpPr txBox="1"/>
          <p:nvPr/>
        </p:nvSpPr>
        <p:spPr>
          <a:xfrm>
            <a:off x="3035808" y="244144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Entry points, critical journeys,</a:t>
            </a:r>
          </a:p>
          <a:p>
            <a:pPr>
              <a:lnSpc>
                <a:spcPct val="107000"/>
              </a:lnSpc>
              <a:spcAft>
                <a:spcPts val="500"/>
              </a:spcAft>
            </a:pPr>
            <a:r>
              <a:rPr sz="1700" b="0">
                <a:solidFill>
                  <a:srgbClr val="232925"/>
                </a:solidFill>
                <a:latin typeface="Arial"/>
              </a:rPr>
              <a:t>PR history, dependencies and owner review</a:t>
            </a:r>
          </a:p>
        </p:txBody>
      </p:sp>
      <p:sp>
        <p:nvSpPr>
          <p:cNvPr id="13" name="Bound the change;"/>
          <p:cNvSpPr txBox="1"/>
          <p:nvPr/>
        </p:nvSpPr>
        <p:spPr>
          <a:xfrm>
            <a:off x="8019288" y="244144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Bound the change;</a:t>
            </a:r>
          </a:p>
          <a:p>
            <a:pPr>
              <a:lnSpc>
                <a:spcPct val="107000"/>
              </a:lnSpc>
              <a:spcAft>
                <a:spcPts val="500"/>
              </a:spcAft>
            </a:pPr>
            <a:r>
              <a:rPr sz="1700" b="0">
                <a:solidFill>
                  <a:srgbClr val="232925"/>
                </a:solidFill>
                <a:latin typeface="Arial"/>
              </a:rPr>
              <a:t>identify the reviewers</a:t>
            </a:r>
          </a:p>
        </p:txBody>
      </p:sp>
      <p:sp>
        <p:nvSpPr>
          <p:cNvPr id="14" name="Rectangle 13"/>
          <p:cNvSpPr/>
          <p:nvPr/>
        </p:nvSpPr>
        <p:spPr>
          <a:xfrm>
            <a:off x="594360" y="397581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st confidence"/>
          <p:cNvSpPr txBox="1"/>
          <p:nvPr/>
        </p:nvSpPr>
        <p:spPr>
          <a:xfrm>
            <a:off x="704088" y="331012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Test confidence</a:t>
            </a:r>
          </a:p>
        </p:txBody>
      </p:sp>
      <p:sp>
        <p:nvSpPr>
          <p:cNvPr id="16" name="Assertions, failure paths and dated"/>
          <p:cNvSpPr txBox="1"/>
          <p:nvPr/>
        </p:nvSpPr>
        <p:spPr>
          <a:xfrm>
            <a:off x="3035808" y="331012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Assertions, failure paths and dated</a:t>
            </a:r>
          </a:p>
          <a:p>
            <a:pPr>
              <a:lnSpc>
                <a:spcPct val="107000"/>
              </a:lnSpc>
              <a:spcAft>
                <a:spcPts val="500"/>
              </a:spcAft>
            </a:pPr>
            <a:r>
              <a:rPr sz="1700" b="0">
                <a:solidFill>
                  <a:srgbClr val="232925"/>
                </a:solidFill>
                <a:latin typeface="Arial"/>
              </a:rPr>
              <a:t>coverage reports at a pinned commit</a:t>
            </a:r>
          </a:p>
        </p:txBody>
      </p:sp>
      <p:sp>
        <p:nvSpPr>
          <p:cNvPr id="17" name="Characterize behavior;"/>
          <p:cNvSpPr txBox="1"/>
          <p:nvPr/>
        </p:nvSpPr>
        <p:spPr>
          <a:xfrm>
            <a:off x="8019288" y="331012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Characterize behavior;</a:t>
            </a:r>
          </a:p>
          <a:p>
            <a:pPr>
              <a:lnSpc>
                <a:spcPct val="107000"/>
              </a:lnSpc>
              <a:spcAft>
                <a:spcPts val="500"/>
              </a:spcAft>
            </a:pPr>
            <a:r>
              <a:rPr sz="1700" b="0">
                <a:solidFill>
                  <a:srgbClr val="232925"/>
                </a:solidFill>
                <a:latin typeface="Arial"/>
              </a:rPr>
              <a:t>close a justified test gap</a:t>
            </a:r>
          </a:p>
        </p:txBody>
      </p:sp>
      <p:sp>
        <p:nvSpPr>
          <p:cNvPr id="18" name="Rectangle 17"/>
          <p:cNvSpPr/>
          <p:nvPr/>
        </p:nvSpPr>
        <p:spPr>
          <a:xfrm>
            <a:off x="594360" y="484449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elivery friction"/>
          <p:cNvSpPr txBox="1"/>
          <p:nvPr/>
        </p:nvSpPr>
        <p:spPr>
          <a:xfrm>
            <a:off x="704088" y="417880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Delivery friction</a:t>
            </a:r>
          </a:p>
        </p:txBody>
      </p:sp>
      <p:sp>
        <p:nvSpPr>
          <p:cNvPr id="20" name="Queue and stage timings,"/>
          <p:cNvSpPr txBox="1"/>
          <p:nvPr/>
        </p:nvSpPr>
        <p:spPr>
          <a:xfrm>
            <a:off x="3035808" y="417880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Queue and stage timings,</a:t>
            </a:r>
          </a:p>
          <a:p>
            <a:pPr>
              <a:lnSpc>
                <a:spcPct val="107000"/>
              </a:lnSpc>
              <a:spcAft>
                <a:spcPts val="500"/>
              </a:spcAft>
            </a:pPr>
            <a:r>
              <a:rPr sz="1700" b="0">
                <a:solidFill>
                  <a:srgbClr val="232925"/>
                </a:solidFill>
                <a:latin typeface="Arial"/>
              </a:rPr>
              <a:t>runner class and cache conditions</a:t>
            </a:r>
          </a:p>
        </p:txBody>
      </p:sp>
      <p:sp>
        <p:nvSpPr>
          <p:cNvPr id="21" name="Fix the demonstrated"/>
          <p:cNvSpPr txBox="1"/>
          <p:nvPr/>
        </p:nvSpPr>
        <p:spPr>
          <a:xfrm>
            <a:off x="8019288" y="417880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Fix the demonstrated</a:t>
            </a:r>
          </a:p>
          <a:p>
            <a:pPr>
              <a:lnSpc>
                <a:spcPct val="107000"/>
              </a:lnSpc>
              <a:spcAft>
                <a:spcPts val="500"/>
              </a:spcAft>
            </a:pPr>
            <a:r>
              <a:rPr sz="1700" b="0">
                <a:solidFill>
                  <a:srgbClr val="232925"/>
                </a:solidFill>
                <a:latin typeface="Arial"/>
              </a:rPr>
              <a:t>bottleneck—not a guess</a:t>
            </a:r>
          </a:p>
        </p:txBody>
      </p:sp>
      <p:sp>
        <p:nvSpPr>
          <p:cNvPr id="22" name="Rectangle 21"/>
          <p:cNvSpPr/>
          <p:nvPr/>
        </p:nvSpPr>
        <p:spPr>
          <a:xfrm>
            <a:off x="594360" y="5713171"/>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upportability"/>
          <p:cNvSpPr txBox="1"/>
          <p:nvPr/>
        </p:nvSpPr>
        <p:spPr>
          <a:xfrm>
            <a:off x="704088" y="5047488"/>
            <a:ext cx="2112263"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Supportability</a:t>
            </a:r>
          </a:p>
        </p:txBody>
      </p:sp>
      <p:sp>
        <p:nvSpPr>
          <p:cNvPr id="24" name="Runtime/dependency versions,"/>
          <p:cNvSpPr txBox="1"/>
          <p:nvPr/>
        </p:nvSpPr>
        <p:spPr>
          <a:xfrm>
            <a:off x="3035808" y="5047488"/>
            <a:ext cx="476402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Runtime/dependency versions,</a:t>
            </a:r>
          </a:p>
          <a:p>
            <a:pPr>
              <a:lnSpc>
                <a:spcPct val="107000"/>
              </a:lnSpc>
              <a:spcAft>
                <a:spcPts val="500"/>
              </a:spcAft>
            </a:pPr>
            <a:r>
              <a:rPr sz="1700" b="0">
                <a:solidFill>
                  <a:srgbClr val="232925"/>
                </a:solidFill>
                <a:latin typeface="Arial"/>
              </a:rPr>
              <a:t>vendor support dates and constraints</a:t>
            </a:r>
          </a:p>
        </p:txBody>
      </p:sp>
      <p:sp>
        <p:nvSpPr>
          <p:cNvPr id="25" name="Retain, upgrade or isolate;"/>
          <p:cNvSpPr txBox="1"/>
          <p:nvPr/>
        </p:nvSpPr>
        <p:spPr>
          <a:xfrm>
            <a:off x="8019288" y="5047488"/>
            <a:ext cx="3438144" cy="64008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Retain, upgrade or isolate;</a:t>
            </a:r>
          </a:p>
          <a:p>
            <a:pPr>
              <a:lnSpc>
                <a:spcPct val="107000"/>
              </a:lnSpc>
              <a:spcAft>
                <a:spcPts val="500"/>
              </a:spcAft>
            </a:pPr>
            <a:r>
              <a:rPr sz="1700" b="0">
                <a:solidFill>
                  <a:srgbClr val="232925"/>
                </a:solidFill>
                <a:latin typeface="Arial"/>
              </a:rPr>
              <a:t>record the rationale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easure confidence. Locate the actual delay."/>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Measure confidence. Locate the actual delay.</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5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05 / 12</a:t>
            </a:r>
          </a:p>
        </p:txBody>
      </p:sp>
      <p:sp>
        <p:nvSpPr>
          <p:cNvPr id="6" name="Test confidence"/>
          <p:cNvSpPr txBox="1"/>
          <p:nvPr/>
        </p:nvSpPr>
        <p:spPr>
          <a:xfrm>
            <a:off x="594360" y="1874519"/>
            <a:ext cx="502920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Arial"/>
              </a:rPr>
              <a:t>Test confidence</a:t>
            </a:r>
          </a:p>
        </p:txBody>
      </p:sp>
      <p:sp>
        <p:nvSpPr>
          <p:cNvPr id="7" name="Map tests to the critical journey."/>
          <p:cNvSpPr txBox="1"/>
          <p:nvPr/>
        </p:nvSpPr>
        <p:spPr>
          <a:xfrm>
            <a:off x="594360" y="2487168"/>
            <a:ext cx="502920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Map tests to the critical journey.</a:t>
            </a:r>
          </a:p>
          <a:p>
            <a:pPr>
              <a:lnSpc>
                <a:spcPct val="107000"/>
              </a:lnSpc>
              <a:spcAft>
                <a:spcPts val="500"/>
              </a:spcAft>
            </a:pPr>
            <a:r>
              <a:rPr sz="2000" b="0">
                <a:solidFill>
                  <a:srgbClr val="232925"/>
                </a:solidFill>
                <a:latin typeface="Arial"/>
              </a:rPr>
              <a:t>Inspect assertions and failure paths.</a:t>
            </a:r>
          </a:p>
          <a:p>
            <a:pPr>
              <a:lnSpc>
                <a:spcPct val="107000"/>
              </a:lnSpc>
              <a:spcAft>
                <a:spcPts val="500"/>
              </a:spcAft>
            </a:pPr>
            <a:r>
              <a:rPr sz="2000" b="0">
                <a:solidFill>
                  <a:srgbClr val="232925"/>
                </a:solidFill>
                <a:latin typeface="Arial"/>
              </a:rPr>
              <a:t>Record report tool, commit and exclusions.</a:t>
            </a:r>
          </a:p>
          <a:p>
            <a:pPr>
              <a:lnSpc>
                <a:spcPct val="107000"/>
              </a:lnSpc>
              <a:spcAft>
                <a:spcPts val="500"/>
              </a:spcAft>
            </a:pPr>
            <a:r>
              <a:rPr sz="2000" b="0">
                <a:solidFill>
                  <a:srgbClr val="232925"/>
                </a:solidFill>
                <a:latin typeface="Arial"/>
              </a:rPr>
              <a:t>Treat missing coverage as unknown.</a:t>
            </a:r>
          </a:p>
        </p:txBody>
      </p:sp>
      <p:sp>
        <p:nvSpPr>
          <p:cNvPr id="8" name="Build and test speed"/>
          <p:cNvSpPr txBox="1"/>
          <p:nvPr/>
        </p:nvSpPr>
        <p:spPr>
          <a:xfrm>
            <a:off x="6400800" y="1874519"/>
            <a:ext cx="516636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Arial"/>
              </a:rPr>
              <a:t>Build and test speed</a:t>
            </a:r>
          </a:p>
        </p:txBody>
      </p:sp>
      <p:sp>
        <p:nvSpPr>
          <p:cNvPr id="9" name="Separate queue time from execution."/>
          <p:cNvSpPr txBox="1"/>
          <p:nvPr/>
        </p:nvSpPr>
        <p:spPr>
          <a:xfrm>
            <a:off x="6400800" y="2487168"/>
            <a:ext cx="516636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Separate queue time from execution.</a:t>
            </a:r>
          </a:p>
          <a:p>
            <a:pPr>
              <a:lnSpc>
                <a:spcPct val="107000"/>
              </a:lnSpc>
              <a:spcAft>
                <a:spcPts val="500"/>
              </a:spcAft>
            </a:pPr>
            <a:r>
              <a:rPr sz="2000" b="0">
                <a:solidFill>
                  <a:srgbClr val="232925"/>
                </a:solidFill>
                <a:latin typeface="Arial"/>
              </a:rPr>
              <a:t>Break out setup, build, tests and packaging.</a:t>
            </a:r>
          </a:p>
          <a:p>
            <a:pPr>
              <a:lnSpc>
                <a:spcPct val="107000"/>
              </a:lnSpc>
              <a:spcAft>
                <a:spcPts val="500"/>
              </a:spcAft>
            </a:pPr>
            <a:r>
              <a:rPr sz="2000" b="0">
                <a:solidFill>
                  <a:srgbClr val="232925"/>
                </a:solidFill>
                <a:latin typeface="Arial"/>
              </a:rPr>
              <a:t>Compare like runners and cache conditions.</a:t>
            </a:r>
          </a:p>
          <a:p>
            <a:pPr>
              <a:lnSpc>
                <a:spcPct val="107000"/>
              </a:lnSpc>
              <a:spcAft>
                <a:spcPts val="500"/>
              </a:spcAft>
            </a:pPr>
            <a:r>
              <a:rPr sz="2000" b="0">
                <a:solidFill>
                  <a:srgbClr val="232925"/>
                </a:solidFill>
                <a:latin typeface="Arial"/>
              </a:rPr>
              <a:t>Record the sample count and uncertainty.</a:t>
            </a:r>
          </a:p>
        </p:txBody>
      </p:sp>
      <p:sp>
        <p:nvSpPr>
          <p:cNvPr id="10" name="Rectangle 9"/>
          <p:cNvSpPr/>
          <p:nvPr/>
        </p:nvSpPr>
        <p:spPr>
          <a:xfrm>
            <a:off x="594360" y="5175504"/>
            <a:ext cx="10972800" cy="603504"/>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o universal build-time cutoff. No “safe” coverage percentag"/>
          <p:cNvSpPr txBox="1"/>
          <p:nvPr/>
        </p:nvSpPr>
        <p:spPr>
          <a:xfrm>
            <a:off x="795528" y="5340096"/>
            <a:ext cx="10515600" cy="36576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Arial"/>
              </a:rPr>
              <a:t>No universal build-time cutoff. No “safe” coverage percentage.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ounded pilot. Four explicit review gate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A bounded pilot. Four explicit review gates.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6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06 / 12</a:t>
            </a:r>
          </a:p>
        </p:txBody>
      </p:sp>
      <p:sp>
        <p:nvSpPr>
          <p:cNvPr id="6" name="Week 1"/>
          <p:cNvSpPr txBox="1"/>
          <p:nvPr/>
        </p:nvSpPr>
        <p:spPr>
          <a:xfrm>
            <a:off x="594360" y="1700784"/>
            <a:ext cx="2514600" cy="1051560"/>
          </a:xfrm>
          <a:prstGeom prst="rect">
            <a:avLst/>
          </a:prstGeom>
          <a:noFill/>
        </p:spPr>
        <p:txBody>
          <a:bodyPr wrap="square" lIns="0" rIns="0" tIns="0" bIns="0">
            <a:spAutoFit/>
          </a:bodyPr>
          <a:lstStyle/>
          <a:p>
            <a:pPr>
              <a:lnSpc>
                <a:spcPct val="107000"/>
              </a:lnSpc>
              <a:spcAft>
                <a:spcPts val="500"/>
              </a:spcAft>
            </a:pPr>
            <a:r>
              <a:rPr sz="2600" b="1">
                <a:solidFill>
                  <a:srgbClr val="08872B"/>
                </a:solidFill>
                <a:latin typeface="Arial"/>
              </a:rPr>
              <a:t>Week 1</a:t>
            </a:r>
          </a:p>
          <a:p>
            <a:pPr>
              <a:lnSpc>
                <a:spcPct val="107000"/>
              </a:lnSpc>
              <a:spcAft>
                <a:spcPts val="500"/>
              </a:spcAft>
            </a:pPr>
            <a:r>
              <a:rPr sz="2600" b="1">
                <a:solidFill>
                  <a:srgbClr val="08872B"/>
                </a:solidFill>
                <a:latin typeface="Arial"/>
              </a:rPr>
              <a:t>Discover</a:t>
            </a:r>
          </a:p>
        </p:txBody>
      </p:sp>
      <p:sp>
        <p:nvSpPr>
          <p:cNvPr id="7" name="Scope one journey."/>
          <p:cNvSpPr txBox="1"/>
          <p:nvPr/>
        </p:nvSpPr>
        <p:spPr>
          <a:xfrm>
            <a:off x="594360" y="2907792"/>
            <a:ext cx="2468880" cy="141732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Scope one journey.</a:t>
            </a:r>
          </a:p>
          <a:p>
            <a:pPr>
              <a:lnSpc>
                <a:spcPct val="107000"/>
              </a:lnSpc>
              <a:spcAft>
                <a:spcPts val="500"/>
              </a:spcAft>
            </a:pPr>
            <a:r>
              <a:rPr sz="1800" b="0">
                <a:solidFill>
                  <a:srgbClr val="232925"/>
                </a:solidFill>
                <a:latin typeface="Arial"/>
              </a:rPr>
              <a:t>Map the service.</a:t>
            </a:r>
          </a:p>
          <a:p>
            <a:pPr>
              <a:lnSpc>
                <a:spcPct val="107000"/>
              </a:lnSpc>
              <a:spcAft>
                <a:spcPts val="500"/>
              </a:spcAft>
            </a:pPr>
            <a:r>
              <a:rPr sz="1800" b="0">
                <a:solidFill>
                  <a:srgbClr val="232925"/>
                </a:solidFill>
                <a:latin typeface="Arial"/>
              </a:rPr>
              <a:t>Name the owner.</a:t>
            </a:r>
          </a:p>
        </p:txBody>
      </p:sp>
      <p:sp>
        <p:nvSpPr>
          <p:cNvPr id="8" name="Rectangle 7"/>
          <p:cNvSpPr/>
          <p:nvPr/>
        </p:nvSpPr>
        <p:spPr>
          <a:xfrm>
            <a:off x="594360" y="4507992"/>
            <a:ext cx="25146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wner approves"/>
          <p:cNvSpPr txBox="1"/>
          <p:nvPr/>
        </p:nvSpPr>
        <p:spPr>
          <a:xfrm>
            <a:off x="594360" y="4681728"/>
            <a:ext cx="2468880" cy="868680"/>
          </a:xfrm>
          <a:prstGeom prst="rect">
            <a:avLst/>
          </a:prstGeom>
          <a:noFill/>
        </p:spPr>
        <p:txBody>
          <a:bodyPr wrap="square" lIns="0" rIns="0" tIns="0" bIns="0">
            <a:spAutoFit/>
          </a:bodyPr>
          <a:lstStyle/>
          <a:p>
            <a:pPr>
              <a:lnSpc>
                <a:spcPct val="107000"/>
              </a:lnSpc>
              <a:spcAft>
                <a:spcPts val="500"/>
              </a:spcAft>
            </a:pPr>
            <a:r>
              <a:rPr sz="1800" b="1">
                <a:solidFill>
                  <a:srgbClr val="101411"/>
                </a:solidFill>
                <a:latin typeface="Arial"/>
              </a:rPr>
              <a:t>Owner approves</a:t>
            </a:r>
          </a:p>
          <a:p>
            <a:pPr>
              <a:lnSpc>
                <a:spcPct val="107000"/>
              </a:lnSpc>
              <a:spcAft>
                <a:spcPts val="500"/>
              </a:spcAft>
            </a:pPr>
            <a:r>
              <a:rPr sz="1800" b="1">
                <a:solidFill>
                  <a:srgbClr val="101411"/>
                </a:solidFill>
                <a:latin typeface="Arial"/>
              </a:rPr>
              <a:t>scope + map.</a:t>
            </a:r>
          </a:p>
        </p:txBody>
      </p:sp>
      <p:sp>
        <p:nvSpPr>
          <p:cNvPr id="10" name="Week 2"/>
          <p:cNvSpPr txBox="1"/>
          <p:nvPr/>
        </p:nvSpPr>
        <p:spPr>
          <a:xfrm>
            <a:off x="3401568" y="1700784"/>
            <a:ext cx="2514600" cy="1051560"/>
          </a:xfrm>
          <a:prstGeom prst="rect">
            <a:avLst/>
          </a:prstGeom>
          <a:noFill/>
        </p:spPr>
        <p:txBody>
          <a:bodyPr wrap="square" lIns="0" rIns="0" tIns="0" bIns="0">
            <a:spAutoFit/>
          </a:bodyPr>
          <a:lstStyle/>
          <a:p>
            <a:pPr>
              <a:lnSpc>
                <a:spcPct val="107000"/>
              </a:lnSpc>
              <a:spcAft>
                <a:spcPts val="500"/>
              </a:spcAft>
            </a:pPr>
            <a:r>
              <a:rPr sz="2600" b="1">
                <a:solidFill>
                  <a:srgbClr val="08872B"/>
                </a:solidFill>
                <a:latin typeface="Arial"/>
              </a:rPr>
              <a:t>Week 2</a:t>
            </a:r>
          </a:p>
          <a:p>
            <a:pPr>
              <a:lnSpc>
                <a:spcPct val="107000"/>
              </a:lnSpc>
              <a:spcAft>
                <a:spcPts val="500"/>
              </a:spcAft>
            </a:pPr>
            <a:r>
              <a:rPr sz="2600" b="1">
                <a:solidFill>
                  <a:srgbClr val="08872B"/>
                </a:solidFill>
                <a:latin typeface="Arial"/>
              </a:rPr>
              <a:t>Baseline</a:t>
            </a:r>
          </a:p>
        </p:txBody>
      </p:sp>
      <p:sp>
        <p:nvSpPr>
          <p:cNvPr id="11" name="Inspect CI/test data."/>
          <p:cNvSpPr txBox="1"/>
          <p:nvPr/>
        </p:nvSpPr>
        <p:spPr>
          <a:xfrm>
            <a:off x="3401568" y="2907792"/>
            <a:ext cx="2468880" cy="141732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Inspect CI/test data.</a:t>
            </a:r>
          </a:p>
          <a:p>
            <a:pPr>
              <a:lnSpc>
                <a:spcPct val="107000"/>
              </a:lnSpc>
              <a:spcAft>
                <a:spcPts val="500"/>
              </a:spcAft>
            </a:pPr>
            <a:r>
              <a:rPr sz="1800" b="0">
                <a:solidFill>
                  <a:srgbClr val="232925"/>
                </a:solidFill>
                <a:latin typeface="Arial"/>
              </a:rPr>
              <a:t>Measure only with</a:t>
            </a:r>
          </a:p>
          <a:p>
            <a:pPr>
              <a:lnSpc>
                <a:spcPct val="107000"/>
              </a:lnSpc>
              <a:spcAft>
                <a:spcPts val="500"/>
              </a:spcAft>
            </a:pPr>
            <a:r>
              <a:rPr sz="1800" b="0">
                <a:solidFill>
                  <a:srgbClr val="232925"/>
                </a:solidFill>
                <a:latin typeface="Arial"/>
              </a:rPr>
              <a:t>separate approval.</a:t>
            </a:r>
          </a:p>
        </p:txBody>
      </p:sp>
      <p:sp>
        <p:nvSpPr>
          <p:cNvPr id="12" name="Rectangle 11"/>
          <p:cNvSpPr/>
          <p:nvPr/>
        </p:nvSpPr>
        <p:spPr>
          <a:xfrm>
            <a:off x="3401568" y="4507992"/>
            <a:ext cx="25146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wner + specialist"/>
          <p:cNvSpPr txBox="1"/>
          <p:nvPr/>
        </p:nvSpPr>
        <p:spPr>
          <a:xfrm>
            <a:off x="3401568" y="4681728"/>
            <a:ext cx="2468880" cy="868680"/>
          </a:xfrm>
          <a:prstGeom prst="rect">
            <a:avLst/>
          </a:prstGeom>
          <a:noFill/>
        </p:spPr>
        <p:txBody>
          <a:bodyPr wrap="square" lIns="0" rIns="0" tIns="0" bIns="0">
            <a:spAutoFit/>
          </a:bodyPr>
          <a:lstStyle/>
          <a:p>
            <a:pPr>
              <a:lnSpc>
                <a:spcPct val="107000"/>
              </a:lnSpc>
              <a:spcAft>
                <a:spcPts val="500"/>
              </a:spcAft>
            </a:pPr>
            <a:r>
              <a:rPr sz="1800" b="1">
                <a:solidFill>
                  <a:srgbClr val="101411"/>
                </a:solidFill>
                <a:latin typeface="Arial"/>
              </a:rPr>
              <a:t>Owner + specialist</a:t>
            </a:r>
          </a:p>
          <a:p>
            <a:pPr>
              <a:lnSpc>
                <a:spcPct val="107000"/>
              </a:lnSpc>
              <a:spcAft>
                <a:spcPts val="500"/>
              </a:spcAft>
            </a:pPr>
            <a:r>
              <a:rPr sz="1800" b="1">
                <a:solidFill>
                  <a:srgbClr val="101411"/>
                </a:solidFill>
                <a:latin typeface="Arial"/>
              </a:rPr>
              <a:t>accept the baseline.</a:t>
            </a:r>
          </a:p>
        </p:txBody>
      </p:sp>
      <p:sp>
        <p:nvSpPr>
          <p:cNvPr id="14" name="Week 3"/>
          <p:cNvSpPr txBox="1"/>
          <p:nvPr/>
        </p:nvSpPr>
        <p:spPr>
          <a:xfrm>
            <a:off x="6208776" y="1700784"/>
            <a:ext cx="2514600" cy="1051560"/>
          </a:xfrm>
          <a:prstGeom prst="rect">
            <a:avLst/>
          </a:prstGeom>
          <a:noFill/>
        </p:spPr>
        <p:txBody>
          <a:bodyPr wrap="square" lIns="0" rIns="0" tIns="0" bIns="0">
            <a:spAutoFit/>
          </a:bodyPr>
          <a:lstStyle/>
          <a:p>
            <a:pPr>
              <a:lnSpc>
                <a:spcPct val="107000"/>
              </a:lnSpc>
              <a:spcAft>
                <a:spcPts val="500"/>
              </a:spcAft>
            </a:pPr>
            <a:r>
              <a:rPr sz="2600" b="1">
                <a:solidFill>
                  <a:srgbClr val="08872B"/>
                </a:solidFill>
                <a:latin typeface="Arial"/>
              </a:rPr>
              <a:t>Week 3</a:t>
            </a:r>
          </a:p>
          <a:p>
            <a:pPr>
              <a:lnSpc>
                <a:spcPct val="107000"/>
              </a:lnSpc>
              <a:spcAft>
                <a:spcPts val="500"/>
              </a:spcAft>
            </a:pPr>
            <a:r>
              <a:rPr sz="2600" b="1">
                <a:solidFill>
                  <a:srgbClr val="08872B"/>
                </a:solidFill>
                <a:latin typeface="Arial"/>
              </a:rPr>
              <a:t>Decide</a:t>
            </a:r>
          </a:p>
        </p:txBody>
      </p:sp>
      <p:sp>
        <p:nvSpPr>
          <p:cNvPr id="15" name="Create candidate issues."/>
          <p:cNvSpPr txBox="1"/>
          <p:nvPr/>
        </p:nvSpPr>
        <p:spPr>
          <a:xfrm>
            <a:off x="6208776" y="2907792"/>
            <a:ext cx="2468880" cy="141732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Create candidate issues.</a:t>
            </a:r>
          </a:p>
          <a:p>
            <a:pPr>
              <a:lnSpc>
                <a:spcPct val="107000"/>
              </a:lnSpc>
              <a:spcAft>
                <a:spcPts val="500"/>
              </a:spcAft>
            </a:pPr>
            <a:r>
              <a:rPr sz="1800" b="0">
                <a:solidFill>
                  <a:srgbClr val="232925"/>
                </a:solidFill>
                <a:latin typeface="Arial"/>
              </a:rPr>
              <a:t>Compare value, risk</a:t>
            </a:r>
          </a:p>
          <a:p>
            <a:pPr>
              <a:lnSpc>
                <a:spcPct val="107000"/>
              </a:lnSpc>
              <a:spcAft>
                <a:spcPts val="500"/>
              </a:spcAft>
            </a:pPr>
            <a:r>
              <a:rPr sz="1800" b="0">
                <a:solidFill>
                  <a:srgbClr val="232925"/>
                </a:solidFill>
                <a:latin typeface="Arial"/>
              </a:rPr>
              <a:t>and confidence.</a:t>
            </a:r>
          </a:p>
        </p:txBody>
      </p:sp>
      <p:sp>
        <p:nvSpPr>
          <p:cNvPr id="16" name="Rectangle 15"/>
          <p:cNvSpPr/>
          <p:nvPr/>
        </p:nvSpPr>
        <p:spPr>
          <a:xfrm>
            <a:off x="6208776" y="4507992"/>
            <a:ext cx="25146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ponsor approves"/>
          <p:cNvSpPr txBox="1"/>
          <p:nvPr/>
        </p:nvSpPr>
        <p:spPr>
          <a:xfrm>
            <a:off x="6208776" y="4681728"/>
            <a:ext cx="2468880" cy="868680"/>
          </a:xfrm>
          <a:prstGeom prst="rect">
            <a:avLst/>
          </a:prstGeom>
          <a:noFill/>
        </p:spPr>
        <p:txBody>
          <a:bodyPr wrap="square" lIns="0" rIns="0" tIns="0" bIns="0">
            <a:spAutoFit/>
          </a:bodyPr>
          <a:lstStyle/>
          <a:p>
            <a:pPr>
              <a:lnSpc>
                <a:spcPct val="107000"/>
              </a:lnSpc>
              <a:spcAft>
                <a:spcPts val="500"/>
              </a:spcAft>
            </a:pPr>
            <a:r>
              <a:rPr sz="1800" b="1">
                <a:solidFill>
                  <a:srgbClr val="101411"/>
                </a:solidFill>
                <a:latin typeface="Arial"/>
              </a:rPr>
              <a:t>Sponsor approves</a:t>
            </a:r>
          </a:p>
          <a:p>
            <a:pPr>
              <a:lnSpc>
                <a:spcPct val="107000"/>
              </a:lnSpc>
              <a:spcAft>
                <a:spcPts val="500"/>
              </a:spcAft>
            </a:pPr>
            <a:r>
              <a:rPr sz="1800" b="1">
                <a:solidFill>
                  <a:srgbClr val="101411"/>
                </a:solidFill>
                <a:latin typeface="Arial"/>
              </a:rPr>
              <a:t>one bounded action.</a:t>
            </a:r>
          </a:p>
        </p:txBody>
      </p:sp>
      <p:sp>
        <p:nvSpPr>
          <p:cNvPr id="18" name="Week 4"/>
          <p:cNvSpPr txBox="1"/>
          <p:nvPr/>
        </p:nvSpPr>
        <p:spPr>
          <a:xfrm>
            <a:off x="9015984" y="1700784"/>
            <a:ext cx="2514600" cy="1051560"/>
          </a:xfrm>
          <a:prstGeom prst="rect">
            <a:avLst/>
          </a:prstGeom>
          <a:noFill/>
        </p:spPr>
        <p:txBody>
          <a:bodyPr wrap="square" lIns="0" rIns="0" tIns="0" bIns="0">
            <a:spAutoFit/>
          </a:bodyPr>
          <a:lstStyle/>
          <a:p>
            <a:pPr>
              <a:lnSpc>
                <a:spcPct val="107000"/>
              </a:lnSpc>
              <a:spcAft>
                <a:spcPts val="500"/>
              </a:spcAft>
            </a:pPr>
            <a:r>
              <a:rPr sz="2600" b="1">
                <a:solidFill>
                  <a:srgbClr val="08872B"/>
                </a:solidFill>
                <a:latin typeface="Arial"/>
              </a:rPr>
              <a:t>Week 4</a:t>
            </a:r>
          </a:p>
          <a:p>
            <a:pPr>
              <a:lnSpc>
                <a:spcPct val="107000"/>
              </a:lnSpc>
              <a:spcAft>
                <a:spcPts val="500"/>
              </a:spcAft>
            </a:pPr>
            <a:r>
              <a:rPr sz="2600" b="1">
                <a:solidFill>
                  <a:srgbClr val="08872B"/>
                </a:solidFill>
                <a:latin typeface="Arial"/>
              </a:rPr>
              <a:t>Prove</a:t>
            </a:r>
          </a:p>
        </p:txBody>
      </p:sp>
      <p:sp>
        <p:nvSpPr>
          <p:cNvPr id="19" name="Use a reviewed PR."/>
          <p:cNvSpPr txBox="1"/>
          <p:nvPr/>
        </p:nvSpPr>
        <p:spPr>
          <a:xfrm>
            <a:off x="9015984" y="2907792"/>
            <a:ext cx="2468880" cy="1417320"/>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Use a reviewed PR.</a:t>
            </a:r>
          </a:p>
          <a:p>
            <a:pPr>
              <a:lnSpc>
                <a:spcPct val="107000"/>
              </a:lnSpc>
              <a:spcAft>
                <a:spcPts val="500"/>
              </a:spcAft>
            </a:pPr>
            <a:r>
              <a:rPr sz="1800" b="0">
                <a:solidFill>
                  <a:srgbClr val="232925"/>
                </a:solidFill>
                <a:latin typeface="Arial"/>
              </a:rPr>
              <a:t>Remeasure comparably.</a:t>
            </a:r>
          </a:p>
          <a:p>
            <a:pPr>
              <a:lnSpc>
                <a:spcPct val="107000"/>
              </a:lnSpc>
              <a:spcAft>
                <a:spcPts val="500"/>
              </a:spcAft>
            </a:pPr>
            <a:r>
              <a:rPr sz="1800" b="0">
                <a:solidFill>
                  <a:srgbClr val="232925"/>
                </a:solidFill>
                <a:latin typeface="Arial"/>
              </a:rPr>
              <a:t>Document rollback.</a:t>
            </a:r>
          </a:p>
        </p:txBody>
      </p:sp>
      <p:sp>
        <p:nvSpPr>
          <p:cNvPr id="20" name="Rectangle 19"/>
          <p:cNvSpPr/>
          <p:nvPr/>
        </p:nvSpPr>
        <p:spPr>
          <a:xfrm>
            <a:off x="9015984" y="4507992"/>
            <a:ext cx="25146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wner accepts;"/>
          <p:cNvSpPr txBox="1"/>
          <p:nvPr/>
        </p:nvSpPr>
        <p:spPr>
          <a:xfrm>
            <a:off x="9015984" y="4681728"/>
            <a:ext cx="2468880" cy="868680"/>
          </a:xfrm>
          <a:prstGeom prst="rect">
            <a:avLst/>
          </a:prstGeom>
          <a:noFill/>
        </p:spPr>
        <p:txBody>
          <a:bodyPr wrap="square" lIns="0" rIns="0" tIns="0" bIns="0">
            <a:spAutoFit/>
          </a:bodyPr>
          <a:lstStyle/>
          <a:p>
            <a:pPr>
              <a:lnSpc>
                <a:spcPct val="107000"/>
              </a:lnSpc>
              <a:spcAft>
                <a:spcPts val="500"/>
              </a:spcAft>
            </a:pPr>
            <a:r>
              <a:rPr sz="1800" b="1">
                <a:solidFill>
                  <a:srgbClr val="101411"/>
                </a:solidFill>
                <a:latin typeface="Arial"/>
              </a:rPr>
              <a:t>Owner accepts;</a:t>
            </a:r>
          </a:p>
          <a:p>
            <a:pPr>
              <a:lnSpc>
                <a:spcPct val="107000"/>
              </a:lnSpc>
              <a:spcAft>
                <a:spcPts val="500"/>
              </a:spcAft>
            </a:pPr>
            <a:r>
              <a:rPr sz="1800" b="1">
                <a:solidFill>
                  <a:srgbClr val="101411"/>
                </a:solidFill>
                <a:latin typeface="Arial"/>
              </a:rPr>
              <a:t>sponsor decides scale.</a:t>
            </a:r>
          </a:p>
        </p:txBody>
      </p:sp>
      <p:sp>
        <p:nvSpPr>
          <p:cNvPr id="22" name="Illustrative four-week plan. One repository first; extend on"/>
          <p:cNvSpPr txBox="1"/>
          <p:nvPr/>
        </p:nvSpPr>
        <p:spPr>
          <a:xfrm>
            <a:off x="594360" y="5824728"/>
            <a:ext cx="10972800" cy="320040"/>
          </a:xfrm>
          <a:prstGeom prst="rect">
            <a:avLst/>
          </a:prstGeom>
          <a:noFill/>
        </p:spPr>
        <p:txBody>
          <a:bodyPr wrap="square" lIns="0" rIns="0" tIns="0" bIns="0">
            <a:spAutoFit/>
          </a:bodyPr>
          <a:lstStyle/>
          <a:p>
            <a:pPr>
              <a:lnSpc>
                <a:spcPct val="107000"/>
              </a:lnSpc>
              <a:spcAft>
                <a:spcPts val="500"/>
              </a:spcAft>
            </a:pPr>
            <a:r>
              <a:rPr sz="1400" b="0">
                <a:solidFill>
                  <a:srgbClr val="505B53"/>
                </a:solidFill>
                <a:latin typeface="Arial"/>
              </a:rPr>
              <a:t>Illustrative four-week plan. One repository first; extend only when evidence and access permit.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urn findings into an owned GitHub project."/>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Turn findings into an owned GitHub project.</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7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07 / 12</a:t>
            </a:r>
          </a:p>
        </p:txBody>
      </p:sp>
      <p:sp>
        <p:nvSpPr>
          <p:cNvPr id="6" name="Changeability &amp; Modernization"/>
          <p:cNvSpPr txBox="1"/>
          <p:nvPr/>
        </p:nvSpPr>
        <p:spPr>
          <a:xfrm>
            <a:off x="594360" y="1627632"/>
            <a:ext cx="10789920" cy="502920"/>
          </a:xfrm>
          <a:prstGeom prst="rect">
            <a:avLst/>
          </a:prstGeom>
          <a:noFill/>
        </p:spPr>
        <p:txBody>
          <a:bodyPr wrap="square" lIns="0" rIns="0" tIns="0" bIns="0">
            <a:spAutoFit/>
          </a:bodyPr>
          <a:lstStyle/>
          <a:p>
            <a:pPr>
              <a:lnSpc>
                <a:spcPct val="107000"/>
              </a:lnSpc>
              <a:spcAft>
                <a:spcPts val="500"/>
              </a:spcAft>
            </a:pPr>
            <a:r>
              <a:rPr sz="2700" b="1">
                <a:solidFill>
                  <a:srgbClr val="08872B"/>
                </a:solidFill>
                <a:latin typeface="Arial"/>
              </a:rPr>
              <a:t>Changeability &amp; Modernization</a:t>
            </a:r>
          </a:p>
        </p:txBody>
      </p:sp>
      <p:sp>
        <p:nvSpPr>
          <p:cNvPr id="7" name="Rectangle 6"/>
          <p:cNvSpPr/>
          <p:nvPr/>
        </p:nvSpPr>
        <p:spPr>
          <a:xfrm>
            <a:off x="594360"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iscovery"/>
          <p:cNvSpPr txBox="1"/>
          <p:nvPr/>
        </p:nvSpPr>
        <p:spPr>
          <a:xfrm>
            <a:off x="758952"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Discovery</a:t>
            </a:r>
          </a:p>
        </p:txBody>
      </p:sp>
      <p:sp>
        <p:nvSpPr>
          <p:cNvPr id="9" name="Rectangle 8"/>
          <p:cNvSpPr/>
          <p:nvPr/>
        </p:nvSpPr>
        <p:spPr>
          <a:xfrm>
            <a:off x="740664"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p validation callers"/>
          <p:cNvSpPr txBox="1"/>
          <p:nvPr/>
        </p:nvSpPr>
        <p:spPr>
          <a:xfrm>
            <a:off x="859536"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Map validation callers</a:t>
            </a:r>
          </a:p>
        </p:txBody>
      </p:sp>
      <p:sp>
        <p:nvSpPr>
          <p:cNvPr id="11" name="Rectangle 10"/>
          <p:cNvSpPr/>
          <p:nvPr/>
        </p:nvSpPr>
        <p:spPr>
          <a:xfrm>
            <a:off x="3401568"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Evidence review"/>
          <p:cNvSpPr txBox="1"/>
          <p:nvPr/>
        </p:nvSpPr>
        <p:spPr>
          <a:xfrm>
            <a:off x="3566160"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Evidence review</a:t>
            </a:r>
          </a:p>
        </p:txBody>
      </p:sp>
      <p:sp>
        <p:nvSpPr>
          <p:cNvPr id="13" name="Rectangle 12"/>
          <p:cNvSpPr/>
          <p:nvPr/>
        </p:nvSpPr>
        <p:spPr>
          <a:xfrm>
            <a:off x="3547872"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Inspect CI stage timings"/>
          <p:cNvSpPr txBox="1"/>
          <p:nvPr/>
        </p:nvSpPr>
        <p:spPr>
          <a:xfrm>
            <a:off x="3666744"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Inspect CI stage timings</a:t>
            </a:r>
          </a:p>
        </p:txBody>
      </p:sp>
      <p:sp>
        <p:nvSpPr>
          <p:cNvPr id="15" name="Rectangle 14"/>
          <p:cNvSpPr/>
          <p:nvPr/>
        </p:nvSpPr>
        <p:spPr>
          <a:xfrm>
            <a:off x="6208776"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pproved"/>
          <p:cNvSpPr txBox="1"/>
          <p:nvPr/>
        </p:nvSpPr>
        <p:spPr>
          <a:xfrm>
            <a:off x="6373368"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Approved</a:t>
            </a:r>
          </a:p>
        </p:txBody>
      </p:sp>
      <p:sp>
        <p:nvSpPr>
          <p:cNvPr id="17" name="Rectangle 16"/>
          <p:cNvSpPr/>
          <p:nvPr/>
        </p:nvSpPr>
        <p:spPr>
          <a:xfrm>
            <a:off x="6355080"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dd agreed behavior tests"/>
          <p:cNvSpPr txBox="1"/>
          <p:nvPr/>
        </p:nvSpPr>
        <p:spPr>
          <a:xfrm>
            <a:off x="6473952"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Add agreed behavior tests</a:t>
            </a:r>
          </a:p>
        </p:txBody>
      </p:sp>
      <p:sp>
        <p:nvSpPr>
          <p:cNvPr id="19" name="Rectangle 18"/>
          <p:cNvSpPr/>
          <p:nvPr/>
        </p:nvSpPr>
        <p:spPr>
          <a:xfrm>
            <a:off x="9015984" y="2432304"/>
            <a:ext cx="2514600" cy="201168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Validating"/>
          <p:cNvSpPr txBox="1"/>
          <p:nvPr/>
        </p:nvSpPr>
        <p:spPr>
          <a:xfrm>
            <a:off x="9180576" y="2615184"/>
            <a:ext cx="2157984" cy="457200"/>
          </a:xfrm>
          <a:prstGeom prst="rect">
            <a:avLst/>
          </a:prstGeom>
          <a:noFill/>
        </p:spPr>
        <p:txBody>
          <a:bodyPr wrap="square" lIns="0" rIns="0" tIns="0" bIns="0">
            <a:spAutoFit/>
          </a:bodyPr>
          <a:lstStyle/>
          <a:p>
            <a:pPr>
              <a:lnSpc>
                <a:spcPct val="107000"/>
              </a:lnSpc>
              <a:spcAft>
                <a:spcPts val="500"/>
              </a:spcAft>
            </a:pPr>
            <a:r>
              <a:rPr sz="1900" b="1">
                <a:solidFill>
                  <a:srgbClr val="101411"/>
                </a:solidFill>
                <a:latin typeface="Arial"/>
              </a:rPr>
              <a:t>Validating</a:t>
            </a:r>
          </a:p>
        </p:txBody>
      </p:sp>
      <p:sp>
        <p:nvSpPr>
          <p:cNvPr id="21" name="Rectangle 20"/>
          <p:cNvSpPr/>
          <p:nvPr/>
        </p:nvSpPr>
        <p:spPr>
          <a:xfrm>
            <a:off x="9162288" y="3200400"/>
            <a:ext cx="2221992" cy="987552"/>
          </a:xfrm>
          <a:prstGeom prst="rect">
            <a:avLst/>
          </a:prstGeom>
          <a:solidFill>
            <a:srgbClr val="FFFFFF"/>
          </a:solidFill>
          <a:ln w="6350">
            <a:solidFill>
              <a:srgbClr val="E4EB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Compare baseline + PR"/>
          <p:cNvSpPr txBox="1"/>
          <p:nvPr/>
        </p:nvSpPr>
        <p:spPr>
          <a:xfrm>
            <a:off x="9281159" y="3374136"/>
            <a:ext cx="1984248" cy="722376"/>
          </a:xfrm>
          <a:prstGeom prst="rect">
            <a:avLst/>
          </a:prstGeom>
          <a:noFill/>
        </p:spPr>
        <p:txBody>
          <a:bodyPr wrap="square" lIns="0" rIns="0" tIns="0" bIns="0">
            <a:spAutoFit/>
          </a:bodyPr>
          <a:lstStyle/>
          <a:p>
            <a:pPr>
              <a:lnSpc>
                <a:spcPct val="107000"/>
              </a:lnSpc>
              <a:spcAft>
                <a:spcPts val="500"/>
              </a:spcAft>
            </a:pPr>
            <a:r>
              <a:rPr sz="1800" b="0">
                <a:solidFill>
                  <a:srgbClr val="232925"/>
                </a:solidFill>
                <a:latin typeface="Arial"/>
              </a:rPr>
              <a:t>Compare baseline + PR</a:t>
            </a:r>
          </a:p>
        </p:txBody>
      </p:sp>
      <p:sp>
        <p:nvSpPr>
          <p:cNvPr id="23" name="Each issue carries evidence, baseline, owner, reviewer,"/>
          <p:cNvSpPr txBox="1"/>
          <p:nvPr/>
        </p:nvSpPr>
        <p:spPr>
          <a:xfrm>
            <a:off x="594360" y="4773168"/>
            <a:ext cx="10927080" cy="822960"/>
          </a:xfrm>
          <a:prstGeom prst="rect">
            <a:avLst/>
          </a:prstGeom>
          <a:noFill/>
        </p:spPr>
        <p:txBody>
          <a:bodyPr wrap="square" lIns="0" rIns="0" tIns="0" bIns="0">
            <a:spAutoFit/>
          </a:bodyPr>
          <a:lstStyle/>
          <a:p>
            <a:pPr>
              <a:lnSpc>
                <a:spcPct val="107000"/>
              </a:lnSpc>
              <a:spcAft>
                <a:spcPts val="500"/>
              </a:spcAft>
            </a:pPr>
            <a:r>
              <a:rPr sz="2400" b="1">
                <a:solidFill>
                  <a:srgbClr val="101411"/>
                </a:solidFill>
                <a:latin typeface="Arial"/>
              </a:rPr>
              <a:t>Each issue carries evidence, baseline, owner, reviewer,</a:t>
            </a:r>
          </a:p>
          <a:p>
            <a:pPr>
              <a:lnSpc>
                <a:spcPct val="107000"/>
              </a:lnSpc>
              <a:spcAft>
                <a:spcPts val="500"/>
              </a:spcAft>
            </a:pPr>
            <a:r>
              <a:rPr sz="2400" b="1">
                <a:solidFill>
                  <a:srgbClr val="101411"/>
                </a:solidFill>
                <a:latin typeface="Arial"/>
              </a:rPr>
              <a:t>acceptance criteria, dependencies, risk and rollback.</a:t>
            </a:r>
          </a:p>
        </p:txBody>
      </p:sp>
      <p:sp>
        <p:nvSpPr>
          <p:cNvPr id="24" name="Illustrative project design—not a live board. Status values "/>
          <p:cNvSpPr txBox="1"/>
          <p:nvPr/>
        </p:nvSpPr>
        <p:spPr>
          <a:xfrm>
            <a:off x="594360" y="5788152"/>
            <a:ext cx="10972800" cy="320040"/>
          </a:xfrm>
          <a:prstGeom prst="rect">
            <a:avLst/>
          </a:prstGeom>
          <a:noFill/>
        </p:spPr>
        <p:txBody>
          <a:bodyPr wrap="square" lIns="0" rIns="0" tIns="0" bIns="0">
            <a:spAutoFit/>
          </a:bodyPr>
          <a:lstStyle/>
          <a:p>
            <a:pPr>
              <a:lnSpc>
                <a:spcPct val="107000"/>
              </a:lnSpc>
              <a:spcAft>
                <a:spcPts val="500"/>
              </a:spcAft>
            </a:pPr>
            <a:r>
              <a:rPr sz="1400" b="0">
                <a:solidFill>
                  <a:srgbClr val="505B53"/>
                </a:solidFill>
                <a:latin typeface="Arial"/>
              </a:rPr>
              <a:t>Illustrative project design—not a live board. Status values do not enforce approvals.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A backlog of hypotheses—not a list of rewrite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A backlog of hypotheses—not a list of rewrites.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8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08 / 12</a:t>
            </a:r>
          </a:p>
        </p:txBody>
      </p:sp>
      <p:sp>
        <p:nvSpPr>
          <p:cNvPr id="6" name="Rectangle 5"/>
          <p:cNvSpPr/>
          <p:nvPr/>
        </p:nvSpPr>
        <p:spPr>
          <a:xfrm>
            <a:off x="594360" y="1664208"/>
            <a:ext cx="10972800" cy="548640"/>
          </a:xfrm>
          <a:prstGeom prst="rect">
            <a:avLst/>
          </a:prstGeom>
          <a:solidFill>
            <a:srgbClr val="1014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ndidate work"/>
          <p:cNvSpPr txBox="1"/>
          <p:nvPr/>
        </p:nvSpPr>
        <p:spPr>
          <a:xfrm>
            <a:off x="704088" y="1773936"/>
            <a:ext cx="288950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Candidate work</a:t>
            </a:r>
          </a:p>
        </p:txBody>
      </p:sp>
      <p:sp>
        <p:nvSpPr>
          <p:cNvPr id="8" name="Evidence before approval"/>
          <p:cNvSpPr txBox="1"/>
          <p:nvPr/>
        </p:nvSpPr>
        <p:spPr>
          <a:xfrm>
            <a:off x="3813048" y="1773936"/>
            <a:ext cx="458114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Evidence before approval</a:t>
            </a:r>
          </a:p>
        </p:txBody>
      </p:sp>
      <p:sp>
        <p:nvSpPr>
          <p:cNvPr id="9" name="Smallest next step"/>
          <p:cNvSpPr txBox="1"/>
          <p:nvPr/>
        </p:nvSpPr>
        <p:spPr>
          <a:xfrm>
            <a:off x="8613648" y="1773936"/>
            <a:ext cx="2843784" cy="402335"/>
          </a:xfrm>
          <a:prstGeom prst="rect">
            <a:avLst/>
          </a:prstGeom>
          <a:noFill/>
        </p:spPr>
        <p:txBody>
          <a:bodyPr wrap="square" lIns="0" rIns="0" tIns="0" bIns="0">
            <a:spAutoFit/>
          </a:bodyPr>
          <a:lstStyle/>
          <a:p>
            <a:pPr>
              <a:lnSpc>
                <a:spcPct val="107000"/>
              </a:lnSpc>
              <a:spcAft>
                <a:spcPts val="500"/>
              </a:spcAft>
            </a:pPr>
            <a:r>
              <a:rPr sz="1700" b="1">
                <a:solidFill>
                  <a:srgbClr val="FFFFFF"/>
                </a:solidFill>
                <a:latin typeface="Arial"/>
              </a:rPr>
              <a:t>Smallest next step</a:t>
            </a:r>
          </a:p>
        </p:txBody>
      </p:sp>
      <p:sp>
        <p:nvSpPr>
          <p:cNvPr id="10" name="Rectangle 9"/>
          <p:cNvSpPr/>
          <p:nvPr/>
        </p:nvSpPr>
        <p:spPr>
          <a:xfrm>
            <a:off x="594360" y="3070555"/>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tect the critical path"/>
          <p:cNvSpPr txBox="1"/>
          <p:nvPr/>
        </p:nvSpPr>
        <p:spPr>
          <a:xfrm>
            <a:off x="704088" y="2459736"/>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Protect the critical path</a:t>
            </a:r>
          </a:p>
        </p:txBody>
      </p:sp>
      <p:sp>
        <p:nvSpPr>
          <p:cNvPr id="12" name="Owner-confirmed behavior"/>
          <p:cNvSpPr txBox="1"/>
          <p:nvPr/>
        </p:nvSpPr>
        <p:spPr>
          <a:xfrm>
            <a:off x="3813048" y="2459736"/>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Owner-confirmed behavior</a:t>
            </a:r>
          </a:p>
          <a:p>
            <a:pPr>
              <a:lnSpc>
                <a:spcPct val="107000"/>
              </a:lnSpc>
              <a:spcAft>
                <a:spcPts val="500"/>
              </a:spcAft>
            </a:pPr>
            <a:r>
              <a:rPr sz="1700" b="0">
                <a:solidFill>
                  <a:srgbClr val="232925"/>
                </a:solidFill>
                <a:latin typeface="Arial"/>
              </a:rPr>
              <a:t>and a demonstrable test gap</a:t>
            </a:r>
          </a:p>
        </p:txBody>
      </p:sp>
      <p:sp>
        <p:nvSpPr>
          <p:cNvPr id="13" name="Characterization tests"/>
          <p:cNvSpPr txBox="1"/>
          <p:nvPr/>
        </p:nvSpPr>
        <p:spPr>
          <a:xfrm>
            <a:off x="8613648" y="2459736"/>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Characterization tests</a:t>
            </a:r>
          </a:p>
        </p:txBody>
      </p:sp>
      <p:sp>
        <p:nvSpPr>
          <p:cNvPr id="14" name="Rectangle 13"/>
          <p:cNvSpPr/>
          <p:nvPr/>
        </p:nvSpPr>
        <p:spPr>
          <a:xfrm>
            <a:off x="594360" y="3902659"/>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Investigate slow CI setup"/>
          <p:cNvSpPr txBox="1"/>
          <p:nvPr/>
        </p:nvSpPr>
        <p:spPr>
          <a:xfrm>
            <a:off x="704088" y="3291840"/>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Investigate slow CI setup</a:t>
            </a:r>
          </a:p>
        </p:txBody>
      </p:sp>
      <p:sp>
        <p:nvSpPr>
          <p:cNvPr id="16" name="Comparable step timings"/>
          <p:cNvSpPr txBox="1"/>
          <p:nvPr/>
        </p:nvSpPr>
        <p:spPr>
          <a:xfrm>
            <a:off x="3813048" y="3291840"/>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Comparable step timings</a:t>
            </a:r>
          </a:p>
          <a:p>
            <a:pPr>
              <a:lnSpc>
                <a:spcPct val="107000"/>
              </a:lnSpc>
              <a:spcAft>
                <a:spcPts val="500"/>
              </a:spcAft>
            </a:pPr>
            <a:r>
              <a:rPr sz="1700" b="0">
                <a:solidFill>
                  <a:srgbClr val="232925"/>
                </a:solidFill>
                <a:latin typeface="Arial"/>
              </a:rPr>
              <a:t>and observed cache behavior</a:t>
            </a:r>
          </a:p>
        </p:txBody>
      </p:sp>
      <p:sp>
        <p:nvSpPr>
          <p:cNvPr id="17" name="Trace the delay first"/>
          <p:cNvSpPr txBox="1"/>
          <p:nvPr/>
        </p:nvSpPr>
        <p:spPr>
          <a:xfrm>
            <a:off x="8613648" y="3291840"/>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Trace the delay first</a:t>
            </a:r>
          </a:p>
        </p:txBody>
      </p:sp>
      <p:sp>
        <p:nvSpPr>
          <p:cNvPr id="18" name="Rectangle 17"/>
          <p:cNvSpPr/>
          <p:nvPr/>
        </p:nvSpPr>
        <p:spPr>
          <a:xfrm>
            <a:off x="594360" y="4734763"/>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ssess runtime support"/>
          <p:cNvSpPr txBox="1"/>
          <p:nvPr/>
        </p:nvSpPr>
        <p:spPr>
          <a:xfrm>
            <a:off x="704088" y="4123944"/>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Assess runtime support</a:t>
            </a:r>
          </a:p>
        </p:txBody>
      </p:sp>
      <p:sp>
        <p:nvSpPr>
          <p:cNvPr id="20" name="Installed version and current"/>
          <p:cNvSpPr txBox="1"/>
          <p:nvPr/>
        </p:nvSpPr>
        <p:spPr>
          <a:xfrm>
            <a:off x="3813048" y="4123944"/>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Installed version and current</a:t>
            </a:r>
          </a:p>
          <a:p>
            <a:pPr>
              <a:lnSpc>
                <a:spcPct val="107000"/>
              </a:lnSpc>
              <a:spcAft>
                <a:spcPts val="500"/>
              </a:spcAft>
            </a:pPr>
            <a:r>
              <a:rPr sz="1700" b="0">
                <a:solidFill>
                  <a:srgbClr val="232925"/>
                </a:solidFill>
                <a:latin typeface="Arial"/>
              </a:rPr>
              <a:t>vendor support policy</a:t>
            </a:r>
          </a:p>
        </p:txBody>
      </p:sp>
      <p:sp>
        <p:nvSpPr>
          <p:cNvPr id="21" name="Retain / upgrade / isolate"/>
          <p:cNvSpPr txBox="1"/>
          <p:nvPr/>
        </p:nvSpPr>
        <p:spPr>
          <a:xfrm>
            <a:off x="8613648" y="4123944"/>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Retain / upgrade / isolate</a:t>
            </a:r>
          </a:p>
        </p:txBody>
      </p:sp>
      <p:sp>
        <p:nvSpPr>
          <p:cNvPr id="22" name="Rectangle 21"/>
          <p:cNvSpPr/>
          <p:nvPr/>
        </p:nvSpPr>
        <p:spPr>
          <a:xfrm>
            <a:off x="594360" y="5566867"/>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duce ownership risk"/>
          <p:cNvSpPr txBox="1"/>
          <p:nvPr/>
        </p:nvSpPr>
        <p:spPr>
          <a:xfrm>
            <a:off x="704088" y="4956048"/>
            <a:ext cx="288950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Reduce ownership risk</a:t>
            </a:r>
          </a:p>
        </p:txBody>
      </p:sp>
      <p:sp>
        <p:nvSpPr>
          <p:cNvPr id="24" name="A verified ownership or"/>
          <p:cNvSpPr txBox="1"/>
          <p:nvPr/>
        </p:nvSpPr>
        <p:spPr>
          <a:xfrm>
            <a:off x="3813048" y="4956048"/>
            <a:ext cx="458114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A verified ownership or</a:t>
            </a:r>
          </a:p>
          <a:p>
            <a:pPr>
              <a:lnSpc>
                <a:spcPct val="107000"/>
              </a:lnSpc>
              <a:spcAft>
                <a:spcPts val="500"/>
              </a:spcAft>
            </a:pPr>
            <a:r>
              <a:rPr sz="1700" b="0">
                <a:solidFill>
                  <a:srgbClr val="232925"/>
                </a:solidFill>
                <a:latin typeface="Arial"/>
              </a:rPr>
              <a:t>release-recovery documentation gap</a:t>
            </a:r>
          </a:p>
        </p:txBody>
      </p:sp>
      <p:sp>
        <p:nvSpPr>
          <p:cNvPr id="25" name="Review a reusable runbook"/>
          <p:cNvSpPr txBox="1"/>
          <p:nvPr/>
        </p:nvSpPr>
        <p:spPr>
          <a:xfrm>
            <a:off x="8613648" y="4956048"/>
            <a:ext cx="2843784" cy="585216"/>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Review a reusable runbook</a:t>
            </a:r>
          </a:p>
        </p:txBody>
      </p:sp>
      <p:sp>
        <p:nvSpPr>
          <p:cNvPr id="26" name="Illustrative candidates. None are findings about this reposi"/>
          <p:cNvSpPr txBox="1"/>
          <p:nvPr/>
        </p:nvSpPr>
        <p:spPr>
          <a:xfrm>
            <a:off x="594360" y="5833872"/>
            <a:ext cx="10972800" cy="274320"/>
          </a:xfrm>
          <a:prstGeom prst="rect">
            <a:avLst/>
          </a:prstGeom>
          <a:noFill/>
        </p:spPr>
        <p:txBody>
          <a:bodyPr wrap="square" lIns="0" rIns="0" tIns="0" bIns="0">
            <a:spAutoFit/>
          </a:bodyPr>
          <a:lstStyle/>
          <a:p>
            <a:pPr>
              <a:lnSpc>
                <a:spcPct val="107000"/>
              </a:lnSpc>
              <a:spcAft>
                <a:spcPts val="500"/>
              </a:spcAft>
            </a:pPr>
            <a:r>
              <a:rPr sz="1400" b="0">
                <a:solidFill>
                  <a:srgbClr val="505B53"/>
                </a:solidFill>
                <a:latin typeface="Arial"/>
              </a:rPr>
              <a:t>Illustrative candidates. None are findings about this repository.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rioritize business value and change confidenc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Prioritize business value and change confidence.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09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09 / 12</a:t>
            </a:r>
          </a:p>
        </p:txBody>
      </p:sp>
      <p:sp>
        <p:nvSpPr>
          <p:cNvPr id="6" name="Rectangle 5"/>
          <p:cNvSpPr/>
          <p:nvPr/>
        </p:nvSpPr>
        <p:spPr>
          <a:xfrm>
            <a:off x="594360" y="1737360"/>
            <a:ext cx="5349240" cy="15727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igh criticality · Low confidence"/>
          <p:cNvSpPr txBox="1"/>
          <p:nvPr/>
        </p:nvSpPr>
        <p:spPr>
          <a:xfrm>
            <a:off x="777240" y="1920240"/>
            <a:ext cx="4937760" cy="502920"/>
          </a:xfrm>
          <a:prstGeom prst="rect">
            <a:avLst/>
          </a:prstGeom>
          <a:noFill/>
        </p:spPr>
        <p:txBody>
          <a:bodyPr wrap="square" lIns="0" rIns="0" tIns="0" bIns="0">
            <a:spAutoFit/>
          </a:bodyPr>
          <a:lstStyle/>
          <a:p>
            <a:pPr>
              <a:lnSpc>
                <a:spcPct val="107000"/>
              </a:lnSpc>
              <a:spcAft>
                <a:spcPts val="500"/>
              </a:spcAft>
            </a:pPr>
            <a:r>
              <a:rPr sz="2200" b="1">
                <a:solidFill>
                  <a:srgbClr val="08872B"/>
                </a:solidFill>
                <a:latin typeface="Arial"/>
              </a:rPr>
              <a:t>High criticality · Low confidence</a:t>
            </a:r>
          </a:p>
        </p:txBody>
      </p:sp>
      <p:sp>
        <p:nvSpPr>
          <p:cNvPr id="8" name="Investigate and protect first."/>
          <p:cNvSpPr txBox="1"/>
          <p:nvPr/>
        </p:nvSpPr>
        <p:spPr>
          <a:xfrm>
            <a:off x="777240" y="2578608"/>
            <a:ext cx="4937760" cy="54864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Investigate and protect first.</a:t>
            </a:r>
          </a:p>
        </p:txBody>
      </p:sp>
      <p:sp>
        <p:nvSpPr>
          <p:cNvPr id="9" name="Rectangle 8"/>
          <p:cNvSpPr/>
          <p:nvPr/>
        </p:nvSpPr>
        <p:spPr>
          <a:xfrm>
            <a:off x="6217920" y="1737360"/>
            <a:ext cx="5349240" cy="15727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High criticality · High confidence"/>
          <p:cNvSpPr txBox="1"/>
          <p:nvPr/>
        </p:nvSpPr>
        <p:spPr>
          <a:xfrm>
            <a:off x="6400800" y="1920240"/>
            <a:ext cx="4937760" cy="502920"/>
          </a:xfrm>
          <a:prstGeom prst="rect">
            <a:avLst/>
          </a:prstGeom>
          <a:noFill/>
        </p:spPr>
        <p:txBody>
          <a:bodyPr wrap="square" lIns="0" rIns="0" tIns="0" bIns="0">
            <a:spAutoFit/>
          </a:bodyPr>
          <a:lstStyle/>
          <a:p>
            <a:pPr>
              <a:lnSpc>
                <a:spcPct val="107000"/>
              </a:lnSpc>
              <a:spcAft>
                <a:spcPts val="500"/>
              </a:spcAft>
            </a:pPr>
            <a:r>
              <a:rPr sz="2200" b="1">
                <a:solidFill>
                  <a:srgbClr val="08872B"/>
                </a:solidFill>
                <a:latin typeface="Arial"/>
              </a:rPr>
              <a:t>High criticality · High confidence</a:t>
            </a:r>
          </a:p>
        </p:txBody>
      </p:sp>
      <p:sp>
        <p:nvSpPr>
          <p:cNvPr id="11" name="Target a measured constraint."/>
          <p:cNvSpPr txBox="1"/>
          <p:nvPr/>
        </p:nvSpPr>
        <p:spPr>
          <a:xfrm>
            <a:off x="6400800" y="2578608"/>
            <a:ext cx="4937760" cy="54864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Target a measured constraint.</a:t>
            </a:r>
          </a:p>
        </p:txBody>
      </p:sp>
      <p:sp>
        <p:nvSpPr>
          <p:cNvPr id="12" name="Rectangle 11"/>
          <p:cNvSpPr/>
          <p:nvPr/>
        </p:nvSpPr>
        <p:spPr>
          <a:xfrm>
            <a:off x="594360" y="3566160"/>
            <a:ext cx="5349240" cy="15727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ow criticality · Low confidence"/>
          <p:cNvSpPr txBox="1"/>
          <p:nvPr/>
        </p:nvSpPr>
        <p:spPr>
          <a:xfrm>
            <a:off x="777240" y="3749039"/>
            <a:ext cx="4937760" cy="502920"/>
          </a:xfrm>
          <a:prstGeom prst="rect">
            <a:avLst/>
          </a:prstGeom>
          <a:noFill/>
        </p:spPr>
        <p:txBody>
          <a:bodyPr wrap="square" lIns="0" rIns="0" tIns="0" bIns="0">
            <a:spAutoFit/>
          </a:bodyPr>
          <a:lstStyle/>
          <a:p>
            <a:pPr>
              <a:lnSpc>
                <a:spcPct val="107000"/>
              </a:lnSpc>
              <a:spcAft>
                <a:spcPts val="500"/>
              </a:spcAft>
            </a:pPr>
            <a:r>
              <a:rPr sz="2200" b="1">
                <a:solidFill>
                  <a:srgbClr val="232925"/>
                </a:solidFill>
                <a:latin typeface="Arial"/>
              </a:rPr>
              <a:t>Low criticality · Low confidence</a:t>
            </a:r>
          </a:p>
        </p:txBody>
      </p:sp>
      <p:sp>
        <p:nvSpPr>
          <p:cNvPr id="14" name="Confirm value and dependencies."/>
          <p:cNvSpPr txBox="1"/>
          <p:nvPr/>
        </p:nvSpPr>
        <p:spPr>
          <a:xfrm>
            <a:off x="777240" y="4407408"/>
            <a:ext cx="4937760" cy="54864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Confirm value and dependencies.</a:t>
            </a:r>
          </a:p>
        </p:txBody>
      </p:sp>
      <p:sp>
        <p:nvSpPr>
          <p:cNvPr id="15" name="Rectangle 14"/>
          <p:cNvSpPr/>
          <p:nvPr/>
        </p:nvSpPr>
        <p:spPr>
          <a:xfrm>
            <a:off x="6217920" y="3566160"/>
            <a:ext cx="5349240" cy="1572768"/>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ow criticality · High confidence"/>
          <p:cNvSpPr txBox="1"/>
          <p:nvPr/>
        </p:nvSpPr>
        <p:spPr>
          <a:xfrm>
            <a:off x="6400800" y="3749039"/>
            <a:ext cx="4937760" cy="502920"/>
          </a:xfrm>
          <a:prstGeom prst="rect">
            <a:avLst/>
          </a:prstGeom>
          <a:noFill/>
        </p:spPr>
        <p:txBody>
          <a:bodyPr wrap="square" lIns="0" rIns="0" tIns="0" bIns="0">
            <a:spAutoFit/>
          </a:bodyPr>
          <a:lstStyle/>
          <a:p>
            <a:pPr>
              <a:lnSpc>
                <a:spcPct val="107000"/>
              </a:lnSpc>
              <a:spcAft>
                <a:spcPts val="500"/>
              </a:spcAft>
            </a:pPr>
            <a:r>
              <a:rPr sz="2200" b="1">
                <a:solidFill>
                  <a:srgbClr val="232925"/>
                </a:solidFill>
                <a:latin typeface="Arial"/>
              </a:rPr>
              <a:t>Low criticality · High confidence</a:t>
            </a:r>
          </a:p>
        </p:txBody>
      </p:sp>
      <p:sp>
        <p:nvSpPr>
          <p:cNvPr id="17" name="Retain or improve selectively."/>
          <p:cNvSpPr txBox="1"/>
          <p:nvPr/>
        </p:nvSpPr>
        <p:spPr>
          <a:xfrm>
            <a:off x="6400800" y="4407408"/>
            <a:ext cx="4937760" cy="54864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Retain or improve selectively.</a:t>
            </a:r>
          </a:p>
        </p:txBody>
      </p:sp>
      <p:sp>
        <p:nvSpPr>
          <p:cNvPr id="18" name="Unknown ≠ low risk. Old ≠ obsolete. “Do not change” is a val"/>
          <p:cNvSpPr txBox="1"/>
          <p:nvPr/>
        </p:nvSpPr>
        <p:spPr>
          <a:xfrm>
            <a:off x="594360" y="5586984"/>
            <a:ext cx="10972800" cy="411480"/>
          </a:xfrm>
          <a:prstGeom prst="rect">
            <a:avLst/>
          </a:prstGeom>
          <a:noFill/>
        </p:spPr>
        <p:txBody>
          <a:bodyPr wrap="square" lIns="0" rIns="0" tIns="0" bIns="0">
            <a:spAutoFit/>
          </a:bodyPr>
          <a:lstStyle/>
          <a:p>
            <a:pPr>
              <a:lnSpc>
                <a:spcPct val="107000"/>
              </a:lnSpc>
              <a:spcAft>
                <a:spcPts val="500"/>
              </a:spcAft>
            </a:pPr>
            <a:r>
              <a:rPr sz="2200" b="1">
                <a:solidFill>
                  <a:srgbClr val="101411"/>
                </a:solidFill>
                <a:latin typeface="Arial"/>
              </a:rPr>
              <a:t>Unknown ≠ low risk. Old ≠ obsolete. “Do not change” is a valid decision.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earing starts discovery. It does not certify chang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Bearing starts discovery. It does not certify change.</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10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10 / 12</a:t>
            </a:r>
          </a:p>
        </p:txBody>
      </p:sp>
      <p:sp>
        <p:nvSpPr>
          <p:cNvPr id="6" name="Available in Bearing today"/>
          <p:cNvSpPr txBox="1"/>
          <p:nvPr/>
        </p:nvSpPr>
        <p:spPr>
          <a:xfrm>
            <a:off x="594360" y="1874519"/>
            <a:ext cx="5166360" cy="457200"/>
          </a:xfrm>
          <a:prstGeom prst="rect">
            <a:avLst/>
          </a:prstGeom>
          <a:noFill/>
        </p:spPr>
        <p:txBody>
          <a:bodyPr wrap="square" lIns="0" rIns="0" tIns="0" bIns="0">
            <a:spAutoFit/>
          </a:bodyPr>
          <a:lstStyle/>
          <a:p>
            <a:pPr>
              <a:lnSpc>
                <a:spcPct val="107000"/>
              </a:lnSpc>
              <a:spcAft>
                <a:spcPts val="500"/>
              </a:spcAft>
            </a:pPr>
            <a:r>
              <a:rPr sz="2400" b="1">
                <a:solidFill>
                  <a:srgbClr val="08872B"/>
                </a:solidFill>
                <a:latin typeface="Arial"/>
              </a:rPr>
              <a:t>Available in Bearing today</a:t>
            </a:r>
          </a:p>
        </p:txBody>
      </p:sp>
      <p:sp>
        <p:nvSpPr>
          <p:cNvPr id="7" name="Read-only repository orientation."/>
          <p:cNvSpPr txBox="1"/>
          <p:nvPr/>
        </p:nvSpPr>
        <p:spPr>
          <a:xfrm>
            <a:off x="594360" y="2487168"/>
            <a:ext cx="516636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Read-only repository orientation.</a:t>
            </a:r>
          </a:p>
          <a:p>
            <a:pPr>
              <a:lnSpc>
                <a:spcPct val="107000"/>
              </a:lnSpc>
              <a:spcAft>
                <a:spcPts val="500"/>
              </a:spcAft>
            </a:pPr>
            <a:r>
              <a:rPr sz="2000" b="0">
                <a:solidFill>
                  <a:srgbClr val="232925"/>
                </a:solidFill>
                <a:latin typeface="Arial"/>
              </a:rPr>
              <a:t>Parallel map + merged-PR research.</a:t>
            </a:r>
          </a:p>
          <a:p>
            <a:pPr>
              <a:lnSpc>
                <a:spcPct val="107000"/>
              </a:lnSpc>
              <a:spcAft>
                <a:spcPts val="500"/>
              </a:spcAft>
            </a:pPr>
            <a:r>
              <a:rPr sz="2000" b="0">
                <a:solidFill>
                  <a:srgbClr val="232925"/>
                </a:solidFill>
                <a:latin typeface="Arial"/>
              </a:rPr>
              <a:t>Incremental seven-section canvas.</a:t>
            </a:r>
          </a:p>
          <a:p>
            <a:pPr>
              <a:lnSpc>
                <a:spcPct val="107000"/>
              </a:lnSpc>
              <a:spcAft>
                <a:spcPts val="500"/>
              </a:spcAft>
            </a:pPr>
            <a:r>
              <a:rPr sz="2000" b="0">
                <a:solidFill>
                  <a:srgbClr val="232925"/>
                </a:solidFill>
                <a:latin typeface="Arial"/>
              </a:rPr>
              <a:t>File evidence and explicit unavailable sections.</a:t>
            </a:r>
          </a:p>
          <a:p>
            <a:pPr>
              <a:lnSpc>
                <a:spcPct val="107000"/>
              </a:lnSpc>
              <a:spcAft>
                <a:spcPts val="500"/>
              </a:spcAft>
            </a:pPr>
            <a:r>
              <a:rPr sz="2000" b="0">
                <a:solidFill>
                  <a:srgbClr val="232925"/>
                </a:solidFill>
                <a:latin typeface="Arial"/>
              </a:rPr>
              <a:t>Persistent first-steps checklist.</a:t>
            </a:r>
          </a:p>
        </p:txBody>
      </p:sp>
      <p:sp>
        <p:nvSpPr>
          <p:cNvPr id="8" name="Separate proposed assessment"/>
          <p:cNvSpPr txBox="1"/>
          <p:nvPr/>
        </p:nvSpPr>
        <p:spPr>
          <a:xfrm>
            <a:off x="6400800" y="1874519"/>
            <a:ext cx="5166360" cy="457200"/>
          </a:xfrm>
          <a:prstGeom prst="rect">
            <a:avLst/>
          </a:prstGeom>
          <a:noFill/>
        </p:spPr>
        <p:txBody>
          <a:bodyPr wrap="square" lIns="0" rIns="0" tIns="0" bIns="0">
            <a:spAutoFit/>
          </a:bodyPr>
          <a:lstStyle/>
          <a:p>
            <a:pPr>
              <a:lnSpc>
                <a:spcPct val="107000"/>
              </a:lnSpc>
              <a:spcAft>
                <a:spcPts val="500"/>
              </a:spcAft>
            </a:pPr>
            <a:r>
              <a:rPr sz="2400" b="1">
                <a:solidFill>
                  <a:srgbClr val="8534F3"/>
                </a:solidFill>
                <a:latin typeface="Arial"/>
              </a:rPr>
              <a:t>Separate proposed assessment</a:t>
            </a:r>
          </a:p>
        </p:txBody>
      </p:sp>
      <p:sp>
        <p:nvSpPr>
          <p:cNvPr id="9" name="Critical-journey and owner review."/>
          <p:cNvSpPr txBox="1"/>
          <p:nvPr/>
        </p:nvSpPr>
        <p:spPr>
          <a:xfrm>
            <a:off x="6400800" y="2487168"/>
            <a:ext cx="5166360" cy="2651760"/>
          </a:xfrm>
          <a:prstGeom prst="rect">
            <a:avLst/>
          </a:prstGeom>
          <a:noFill/>
        </p:spPr>
        <p:txBody>
          <a:bodyPr wrap="square" lIns="0" rIns="0" tIns="0" bIns="0">
            <a:spAutoFit/>
          </a:bodyPr>
          <a:lstStyle/>
          <a:p>
            <a:pPr>
              <a:lnSpc>
                <a:spcPct val="107000"/>
              </a:lnSpc>
              <a:spcAft>
                <a:spcPts val="500"/>
              </a:spcAft>
            </a:pPr>
            <a:r>
              <a:rPr sz="2000" b="0">
                <a:solidFill>
                  <a:srgbClr val="232925"/>
                </a:solidFill>
                <a:latin typeface="Arial"/>
              </a:rPr>
              <a:t>Critical-journey and owner review.</a:t>
            </a:r>
          </a:p>
          <a:p>
            <a:pPr>
              <a:lnSpc>
                <a:spcPct val="107000"/>
              </a:lnSpc>
              <a:spcAft>
                <a:spcPts val="500"/>
              </a:spcAft>
            </a:pPr>
            <a:r>
              <a:rPr sz="2000" b="0">
                <a:solidFill>
                  <a:srgbClr val="232925"/>
                </a:solidFill>
                <a:latin typeface="Arial"/>
              </a:rPr>
              <a:t>Coverage and CI data collection.</a:t>
            </a:r>
          </a:p>
          <a:p>
            <a:pPr>
              <a:lnSpc>
                <a:spcPct val="107000"/>
              </a:lnSpc>
              <a:spcAft>
                <a:spcPts val="500"/>
              </a:spcAft>
            </a:pPr>
            <a:r>
              <a:rPr sz="2000" b="0">
                <a:solidFill>
                  <a:srgbClr val="232925"/>
                </a:solidFill>
                <a:latin typeface="Arial"/>
              </a:rPr>
              <a:t>Comparable runtime measurements.</a:t>
            </a:r>
          </a:p>
          <a:p>
            <a:pPr>
              <a:lnSpc>
                <a:spcPct val="107000"/>
              </a:lnSpc>
              <a:spcAft>
                <a:spcPts val="500"/>
              </a:spcAft>
            </a:pPr>
            <a:r>
              <a:rPr sz="2000" b="0">
                <a:solidFill>
                  <a:srgbClr val="232925"/>
                </a:solidFill>
                <a:latin typeface="Arial"/>
              </a:rPr>
              <a:t>Support-lifecycle assessment.</a:t>
            </a:r>
          </a:p>
          <a:p>
            <a:pPr>
              <a:lnSpc>
                <a:spcPct val="107000"/>
              </a:lnSpc>
              <a:spcAft>
                <a:spcPts val="500"/>
              </a:spcAft>
            </a:pPr>
            <a:r>
              <a:rPr sz="2000" b="0">
                <a:solidFill>
                  <a:srgbClr val="232925"/>
                </a:solidFill>
                <a:latin typeface="Arial"/>
              </a:rPr>
              <a:t>Prioritization and GitHub project setup.</a:t>
            </a:r>
          </a:p>
        </p:txBody>
      </p:sp>
      <p:sp>
        <p:nvSpPr>
          <p:cNvPr id="10" name="Rectangle 9"/>
          <p:cNvSpPr/>
          <p:nvPr/>
        </p:nvSpPr>
        <p:spPr>
          <a:xfrm>
            <a:off x="594360" y="5404104"/>
            <a:ext cx="10972800" cy="502920"/>
          </a:xfrm>
          <a:prstGeom prst="rect">
            <a:avLst/>
          </a:prstGeom>
          <a:solidFill>
            <a:srgbClr val="F2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earing does not run builds/tests, measure coverage or autom"/>
          <p:cNvSpPr txBox="1"/>
          <p:nvPr/>
        </p:nvSpPr>
        <p:spPr>
          <a:xfrm>
            <a:off x="768096" y="5522976"/>
            <a:ext cx="10607040" cy="274320"/>
          </a:xfrm>
          <a:prstGeom prst="rect">
            <a:avLst/>
          </a:prstGeom>
          <a:noFill/>
        </p:spPr>
        <p:txBody>
          <a:bodyPr wrap="square" lIns="0" rIns="0" tIns="0" bIns="0">
            <a:spAutoFit/>
          </a:bodyPr>
          <a:lstStyle/>
          <a:p>
            <a:pPr>
              <a:lnSpc>
                <a:spcPct val="107000"/>
              </a:lnSpc>
              <a:spcAft>
                <a:spcPts val="500"/>
              </a:spcAft>
            </a:pPr>
            <a:r>
              <a:rPr sz="1700" b="1">
                <a:solidFill>
                  <a:srgbClr val="101411"/>
                </a:solidFill>
                <a:latin typeface="Arial"/>
              </a:rPr>
              <a:t>Bearing does not run builds/tests, measure coverage or automatically create this project.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01411"/>
        </a:solidFill>
        <a:effectLst/>
      </p:bgPr>
    </p:bg>
    <p:spTree>
      <p:nvGrpSpPr>
        <p:cNvPr id="1" name=""/>
        <p:cNvGrpSpPr/>
        <p:nvPr/>
      </p:nvGrpSpPr>
      <p:grpSpPr/>
      <p:sp>
        <p:nvSpPr>
          <p:cNvPr id="2" name="Start with one service."/>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FFFFFF"/>
                </a:solidFill>
                <a:latin typeface="Arial"/>
              </a:rPr>
              <a:t>Start with one service.</a:t>
            </a:r>
          </a:p>
        </p:txBody>
      </p:sp>
      <p:sp>
        <p:nvSpPr>
          <p:cNvPr id="3" name="Rectangle 2"/>
          <p:cNvSpPr/>
          <p:nvPr/>
        </p:nvSpPr>
        <p:spPr>
          <a:xfrm>
            <a:off x="594360" y="6327648"/>
            <a:ext cx="10972800" cy="10972"/>
          </a:xfrm>
          <a:prstGeom prst="rect">
            <a:avLst/>
          </a:prstGeom>
          <a:solidFill>
            <a:srgbClr val="505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Bearing  |  GitHub Copilot App workflow</a:t>
            </a:r>
          </a:p>
        </p:txBody>
      </p:sp>
      <p:sp>
        <p:nvSpPr>
          <p:cNvPr id="5" name="11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B6BFB8"/>
                </a:solidFill>
                <a:latin typeface="Arial"/>
              </a:rPr>
              <a:t>11 / 12</a:t>
            </a:r>
          </a:p>
        </p:txBody>
      </p:sp>
      <p:sp>
        <p:nvSpPr>
          <p:cNvPr id="6" name="Prove one justified improvement."/>
          <p:cNvSpPr txBox="1"/>
          <p:nvPr/>
        </p:nvSpPr>
        <p:spPr>
          <a:xfrm>
            <a:off x="594360" y="1554480"/>
            <a:ext cx="10972800" cy="713232"/>
          </a:xfrm>
          <a:prstGeom prst="rect">
            <a:avLst/>
          </a:prstGeom>
          <a:noFill/>
        </p:spPr>
        <p:txBody>
          <a:bodyPr wrap="square" lIns="0" rIns="0" tIns="0" bIns="0">
            <a:spAutoFit/>
          </a:bodyPr>
          <a:lstStyle/>
          <a:p>
            <a:pPr>
              <a:lnSpc>
                <a:spcPct val="107000"/>
              </a:lnSpc>
              <a:spcAft>
                <a:spcPts val="500"/>
              </a:spcAft>
            </a:pPr>
            <a:r>
              <a:rPr sz="3700" b="1">
                <a:solidFill>
                  <a:srgbClr val="0FBF3E"/>
                </a:solidFill>
                <a:latin typeface="Arial"/>
              </a:rPr>
              <a:t>Prove one justified improvement.</a:t>
            </a:r>
          </a:p>
        </p:txBody>
      </p:sp>
      <p:sp>
        <p:nvSpPr>
          <p:cNvPr id="7" name="One journey"/>
          <p:cNvSpPr txBox="1"/>
          <p:nvPr/>
        </p:nvSpPr>
        <p:spPr>
          <a:xfrm>
            <a:off x="594360"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Arial"/>
              </a:rPr>
              <a:t>One journey</a:t>
            </a:r>
          </a:p>
        </p:txBody>
      </p:sp>
      <p:sp>
        <p:nvSpPr>
          <p:cNvPr id="8" name="A business-critical flow"/>
          <p:cNvSpPr txBox="1"/>
          <p:nvPr/>
        </p:nvSpPr>
        <p:spPr>
          <a:xfrm>
            <a:off x="594360"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A business-critical flow</a:t>
            </a:r>
          </a:p>
          <a:p>
            <a:pPr>
              <a:lnSpc>
                <a:spcPct val="107000"/>
              </a:lnSpc>
              <a:spcAft>
                <a:spcPts val="500"/>
              </a:spcAft>
            </a:pPr>
            <a:r>
              <a:rPr sz="2100" b="0">
                <a:solidFill>
                  <a:srgbClr val="B6BFB8"/>
                </a:solidFill>
                <a:latin typeface="Arial"/>
              </a:rPr>
              <a:t>whose behavior must stay intact.</a:t>
            </a:r>
          </a:p>
        </p:txBody>
      </p:sp>
      <p:sp>
        <p:nvSpPr>
          <p:cNvPr id="9" name="One owner"/>
          <p:cNvSpPr txBox="1"/>
          <p:nvPr/>
        </p:nvSpPr>
        <p:spPr>
          <a:xfrm>
            <a:off x="4425696"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Arial"/>
              </a:rPr>
              <a:t>One owner</a:t>
            </a:r>
          </a:p>
        </p:txBody>
      </p:sp>
      <p:sp>
        <p:nvSpPr>
          <p:cNvPr id="10" name="Someone who can validate"/>
          <p:cNvSpPr txBox="1"/>
          <p:nvPr/>
        </p:nvSpPr>
        <p:spPr>
          <a:xfrm>
            <a:off x="4425696"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Someone who can validate</a:t>
            </a:r>
          </a:p>
          <a:p>
            <a:pPr>
              <a:lnSpc>
                <a:spcPct val="107000"/>
              </a:lnSpc>
              <a:spcAft>
                <a:spcPts val="500"/>
              </a:spcAft>
            </a:pPr>
            <a:r>
              <a:rPr sz="2100" b="0">
                <a:solidFill>
                  <a:srgbClr val="B6BFB8"/>
                </a:solidFill>
                <a:latin typeface="Arial"/>
              </a:rPr>
              <a:t>context and approve the change.</a:t>
            </a:r>
          </a:p>
        </p:txBody>
      </p:sp>
      <p:sp>
        <p:nvSpPr>
          <p:cNvPr id="11" name="One baseline"/>
          <p:cNvSpPr txBox="1"/>
          <p:nvPr/>
        </p:nvSpPr>
        <p:spPr>
          <a:xfrm>
            <a:off x="8257031" y="2843784"/>
            <a:ext cx="3337560" cy="502920"/>
          </a:xfrm>
          <a:prstGeom prst="rect">
            <a:avLst/>
          </a:prstGeom>
          <a:noFill/>
        </p:spPr>
        <p:txBody>
          <a:bodyPr wrap="square" lIns="0" rIns="0" tIns="0" bIns="0">
            <a:spAutoFit/>
          </a:bodyPr>
          <a:lstStyle/>
          <a:p>
            <a:pPr>
              <a:lnSpc>
                <a:spcPct val="107000"/>
              </a:lnSpc>
              <a:spcAft>
                <a:spcPts val="500"/>
              </a:spcAft>
            </a:pPr>
            <a:r>
              <a:rPr sz="2700" b="1">
                <a:solidFill>
                  <a:srgbClr val="FFFFFF"/>
                </a:solidFill>
                <a:latin typeface="Arial"/>
              </a:rPr>
              <a:t>One baseline</a:t>
            </a:r>
          </a:p>
        </p:txBody>
      </p:sp>
      <p:sp>
        <p:nvSpPr>
          <p:cNvPr id="12" name="A measured constraint,"/>
          <p:cNvSpPr txBox="1"/>
          <p:nvPr/>
        </p:nvSpPr>
        <p:spPr>
          <a:xfrm>
            <a:off x="8257031" y="3639312"/>
            <a:ext cx="3337560" cy="1097280"/>
          </a:xfrm>
          <a:prstGeom prst="rect">
            <a:avLst/>
          </a:prstGeom>
          <a:noFill/>
        </p:spPr>
        <p:txBody>
          <a:bodyPr wrap="square" lIns="0" rIns="0" tIns="0" bIns="0">
            <a:spAutoFit/>
          </a:bodyPr>
          <a:lstStyle/>
          <a:p>
            <a:pPr>
              <a:lnSpc>
                <a:spcPct val="107000"/>
              </a:lnSpc>
              <a:spcAft>
                <a:spcPts val="500"/>
              </a:spcAft>
            </a:pPr>
            <a:r>
              <a:rPr sz="2100" b="0">
                <a:solidFill>
                  <a:srgbClr val="B6BFB8"/>
                </a:solidFill>
                <a:latin typeface="Arial"/>
              </a:rPr>
              <a:t>A measured constraint,</a:t>
            </a:r>
          </a:p>
          <a:p>
            <a:pPr>
              <a:lnSpc>
                <a:spcPct val="107000"/>
              </a:lnSpc>
              <a:spcAft>
                <a:spcPts val="500"/>
              </a:spcAft>
            </a:pPr>
            <a:r>
              <a:rPr sz="2100" b="0">
                <a:solidFill>
                  <a:srgbClr val="B6BFB8"/>
                </a:solidFill>
                <a:latin typeface="Arial"/>
              </a:rPr>
              <a:t>not an arbitrary target.</a:t>
            </a:r>
          </a:p>
        </p:txBody>
      </p:sp>
      <p:sp>
        <p:nvSpPr>
          <p:cNvPr id="13" name="Success = accepted evidence + reviewed outcome."/>
          <p:cNvSpPr txBox="1"/>
          <p:nvPr/>
        </p:nvSpPr>
        <p:spPr>
          <a:xfrm>
            <a:off x="594360" y="5276088"/>
            <a:ext cx="10972800" cy="758952"/>
          </a:xfrm>
          <a:prstGeom prst="rect">
            <a:avLst/>
          </a:prstGeom>
          <a:noFill/>
        </p:spPr>
        <p:txBody>
          <a:bodyPr wrap="square" lIns="0" rIns="0" tIns="0" bIns="0">
            <a:spAutoFit/>
          </a:bodyPr>
          <a:lstStyle/>
          <a:p>
            <a:pPr>
              <a:lnSpc>
                <a:spcPct val="107000"/>
              </a:lnSpc>
              <a:spcAft>
                <a:spcPts val="500"/>
              </a:spcAft>
            </a:pPr>
            <a:r>
              <a:rPr sz="2400" b="1">
                <a:solidFill>
                  <a:srgbClr val="FFFFFF"/>
                </a:solidFill>
                <a:latin typeface="Arial"/>
              </a:rPr>
              <a:t>Success = accepted evidence + reviewed outcome.</a:t>
            </a:r>
          </a:p>
          <a:p>
            <a:pPr>
              <a:lnSpc>
                <a:spcPct val="107000"/>
              </a:lnSpc>
              <a:spcAft>
                <a:spcPts val="500"/>
              </a:spcAft>
            </a:pPr>
            <a:r>
              <a:rPr sz="2400" b="1">
                <a:solidFill>
                  <a:srgbClr val="FFFFFF"/>
                </a:solidFill>
                <a:latin typeface="Arial"/>
              </a:rPr>
              <a:t>Retain as-is when the evidence says not to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search, definitions and honest limits."/>
          <p:cNvSpPr txBox="1"/>
          <p:nvPr/>
        </p:nvSpPr>
        <p:spPr>
          <a:xfrm>
            <a:off x="594360" y="502920"/>
            <a:ext cx="10972800" cy="1005840"/>
          </a:xfrm>
          <a:prstGeom prst="rect">
            <a:avLst/>
          </a:prstGeom>
          <a:noFill/>
        </p:spPr>
        <p:txBody>
          <a:bodyPr wrap="square" lIns="0" rIns="0" tIns="0" bIns="0">
            <a:spAutoFit/>
          </a:bodyPr>
          <a:lstStyle/>
          <a:p>
            <a:pPr>
              <a:lnSpc>
                <a:spcPct val="107000"/>
              </a:lnSpc>
              <a:spcAft>
                <a:spcPts val="500"/>
              </a:spcAft>
            </a:pPr>
            <a:r>
              <a:rPr sz="3200" b="1">
                <a:solidFill>
                  <a:srgbClr val="101411"/>
                </a:solidFill>
                <a:latin typeface="Arial"/>
              </a:rPr>
              <a:t>Research, definitions and honest limits.</a:t>
            </a:r>
          </a:p>
        </p:txBody>
      </p:sp>
      <p:sp>
        <p:nvSpPr>
          <p:cNvPr id="3" name="Rectangle 2"/>
          <p:cNvSpPr/>
          <p:nvPr/>
        </p:nvSpPr>
        <p:spPr>
          <a:xfrm>
            <a:off x="594360" y="6327648"/>
            <a:ext cx="10972800" cy="10972"/>
          </a:xfrm>
          <a:prstGeom prst="rect">
            <a:avLst/>
          </a:prstGeom>
          <a:solidFill>
            <a:srgbClr val="E4EB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earing  |  GitHub Copilot App workflow"/>
          <p:cNvSpPr txBox="1"/>
          <p:nvPr/>
        </p:nvSpPr>
        <p:spPr>
          <a:xfrm>
            <a:off x="594360" y="6428232"/>
            <a:ext cx="804672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Bearing  |  GitHub Copilot App workflow</a:t>
            </a:r>
          </a:p>
        </p:txBody>
      </p:sp>
      <p:sp>
        <p:nvSpPr>
          <p:cNvPr id="5" name="12 / 12"/>
          <p:cNvSpPr txBox="1"/>
          <p:nvPr/>
        </p:nvSpPr>
        <p:spPr>
          <a:xfrm>
            <a:off x="10744200" y="6428232"/>
            <a:ext cx="822960" cy="201168"/>
          </a:xfrm>
          <a:prstGeom prst="rect">
            <a:avLst/>
          </a:prstGeom>
          <a:noFill/>
        </p:spPr>
        <p:txBody>
          <a:bodyPr wrap="square" lIns="0" rIns="0" tIns="0" bIns="0">
            <a:spAutoFit/>
          </a:bodyPr>
          <a:lstStyle/>
          <a:p>
            <a:pPr>
              <a:lnSpc>
                <a:spcPct val="107000"/>
              </a:lnSpc>
              <a:spcAft>
                <a:spcPts val="500"/>
              </a:spcAft>
            </a:pPr>
            <a:r>
              <a:rPr sz="1000" b="0">
                <a:solidFill>
                  <a:srgbClr val="505B53"/>
                </a:solidFill>
                <a:latin typeface="Arial"/>
              </a:rPr>
              <a:t>12 / 12</a:t>
            </a:r>
          </a:p>
        </p:txBody>
      </p:sp>
      <p:sp>
        <p:nvSpPr>
          <p:cNvPr id="6" name="Kyndryl Readiness Report 2025"/>
          <p:cNvSpPr txBox="1"/>
          <p:nvPr/>
        </p:nvSpPr>
        <p:spPr>
          <a:xfrm>
            <a:off x="594360" y="1682496"/>
            <a:ext cx="10881360" cy="393192"/>
          </a:xfrm>
          <a:prstGeom prst="rect">
            <a:avLst/>
          </a:prstGeom>
          <a:noFill/>
        </p:spPr>
        <p:txBody>
          <a:bodyPr wrap="square" lIns="0" rIns="0" tIns="0" bIns="0">
            <a:spAutoFit/>
          </a:bodyPr>
          <a:lstStyle/>
          <a:p>
            <a:pPr>
              <a:lnSpc>
                <a:spcPct val="107000"/>
              </a:lnSpc>
              <a:spcAft>
                <a:spcPts val="500"/>
              </a:spcAft>
            </a:pPr>
            <a:r>
              <a:rPr sz="2000" b="1">
                <a:solidFill>
                  <a:srgbClr val="08872B"/>
                </a:solidFill>
                <a:latin typeface="Arial"/>
                <a:hlinkClick r:id="rId2"/>
              </a:rPr>
              <a:t>Kyndryl Readiness Report 2025</a:t>
            </a:r>
          </a:p>
        </p:txBody>
      </p:sp>
      <p:sp>
        <p:nvSpPr>
          <p:cNvPr id="7" name="57%: surveyed leaders report innovation delayed by technolog"/>
          <p:cNvSpPr txBox="1"/>
          <p:nvPr/>
        </p:nvSpPr>
        <p:spPr>
          <a:xfrm>
            <a:off x="594360" y="2148840"/>
            <a:ext cx="10881360" cy="6858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57%: surveyed leaders report innovation delayed by technology-stack issues.</a:t>
            </a:r>
          </a:p>
          <a:p>
            <a:pPr>
              <a:lnSpc>
                <a:spcPct val="107000"/>
              </a:lnSpc>
              <a:spcAft>
                <a:spcPts val="500"/>
              </a:spcAft>
            </a:pPr>
            <a:r>
              <a:rPr sz="1700" b="0">
                <a:solidFill>
                  <a:srgbClr val="232925"/>
                </a:solidFill>
                <a:latin typeface="Arial"/>
              </a:rPr>
              <a:t>3,700 leaders; 21 countries; vendor-commissioned survey.</a:t>
            </a:r>
          </a:p>
        </p:txBody>
      </p:sp>
      <p:sp>
        <p:nvSpPr>
          <p:cNvPr id="8" name="Kyndryl Readiness Report 2024"/>
          <p:cNvSpPr txBox="1"/>
          <p:nvPr/>
        </p:nvSpPr>
        <p:spPr>
          <a:xfrm>
            <a:off x="594360" y="2871216"/>
            <a:ext cx="10881360" cy="393192"/>
          </a:xfrm>
          <a:prstGeom prst="rect">
            <a:avLst/>
          </a:prstGeom>
          <a:noFill/>
        </p:spPr>
        <p:txBody>
          <a:bodyPr wrap="square" lIns="0" rIns="0" tIns="0" bIns="0">
            <a:spAutoFit/>
          </a:bodyPr>
          <a:lstStyle/>
          <a:p>
            <a:pPr>
              <a:lnSpc>
                <a:spcPct val="107000"/>
              </a:lnSpc>
              <a:spcAft>
                <a:spcPts val="500"/>
              </a:spcAft>
            </a:pPr>
            <a:r>
              <a:rPr sz="2000" b="1">
                <a:solidFill>
                  <a:srgbClr val="08872B"/>
                </a:solidFill>
                <a:latin typeface="Arial"/>
                <a:hlinkClick r:id="rId3"/>
              </a:rPr>
              <a:t>Kyndryl Readiness Report 2024</a:t>
            </a:r>
          </a:p>
        </p:txBody>
      </p:sp>
      <p:sp>
        <p:nvSpPr>
          <p:cNvPr id="9" name="44%: observed mission-critical infrastructure approaching/at"/>
          <p:cNvSpPr txBox="1"/>
          <p:nvPr/>
        </p:nvSpPr>
        <p:spPr>
          <a:xfrm>
            <a:off x="594360" y="3337560"/>
            <a:ext cx="10881360" cy="6858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44%: observed mission-critical infrastructure approaching/at end-of-life.</a:t>
            </a:r>
          </a:p>
          <a:p>
            <a:pPr>
              <a:lnSpc>
                <a:spcPct val="107000"/>
              </a:lnSpc>
              <a:spcAft>
                <a:spcPts val="500"/>
              </a:spcAft>
            </a:pPr>
            <a:r>
              <a:rPr sz="1700" b="0">
                <a:solidFill>
                  <a:srgbClr val="232925"/>
                </a:solidFill>
                <a:latin typeface="Arial"/>
              </a:rPr>
              <a:t>Kyndryl Bridge data—not a percentage of legacy source code.</a:t>
            </a:r>
          </a:p>
        </p:txBody>
      </p:sp>
      <p:sp>
        <p:nvSpPr>
          <p:cNvPr id="10" name="GitHub / Microsoft / DX, DevEx research (2024)"/>
          <p:cNvSpPr txBox="1"/>
          <p:nvPr/>
        </p:nvSpPr>
        <p:spPr>
          <a:xfrm>
            <a:off x="594360" y="4059936"/>
            <a:ext cx="10881360" cy="393192"/>
          </a:xfrm>
          <a:prstGeom prst="rect">
            <a:avLst/>
          </a:prstGeom>
          <a:noFill/>
        </p:spPr>
        <p:txBody>
          <a:bodyPr wrap="square" lIns="0" rIns="0" tIns="0" bIns="0">
            <a:spAutoFit/>
          </a:bodyPr>
          <a:lstStyle/>
          <a:p>
            <a:pPr>
              <a:lnSpc>
                <a:spcPct val="107000"/>
              </a:lnSpc>
              <a:spcAft>
                <a:spcPts val="500"/>
              </a:spcAft>
            </a:pPr>
            <a:r>
              <a:rPr sz="2000" b="1">
                <a:solidFill>
                  <a:srgbClr val="08872B"/>
                </a:solidFill>
                <a:latin typeface="Arial"/>
                <a:hlinkClick r:id="rId4"/>
              </a:rPr>
              <a:t>GitHub / Microsoft / DX, DevEx research (2024)</a:t>
            </a:r>
          </a:p>
        </p:txBody>
      </p:sp>
      <p:sp>
        <p:nvSpPr>
          <p:cNvPr id="11" name="42%: developers with high code understanding feel more produ"/>
          <p:cNvSpPr txBox="1"/>
          <p:nvPr/>
        </p:nvSpPr>
        <p:spPr>
          <a:xfrm>
            <a:off x="594360" y="4526280"/>
            <a:ext cx="10881360" cy="685800"/>
          </a:xfrm>
          <a:prstGeom prst="rect">
            <a:avLst/>
          </a:prstGeom>
          <a:noFill/>
        </p:spPr>
        <p:txBody>
          <a:bodyPr wrap="square" lIns="0" rIns="0" tIns="0" bIns="0">
            <a:spAutoFit/>
          </a:bodyPr>
          <a:lstStyle/>
          <a:p>
            <a:pPr>
              <a:lnSpc>
                <a:spcPct val="107000"/>
              </a:lnSpc>
              <a:spcAft>
                <a:spcPts val="500"/>
              </a:spcAft>
            </a:pPr>
            <a:r>
              <a:rPr sz="1700" b="0">
                <a:solidFill>
                  <a:srgbClr val="232925"/>
                </a:solidFill>
                <a:latin typeface="Arial"/>
              </a:rPr>
              <a:t>42%: developers with high code understanding feel more productive.</a:t>
            </a:r>
          </a:p>
          <a:p>
            <a:pPr>
              <a:lnSpc>
                <a:spcPct val="107000"/>
              </a:lnSpc>
              <a:spcAft>
                <a:spcPts val="500"/>
              </a:spcAft>
            </a:pPr>
            <a:r>
              <a:rPr sz="1700" b="0">
                <a:solidFill>
                  <a:srgbClr val="232925"/>
                </a:solidFill>
                <a:latin typeface="Arial"/>
              </a:rPr>
              <a:t>Self-reported association—not proof of a causal modernization benefit.</a:t>
            </a:r>
          </a:p>
        </p:txBody>
      </p:sp>
      <p:sp>
        <p:nvSpPr>
          <p:cNvPr id="12" name="Source titles are clickable. Full links and methods are in t"/>
          <p:cNvSpPr txBox="1"/>
          <p:nvPr/>
        </p:nvSpPr>
        <p:spPr>
          <a:xfrm>
            <a:off x="594360" y="5522976"/>
            <a:ext cx="10972800" cy="530352"/>
          </a:xfrm>
          <a:prstGeom prst="rect">
            <a:avLst/>
          </a:prstGeom>
          <a:noFill/>
        </p:spPr>
        <p:txBody>
          <a:bodyPr wrap="square" lIns="0" rIns="0" tIns="0" bIns="0">
            <a:spAutoFit/>
          </a:bodyPr>
          <a:lstStyle/>
          <a:p>
            <a:pPr>
              <a:lnSpc>
                <a:spcPct val="107000"/>
              </a:lnSpc>
              <a:spcAft>
                <a:spcPts val="500"/>
              </a:spcAft>
            </a:pPr>
            <a:r>
              <a:rPr sz="1400" b="0">
                <a:solidFill>
                  <a:srgbClr val="505B53"/>
                </a:solidFill>
                <a:latin typeface="Arial"/>
              </a:rPr>
              <a:t>Source titles are clickable. Full links and methods are in the companion brief.</a:t>
            </a:r>
          </a:p>
          <a:p>
            <a:pPr>
              <a:lnSpc>
                <a:spcPct val="107000"/>
              </a:lnSpc>
              <a:spcAft>
                <a:spcPts val="500"/>
              </a:spcAft>
            </a:pPr>
            <a:r>
              <a:rPr sz="1400" b="0">
                <a:solidFill>
                  <a:srgbClr val="505B53"/>
                </a:solidFill>
                <a:latin typeface="Arial"/>
              </a:rPr>
              <a:t>Checked October 5, 2026. No customer ROI or shipped modernization capability is claimed.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Keep what works. Make change safer.</dc:title>
  <dc:subject>Evidence-led modernization assessment: customer project proposal</dc:subject>
  <dc:creator>Bearing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