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1117"/>
          </a:solidFill>
        </p:spPr>
        <p:txBody>
          <a:bodyPr rtlCol="0" anchor="ctr"/>
          <a:lstStyle/>
          <a:p/>
        </p:txBody>
      </p:sp>
      <p:sp>
        <p:nvSpPr>
          <p:cNvPr id="3" name="Shape 3"/>
          <p:cNvSpPr/>
          <p:nvPr/>
        </p:nvSpPr>
        <p:spPr>
          <a:xfrm>
            <a:off x="640000" y="650000"/>
            <a:ext cx="120000" cy="5350000"/>
          </a:xfrm>
          <a:prstGeom prst="rect">
            <a:avLst/>
          </a:prstGeom>
          <a:solidFill>
            <a:srgbClr val="2F81F7"/>
          </a:solidFill>
        </p:spPr>
        <p:txBody>
          <a:bodyPr rtlCol="0" anchor="ctr"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1100000" y="850000"/>
            <a:ext cx="6900000" cy="9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4400">
                <a:solidFill>
                  <a:srgbClr val="FFFFFF"/>
                </a:solidFill>
                <a:latin typeface="Aptos Display"/>
              </a:rPr>
              <a:t>Bearing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00000" y="1900000"/>
            <a:ext cx="6900000" cy="135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2600">
                <a:solidFill>
                  <a:srgbClr val="FFFFFF"/>
                </a:solidFill>
                <a:latin typeface="Aptos Display"/>
              </a:rPr>
              <a:t>A governed onboarding workflow for enterprise engineering teams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00000" y="3500000"/>
            <a:ext cx="6200000" cy="65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sz="1700">
                <a:solidFill>
                  <a:srgbClr val="8C959F"/>
                </a:solidFill>
                <a:latin typeface="Aptos"/>
              </a:rPr>
              <a:t>For developers rotating into unfamiliar services and codebases</a:t>
            </a:r>
          </a:p>
        </p:txBody>
      </p:sp>
      <p:sp>
        <p:nvSpPr>
          <p:cNvPr id="7" name="Shape 7"/>
          <p:cNvSpPr/>
          <p:nvPr/>
        </p:nvSpPr>
        <p:spPr>
          <a:xfrm>
            <a:off x="1100000" y="4650000"/>
            <a:ext cx="1900000" cy="640000"/>
          </a:xfrm>
          <a:prstGeom prst="roundRect">
            <a:avLst/>
          </a:prstGeom>
          <a:solidFill>
            <a:srgbClr val="161B22"/>
          </a:solidFill>
        </p:spPr>
        <p:txBody>
          <a:bodyPr rtlCol="0" anchor="ctr"/>
          <a:lstStyle/>
          <a:p>
            <a:r>
              <a:rPr b="1" sz="1500">
                <a:solidFill>
                  <a:srgbClr val="FFFFFF"/>
                </a:solidFill>
                <a:latin typeface="Aptos"/>
              </a:rPr>
              <a:t>Skill coordinates</a:t>
            </a:r>
          </a:p>
        </p:txBody>
      </p:sp>
      <p:sp>
        <p:nvSpPr>
          <p:cNvPr id="8" name="Shape 8"/>
          <p:cNvSpPr/>
          <p:nvPr/>
        </p:nvSpPr>
        <p:spPr>
          <a:xfrm>
            <a:off x="3300000" y="4650000"/>
            <a:ext cx="1900000" cy="640000"/>
          </a:xfrm>
          <a:prstGeom prst="roundRect">
            <a:avLst/>
          </a:prstGeom>
          <a:solidFill>
            <a:srgbClr val="161B22"/>
          </a:solidFill>
        </p:spPr>
        <p:txBody>
          <a:bodyPr rtlCol="0" anchor="ctr"/>
          <a:lstStyle/>
          <a:p>
            <a:r>
              <a:rPr b="1" sz="1500">
                <a:solidFill>
                  <a:srgbClr val="FFFFFF"/>
                </a:solidFill>
                <a:latin typeface="Aptos"/>
              </a:rPr>
              <a:t>Agents research</a:t>
            </a:r>
          </a:p>
        </p:txBody>
      </p:sp>
      <p:sp>
        <p:nvSpPr>
          <p:cNvPr id="9" name="Shape 9"/>
          <p:cNvSpPr/>
          <p:nvPr/>
        </p:nvSpPr>
        <p:spPr>
          <a:xfrm>
            <a:off x="5500000" y="4650000"/>
            <a:ext cx="1900000" cy="640000"/>
          </a:xfrm>
          <a:prstGeom prst="roundRect">
            <a:avLst/>
          </a:prstGeom>
          <a:solidFill>
            <a:srgbClr val="161B22"/>
          </a:solidFill>
        </p:spPr>
        <p:txBody>
          <a:bodyPr rtlCol="0" anchor="ctr"/>
          <a:lstStyle/>
          <a:p>
            <a:r>
              <a:rPr b="1" sz="1500">
                <a:solidFill>
                  <a:srgbClr val="FFFFFF"/>
                </a:solidFill>
                <a:latin typeface="Aptos"/>
              </a:rPr>
              <a:t>Canvas guides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00000" y="5750000"/>
            <a:ext cx="6200000" cy="4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sz="1200">
                <a:solidFill>
                  <a:srgbClr val="8C959F"/>
                </a:solidFill>
                <a:latin typeface="Aptos"/>
              </a:rPr>
              <a:t>Hackathon submission · GitHub Copilot App workflow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6F8FA"/>
          </a:solidFill>
        </p:spPr>
        <p:txBody>
          <a:bodyPr rtlCol="0" anchor="ctr"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650000" y="450000"/>
            <a:ext cx="7800000" cy="65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2800">
                <a:solidFill>
                  <a:srgbClr val="1F2328"/>
                </a:solidFill>
                <a:latin typeface="Aptos Display"/>
              </a:rPr>
              <a:t>Plan → delegate → validate → review → scale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50000" y="1120000"/>
            <a:ext cx="7600000" cy="44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sz="1500">
                <a:solidFill>
                  <a:srgbClr val="59636E"/>
                </a:solidFill>
                <a:latin typeface="Aptos"/>
              </a:rPr>
              <a:t>The GitHub Copilot App turns a manual onboarding ritual into a reusable enterprise workflow.</a:t>
            </a:r>
          </a:p>
        </p:txBody>
      </p:sp>
      <p:sp>
        <p:nvSpPr>
          <p:cNvPr id="5" name="Shape 5"/>
          <p:cNvSpPr/>
          <p:nvPr/>
        </p:nvSpPr>
        <p:spPr>
          <a:xfrm>
            <a:off x="500000" y="2100000"/>
            <a:ext cx="1400000" cy="900000"/>
          </a:xfrm>
          <a:prstGeom prst="roundRect">
            <a:avLst/>
          </a:prstGeom>
          <a:solidFill>
            <a:srgbClr val="DDF4FF"/>
          </a:solidFill>
        </p:spPr>
        <p:txBody>
          <a:bodyPr rtlCol="0" anchor="ctr"/>
          <a:lstStyle/>
          <a:p>
            <a:r>
              <a:rPr b="1" sz="1600">
                <a:solidFill>
                  <a:srgbClr val="0969DA"/>
                </a:solidFill>
                <a:latin typeface="Aptos"/>
              </a:rPr>
              <a:t>Developer</a:t>
            </a:r>
          </a:p>
          <a:p>
            <a:r>
              <a:rPr b="1" sz="1600">
                <a:solidFill>
                  <a:srgbClr val="0969DA"/>
                </a:solidFill>
                <a:latin typeface="Aptos"/>
              </a:rPr>
              <a:t>/onboard-repo</a:t>
            </a:r>
          </a:p>
        </p:txBody>
      </p:sp>
      <p:sp>
        <p:nvSpPr>
          <p:cNvPr id="6" name="Shape 6"/>
          <p:cNvSpPr/>
          <p:nvPr/>
        </p:nvSpPr>
        <p:spPr>
          <a:xfrm>
            <a:off x="1950000" y="2350000"/>
            <a:ext cx="650000" cy="380000"/>
          </a:xfrm>
          <a:prstGeom prst="rightArrow">
            <a:avLst/>
          </a:prstGeom>
          <a:solidFill>
            <a:srgbClr val="2F81F7"/>
          </a:solidFill>
        </p:spPr>
        <p:txBody>
          <a:bodyPr rtlCol="0" anchor="ctr"/>
          <a:lstStyle/>
          <a:p/>
        </p:txBody>
      </p:sp>
      <p:sp>
        <p:nvSpPr>
          <p:cNvPr id="7" name="Shape 7"/>
          <p:cNvSpPr/>
          <p:nvPr/>
        </p:nvSpPr>
        <p:spPr>
          <a:xfrm>
            <a:off x="2700000" y="1750000"/>
            <a:ext cx="1800000" cy="800000"/>
          </a:xfrm>
          <a:prstGeom prst="roundRect">
            <a:avLst/>
          </a:prstGeom>
          <a:solidFill>
            <a:srgbClr val="EAEFFE"/>
          </a:solidFill>
        </p:spPr>
        <p:txBody>
          <a:bodyPr rtlCol="0" anchor="ctr"/>
          <a:lstStyle/>
          <a:p>
            <a:r>
              <a:rPr b="1" sz="1500">
                <a:solidFill>
                  <a:srgbClr val="1F2328"/>
                </a:solidFill>
                <a:latin typeface="Aptos"/>
              </a:rPr>
              <a:t>Repository</a:t>
            </a:r>
          </a:p>
          <a:p>
            <a:r>
              <a:rPr b="1" sz="1500">
                <a:solidFill>
                  <a:srgbClr val="1F2328"/>
                </a:solidFill>
                <a:latin typeface="Aptos"/>
              </a:rPr>
              <a:t>cartographer</a:t>
            </a:r>
          </a:p>
        </p:txBody>
      </p:sp>
      <p:sp>
        <p:nvSpPr>
          <p:cNvPr id="8" name="Shape 8"/>
          <p:cNvSpPr/>
          <p:nvPr/>
        </p:nvSpPr>
        <p:spPr>
          <a:xfrm>
            <a:off x="2700000" y="2750000"/>
            <a:ext cx="1800000" cy="800000"/>
          </a:xfrm>
          <a:prstGeom prst="roundRect">
            <a:avLst/>
          </a:prstGeom>
          <a:solidFill>
            <a:srgbClr val="FBEFFF"/>
          </a:solidFill>
        </p:spPr>
        <p:txBody>
          <a:bodyPr rtlCol="0" anchor="ctr"/>
          <a:lstStyle/>
          <a:p>
            <a:r>
              <a:rPr b="1" sz="1500">
                <a:solidFill>
                  <a:srgbClr val="1F2328"/>
                </a:solidFill>
                <a:latin typeface="Aptos"/>
              </a:rPr>
              <a:t>PR historian</a:t>
            </a:r>
          </a:p>
        </p:txBody>
      </p:sp>
      <p:sp>
        <p:nvSpPr>
          <p:cNvPr id="9" name="Shape 9"/>
          <p:cNvSpPr/>
          <p:nvPr/>
        </p:nvSpPr>
        <p:spPr>
          <a:xfrm>
            <a:off x="4600000" y="2350000"/>
            <a:ext cx="650000" cy="380000"/>
          </a:xfrm>
          <a:prstGeom prst="rightArrow">
            <a:avLst/>
          </a:prstGeom>
          <a:solidFill>
            <a:srgbClr val="2F81F7"/>
          </a:solidFill>
        </p:spPr>
        <p:txBody>
          <a:bodyPr rtlCol="0" anchor="ctr"/>
          <a:lstStyle/>
          <a:p/>
        </p:txBody>
      </p:sp>
      <p:sp>
        <p:nvSpPr>
          <p:cNvPr id="10" name="Shape 10"/>
          <p:cNvSpPr/>
          <p:nvPr/>
        </p:nvSpPr>
        <p:spPr>
          <a:xfrm>
            <a:off x="5300000" y="2100000"/>
            <a:ext cx="1450000" cy="900000"/>
          </a:xfrm>
          <a:prstGeom prst="roundRect">
            <a:avLst/>
          </a:prstGeom>
          <a:solidFill>
            <a:srgbClr val="FFF8C5"/>
          </a:solidFill>
        </p:spPr>
        <p:txBody>
          <a:bodyPr rtlCol="0" anchor="ctr"/>
          <a:lstStyle/>
          <a:p>
            <a:r>
              <a:rPr b="1" sz="1500">
                <a:solidFill>
                  <a:srgbClr val="1F2328"/>
                </a:solidFill>
                <a:latin typeface="Aptos"/>
              </a:rPr>
              <a:t>Local guide</a:t>
            </a:r>
          </a:p>
          <a:p>
            <a:r>
              <a:rPr b="1" sz="1500">
                <a:solidFill>
                  <a:srgbClr val="1F2328"/>
                </a:solidFill>
                <a:latin typeface="Aptos"/>
              </a:rPr>
              <a:t>store</a:t>
            </a:r>
          </a:p>
        </p:txBody>
      </p:sp>
      <p:sp>
        <p:nvSpPr>
          <p:cNvPr id="11" name="Shape 11"/>
          <p:cNvSpPr/>
          <p:nvPr/>
        </p:nvSpPr>
        <p:spPr>
          <a:xfrm>
            <a:off x="6850000" y="2350000"/>
            <a:ext cx="650000" cy="380000"/>
          </a:xfrm>
          <a:prstGeom prst="rightArrow">
            <a:avLst/>
          </a:prstGeom>
          <a:solidFill>
            <a:srgbClr val="2F81F7"/>
          </a:solidFill>
        </p:spPr>
        <p:txBody>
          <a:bodyPr rtlCol="0" anchor="ctr"/>
          <a:lstStyle/>
          <a:p/>
        </p:txBody>
      </p:sp>
      <p:sp>
        <p:nvSpPr>
          <p:cNvPr id="12" name="Shape 12"/>
          <p:cNvSpPr/>
          <p:nvPr/>
        </p:nvSpPr>
        <p:spPr>
          <a:xfrm>
            <a:off x="7550000" y="2100000"/>
            <a:ext cx="1100000" cy="900000"/>
          </a:xfrm>
          <a:prstGeom prst="roundRect">
            <a:avLst/>
          </a:prstGeom>
          <a:solidFill>
            <a:srgbClr val="DAFBE1"/>
          </a:solidFill>
        </p:spPr>
        <p:txBody>
          <a:bodyPr rtlCol="0" anchor="ctr"/>
          <a:lstStyle/>
          <a:p>
            <a:r>
              <a:rPr b="1" sz="1500">
                <a:solidFill>
                  <a:srgbClr val="1A7F37"/>
                </a:solidFill>
                <a:latin typeface="Aptos"/>
              </a:rPr>
              <a:t>Live</a:t>
            </a:r>
          </a:p>
          <a:p>
            <a:r>
              <a:rPr b="1" sz="1500">
                <a:solidFill>
                  <a:srgbClr val="1A7F37"/>
                </a:solidFill>
                <a:latin typeface="Aptos"/>
              </a:rPr>
              <a:t>canvas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00000" y="4050000"/>
            <a:ext cx="2450000" cy="105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600">
                <a:solidFill>
                  <a:srgbClr val="1F2328"/>
                </a:solidFill>
                <a:latin typeface="Aptos"/>
              </a:rPr>
              <a:t>Delegate in parallel</a:t>
            </a:r>
          </a:p>
          <a:p>
            <a:r>
              <a:rPr sz="1400">
                <a:solidFill>
                  <a:srgbClr val="59636E"/>
                </a:solidFill>
                <a:latin typeface="Aptos"/>
              </a:rPr>
              <a:t>Role-scoped specialists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350000" y="4050000"/>
            <a:ext cx="2450000" cy="105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600">
                <a:solidFill>
                  <a:srgbClr val="1F2328"/>
                </a:solidFill>
                <a:latin typeface="Aptos"/>
              </a:rPr>
              <a:t>Validate evidence</a:t>
            </a:r>
          </a:p>
          <a:p>
            <a:r>
              <a:rPr sz="1400">
                <a:solidFill>
                  <a:srgbClr val="59636E"/>
                </a:solidFill>
                <a:latin typeface="Aptos"/>
              </a:rPr>
              <a:t>Files + PRs + reference checks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100000" y="4050000"/>
            <a:ext cx="2450000" cy="105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600">
                <a:solidFill>
                  <a:srgbClr val="1F2328"/>
                </a:solidFill>
                <a:latin typeface="Aptos"/>
              </a:rPr>
              <a:t>Review before action</a:t>
            </a:r>
          </a:p>
          <a:p>
            <a:r>
              <a:rPr sz="1400">
                <a:solidFill>
                  <a:srgbClr val="59636E"/>
                </a:solidFill>
                <a:latin typeface="Aptos"/>
              </a:rPr>
              <a:t>Developer verifies and decides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50000" y="5850000"/>
            <a:ext cx="7800000" cy="38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sz="1200">
                <a:solidFill>
                  <a:srgbClr val="59636E"/>
                </a:solidFill>
                <a:latin typeface="Aptos"/>
              </a:rPr>
              <a:t>Plan scope → delegate research → validate claims → review evidence → scale under policy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</p:spPr>
        <p:txBody>
          <a:bodyPr rtlCol="0" anchor="ctr"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650000" y="450000"/>
            <a:ext cx="7800000" cy="65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2800">
                <a:solidFill>
                  <a:srgbClr val="1F2328"/>
                </a:solidFill>
                <a:latin typeface="Aptos Display"/>
              </a:rPr>
              <a:t>A customer-copyable enterprise pattern</a:t>
            </a:r>
          </a:p>
        </p:txBody>
      </p:sp>
      <p:sp>
        <p:nvSpPr>
          <p:cNvPr id="4" name="Shape 4"/>
          <p:cNvSpPr/>
          <p:nvPr/>
        </p:nvSpPr>
        <p:spPr>
          <a:xfrm>
            <a:off x="650000" y="1450000"/>
            <a:ext cx="3400000" cy="3300000"/>
          </a:xfrm>
          <a:prstGeom prst="roundRect">
            <a:avLst/>
          </a:prstGeom>
          <a:solidFill>
            <a:srgbClr val="F6F8FA"/>
          </a:solidFill>
        </p:spPr>
        <p:txBody>
          <a:bodyPr rtlCol="0" anchor="ctr"/>
          <a:lstStyle/>
          <a:p/>
        </p:txBody>
      </p:sp>
      <p:sp>
        <p:nvSpPr>
          <p:cNvPr id="5" name="TextBox 5"/>
          <p:cNvSpPr txBox="1"/>
          <p:nvPr/>
        </p:nvSpPr>
        <p:spPr>
          <a:xfrm>
            <a:off x="1000000" y="1800000"/>
            <a:ext cx="2700000" cy="48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2100">
                <a:solidFill>
                  <a:srgbClr val="59636E"/>
                </a:solidFill>
                <a:latin typeface="Aptos Display"/>
              </a:rPr>
              <a:t>Manual onboarding ritual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00000" y="2500000"/>
            <a:ext cx="2600000" cy="145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sz="1700">
                <a:solidFill>
                  <a:srgbClr val="59636E"/>
                </a:solidFill>
                <a:latin typeface="Aptos"/>
              </a:rPr>
              <a:t>Repeated service-owner tours</a:t>
            </a:r>
          </a:p>
          <a:p>
            <a:r>
              <a:rPr sz="1700">
                <a:solidFill>
                  <a:srgbClr val="59636E"/>
                </a:solidFill>
                <a:latin typeface="Aptos"/>
              </a:rPr>
              <a:t>Scattered code, docs, and PRs</a:t>
            </a:r>
          </a:p>
          <a:p>
            <a:r>
              <a:rPr sz="1700">
                <a:solidFill>
                  <a:srgbClr val="59636E"/>
                </a:solidFill>
                <a:latin typeface="Aptos"/>
              </a:rPr>
              <a:t>Point-in-time notes</a:t>
            </a:r>
          </a:p>
          <a:p>
            <a:r>
              <a:rPr sz="1700">
                <a:solidFill>
                  <a:srgbClr val="59636E"/>
                </a:solidFill>
                <a:latin typeface="Aptos"/>
              </a:rPr>
              <a:t>No consistent review gate</a:t>
            </a:r>
          </a:p>
        </p:txBody>
      </p:sp>
      <p:sp>
        <p:nvSpPr>
          <p:cNvPr id="7" name="Shape 7"/>
          <p:cNvSpPr/>
          <p:nvPr/>
        </p:nvSpPr>
        <p:spPr>
          <a:xfrm>
            <a:off x="4200000" y="2750000"/>
            <a:ext cx="700000" cy="430000"/>
          </a:xfrm>
          <a:prstGeom prst="rightArrow">
            <a:avLst/>
          </a:prstGeom>
          <a:solidFill>
            <a:srgbClr val="2F81F7"/>
          </a:solidFill>
        </p:spPr>
        <p:txBody>
          <a:bodyPr rtlCol="0" anchor="ctr"/>
          <a:lstStyle/>
          <a:p/>
        </p:txBody>
      </p:sp>
      <p:sp>
        <p:nvSpPr>
          <p:cNvPr id="8" name="Shape 8"/>
          <p:cNvSpPr/>
          <p:nvPr/>
        </p:nvSpPr>
        <p:spPr>
          <a:xfrm>
            <a:off x="5050000" y="1450000"/>
            <a:ext cx="3400000" cy="3300000"/>
          </a:xfrm>
          <a:prstGeom prst="roundRect">
            <a:avLst/>
          </a:prstGeom>
          <a:solidFill>
            <a:srgbClr val="DDF4FF"/>
          </a:solidFill>
        </p:spPr>
        <p:txBody>
          <a:bodyPr rtlCol="0" anchor="ctr"/>
          <a:lstStyle/>
          <a:p/>
        </p:txBody>
      </p:sp>
      <p:sp>
        <p:nvSpPr>
          <p:cNvPr id="9" name="TextBox 9"/>
          <p:cNvSpPr txBox="1"/>
          <p:nvPr/>
        </p:nvSpPr>
        <p:spPr>
          <a:xfrm>
            <a:off x="5400000" y="1800000"/>
            <a:ext cx="2700000" cy="48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2100">
                <a:solidFill>
                  <a:srgbClr val="0969DA"/>
                </a:solidFill>
                <a:latin typeface="Aptos Display"/>
              </a:rPr>
              <a:t>Field-ready adoption motion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400000" y="2500000"/>
            <a:ext cx="2600000" cy="145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sz="1700">
                <a:solidFill>
                  <a:srgbClr val="1F2328"/>
                </a:solidFill>
                <a:latin typeface="Aptos"/>
              </a:rPr>
              <a:t>Pilot with a service owner</a:t>
            </a:r>
          </a:p>
          <a:p>
            <a:r>
              <a:rPr sz="1700">
                <a:solidFill>
                  <a:srgbClr val="1F2328"/>
                </a:solidFill>
                <a:latin typeface="Aptos"/>
              </a:rPr>
              <a:t>Calibrate evidence and docs</a:t>
            </a:r>
          </a:p>
          <a:p>
            <a:r>
              <a:rPr sz="1700">
                <a:solidFill>
                  <a:srgbClr val="1F2328"/>
                </a:solidFill>
                <a:latin typeface="Aptos"/>
              </a:rPr>
              <a:t>Measure first-task readiness</a:t>
            </a:r>
          </a:p>
          <a:p>
            <a:r>
              <a:rPr sz="1700">
                <a:solidFill>
                  <a:srgbClr val="1F2328"/>
                </a:solidFill>
                <a:latin typeface="Aptos"/>
              </a:rPr>
              <a:t>Scale repository cohorts</a:t>
            </a:r>
          </a:p>
        </p:txBody>
      </p:sp>
      <p:sp>
        <p:nvSpPr>
          <p:cNvPr id="11" name="Shape 11"/>
          <p:cNvSpPr/>
          <p:nvPr/>
        </p:nvSpPr>
        <p:spPr>
          <a:xfrm>
            <a:off x="650000" y="5200000"/>
            <a:ext cx="7800000" cy="850000"/>
          </a:xfrm>
          <a:prstGeom prst="roundRect">
            <a:avLst/>
          </a:prstGeom>
          <a:solidFill>
            <a:srgbClr val="0D1117"/>
          </a:solidFill>
        </p:spPr>
        <p:txBody>
          <a:bodyPr rtlCol="0" anchor="ctr"/>
          <a:lstStyle/>
          <a:p>
            <a:r>
              <a:rPr b="1" sz="1700">
                <a:solidFill>
                  <a:srgbClr val="FFFFFF"/>
                </a:solidFill>
                <a:latin typeface="Aptos"/>
              </a:rPr>
              <a:t>Demonstrated edge: multi-agent workflow + semantic repo context + GitHub history + durable tools + interactive canvas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