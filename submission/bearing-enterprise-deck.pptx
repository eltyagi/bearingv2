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slide19.xml" ContentType="application/vnd.openxmlformats-officedocument.presentationml.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3" r:id="rId99"/>
    <p:sldId id="274" r:id="rId100"/>
    <p:sldId id="259" r:id="rId11"/>
    <p:sldId id="260" r:id="rId12"/>
    <p:sldId id="261" r:id="rId13"/>
    <p:sldId id="262" r:id="rId14"/>
    <p:sldId id="263" r:id="rId15"/>
    <p:sldId id="264" r:id="rId16"/>
    <p:sldId id="265" r:id="rId17"/>
    <p:sldId id="266" r:id="rId18"/>
    <p:sldId id="267" r:id="rId19"/>
    <p:sldId id="268" r:id="rId20"/>
    <p:sldId id="269" r:id="rId21"/>
    <p:sldId id="272" r:id="rId24"/>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99" Type="http://schemas.openxmlformats.org/officeDocument/2006/relationships/slide" Target="slides/slide18.xml"/><Relationship Id="rId100"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trust problem, then show the answer: findings that cite sources and stop at a human decision. Positioning: Bearing is a light forward-deployed engineer for any team. Input: a repository. Output: what is worth optimizing, with evidence. A forward-deployed engineer embeds with a team, explores its codebase and comes back with a cited picture and a short list of where to improve; Bearing packages that first pass as a repeatable GitHub Copilot App workflow (plan, delegate, validate, review, ship) with a human review gate at each stage. Prototype (built today): read-only exploration that produces a cited map, conventions (documented vs observed), workflow, merged-PR history, first steps and explicit unavailable sections; agents are read-only with no shell, and it stops before implementation. Emerging: the evidence gaps it already surfaces are the first optimization signals. Proposed, not built: ranked optimization candidates with cited evidence, a confidence level and a delegable task brief behind a human review gate. Light means first-pass exploration; it does not replace a real forward-deployed engineer or the service owner. No measured results, time savings, customer validation or telemetry are claimed. This is not an official GitHub service or endorsement.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 https://stackoverflow.co/company/press/archive/stack-overflow-2025-developer-survey/ (published July 29, 2025). 84% use or plan to use AI tools, up from 76% in 2024; 46% say they don’t trust the accuracy of AI output, up from 31%. Stack Overflow’s December 2025 write-up separately reports trust in AI accuracy falling from 40% to 29%; other summaries quote a different trust figure, so this deck uses only the two press-release measures above. The survey is self-reported and describes its respondents, not this customer. Each bar runs from 0 to 100%. The two charts measure different questions and are not additive.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Right-hand claims are verified against the repo: plugins/bearing/agents/repo-cartographer.agent.md (every claim from a file read with view; documented vs observed conventions; unavailable sections with a reason), plugins/bearing/skills/onboard-repo/SKILL.md (no repository changes, no build, install or test commands, no implementation work) and the extension section validation (referenced files must exist; line ranges are checked). The left-hand column characterizes ad-hoc prompting in general, not any named product. Bearing does not verify that an explanation is semantically correct; the developer reviews the cited evidence. The diamond marks the human review gate.</a:t>
            </a:r>
          </a:p>
          <a:p>
            <a:r>
              <a:t>Bottom line: today Bearing explores a repository read-only and cites its evidence (Prototype). Applying the same review discipline to ranked optimization candidates is Proposed and not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https://www.kyndryl.com/us/en/insights/readiness-report-2025</a:t>
            </a:r>
          </a:p>
          <a:p>
            <a:r>
              <a:t>https://www.kyndryl.com/us/en/about-us/news/2024/10/kyndryl-readiness-report-2024</a:t>
            </a:r>
          </a:p>
          <a:p>
            <a:r>
              <a:t>The 2025 survey was conducted by Edelman DXI for Kyndryl, June 20–August 15, 2025. The 44% figure is from Bridge operational observations, not the 3,200-person 2024 survey. Do not infer that 44% of enterprise code is legacy or that either statistic describes this repository. Each square in a chart is one percentage point. The two charts show different measures from different populations; do not add or compare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customer case study or a finding about bearingV2. The business constraint is uncertainty about a consequential change. AI can help explore, but its explanation does not establish coverage, dependencies or runtime performance. Bring the accountable service owner into the assessment before selecting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observed, measured, hypothesis and unknown. Pin the source commit and date all evidence. A file reference is not correctness certification. Dependencies and business criticality require service-owner confirmation; code alone cannot establish them. Inspect existing CI and coverage reports in discovery. Additional instrumentation, test execution or production-data use requires separate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coverage does not prove correct business behavior, and no report is not zero coverage. Characterization tests should preserve owner-confirmed intentional behavior, not accidentally freeze a bug. Use customer-agreed observation windows. Calculate median/p95 only with enough samples, and compare like workflows, runner classes, branches and cache states. Do not monetize all saved CI minutes as engineer time. Customer-specific targets are agreed only after the baseline exists. The journey and pipeline strips are illustrative: pipeline segments have equal widths on purpose, so no timing is implied, and an empty circle means unknown, not zero coverage.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is a planning assumption, not an SLA. Each diamond is a human review gate. Discovery remains read-only. Running tests/builds and all implementation work use separately approved permissions and delivery workflows. A retain-as-is decision is a successful assessment outcome. Record unresolved unknowns rather than forcing an improvement to meet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GitHub Projects design; no live project or issue has been created. Suggested full statuses: Discovery, Evidence review, Ready for decision, Approved, In progress, Validating, Done. Also record disposition (retain/improve/reshape/retire), blocked reasons, business journey, criticality, confidence, effort, target date and workstream. Use issues for evidence-rich work items, a table for triage, a board for status and a roadmap for approved dated work. Normal branch protections and deployment controls remain in force; a project field is not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these candidates have been diagnosed. Evidence gaps create investigation issues, not confident prescriptions. Caching, parallelization and upgrades are options after measurement, not guaranteed fixes. Every implemented action needs an owner, acceptance checks and rollback.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decision aid, not an automated risk model: criticality rises upward, change confidence rises to the right. Shading shows suggested order of attention, not a score. Urgent compliance/support obligations take precedence according to customer policy. Compare measured friction, frequency, effort, confidence and reversibility. Retire only after business-owner approval of dependencies, retention and exit plans. Reshape a boundary only when repeated change constraints justify the larger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Prototype (left) is what exists: read-only exploration of a repository that returns a cited picture. Proposed (right) is not built: ranked optimization candidates, coverage and CI data, runtime measurement, support-lifecycle assessment, task briefs and project setup. Bearing does not find optimizations today, and no measured results are claimed.</a:t>
            </a:r>
          </a:p>
          <a:p>
            <a:r>
              <a:t>Current behavior is verified against README.md and plugins/bearing/skills/onboard-repo/SKILL.md, the repo-cartographer and pr-historian agent instructions, and section-validation code. Path/line checks are reference validation, not semantic correctness certification. The prototype targets small repositories on github.com, not production monorepo/large-estate analysis or GitHub Enterprise Server. Production rollout still needs approved data/model handling, access, retention, auditability, quality criteria and operational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self-assessment, not a score. Prototype = implemented in this repository (README.md, submission/README.md and plugins/bearing/). Emerging = partly supported, not validated. Proposed = described in this deck or the companion brief but not built. Governed means the prototype’s own controls: read-only agents with role-scoped tool lists, workspace state kept outside the analyzed repository, and a loopback-only canvas with a per-instance token. Production rollout still needs approved data and model handling, access, retention, auditability and an owner.</a:t>
            </a:r>
          </a:p>
          <a:p>
            <a:r>
              <a:t>Emerging, useful beyond developers: field teams could run the same read-only light FDE pass, but this has not been validated with non-developer users. Proposed, ranks what to optimize: ranked candidates with cited evidence, a confidence level and a task brief are described in this deck and not built; Bearing does not find optimizations today. Light means first-pass exploration; it does not replace a real forward-deployed engineer or the service owner.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repository exploration exists (/onboard-repo, the light FDE pass). Every other row is a proposal that would need its own analyzers, tool permissions, evaluation and human review gates; none inherits Bearing’s current controls automatically. The optimization assessment row is the proposed ranked-candidates half and is not built. The shared pattern is a design intent, not an implemented cross-workflow contract.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is the light FDE pass: the read-only exploration that exists today (Prototype). Proving an improvement is the proposed pilot (Proposed): Bearing does not rank or find optimizations today, so the journey, owner and baseline are agreed by people, not produced by Bearing.</a:t>
            </a:r>
          </a:p>
          <a:p>
            <a:r>
              <a:t>Ask the customer to nominate the service, journey and accountable owner. Agree measurement and review gates before selecting the intervention. Track comparable CI/test-stage performance, failure behavior and confidence for the named journey. For assessment value, record evidence completeness, time to owner-approved first meaningful PR and repeated orientation questions. All targets are customer-agreed pilot hypotheses, not claimed Bearing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and qualifications:</a:t>
            </a:r>
          </a:p>
          <a:p>
            <a:r>
              <a:t>https://stackoverflow.co/company/press/archive/stack-overflow-2025-developer-survey/</a:t>
            </a:r>
          </a:p>
          <a:p>
            <a:r>
              <a:t>https://www.kyndryl.com/us/en/insights/readiness-report-2025</a:t>
            </a:r>
          </a:p>
          <a:p>
            <a:r>
              <a:t>https://www.kyndryl.com/us/en/about-us/news/2024/10/kyndryl-readiness-report-2024</a:t>
            </a:r>
          </a:p>
          <a:p>
            <a:r>
              <a:t>https://github.blog/news-insights/research/good-devex-increases-productivity/</a:t>
            </a:r>
          </a:p>
          <a:p>
            <a:r>
              <a:t>Stack Overflow’s December 2025 results write-up (https://stackoverflow.blog/2025/12/29/developers-remain-willing-but-reluctant-to-use-ai-the-2025-developer-survey-results-are-here/) reports trust in AI accuracy falling from 40% to 29%; other summaries quote different trust figures, so the deck uses only the press-release measures.</a:t>
            </a:r>
          </a:p>
          <a:p>
            <a:r>
              <a:t>Underlying DevEx paper: https://queue.acm.org/detail.cfm?id=3639443</a:t>
            </a:r>
          </a:p>
          <a:p>
            <a:r>
              <a:t>Brand: https://brand.github.com/foundations/color and https://brand.github.com/foundations/typography</a:t>
            </a:r>
          </a:p>
          <a:p>
            <a:r>
              <a:t>The Kyndryl 2025 survey dates are June 20–August 15, 2025. The 2024 announcement was October 16, 2024. Vendor research describes its stated populations, not the customer's estate. The four-week schedule and all backlog examples are illustrative. Artifacts use the official neutral/green palette with a restrained Copilot Purple accent: green marks what exists today, purple marks illustrative or proposed content. Mona Sans is used for display type and Arial for body text so the files stay portable. They do not imply GitHub endorsement of Bearing.</a:t>
            </a:r>
          </a:p>
          <a:p>
            <a:r>
              <a:t>Ranked optimization candidates are Proposed and not built; no measured results, time savings, customer validation or telemetry are claimed.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developer repository exploration is implemented today (Prototype). The other three rows are reuse patterns of the same guide format and review discipline: each audience runs a light FDE pass, a first-pass, read-only exploration of a repo before a deep-dive. Emerging: today’s guide could be reused as-is but has not been validated with that audience. Proposed: the workflow is not built. No adoption, telemetry, time-saving or customer-validation results are claimed. Light does not mean replacing a real forward-deployed engineer or the service owner. Any field use still needs repository eligibility, owner review and a human decision before action. Slide 16 lists workflows; this slide lists who would use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a repository. Output: what is worth optimizing, with evidence. This is the light forward-deployed engineer idea in one slide: embed read-only, explore, and come back with a cited picture and a short list of where to improve. The exploration uses the five stages from the previous slide (plan, delegate, validate, review, ship), each with a human review gate. Prototype (built today): the cited picture, meaning a map, conventions marked documented or observed, workflow, merged-PR history and first steps, plus explicit unavailable sections; every claim cites file and line; agents are read-only with no shell; Bearing stops before implementation. Emerging: the evidence gaps /onboard-repo already surfaces (unavailable sections, conventions that are only observed and not documented, missing docs) are the first optimization signals a team can act on today. This is not a ranked output. Proposed, not built: ranked optimization candidates (for example test confidence, delivery friction, supportability, ownership and documentation risk), each with cited evidence, a confidence level and a delegable task brief for Copilot behind a human review gate; the modernization assessment slides that follow describe that half. Bearing does not find optimizations today. No measured results, time savings, customer validation or telemetry are claimed, and it does not run builds or tests or measure coverage or CI. Path and line checks validate references, not semantic correctness. Light means first-pass exploration; it does not replace a real forward-deployed engineer or the service owner.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tackoverflow.co/company/press/archive/stack-overflow-2025-developer-survey/" TargetMode="External"/><Relationship Id="rId3" Type="http://schemas.openxmlformats.org/officeDocument/2006/relationships/hyperlink" Target="https://www.kyndryl.com/us/en/insights/readiness-report-2025" TargetMode="External"/><Relationship Id="rId4" Type="http://schemas.openxmlformats.org/officeDocument/2006/relationships/hyperlink" Target="https://www.kyndryl.com/us/en/about-us/news/2024/10/kyndryl-readiness-report-2024" TargetMode="External"/><Relationship Id="rId5" Type="http://schemas.openxmlformats.org/officeDocument/2006/relationships/hyperlink" Target="https://github.blog/news-insights/research/good-devex-increases-productivity/"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Agents you can check."/>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Agents you can check.</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6" name="01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01 / 19</a:t>
            </a:r>
          </a:p>
        </p:txBody>
      </p:sp>
      <p:sp>
        <p:nvSpPr>
          <p:cNvPr id="7" name="GitHub mark" descr="GitHub logo"/>
          <p:cNvSpPr/>
          <p:nvPr/>
        </p:nvSpPr>
        <p:spPr>
          <a:xfrm>
            <a:off x="7863840" y="457200"/>
            <a:ext cx="640080" cy="6400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0" y="457200"/>
            <a:ext cx="10972" cy="64008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itHub Copilot App"/>
          <p:cNvSpPr txBox="1"/>
          <p:nvPr/>
        </p:nvSpPr>
        <p:spPr>
          <a:xfrm>
            <a:off x="8887968" y="502920"/>
            <a:ext cx="2743200" cy="292608"/>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GitHub Copilot App</a:t>
            </a:r>
          </a:p>
        </p:txBody>
      </p:sp>
      <p:sp>
        <p:nvSpPr>
          <p:cNvPr id="10" name="Enterprise workflow challenge"/>
          <p:cNvSpPr txBox="1"/>
          <p:nvPr/>
        </p:nvSpPr>
        <p:spPr>
          <a:xfrm>
            <a:off x="8887968" y="850392"/>
            <a:ext cx="2743200" cy="256032"/>
          </a:xfrm>
          <a:prstGeom prst="rect">
            <a:avLst/>
          </a:prstGeom>
          <a:noFill/>
        </p:spPr>
        <p:txBody>
          <a:bodyPr wrap="square" lIns="0" rIns="0" tIns="0" bIns="0">
            <a:spAutoFit/>
          </a:bodyPr>
          <a:lstStyle/>
          <a:p>
            <a:pPr>
              <a:lnSpc>
                <a:spcPct val="107000"/>
              </a:lnSpc>
              <a:spcAft>
                <a:spcPts val="500"/>
              </a:spcAft>
            </a:pPr>
            <a:r>
              <a:rPr sz="1200" b="0">
                <a:solidFill>
                  <a:srgbClr val="B6BFB8"/>
                </a:solidFill>
                <a:latin typeface="Arial"/>
              </a:rPr>
              <a:t>Enterprise workflow challenge</a:t>
            </a:r>
          </a:p>
        </p:txBody>
      </p:sp>
      <p:sp>
        <p:nvSpPr>
          <p:cNvPr id="11" name="Evidence first."/>
          <p:cNvSpPr txBox="1"/>
          <p:nvPr/>
        </p:nvSpPr>
        <p:spPr>
          <a:xfrm>
            <a:off x="594360" y="1417320"/>
            <a:ext cx="7680960" cy="777240"/>
          </a:xfrm>
          <a:prstGeom prst="rect">
            <a:avLst/>
          </a:prstGeom>
          <a:noFill/>
        </p:spPr>
        <p:txBody>
          <a:bodyPr wrap="square" lIns="0" rIns="0" tIns="0" bIns="0">
            <a:spAutoFit/>
          </a:bodyPr>
          <a:lstStyle/>
          <a:p>
            <a:pPr>
              <a:lnSpc>
                <a:spcPct val="107000"/>
              </a:lnSpc>
              <a:spcAft>
                <a:spcPts val="500"/>
              </a:spcAft>
            </a:pPr>
            <a:r>
              <a:rPr sz="4300" b="1">
                <a:solidFill>
                  <a:srgbClr val="0FBF3E"/>
                </a:solidFill>
                <a:latin typeface="Mona Sans"/>
              </a:rPr>
              <a:t>Evidence first.</a:t>
            </a:r>
          </a:p>
        </p:txBody>
      </p:sp>
      <p:sp>
        <p:nvSpPr>
          <p:cNvPr id="12" name="A light forward-deployed engineer"/>
          <p:cNvSpPr txBox="1"/>
          <p:nvPr/>
        </p:nvSpPr>
        <p:spPr>
          <a:xfrm>
            <a:off x="594360" y="2542032"/>
            <a:ext cx="6675120" cy="1097280"/>
          </a:xfrm>
          <a:prstGeom prst="rect">
            <a:avLst/>
          </a:prstGeom>
          <a:noFill/>
        </p:spPr>
        <p:txBody>
          <a:bodyPr wrap="square" lIns="0" rIns="0" tIns="0" bIns="0">
            <a:spAutoFit/>
          </a:bodyPr>
          <a:lstStyle/>
          <a:p>
            <a:pPr>
              <a:lnSpc>
                <a:spcPct val="107000"/>
              </a:lnSpc>
              <a:spcAft>
                <a:spcPts val="500"/>
              </a:spcAft>
            </a:pPr>
            <a:r>
              <a:rPr sz="2800" b="0">
                <a:solidFill>
                  <a:srgbClr val="FFFFFF"/>
                </a:solidFill>
                <a:latin typeface="Arial"/>
              </a:rPr>
              <a:t>A light forward-deployed engineer</a:t>
            </a:r>
          </a:p>
          <a:p>
            <a:pPr>
              <a:lnSpc>
                <a:spcPct val="107000"/>
              </a:lnSpc>
              <a:spcAft>
                <a:spcPts val="500"/>
              </a:spcAft>
            </a:pPr>
            <a:r>
              <a:rPr sz="2800" b="0">
                <a:solidFill>
                  <a:srgbClr val="FFFFFF"/>
                </a:solidFill>
                <a:latin typeface="Arial"/>
              </a:rPr>
              <a:t>for any team.</a:t>
            </a:r>
          </a:p>
        </p:txBody>
      </p:sp>
      <p:sp>
        <p:nvSpPr>
          <p:cNvPr id="13" name="Findings cite their sources."/>
          <p:cNvSpPr txBox="1"/>
          <p:nvPr/>
        </p:nvSpPr>
        <p:spPr>
          <a:xfrm>
            <a:off x="594360" y="3968496"/>
            <a:ext cx="6766560" cy="1024128"/>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Findings cite their sources.</a:t>
            </a:r>
          </a:p>
          <a:p>
            <a:pPr>
              <a:lnSpc>
                <a:spcPct val="107000"/>
              </a:lnSpc>
              <a:spcAft>
                <a:spcPts val="500"/>
              </a:spcAft>
            </a:pPr>
            <a:r>
              <a:rPr sz="2100" b="0">
                <a:solidFill>
                  <a:srgbClr val="B6BFB8"/>
                </a:solidFill>
                <a:latin typeface="Arial"/>
              </a:rPr>
              <a:t>Every step ends in a human decision.</a:t>
            </a:r>
          </a:p>
        </p:txBody>
      </p:sp>
      <p:sp>
        <p:nvSpPr>
          <p:cNvPr id="14" name="Rectangle 13"/>
          <p:cNvSpPr/>
          <p:nvPr/>
        </p:nvSpPr>
        <p:spPr>
          <a:xfrm>
            <a:off x="8229600" y="182880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 repository"/>
          <p:cNvSpPr txBox="1"/>
          <p:nvPr/>
        </p:nvSpPr>
        <p:spPr>
          <a:xfrm>
            <a:off x="8412480" y="1993392"/>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A repository</a:t>
            </a:r>
          </a:p>
        </p:txBody>
      </p:sp>
      <p:sp>
        <p:nvSpPr>
          <p:cNvPr id="16" name="Rectangle 15"/>
          <p:cNvSpPr/>
          <p:nvPr/>
        </p:nvSpPr>
        <p:spPr>
          <a:xfrm>
            <a:off x="9729216" y="2542032"/>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0" y="288036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vidence + context"/>
          <p:cNvSpPr txBox="1"/>
          <p:nvPr/>
        </p:nvSpPr>
        <p:spPr>
          <a:xfrm>
            <a:off x="8412480" y="3044952"/>
            <a:ext cx="2651760" cy="411480"/>
          </a:xfrm>
          <a:prstGeom prst="rect">
            <a:avLst/>
          </a:prstGeom>
          <a:noFill/>
        </p:spPr>
        <p:txBody>
          <a:bodyPr wrap="square" lIns="0" rIns="0" tIns="0" bIns="0">
            <a:spAutoFit/>
          </a:bodyPr>
          <a:lstStyle/>
          <a:p>
            <a:pPr>
              <a:lnSpc>
                <a:spcPct val="107000"/>
              </a:lnSpc>
              <a:spcAft>
                <a:spcPts val="500"/>
              </a:spcAft>
            </a:pPr>
            <a:r>
              <a:rPr sz="2000" b="1">
                <a:solidFill>
                  <a:srgbClr val="0FBF3E"/>
                </a:solidFill>
                <a:latin typeface="Arial"/>
              </a:rPr>
              <a:t>Evidence + context</a:t>
            </a:r>
          </a:p>
        </p:txBody>
      </p:sp>
      <p:sp>
        <p:nvSpPr>
          <p:cNvPr id="19" name="Rectangle 18"/>
          <p:cNvSpPr/>
          <p:nvPr/>
        </p:nvSpPr>
        <p:spPr>
          <a:xfrm>
            <a:off x="9729216" y="3593591"/>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0" y="393192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uman decision"/>
          <p:cNvSpPr txBox="1"/>
          <p:nvPr/>
        </p:nvSpPr>
        <p:spPr>
          <a:xfrm>
            <a:off x="8412480" y="4096511"/>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Human decision</a:t>
            </a:r>
          </a:p>
        </p:txBody>
      </p:sp>
      <p:sp>
        <p:nvSpPr>
          <p:cNvPr id="22" name="Human review gate"/>
          <p:cNvSpPr/>
          <p:nvPr/>
        </p:nvSpPr>
        <p:spPr>
          <a:xfrm>
            <a:off x="10789920" y="4151376"/>
            <a:ext cx="274320" cy="274320"/>
          </a:xfrm>
          <a:prstGeom prst="diamond">
            <a:avLst/>
          </a:prstGeom>
          <a:solidFill>
            <a:srgbClr val="0FB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Independent Bearing prototype. Content marked Illustrative o"/>
          <p:cNvSpPr txBox="1"/>
          <p:nvPr/>
        </p:nvSpPr>
        <p:spPr>
          <a:xfrm>
            <a:off x="594360" y="5577840"/>
            <a:ext cx="10607040" cy="320040"/>
          </a:xfrm>
          <a:prstGeom prst="rect">
            <a:avLst/>
          </a:prstGeom>
          <a:noFill/>
        </p:spPr>
        <p:txBody>
          <a:bodyPr wrap="square" lIns="0" rIns="0" tIns="0" bIns="0">
            <a:spAutoFit/>
          </a:bodyPr>
          <a:lstStyle/>
          <a:p>
            <a:pPr>
              <a:lnSpc>
                <a:spcPct val="107000"/>
              </a:lnSpc>
              <a:spcAft>
                <a:spcPts val="500"/>
              </a:spcAft>
            </a:pPr>
            <a:r>
              <a:rPr sz="1400" b="0">
                <a:solidFill>
                  <a:srgbClr val="B6BFB8"/>
                </a:solidFill>
                <a:latin typeface="Arial"/>
              </a:rPr>
              <a:t>Independent Bearing prototype. “Light” = first-pass, read-only exploration. Content marked Illustrative or Proposed is not implemented.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doption is rising. Trust is no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Adoption is rising. Trust is not.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2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02 / 19</a:t>
            </a:r>
          </a:p>
        </p:txBody>
      </p:sp>
      <p:sp>
        <p:nvSpPr>
          <p:cNvPr id="7" name="Source: Stack Overflow Developer Survey 2025; 49,000+ resp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 Stack Overflow Developer Survey 2025; 49,000+ responses from 177 countries; self-reported.</a:t>
            </a:r>
          </a:p>
        </p:txBody>
      </p:sp>
      <p:sp>
        <p:nvSpPr>
          <p:cNvPr id="8" name="of developers use or plan to use AI tools"/>
          <p:cNvSpPr txBox="1"/>
          <p:nvPr/>
        </p:nvSpPr>
        <p:spPr>
          <a:xfrm>
            <a:off x="59436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use or plan to use AI tools</a:t>
            </a:r>
          </a:p>
        </p:txBody>
      </p:sp>
      <p:sp>
        <p:nvSpPr>
          <p:cNvPr id="9" name="2024"/>
          <p:cNvSpPr txBox="1"/>
          <p:nvPr/>
        </p:nvSpPr>
        <p:spPr>
          <a:xfrm>
            <a:off x="59436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10" name="Rectangle 9"/>
          <p:cNvSpPr/>
          <p:nvPr/>
        </p:nvSpPr>
        <p:spPr>
          <a:xfrm>
            <a:off x="132588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2024 bar: 76%"/>
          <p:cNvSpPr/>
          <p:nvPr/>
        </p:nvSpPr>
        <p:spPr>
          <a:xfrm>
            <a:off x="1325880" y="2697480"/>
            <a:ext cx="2918764"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76%"/>
          <p:cNvSpPr txBox="1"/>
          <p:nvPr/>
        </p:nvSpPr>
        <p:spPr>
          <a:xfrm>
            <a:off x="525780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76%</a:t>
            </a:r>
          </a:p>
        </p:txBody>
      </p:sp>
      <p:sp>
        <p:nvSpPr>
          <p:cNvPr id="13" name="2025"/>
          <p:cNvSpPr txBox="1"/>
          <p:nvPr/>
        </p:nvSpPr>
        <p:spPr>
          <a:xfrm>
            <a:off x="59436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14" name="Rectangle 13"/>
          <p:cNvSpPr/>
          <p:nvPr/>
        </p:nvSpPr>
        <p:spPr>
          <a:xfrm>
            <a:off x="132588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2025 bar: 84%"/>
          <p:cNvSpPr/>
          <p:nvPr/>
        </p:nvSpPr>
        <p:spPr>
          <a:xfrm>
            <a:off x="1325880" y="3383280"/>
            <a:ext cx="3226003"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84%"/>
          <p:cNvSpPr txBox="1"/>
          <p:nvPr/>
        </p:nvSpPr>
        <p:spPr>
          <a:xfrm>
            <a:off x="525780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84%</a:t>
            </a:r>
          </a:p>
        </p:txBody>
      </p:sp>
      <p:sp>
        <p:nvSpPr>
          <p:cNvPr id="17" name="+8 percentage points"/>
          <p:cNvSpPr txBox="1"/>
          <p:nvPr/>
        </p:nvSpPr>
        <p:spPr>
          <a:xfrm>
            <a:off x="59436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+8 percentage points</a:t>
            </a:r>
          </a:p>
        </p:txBody>
      </p:sp>
      <p:sp>
        <p:nvSpPr>
          <p:cNvPr id="18" name="of developers don’t trust the accuracy of AI output"/>
          <p:cNvSpPr txBox="1"/>
          <p:nvPr/>
        </p:nvSpPr>
        <p:spPr>
          <a:xfrm>
            <a:off x="6400800" y="1691640"/>
            <a:ext cx="516636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of developers don’t trust the accuracy of AI output</a:t>
            </a:r>
          </a:p>
        </p:txBody>
      </p:sp>
      <p:sp>
        <p:nvSpPr>
          <p:cNvPr id="19" name="2024"/>
          <p:cNvSpPr txBox="1"/>
          <p:nvPr/>
        </p:nvSpPr>
        <p:spPr>
          <a:xfrm>
            <a:off x="6400800" y="27889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2024</a:t>
            </a:r>
          </a:p>
        </p:txBody>
      </p:sp>
      <p:sp>
        <p:nvSpPr>
          <p:cNvPr id="20" name="Rectangle 19"/>
          <p:cNvSpPr/>
          <p:nvPr/>
        </p:nvSpPr>
        <p:spPr>
          <a:xfrm>
            <a:off x="7132320" y="26974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2024 bar: 31%"/>
          <p:cNvSpPr/>
          <p:nvPr/>
        </p:nvSpPr>
        <p:spPr>
          <a:xfrm>
            <a:off x="7132320" y="2697480"/>
            <a:ext cx="1190548" cy="457200"/>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31%"/>
          <p:cNvSpPr txBox="1"/>
          <p:nvPr/>
        </p:nvSpPr>
        <p:spPr>
          <a:xfrm>
            <a:off x="11064240" y="27340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31%</a:t>
            </a:r>
          </a:p>
        </p:txBody>
      </p:sp>
      <p:sp>
        <p:nvSpPr>
          <p:cNvPr id="23" name="2025"/>
          <p:cNvSpPr txBox="1"/>
          <p:nvPr/>
        </p:nvSpPr>
        <p:spPr>
          <a:xfrm>
            <a:off x="6400800" y="3474720"/>
            <a:ext cx="640080" cy="274320"/>
          </a:xfrm>
          <a:prstGeom prst="rect">
            <a:avLst/>
          </a:prstGeom>
          <a:noFill/>
        </p:spPr>
        <p:txBody>
          <a:bodyPr wrap="square" lIns="0" rIns="0" tIns="0" bIns="0">
            <a:spAutoFit/>
          </a:bodyPr>
          <a:lstStyle/>
          <a:p>
            <a:pPr>
              <a:lnSpc>
                <a:spcPct val="107000"/>
              </a:lnSpc>
              <a:spcAft>
                <a:spcPts val="500"/>
              </a:spcAft>
            </a:pPr>
            <a:r>
              <a:rPr sz="1600" b="1">
                <a:solidFill>
                  <a:srgbClr val="232925"/>
                </a:solidFill>
                <a:latin typeface="Arial"/>
              </a:rPr>
              <a:t>2025</a:t>
            </a:r>
          </a:p>
        </p:txBody>
      </p:sp>
      <p:sp>
        <p:nvSpPr>
          <p:cNvPr id="24" name="Rectangle 23"/>
          <p:cNvSpPr/>
          <p:nvPr/>
        </p:nvSpPr>
        <p:spPr>
          <a:xfrm>
            <a:off x="7132320" y="3383280"/>
            <a:ext cx="3840480" cy="457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2025 bar: 46%"/>
          <p:cNvSpPr/>
          <p:nvPr/>
        </p:nvSpPr>
        <p:spPr>
          <a:xfrm>
            <a:off x="7132320" y="3383280"/>
            <a:ext cx="1766620" cy="457200"/>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46%"/>
          <p:cNvSpPr txBox="1"/>
          <p:nvPr/>
        </p:nvSpPr>
        <p:spPr>
          <a:xfrm>
            <a:off x="11064240" y="3419856"/>
            <a:ext cx="82296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46%</a:t>
            </a:r>
          </a:p>
        </p:txBody>
      </p:sp>
      <p:sp>
        <p:nvSpPr>
          <p:cNvPr id="27" name="+15 percentage points"/>
          <p:cNvSpPr txBox="1"/>
          <p:nvPr/>
        </p:nvSpPr>
        <p:spPr>
          <a:xfrm>
            <a:off x="6400800" y="4224528"/>
            <a:ext cx="5166360" cy="411480"/>
          </a:xfrm>
          <a:prstGeom prst="rect">
            <a:avLst/>
          </a:prstGeom>
          <a:noFill/>
        </p:spPr>
        <p:txBody>
          <a:bodyPr wrap="square" lIns="0" rIns="0" tIns="0" bIns="0">
            <a:spAutoFit/>
          </a:bodyPr>
          <a:lstStyle/>
          <a:p>
            <a:pPr>
              <a:lnSpc>
                <a:spcPct val="107000"/>
              </a:lnSpc>
              <a:spcAft>
                <a:spcPts val="500"/>
              </a:spcAft>
            </a:pPr>
            <a:r>
              <a:rPr sz="2200" b="1">
                <a:solidFill>
                  <a:srgbClr val="08872B"/>
                </a:solidFill>
                <a:latin typeface="Mona Sans"/>
              </a:rPr>
              <a:t>+15 percentage points</a:t>
            </a:r>
          </a:p>
        </p:txBody>
      </p:sp>
      <p:sp>
        <p:nvSpPr>
          <p:cNvPr id="28" name="Rectangle 27"/>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sing AI is not the same as trusting it."/>
          <p:cNvSpPr txBox="1"/>
          <p:nvPr/>
        </p:nvSpPr>
        <p:spPr>
          <a:xfrm>
            <a:off x="768096" y="5202936"/>
            <a:ext cx="1060704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Using AI is not the same as trusting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From “trust me” to “check m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From “trust me” to “check me”.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3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03 / 19</a:t>
            </a:r>
          </a:p>
        </p:txBody>
      </p:sp>
      <p:sp>
        <p:nvSpPr>
          <p:cNvPr id="7" name="Verified against Bearing’s agent and skill files. Path and l"/>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Verified against Bearing’s agent and skill files. Path and line checks validate references, not semantic correctness.</a:t>
            </a:r>
          </a:p>
        </p:txBody>
      </p:sp>
      <p:sp>
        <p:nvSpPr>
          <p:cNvPr id="8" name="Rectangle 7"/>
          <p:cNvSpPr/>
          <p:nvPr/>
        </p:nvSpPr>
        <p:spPr>
          <a:xfrm>
            <a:off x="59436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691640"/>
            <a:ext cx="5166360" cy="6400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n agent that tells you"/>
          <p:cNvSpPr txBox="1"/>
          <p:nvPr/>
        </p:nvSpPr>
        <p:spPr>
          <a:xfrm>
            <a:off x="86868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tells you</a:t>
            </a:r>
          </a:p>
        </p:txBody>
      </p:sp>
      <p:sp>
        <p:nvSpPr>
          <p:cNvPr id="11" name="Rectangle 10"/>
          <p:cNvSpPr/>
          <p:nvPr/>
        </p:nvSpPr>
        <p:spPr>
          <a:xfrm>
            <a:off x="886968" y="2770632"/>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se answers, no sources."/>
          <p:cNvSpPr txBox="1"/>
          <p:nvPr/>
        </p:nvSpPr>
        <p:spPr>
          <a:xfrm>
            <a:off x="116128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Prose answers, no sources.</a:t>
            </a:r>
          </a:p>
        </p:txBody>
      </p:sp>
      <p:sp>
        <p:nvSpPr>
          <p:cNvPr id="13" name="Rectangle 12"/>
          <p:cNvSpPr/>
          <p:nvPr/>
        </p:nvSpPr>
        <p:spPr>
          <a:xfrm>
            <a:off x="886968" y="3300984"/>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uesses read like findings."/>
          <p:cNvSpPr txBox="1"/>
          <p:nvPr/>
        </p:nvSpPr>
        <p:spPr>
          <a:xfrm>
            <a:off x="116128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Guesses read like findings.</a:t>
            </a:r>
          </a:p>
        </p:txBody>
      </p:sp>
      <p:sp>
        <p:nvSpPr>
          <p:cNvPr id="15" name="Rectangle 14"/>
          <p:cNvSpPr/>
          <p:nvPr/>
        </p:nvSpPr>
        <p:spPr>
          <a:xfrm>
            <a:off x="886968" y="3831336"/>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aps are quietly filled in."/>
          <p:cNvSpPr txBox="1"/>
          <p:nvPr/>
        </p:nvSpPr>
        <p:spPr>
          <a:xfrm>
            <a:off x="116128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Gaps are quietly filled in.</a:t>
            </a:r>
          </a:p>
        </p:txBody>
      </p:sp>
      <p:sp>
        <p:nvSpPr>
          <p:cNvPr id="17" name="Rectangle 16"/>
          <p:cNvSpPr/>
          <p:nvPr/>
        </p:nvSpPr>
        <p:spPr>
          <a:xfrm>
            <a:off x="886968" y="4361688"/>
            <a:ext cx="128016" cy="128016"/>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dvice and action blur together."/>
          <p:cNvSpPr txBox="1"/>
          <p:nvPr/>
        </p:nvSpPr>
        <p:spPr>
          <a:xfrm>
            <a:off x="116128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Advice and action blur together.</a:t>
            </a:r>
          </a:p>
        </p:txBody>
      </p:sp>
      <p:sp>
        <p:nvSpPr>
          <p:cNvPr id="19" name="Rectangle 18"/>
          <p:cNvSpPr/>
          <p:nvPr/>
        </p:nvSpPr>
        <p:spPr>
          <a:xfrm>
            <a:off x="6400800" y="1691640"/>
            <a:ext cx="5166360" cy="3154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0" y="169164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An agent that shows you"/>
          <p:cNvSpPr txBox="1"/>
          <p:nvPr/>
        </p:nvSpPr>
        <p:spPr>
          <a:xfrm>
            <a:off x="6675120" y="1965960"/>
            <a:ext cx="4663440" cy="45720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An agent that shows you</a:t>
            </a:r>
          </a:p>
        </p:txBody>
      </p:sp>
      <p:sp>
        <p:nvSpPr>
          <p:cNvPr id="22" name="Rectangle 21"/>
          <p:cNvSpPr/>
          <p:nvPr/>
        </p:nvSpPr>
        <p:spPr>
          <a:xfrm>
            <a:off x="6693408" y="2770632"/>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ventions cite files and line ranges."/>
          <p:cNvSpPr txBox="1"/>
          <p:nvPr/>
        </p:nvSpPr>
        <p:spPr>
          <a:xfrm>
            <a:off x="6967728" y="2697480"/>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Conventions cite files and line ranges.</a:t>
            </a:r>
          </a:p>
        </p:txBody>
      </p:sp>
      <p:sp>
        <p:nvSpPr>
          <p:cNvPr id="24" name="Rectangle 23"/>
          <p:cNvSpPr/>
          <p:nvPr/>
        </p:nvSpPr>
        <p:spPr>
          <a:xfrm>
            <a:off x="6693408" y="3300984"/>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Each rule is marked documented or observed."/>
          <p:cNvSpPr txBox="1"/>
          <p:nvPr/>
        </p:nvSpPr>
        <p:spPr>
          <a:xfrm>
            <a:off x="6967728" y="3227832"/>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Each rule is marked documented or observed.</a:t>
            </a:r>
          </a:p>
        </p:txBody>
      </p:sp>
      <p:sp>
        <p:nvSpPr>
          <p:cNvPr id="26" name="Rectangle 25"/>
          <p:cNvSpPr/>
          <p:nvPr/>
        </p:nvSpPr>
        <p:spPr>
          <a:xfrm>
            <a:off x="6693408" y="3831336"/>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Missing evidence is shown as unavailable."/>
          <p:cNvSpPr txBox="1"/>
          <p:nvPr/>
        </p:nvSpPr>
        <p:spPr>
          <a:xfrm>
            <a:off x="6967728" y="3758184"/>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Missing evidence is shown as unavailable.</a:t>
            </a:r>
          </a:p>
        </p:txBody>
      </p:sp>
      <p:sp>
        <p:nvSpPr>
          <p:cNvPr id="28" name="Rectangle 27"/>
          <p:cNvSpPr/>
          <p:nvPr/>
        </p:nvSpPr>
        <p:spPr>
          <a:xfrm>
            <a:off x="6693408" y="4361688"/>
            <a:ext cx="128016"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ad-only. It stops before implementation."/>
          <p:cNvSpPr txBox="1"/>
          <p:nvPr/>
        </p:nvSpPr>
        <p:spPr>
          <a:xfrm>
            <a:off x="6967728" y="4288536"/>
            <a:ext cx="4434840" cy="4114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Read-only. It stops before implementation.</a:t>
            </a:r>
          </a:p>
        </p:txBody>
      </p:sp>
      <p:sp>
        <p:nvSpPr>
          <p:cNvPr id="30" name="→"/>
          <p:cNvSpPr txBox="1"/>
          <p:nvPr/>
        </p:nvSpPr>
        <p:spPr>
          <a:xfrm>
            <a:off x="5760720" y="3063240"/>
            <a:ext cx="548640" cy="548640"/>
          </a:xfrm>
          <a:prstGeom prst="rect">
            <a:avLst/>
          </a:prstGeom>
          <a:noFill/>
        </p:spPr>
        <p:txBody>
          <a:bodyPr wrap="square" lIns="0" rIns="0" tIns="0" bIns="0">
            <a:spAutoFit/>
          </a:bodyPr>
          <a:lstStyle/>
          <a:p>
            <a:pPr algn="ctr">
              <a:lnSpc>
                <a:spcPct val="107000"/>
              </a:lnSpc>
              <a:spcAft>
                <a:spcPts val="500"/>
              </a:spcAft>
            </a:pPr>
            <a:r>
              <a:rPr sz="3200" b="1">
                <a:solidFill>
                  <a:srgbClr val="101411"/>
                </a:solidFill>
                <a:latin typeface="Mona Sans"/>
              </a:rPr>
              <a:t>→</a:t>
            </a:r>
          </a:p>
        </p:txBody>
      </p:sp>
      <p:sp>
        <p:nvSpPr>
          <p:cNvPr id="31" name="Human review gate"/>
          <p:cNvSpPr/>
          <p:nvPr/>
        </p:nvSpPr>
        <p:spPr>
          <a:xfrm>
            <a:off x="594360" y="5138928"/>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uilt today for read-only repo exploration. Ranking what to optimize is proposed next."/>
          <p:cNvSpPr txBox="1"/>
          <p:nvPr/>
        </p:nvSpPr>
        <p:spPr>
          <a:xfrm>
            <a:off x="1051560" y="5157216"/>
            <a:ext cx="10515600" cy="32004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Built today for read-only repo exploration. Ranking what to optimize is proposed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he estate works. That does not mean it is read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The estate works. That does not mean it is ready.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6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06 / 19</a:t>
            </a:r>
          </a:p>
        </p:txBody>
      </p:sp>
      <p:sp>
        <p:nvSpPr>
          <p:cNvPr id="7" name="Sources: Kyndryl Readiness Reports 2025 and 2024. Populati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Sources: Kyndryl Readiness Reports 2025 and 2024. Populations differ; neither measures legacy-code share.</a:t>
            </a:r>
          </a:p>
        </p:txBody>
      </p:sp>
      <p:grpSp>
        <p:nvGrpSpPr>
          <p:cNvPr id="8" name="Unit chart: 57 of 100 squares filled" descr="Unit chart: 57 of 100 squares filled"/>
          <p:cNvGrpSpPr/>
          <p:nvPr/>
        </p:nvGrpSpPr>
        <p:grpSpPr>
          <a:xfrm>
            <a:off x="594360" y="1691640"/>
            <a:ext cx="2340864" cy="2340863"/>
            <a:chOff x="594360" y="1691640"/>
            <a:chExt cx="2340864" cy="2340863"/>
          </a:xfrm>
        </p:grpSpPr>
        <p:sp>
          <p:nvSpPr>
            <p:cNvPr id="9" name="Rectangle 8"/>
            <p:cNvSpPr/>
            <p:nvPr/>
          </p:nvSpPr>
          <p:spPr>
            <a:xfrm>
              <a:off x="59436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0759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54533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8308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2082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25856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49631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3405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6984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30759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4533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8308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02082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5856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9631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3405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6984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30759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54533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8308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02082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5856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49631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73405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9436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3210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6984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30759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54533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8308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02082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25856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49631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3405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9436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210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6984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30759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54533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78308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02082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25856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49631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73405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9436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3210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069848"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307592"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545336"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78308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02082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25856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49631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273405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10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06984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30759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54533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78308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02082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25856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49631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73405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59436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3210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06984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30759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54533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178308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02082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25856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49631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273405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59436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3210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6984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30759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4533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78308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202082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25856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249631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273405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59436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83210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06984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30759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4533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8308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202082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25856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249631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273405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9" name="57%"/>
          <p:cNvSpPr txBox="1"/>
          <p:nvPr/>
        </p:nvSpPr>
        <p:spPr>
          <a:xfrm>
            <a:off x="329184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57%</a:t>
            </a:r>
          </a:p>
        </p:txBody>
      </p:sp>
      <p:sp>
        <p:nvSpPr>
          <p:cNvPr id="110" name="of surveyed leaders"/>
          <p:cNvSpPr txBox="1"/>
          <p:nvPr/>
        </p:nvSpPr>
        <p:spPr>
          <a:xfrm>
            <a:off x="329184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surveyed leaders</a:t>
            </a:r>
          </a:p>
        </p:txBody>
      </p:sp>
      <p:sp>
        <p:nvSpPr>
          <p:cNvPr id="111" name="say technology-stack issues delay their company’s innovation"/>
          <p:cNvSpPr txBox="1"/>
          <p:nvPr/>
        </p:nvSpPr>
        <p:spPr>
          <a:xfrm>
            <a:off x="59436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say technology-stack issues delay their company’s innovation.</a:t>
            </a:r>
          </a:p>
        </p:txBody>
      </p:sp>
      <p:sp>
        <p:nvSpPr>
          <p:cNvPr id="112" name="2025 survey of 3,700 senior leaders in 21 countries; commiss"/>
          <p:cNvSpPr txBox="1"/>
          <p:nvPr/>
        </p:nvSpPr>
        <p:spPr>
          <a:xfrm>
            <a:off x="59436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2025 survey of 3,700 senior leaders in 21 countries; commissioned by Kyndryl.</a:t>
            </a:r>
          </a:p>
        </p:txBody>
      </p:sp>
      <p:grpSp>
        <p:nvGrpSpPr>
          <p:cNvPr id="113" name="Unit chart: 44 of 100 squares filled" descr="Unit chart: 44 of 100 squares filled"/>
          <p:cNvGrpSpPr/>
          <p:nvPr/>
        </p:nvGrpSpPr>
        <p:grpSpPr>
          <a:xfrm>
            <a:off x="6446520" y="1691640"/>
            <a:ext cx="2340864" cy="2340863"/>
            <a:chOff x="6446520" y="1691640"/>
            <a:chExt cx="2340864" cy="2340863"/>
          </a:xfrm>
        </p:grpSpPr>
        <p:sp>
          <p:nvSpPr>
            <p:cNvPr id="114" name="Rectangle 113"/>
            <p:cNvSpPr/>
            <p:nvPr/>
          </p:nvSpPr>
          <p:spPr>
            <a:xfrm>
              <a:off x="644652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668426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92200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715975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39749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63524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872983"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10727"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8348471"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858621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44652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68426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92200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15975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39749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63524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872983"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110727"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8348471"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858621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44652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8426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92200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15975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39749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63524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872983"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110727"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348471"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58621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44652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68426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692200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15975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39749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63524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872983"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110727"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348471"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58621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44652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68426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692200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15975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39749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635240"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7872983"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110727"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348471"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858621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644652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6684264"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692200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715975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739749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763524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7872983"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8110727"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8348471"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858621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644652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668426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692200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15975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39749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763524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7872983"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110727"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348471"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858621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44652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68426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692200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715975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39749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63524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7872983"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8110727"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8348471"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858621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644652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668426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692200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715975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739749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763524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7872983"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8110727"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8348471"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858621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644652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668426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692200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15975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39749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63524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7872983"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110727"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8348471"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Rectangle 212"/>
            <p:cNvSpPr/>
            <p:nvPr/>
          </p:nvSpPr>
          <p:spPr>
            <a:xfrm>
              <a:off x="858621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14" name="44%"/>
          <p:cNvSpPr txBox="1"/>
          <p:nvPr/>
        </p:nvSpPr>
        <p:spPr>
          <a:xfrm>
            <a:off x="914400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44%</a:t>
            </a:r>
          </a:p>
        </p:txBody>
      </p:sp>
      <p:sp>
        <p:nvSpPr>
          <p:cNvPr id="215" name="of mission-critical IT infrastructure"/>
          <p:cNvSpPr txBox="1"/>
          <p:nvPr/>
        </p:nvSpPr>
        <p:spPr>
          <a:xfrm>
            <a:off x="914400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mission-critical IT infrastructure</a:t>
            </a:r>
          </a:p>
        </p:txBody>
      </p:sp>
      <p:sp>
        <p:nvSpPr>
          <p:cNvPr id="216" name="was approaching or at end-of-life."/>
          <p:cNvSpPr txBox="1"/>
          <p:nvPr/>
        </p:nvSpPr>
        <p:spPr>
          <a:xfrm>
            <a:off x="644652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was approaching or at end-of-life.</a:t>
            </a:r>
          </a:p>
        </p:txBody>
      </p:sp>
      <p:sp>
        <p:nvSpPr>
          <p:cNvPr id="217" name="2024 Kyndryl Bridge operational data. Infrastructure, not th"/>
          <p:cNvSpPr txBox="1"/>
          <p:nvPr/>
        </p:nvSpPr>
        <p:spPr>
          <a:xfrm>
            <a:off x="644652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2024 Kyndryl Bridge operational data. Infrastructure, not the share of old source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mall change. Unclear blast radiu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Small change. Unclear blast radius.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7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07 / 19</a:t>
            </a:r>
          </a:p>
        </p:txBody>
      </p:sp>
      <p:sp>
        <p:nvSpPr>
          <p:cNvPr id="7" name="An engineer inherits a working order-processing service."/>
          <p:cNvSpPr txBox="1"/>
          <p:nvPr/>
        </p:nvSpPr>
        <p:spPr>
          <a:xfrm>
            <a:off x="594360" y="1645920"/>
            <a:ext cx="10698480" cy="960120"/>
          </a:xfrm>
          <a:prstGeom prst="rect">
            <a:avLst/>
          </a:prstGeom>
          <a:noFill/>
        </p:spPr>
        <p:txBody>
          <a:bodyPr wrap="square" lIns="0" rIns="0" tIns="0" bIns="0">
            <a:spAutoFit/>
          </a:bodyPr>
          <a:lstStyle/>
          <a:p>
            <a:pPr>
              <a:lnSpc>
                <a:spcPct val="107000"/>
              </a:lnSpc>
              <a:spcAft>
                <a:spcPts val="500"/>
              </a:spcAft>
            </a:pPr>
            <a:r>
              <a:rPr sz="2700" b="0">
                <a:solidFill>
                  <a:srgbClr val="101411"/>
                </a:solidFill>
                <a:latin typeface="Arial"/>
              </a:rPr>
              <a:t>An engineer inherits a working order-processing service.</a:t>
            </a:r>
          </a:p>
          <a:p>
            <a:pPr>
              <a:lnSpc>
                <a:spcPct val="107000"/>
              </a:lnSpc>
              <a:spcAft>
                <a:spcPts val="500"/>
              </a:spcAft>
            </a:pPr>
            <a:r>
              <a:rPr sz="2700" b="0">
                <a:solidFill>
                  <a:srgbClr val="101411"/>
                </a:solidFill>
                <a:latin typeface="Arial"/>
              </a:rPr>
              <a:t>The business asks for one validation change.</a:t>
            </a:r>
          </a:p>
        </p:txBody>
      </p:sp>
      <p:sp>
        <p:nvSpPr>
          <p:cNvPr id="8" name="The service runs."/>
          <p:cNvSpPr txBox="1"/>
          <p:nvPr/>
        </p:nvSpPr>
        <p:spPr>
          <a:xfrm>
            <a:off x="594360"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service runs.</a:t>
            </a:r>
          </a:p>
        </p:txBody>
      </p:sp>
      <p:sp>
        <p:nvSpPr>
          <p:cNvPr id="9" name="Orders still flow."/>
          <p:cNvSpPr txBox="1"/>
          <p:nvPr/>
        </p:nvSpPr>
        <p:spPr>
          <a:xfrm>
            <a:off x="594360"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Orders still flow.</a:t>
            </a:r>
          </a:p>
          <a:p>
            <a:pPr>
              <a:lnSpc>
                <a:spcPct val="107000"/>
              </a:lnSpc>
              <a:spcAft>
                <a:spcPts val="500"/>
              </a:spcAft>
            </a:pPr>
            <a:r>
              <a:rPr sz="2000" b="0">
                <a:solidFill>
                  <a:srgbClr val="232925"/>
                </a:solidFill>
                <a:latin typeface="Arial"/>
              </a:rPr>
              <a:t>Age alone is not a reason</a:t>
            </a:r>
          </a:p>
          <a:p>
            <a:pPr>
              <a:lnSpc>
                <a:spcPct val="107000"/>
              </a:lnSpc>
              <a:spcAft>
                <a:spcPts val="500"/>
              </a:spcAft>
            </a:pPr>
            <a:r>
              <a:rPr sz="2000" b="0">
                <a:solidFill>
                  <a:srgbClr val="232925"/>
                </a:solidFill>
                <a:latin typeface="Arial"/>
              </a:rPr>
              <a:t>to replace the system.</a:t>
            </a:r>
          </a:p>
        </p:txBody>
      </p:sp>
      <p:sp>
        <p:nvSpPr>
          <p:cNvPr id="10" name="The evidence is scattered."/>
          <p:cNvSpPr txBox="1"/>
          <p:nvPr/>
        </p:nvSpPr>
        <p:spPr>
          <a:xfrm>
            <a:off x="4416552"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evidence is scattered.</a:t>
            </a:r>
          </a:p>
        </p:txBody>
      </p:sp>
      <p:sp>
        <p:nvSpPr>
          <p:cNvPr id="11" name="Which callers rely on it?"/>
          <p:cNvSpPr txBox="1"/>
          <p:nvPr/>
        </p:nvSpPr>
        <p:spPr>
          <a:xfrm>
            <a:off x="4416552"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Which callers rely on it?</a:t>
            </a:r>
          </a:p>
          <a:p>
            <a:pPr>
              <a:lnSpc>
                <a:spcPct val="107000"/>
              </a:lnSpc>
              <a:spcAft>
                <a:spcPts val="500"/>
              </a:spcAft>
            </a:pPr>
            <a:r>
              <a:rPr sz="2000" b="0">
                <a:solidFill>
                  <a:srgbClr val="232925"/>
                </a:solidFill>
                <a:latin typeface="Arial"/>
              </a:rPr>
              <a:t>Which tests catch regressions?</a:t>
            </a:r>
          </a:p>
          <a:p>
            <a:pPr>
              <a:lnSpc>
                <a:spcPct val="107000"/>
              </a:lnSpc>
              <a:spcAft>
                <a:spcPts val="500"/>
              </a:spcAft>
            </a:pPr>
            <a:r>
              <a:rPr sz="2000" b="0">
                <a:solidFill>
                  <a:srgbClr val="232925"/>
                </a:solidFill>
                <a:latin typeface="Arial"/>
              </a:rPr>
              <a:t>Which CI stage causes delay?</a:t>
            </a:r>
          </a:p>
        </p:txBody>
      </p:sp>
      <p:sp>
        <p:nvSpPr>
          <p:cNvPr id="12" name="The decision is blocked."/>
          <p:cNvSpPr txBox="1"/>
          <p:nvPr/>
        </p:nvSpPr>
        <p:spPr>
          <a:xfrm>
            <a:off x="8247888"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decision is blocked.</a:t>
            </a:r>
          </a:p>
        </p:txBody>
      </p:sp>
      <p:sp>
        <p:nvSpPr>
          <p:cNvPr id="13" name="Ask the one expert,"/>
          <p:cNvSpPr txBox="1"/>
          <p:nvPr/>
        </p:nvSpPr>
        <p:spPr>
          <a:xfrm>
            <a:off x="8247888"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Ask the one expert,</a:t>
            </a:r>
          </a:p>
          <a:p>
            <a:pPr>
              <a:lnSpc>
                <a:spcPct val="107000"/>
              </a:lnSpc>
              <a:spcAft>
                <a:spcPts val="500"/>
              </a:spcAft>
            </a:pPr>
            <a:r>
              <a:rPr sz="2000" b="0">
                <a:solidFill>
                  <a:srgbClr val="232925"/>
                </a:solidFill>
                <a:latin typeface="Arial"/>
              </a:rPr>
              <a:t>guess from an AI answer,</a:t>
            </a:r>
          </a:p>
          <a:p>
            <a:pPr>
              <a:lnSpc>
                <a:spcPct val="107000"/>
              </a:lnSpc>
              <a:spcAft>
                <a:spcPts val="500"/>
              </a:spcAft>
            </a:pPr>
            <a:r>
              <a:rPr sz="2000" b="0">
                <a:solidFill>
                  <a:srgbClr val="232925"/>
                </a:solidFill>
                <a:latin typeface="Arial"/>
              </a:rPr>
              <a:t>or establish the facts.</a:t>
            </a:r>
          </a:p>
        </p:txBody>
      </p:sp>
      <p:sp>
        <p:nvSpPr>
          <p:cNvPr id="14" name="The goal is change confidence—not a prettier repository summ"/>
          <p:cNvSpPr txBox="1"/>
          <p:nvPr/>
        </p:nvSpPr>
        <p:spPr>
          <a:xfrm>
            <a:off x="594360" y="5596128"/>
            <a:ext cx="109728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The goal is change confidence—not a prettier repository summary.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ssess changeability, not a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Assess changeability, not age.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8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08 / 19</a:t>
            </a:r>
          </a:p>
        </p:txBody>
      </p:sp>
      <p:sp>
        <p:nvSpPr>
          <p:cNvPr id="7" name="Rectangle 6"/>
          <p:cNvSpPr/>
          <p:nvPr/>
        </p:nvSpPr>
        <p:spPr>
          <a:xfrm>
            <a:off x="594360" y="1682496"/>
            <a:ext cx="10972800" cy="50292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lane"/>
          <p:cNvSpPr txBox="1"/>
          <p:nvPr/>
        </p:nvSpPr>
        <p:spPr>
          <a:xfrm>
            <a:off x="704088" y="1792224"/>
            <a:ext cx="2112263"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Evidence lane</a:t>
            </a:r>
          </a:p>
        </p:txBody>
      </p:sp>
      <p:sp>
        <p:nvSpPr>
          <p:cNvPr id="9" name="What we inspect"/>
          <p:cNvSpPr txBox="1"/>
          <p:nvPr/>
        </p:nvSpPr>
        <p:spPr>
          <a:xfrm>
            <a:off x="3035808" y="1792224"/>
            <a:ext cx="476402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What we inspect</a:t>
            </a:r>
          </a:p>
        </p:txBody>
      </p:sp>
      <p:sp>
        <p:nvSpPr>
          <p:cNvPr id="10" name="Decision it enables"/>
          <p:cNvSpPr txBox="1"/>
          <p:nvPr/>
        </p:nvSpPr>
        <p:spPr>
          <a:xfrm>
            <a:off x="8019288" y="1792224"/>
            <a:ext cx="343814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Decision it enables</a:t>
            </a:r>
          </a:p>
        </p:txBody>
      </p:sp>
      <p:sp>
        <p:nvSpPr>
          <p:cNvPr id="11" name="Rectangle 10"/>
          <p:cNvSpPr/>
          <p:nvPr/>
        </p:nvSpPr>
        <p:spPr>
          <a:xfrm>
            <a:off x="594360" y="310713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ystem context"/>
          <p:cNvSpPr txBox="1"/>
          <p:nvPr/>
        </p:nvSpPr>
        <p:spPr>
          <a:xfrm>
            <a:off x="704088" y="244144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System context</a:t>
            </a:r>
          </a:p>
        </p:txBody>
      </p:sp>
      <p:sp>
        <p:nvSpPr>
          <p:cNvPr id="13" name="Entry points, critical journeys,"/>
          <p:cNvSpPr txBox="1"/>
          <p:nvPr/>
        </p:nvSpPr>
        <p:spPr>
          <a:xfrm>
            <a:off x="3035808" y="244144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Entry points, critical journeys,</a:t>
            </a:r>
          </a:p>
          <a:p>
            <a:pPr>
              <a:lnSpc>
                <a:spcPct val="107000"/>
              </a:lnSpc>
              <a:spcAft>
                <a:spcPts val="500"/>
              </a:spcAft>
            </a:pPr>
            <a:r>
              <a:rPr sz="1700" b="0">
                <a:solidFill>
                  <a:srgbClr val="232925"/>
                </a:solidFill>
                <a:latin typeface="Arial"/>
              </a:rPr>
              <a:t>PR history, dependencies and owner review</a:t>
            </a:r>
          </a:p>
        </p:txBody>
      </p:sp>
      <p:sp>
        <p:nvSpPr>
          <p:cNvPr id="14" name="Bound the change;"/>
          <p:cNvSpPr txBox="1"/>
          <p:nvPr/>
        </p:nvSpPr>
        <p:spPr>
          <a:xfrm>
            <a:off x="8019288" y="244144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Bound the change;</a:t>
            </a:r>
          </a:p>
          <a:p>
            <a:pPr>
              <a:lnSpc>
                <a:spcPct val="107000"/>
              </a:lnSpc>
              <a:spcAft>
                <a:spcPts val="500"/>
              </a:spcAft>
            </a:pPr>
            <a:r>
              <a:rPr sz="1700" b="0">
                <a:solidFill>
                  <a:srgbClr val="232925"/>
                </a:solidFill>
                <a:latin typeface="Arial"/>
              </a:rPr>
              <a:t>identify the reviewers</a:t>
            </a:r>
          </a:p>
        </p:txBody>
      </p:sp>
      <p:sp>
        <p:nvSpPr>
          <p:cNvPr id="15" name="Rectangle 14"/>
          <p:cNvSpPr/>
          <p:nvPr/>
        </p:nvSpPr>
        <p:spPr>
          <a:xfrm>
            <a:off x="594360" y="397581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st confidence"/>
          <p:cNvSpPr txBox="1"/>
          <p:nvPr/>
        </p:nvSpPr>
        <p:spPr>
          <a:xfrm>
            <a:off x="704088" y="331012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Test confidence</a:t>
            </a:r>
          </a:p>
        </p:txBody>
      </p:sp>
      <p:sp>
        <p:nvSpPr>
          <p:cNvPr id="17" name="Assertions, failure paths and dated"/>
          <p:cNvSpPr txBox="1"/>
          <p:nvPr/>
        </p:nvSpPr>
        <p:spPr>
          <a:xfrm>
            <a:off x="3035808" y="331012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Assertions, failure paths and dated</a:t>
            </a:r>
          </a:p>
          <a:p>
            <a:pPr>
              <a:lnSpc>
                <a:spcPct val="107000"/>
              </a:lnSpc>
              <a:spcAft>
                <a:spcPts val="500"/>
              </a:spcAft>
            </a:pPr>
            <a:r>
              <a:rPr sz="1700" b="0">
                <a:solidFill>
                  <a:srgbClr val="232925"/>
                </a:solidFill>
                <a:latin typeface="Arial"/>
              </a:rPr>
              <a:t>coverage reports at a pinned commit</a:t>
            </a:r>
          </a:p>
        </p:txBody>
      </p:sp>
      <p:sp>
        <p:nvSpPr>
          <p:cNvPr id="18" name="Characterize behavior;"/>
          <p:cNvSpPr txBox="1"/>
          <p:nvPr/>
        </p:nvSpPr>
        <p:spPr>
          <a:xfrm>
            <a:off x="8019288" y="331012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Characterize behavior;</a:t>
            </a:r>
          </a:p>
          <a:p>
            <a:pPr>
              <a:lnSpc>
                <a:spcPct val="107000"/>
              </a:lnSpc>
              <a:spcAft>
                <a:spcPts val="500"/>
              </a:spcAft>
            </a:pPr>
            <a:r>
              <a:rPr sz="1700" b="0">
                <a:solidFill>
                  <a:srgbClr val="232925"/>
                </a:solidFill>
                <a:latin typeface="Arial"/>
              </a:rPr>
              <a:t>close a justified test gap</a:t>
            </a:r>
          </a:p>
        </p:txBody>
      </p:sp>
      <p:sp>
        <p:nvSpPr>
          <p:cNvPr id="19" name="Rectangle 18"/>
          <p:cNvSpPr/>
          <p:nvPr/>
        </p:nvSpPr>
        <p:spPr>
          <a:xfrm>
            <a:off x="594360" y="4844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livery friction"/>
          <p:cNvSpPr txBox="1"/>
          <p:nvPr/>
        </p:nvSpPr>
        <p:spPr>
          <a:xfrm>
            <a:off x="704088" y="417880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Delivery friction</a:t>
            </a:r>
          </a:p>
        </p:txBody>
      </p:sp>
      <p:sp>
        <p:nvSpPr>
          <p:cNvPr id="21" name="Queue and stage timings,"/>
          <p:cNvSpPr txBox="1"/>
          <p:nvPr/>
        </p:nvSpPr>
        <p:spPr>
          <a:xfrm>
            <a:off x="3035808" y="417880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Queue and stage timings,</a:t>
            </a:r>
          </a:p>
          <a:p>
            <a:pPr>
              <a:lnSpc>
                <a:spcPct val="107000"/>
              </a:lnSpc>
              <a:spcAft>
                <a:spcPts val="500"/>
              </a:spcAft>
            </a:pPr>
            <a:r>
              <a:rPr sz="1700" b="0">
                <a:solidFill>
                  <a:srgbClr val="232925"/>
                </a:solidFill>
                <a:latin typeface="Arial"/>
              </a:rPr>
              <a:t>runner class and cache conditions</a:t>
            </a:r>
          </a:p>
        </p:txBody>
      </p:sp>
      <p:sp>
        <p:nvSpPr>
          <p:cNvPr id="22" name="Fix the demonstrated"/>
          <p:cNvSpPr txBox="1"/>
          <p:nvPr/>
        </p:nvSpPr>
        <p:spPr>
          <a:xfrm>
            <a:off x="8019288" y="417880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Fix the demonstrated</a:t>
            </a:r>
          </a:p>
          <a:p>
            <a:pPr>
              <a:lnSpc>
                <a:spcPct val="107000"/>
              </a:lnSpc>
              <a:spcAft>
                <a:spcPts val="500"/>
              </a:spcAft>
            </a:pPr>
            <a:r>
              <a:rPr sz="1700" b="0">
                <a:solidFill>
                  <a:srgbClr val="232925"/>
                </a:solidFill>
                <a:latin typeface="Arial"/>
              </a:rPr>
              <a:t>bottleneck—not a guess</a:t>
            </a:r>
          </a:p>
        </p:txBody>
      </p:sp>
      <p:sp>
        <p:nvSpPr>
          <p:cNvPr id="23" name="Rectangle 22"/>
          <p:cNvSpPr/>
          <p:nvPr/>
        </p:nvSpPr>
        <p:spPr>
          <a:xfrm>
            <a:off x="594360" y="571317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upportability"/>
          <p:cNvSpPr txBox="1"/>
          <p:nvPr/>
        </p:nvSpPr>
        <p:spPr>
          <a:xfrm>
            <a:off x="704088" y="504748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Supportability</a:t>
            </a:r>
          </a:p>
        </p:txBody>
      </p:sp>
      <p:sp>
        <p:nvSpPr>
          <p:cNvPr id="25" name="Runtime/dependency versions,"/>
          <p:cNvSpPr txBox="1"/>
          <p:nvPr/>
        </p:nvSpPr>
        <p:spPr>
          <a:xfrm>
            <a:off x="3035808" y="504748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Runtime/dependency versions,</a:t>
            </a:r>
          </a:p>
          <a:p>
            <a:pPr>
              <a:lnSpc>
                <a:spcPct val="107000"/>
              </a:lnSpc>
              <a:spcAft>
                <a:spcPts val="500"/>
              </a:spcAft>
            </a:pPr>
            <a:r>
              <a:rPr sz="1700" b="0">
                <a:solidFill>
                  <a:srgbClr val="232925"/>
                </a:solidFill>
                <a:latin typeface="Arial"/>
              </a:rPr>
              <a:t>vendor support dates and constraints</a:t>
            </a:r>
          </a:p>
        </p:txBody>
      </p:sp>
      <p:sp>
        <p:nvSpPr>
          <p:cNvPr id="26" name="Retain, upgrade or isolate;"/>
          <p:cNvSpPr txBox="1"/>
          <p:nvPr/>
        </p:nvSpPr>
        <p:spPr>
          <a:xfrm>
            <a:off x="8019288" y="504748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upgrade or isolate;</a:t>
            </a:r>
          </a:p>
          <a:p>
            <a:pPr>
              <a:lnSpc>
                <a:spcPct val="107000"/>
              </a:lnSpc>
              <a:spcAft>
                <a:spcPts val="500"/>
              </a:spcAft>
            </a:pPr>
            <a:r>
              <a:rPr sz="1700" b="0">
                <a:solidFill>
                  <a:srgbClr val="232925"/>
                </a:solidFill>
                <a:latin typeface="Arial"/>
              </a:rPr>
              <a:t>record the rationale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Measure confidence. Locate the actual dela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Measure confidence. Locate the actual delay.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9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09 / 19</a:t>
            </a:r>
          </a:p>
        </p:txBody>
      </p:sp>
      <p:sp>
        <p:nvSpPr>
          <p:cNvPr id="7" name="Test confidence"/>
          <p:cNvSpPr txBox="1"/>
          <p:nvPr/>
        </p:nvSpPr>
        <p:spPr>
          <a:xfrm>
            <a:off x="594360" y="1627632"/>
            <a:ext cx="502920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Test confidence</a:t>
            </a:r>
          </a:p>
        </p:txBody>
      </p:sp>
      <p:sp>
        <p:nvSpPr>
          <p:cNvPr id="8" name="Build and test speed"/>
          <p:cNvSpPr txBox="1"/>
          <p:nvPr/>
        </p:nvSpPr>
        <p:spPr>
          <a:xfrm>
            <a:off x="6400800" y="1627632"/>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Build and test speed</a:t>
            </a:r>
          </a:p>
        </p:txBody>
      </p:sp>
      <p:sp>
        <p:nvSpPr>
          <p:cNvPr id="9" name="Rectangle 8"/>
          <p:cNvSpPr/>
          <p:nvPr/>
        </p:nvSpPr>
        <p:spPr>
          <a:xfrm>
            <a:off x="59436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Receive</a:t>
            </a:r>
          </a:p>
        </p:txBody>
      </p:sp>
      <p:sp>
        <p:nvSpPr>
          <p:cNvPr id="10" name="Unknown"/>
          <p:cNvSpPr/>
          <p:nvPr/>
        </p:nvSpPr>
        <p:spPr>
          <a:xfrm>
            <a:off x="1051560"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7451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Validate</a:t>
            </a:r>
          </a:p>
        </p:txBody>
      </p:sp>
      <p:sp>
        <p:nvSpPr>
          <p:cNvPr id="12" name="Assertions inspected"/>
          <p:cNvSpPr/>
          <p:nvPr/>
        </p:nvSpPr>
        <p:spPr>
          <a:xfrm>
            <a:off x="233172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5467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Price</a:t>
            </a:r>
          </a:p>
        </p:txBody>
      </p:sp>
      <p:sp>
        <p:nvSpPr>
          <p:cNvPr id="14" name="Unknown"/>
          <p:cNvSpPr/>
          <p:nvPr/>
        </p:nvSpPr>
        <p:spPr>
          <a:xfrm>
            <a:off x="3611879"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3484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Persist</a:t>
            </a:r>
          </a:p>
        </p:txBody>
      </p:sp>
      <p:sp>
        <p:nvSpPr>
          <p:cNvPr id="16" name="Assertions inspected"/>
          <p:cNvSpPr/>
          <p:nvPr/>
        </p:nvSpPr>
        <p:spPr>
          <a:xfrm>
            <a:off x="489204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94360" y="3273552"/>
            <a:ext cx="128016" cy="128016"/>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ssertions inspected"/>
          <p:cNvSpPr txBox="1"/>
          <p:nvPr/>
        </p:nvSpPr>
        <p:spPr>
          <a:xfrm>
            <a:off x="804672" y="3236976"/>
            <a:ext cx="18288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Assertions inspected</a:t>
            </a:r>
          </a:p>
        </p:txBody>
      </p:sp>
      <p:sp>
        <p:nvSpPr>
          <p:cNvPr id="19" name="Oval 18"/>
          <p:cNvSpPr/>
          <p:nvPr/>
        </p:nvSpPr>
        <p:spPr>
          <a:xfrm>
            <a:off x="2743200" y="3273552"/>
            <a:ext cx="128016" cy="128016"/>
          </a:xfrm>
          <a:prstGeom prst="ellipse">
            <a:avLst/>
          </a:prstGeom>
          <a:solidFill>
            <a:srgbClr val="FFFFFF"/>
          </a:solidFill>
          <a:ln w="15875">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nknown"/>
          <p:cNvSpPr txBox="1"/>
          <p:nvPr/>
        </p:nvSpPr>
        <p:spPr>
          <a:xfrm>
            <a:off x="2953512" y="3236976"/>
            <a:ext cx="13716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Unknown</a:t>
            </a:r>
          </a:p>
        </p:txBody>
      </p:sp>
      <p:sp>
        <p:nvSpPr>
          <p:cNvPr id="21" name="Pentagon 20"/>
          <p:cNvSpPr/>
          <p:nvPr/>
        </p:nvSpPr>
        <p:spPr>
          <a:xfrm>
            <a:off x="6400800"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Queue</a:t>
            </a:r>
          </a:p>
        </p:txBody>
      </p:sp>
      <p:sp>
        <p:nvSpPr>
          <p:cNvPr id="22" name="Pentagon 21"/>
          <p:cNvSpPr/>
          <p:nvPr/>
        </p:nvSpPr>
        <p:spPr>
          <a:xfrm>
            <a:off x="7415783"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Setup</a:t>
            </a:r>
          </a:p>
        </p:txBody>
      </p:sp>
      <p:sp>
        <p:nvSpPr>
          <p:cNvPr id="23" name="Pentagon 22"/>
          <p:cNvSpPr/>
          <p:nvPr/>
        </p:nvSpPr>
        <p:spPr>
          <a:xfrm>
            <a:off x="8430768"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Build</a:t>
            </a:r>
          </a:p>
        </p:txBody>
      </p:sp>
      <p:sp>
        <p:nvSpPr>
          <p:cNvPr id="24" name="Pentagon 23"/>
          <p:cNvSpPr/>
          <p:nvPr/>
        </p:nvSpPr>
        <p:spPr>
          <a:xfrm>
            <a:off x="9445752"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Test</a:t>
            </a:r>
          </a:p>
        </p:txBody>
      </p:sp>
      <p:sp>
        <p:nvSpPr>
          <p:cNvPr id="25" name="Pentagon 24"/>
          <p:cNvSpPr/>
          <p:nvPr/>
        </p:nvSpPr>
        <p:spPr>
          <a:xfrm>
            <a:off x="10460736"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Package</a:t>
            </a:r>
          </a:p>
        </p:txBody>
      </p:sp>
      <p:sp>
        <p:nvSpPr>
          <p:cNvPr id="26" name="Segments are not to scale. Timings appear only after measure"/>
          <p:cNvSpPr txBox="1"/>
          <p:nvPr/>
        </p:nvSpPr>
        <p:spPr>
          <a:xfrm>
            <a:off x="6400800" y="3236976"/>
            <a:ext cx="516636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Segments are not to scale. Timings appear only after measurement.</a:t>
            </a:r>
          </a:p>
        </p:txBody>
      </p:sp>
      <p:sp>
        <p:nvSpPr>
          <p:cNvPr id="27" name="Map tests to the critical journey."/>
          <p:cNvSpPr txBox="1"/>
          <p:nvPr/>
        </p:nvSpPr>
        <p:spPr>
          <a:xfrm>
            <a:off x="594360" y="3639312"/>
            <a:ext cx="502920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Map tests to the critical journey.</a:t>
            </a:r>
          </a:p>
          <a:p>
            <a:pPr>
              <a:lnSpc>
                <a:spcPct val="107000"/>
              </a:lnSpc>
              <a:spcAft>
                <a:spcPts val="500"/>
              </a:spcAft>
            </a:pPr>
            <a:r>
              <a:rPr sz="1700" b="0">
                <a:solidFill>
                  <a:srgbClr val="232925"/>
                </a:solidFill>
                <a:latin typeface="Arial"/>
              </a:rPr>
              <a:t>Inspect assertions and failure paths.</a:t>
            </a:r>
          </a:p>
          <a:p>
            <a:pPr>
              <a:lnSpc>
                <a:spcPct val="107000"/>
              </a:lnSpc>
              <a:spcAft>
                <a:spcPts val="500"/>
              </a:spcAft>
            </a:pPr>
            <a:r>
              <a:rPr sz="1700" b="0">
                <a:solidFill>
                  <a:srgbClr val="232925"/>
                </a:solidFill>
                <a:latin typeface="Arial"/>
              </a:rPr>
              <a:t>Record report tool, commit and exclusions.</a:t>
            </a:r>
          </a:p>
          <a:p>
            <a:pPr>
              <a:lnSpc>
                <a:spcPct val="107000"/>
              </a:lnSpc>
              <a:spcAft>
                <a:spcPts val="500"/>
              </a:spcAft>
            </a:pPr>
            <a:r>
              <a:rPr sz="1700" b="0">
                <a:solidFill>
                  <a:srgbClr val="232925"/>
                </a:solidFill>
                <a:latin typeface="Arial"/>
              </a:rPr>
              <a:t>Treat missing coverage as unknown.</a:t>
            </a:r>
          </a:p>
        </p:txBody>
      </p:sp>
      <p:sp>
        <p:nvSpPr>
          <p:cNvPr id="28" name="Separate queue time from execution."/>
          <p:cNvSpPr txBox="1"/>
          <p:nvPr/>
        </p:nvSpPr>
        <p:spPr>
          <a:xfrm>
            <a:off x="6400800" y="3639312"/>
            <a:ext cx="516636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Separate queue time from execution.</a:t>
            </a:r>
          </a:p>
          <a:p>
            <a:pPr>
              <a:lnSpc>
                <a:spcPct val="107000"/>
              </a:lnSpc>
              <a:spcAft>
                <a:spcPts val="500"/>
              </a:spcAft>
            </a:pPr>
            <a:r>
              <a:rPr sz="1700" b="0">
                <a:solidFill>
                  <a:srgbClr val="232925"/>
                </a:solidFill>
                <a:latin typeface="Arial"/>
              </a:rPr>
              <a:t>Break out setup, build, tests and packaging.</a:t>
            </a:r>
          </a:p>
          <a:p>
            <a:pPr>
              <a:lnSpc>
                <a:spcPct val="107000"/>
              </a:lnSpc>
              <a:spcAft>
                <a:spcPts val="500"/>
              </a:spcAft>
            </a:pPr>
            <a:r>
              <a:rPr sz="1700" b="0">
                <a:solidFill>
                  <a:srgbClr val="232925"/>
                </a:solidFill>
                <a:latin typeface="Arial"/>
              </a:rPr>
              <a:t>Compare like runners and cache conditions.</a:t>
            </a:r>
          </a:p>
          <a:p>
            <a:pPr>
              <a:lnSpc>
                <a:spcPct val="107000"/>
              </a:lnSpc>
              <a:spcAft>
                <a:spcPts val="500"/>
              </a:spcAft>
            </a:pPr>
            <a:r>
              <a:rPr sz="1700" b="0">
                <a:solidFill>
                  <a:srgbClr val="232925"/>
                </a:solidFill>
                <a:latin typeface="Arial"/>
              </a:rPr>
              <a:t>Record the sample count and uncertainty.</a:t>
            </a:r>
          </a:p>
        </p:txBody>
      </p:sp>
      <p:sp>
        <p:nvSpPr>
          <p:cNvPr id="29" name="Rectangle 28"/>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No universal build-time cutoff. No “safe” coverage percentag"/>
          <p:cNvSpPr txBox="1"/>
          <p:nvPr/>
        </p:nvSpPr>
        <p:spPr>
          <a:xfrm>
            <a:off x="795528" y="5202936"/>
            <a:ext cx="105156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No universal build-time cutoff. No “safe” coverage percentage.</a:t>
            </a:r>
          </a:p>
        </p:txBody>
      </p:sp>
      <p:sp>
        <p:nvSpPr>
          <p:cNvPr id="31" name="Chip: Illustrative"/>
          <p:cNvSpPr/>
          <p:nvPr/>
        </p:nvSpPr>
        <p:spPr>
          <a:xfrm>
            <a:off x="594360" y="5870448"/>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2" name="A sample journey and generic pipeline stages. No coverage or"/>
          <p:cNvSpPr txBox="1"/>
          <p:nvPr/>
        </p:nvSpPr>
        <p:spPr>
          <a:xfrm>
            <a:off x="1783080" y="5897880"/>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A sample journey and generic pipeline stages. No coverage or timing values are shown.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ounded pilot. Four explicit review ga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bounded pilot. Four explicit review gates.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0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10 / 19</a:t>
            </a:r>
          </a:p>
        </p:txBody>
      </p:sp>
      <p:sp>
        <p:nvSpPr>
          <p:cNvPr id="7" name="Rectangle 6"/>
          <p:cNvSpPr/>
          <p:nvPr/>
        </p:nvSpPr>
        <p:spPr>
          <a:xfrm>
            <a:off x="5943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Human review gate"/>
          <p:cNvSpPr/>
          <p:nvPr/>
        </p:nvSpPr>
        <p:spPr>
          <a:xfrm>
            <a:off x="3017520"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1"/>
          <p:cNvSpPr txBox="1"/>
          <p:nvPr/>
        </p:nvSpPr>
        <p:spPr>
          <a:xfrm>
            <a:off x="5943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1</a:t>
            </a:r>
          </a:p>
          <a:p>
            <a:pPr>
              <a:lnSpc>
                <a:spcPct val="107000"/>
              </a:lnSpc>
              <a:spcAft>
                <a:spcPts val="500"/>
              </a:spcAft>
            </a:pPr>
            <a:r>
              <a:rPr sz="2400" b="1">
                <a:solidFill>
                  <a:srgbClr val="08872B"/>
                </a:solidFill>
                <a:latin typeface="Mona Sans"/>
              </a:rPr>
              <a:t>Discover</a:t>
            </a:r>
          </a:p>
        </p:txBody>
      </p:sp>
      <p:sp>
        <p:nvSpPr>
          <p:cNvPr id="10" name="Scope one journey."/>
          <p:cNvSpPr txBox="1"/>
          <p:nvPr/>
        </p:nvSpPr>
        <p:spPr>
          <a:xfrm>
            <a:off x="5943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Scope one journey.</a:t>
            </a:r>
          </a:p>
          <a:p>
            <a:pPr>
              <a:lnSpc>
                <a:spcPct val="107000"/>
              </a:lnSpc>
              <a:spcAft>
                <a:spcPts val="500"/>
              </a:spcAft>
            </a:pPr>
            <a:r>
              <a:rPr sz="1800" b="0">
                <a:solidFill>
                  <a:srgbClr val="232925"/>
                </a:solidFill>
                <a:latin typeface="Arial"/>
              </a:rPr>
              <a:t>Map the service.</a:t>
            </a:r>
          </a:p>
          <a:p>
            <a:pPr>
              <a:lnSpc>
                <a:spcPct val="107000"/>
              </a:lnSpc>
              <a:spcAft>
                <a:spcPts val="500"/>
              </a:spcAft>
            </a:pPr>
            <a:r>
              <a:rPr sz="1800" b="0">
                <a:solidFill>
                  <a:srgbClr val="232925"/>
                </a:solidFill>
                <a:latin typeface="Arial"/>
              </a:rPr>
              <a:t>Name the owner.</a:t>
            </a:r>
          </a:p>
        </p:txBody>
      </p:sp>
      <p:sp>
        <p:nvSpPr>
          <p:cNvPr id="11" name="Rectangle 10"/>
          <p:cNvSpPr/>
          <p:nvPr/>
        </p:nvSpPr>
        <p:spPr>
          <a:xfrm>
            <a:off x="5943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Human review gate"/>
          <p:cNvSpPr/>
          <p:nvPr/>
        </p:nvSpPr>
        <p:spPr>
          <a:xfrm>
            <a:off x="5943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wner approves"/>
          <p:cNvSpPr txBox="1"/>
          <p:nvPr/>
        </p:nvSpPr>
        <p:spPr>
          <a:xfrm>
            <a:off x="9601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approves</a:t>
            </a:r>
          </a:p>
          <a:p>
            <a:pPr>
              <a:lnSpc>
                <a:spcPct val="107000"/>
              </a:lnSpc>
              <a:spcAft>
                <a:spcPts val="500"/>
              </a:spcAft>
            </a:pPr>
            <a:r>
              <a:rPr sz="1700" b="1">
                <a:solidFill>
                  <a:srgbClr val="101411"/>
                </a:solidFill>
                <a:latin typeface="Arial"/>
              </a:rPr>
              <a:t>scope + map.</a:t>
            </a:r>
          </a:p>
        </p:txBody>
      </p:sp>
      <p:sp>
        <p:nvSpPr>
          <p:cNvPr id="14" name="Rectangle 13"/>
          <p:cNvSpPr/>
          <p:nvPr/>
        </p:nvSpPr>
        <p:spPr>
          <a:xfrm>
            <a:off x="33375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Human review gate"/>
          <p:cNvSpPr/>
          <p:nvPr/>
        </p:nvSpPr>
        <p:spPr>
          <a:xfrm>
            <a:off x="57607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Week 2"/>
          <p:cNvSpPr txBox="1"/>
          <p:nvPr/>
        </p:nvSpPr>
        <p:spPr>
          <a:xfrm>
            <a:off x="33375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2</a:t>
            </a:r>
          </a:p>
          <a:p>
            <a:pPr>
              <a:lnSpc>
                <a:spcPct val="107000"/>
              </a:lnSpc>
              <a:spcAft>
                <a:spcPts val="500"/>
              </a:spcAft>
            </a:pPr>
            <a:r>
              <a:rPr sz="2400" b="1">
                <a:solidFill>
                  <a:srgbClr val="08872B"/>
                </a:solidFill>
                <a:latin typeface="Mona Sans"/>
              </a:rPr>
              <a:t>Baseline</a:t>
            </a:r>
          </a:p>
        </p:txBody>
      </p:sp>
      <p:sp>
        <p:nvSpPr>
          <p:cNvPr id="17" name="Inspect CI/test data."/>
          <p:cNvSpPr txBox="1"/>
          <p:nvPr/>
        </p:nvSpPr>
        <p:spPr>
          <a:xfrm>
            <a:off x="33375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CI/test data.</a:t>
            </a:r>
          </a:p>
          <a:p>
            <a:pPr>
              <a:lnSpc>
                <a:spcPct val="107000"/>
              </a:lnSpc>
              <a:spcAft>
                <a:spcPts val="500"/>
              </a:spcAft>
            </a:pPr>
            <a:r>
              <a:rPr sz="1800" b="0">
                <a:solidFill>
                  <a:srgbClr val="232925"/>
                </a:solidFill>
                <a:latin typeface="Arial"/>
              </a:rPr>
              <a:t>Measure only with</a:t>
            </a:r>
          </a:p>
          <a:p>
            <a:pPr>
              <a:lnSpc>
                <a:spcPct val="107000"/>
              </a:lnSpc>
              <a:spcAft>
                <a:spcPts val="500"/>
              </a:spcAft>
            </a:pPr>
            <a:r>
              <a:rPr sz="1800" b="0">
                <a:solidFill>
                  <a:srgbClr val="232925"/>
                </a:solidFill>
                <a:latin typeface="Arial"/>
              </a:rPr>
              <a:t>separate approval.</a:t>
            </a:r>
          </a:p>
        </p:txBody>
      </p:sp>
      <p:sp>
        <p:nvSpPr>
          <p:cNvPr id="18" name="Rectangle 17"/>
          <p:cNvSpPr/>
          <p:nvPr/>
        </p:nvSpPr>
        <p:spPr>
          <a:xfrm>
            <a:off x="33375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uman review gate"/>
          <p:cNvSpPr/>
          <p:nvPr/>
        </p:nvSpPr>
        <p:spPr>
          <a:xfrm>
            <a:off x="33375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wner + specialist"/>
          <p:cNvSpPr txBox="1"/>
          <p:nvPr/>
        </p:nvSpPr>
        <p:spPr>
          <a:xfrm>
            <a:off x="37033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 specialist</a:t>
            </a:r>
          </a:p>
          <a:p>
            <a:pPr>
              <a:lnSpc>
                <a:spcPct val="107000"/>
              </a:lnSpc>
              <a:spcAft>
                <a:spcPts val="500"/>
              </a:spcAft>
            </a:pPr>
            <a:r>
              <a:rPr sz="1700" b="1">
                <a:solidFill>
                  <a:srgbClr val="101411"/>
                </a:solidFill>
                <a:latin typeface="Arial"/>
              </a:rPr>
              <a:t>accept the baseline.</a:t>
            </a:r>
          </a:p>
        </p:txBody>
      </p:sp>
      <p:sp>
        <p:nvSpPr>
          <p:cNvPr id="21" name="Rectangle 20"/>
          <p:cNvSpPr/>
          <p:nvPr/>
        </p:nvSpPr>
        <p:spPr>
          <a:xfrm>
            <a:off x="60807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uman review gate"/>
          <p:cNvSpPr/>
          <p:nvPr/>
        </p:nvSpPr>
        <p:spPr>
          <a:xfrm>
            <a:off x="85039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eek 3"/>
          <p:cNvSpPr txBox="1"/>
          <p:nvPr/>
        </p:nvSpPr>
        <p:spPr>
          <a:xfrm>
            <a:off x="60807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3</a:t>
            </a:r>
          </a:p>
          <a:p>
            <a:pPr>
              <a:lnSpc>
                <a:spcPct val="107000"/>
              </a:lnSpc>
              <a:spcAft>
                <a:spcPts val="500"/>
              </a:spcAft>
            </a:pPr>
            <a:r>
              <a:rPr sz="2400" b="1">
                <a:solidFill>
                  <a:srgbClr val="08872B"/>
                </a:solidFill>
                <a:latin typeface="Mona Sans"/>
              </a:rPr>
              <a:t>Decide</a:t>
            </a:r>
          </a:p>
        </p:txBody>
      </p:sp>
      <p:sp>
        <p:nvSpPr>
          <p:cNvPr id="24" name="Create candidate issues."/>
          <p:cNvSpPr txBox="1"/>
          <p:nvPr/>
        </p:nvSpPr>
        <p:spPr>
          <a:xfrm>
            <a:off x="60807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Create candidate issues.</a:t>
            </a:r>
          </a:p>
          <a:p>
            <a:pPr>
              <a:lnSpc>
                <a:spcPct val="107000"/>
              </a:lnSpc>
              <a:spcAft>
                <a:spcPts val="500"/>
              </a:spcAft>
            </a:pPr>
            <a:r>
              <a:rPr sz="1800" b="0">
                <a:solidFill>
                  <a:srgbClr val="232925"/>
                </a:solidFill>
                <a:latin typeface="Arial"/>
              </a:rPr>
              <a:t>Compare value, risk</a:t>
            </a:r>
          </a:p>
          <a:p>
            <a:pPr>
              <a:lnSpc>
                <a:spcPct val="107000"/>
              </a:lnSpc>
              <a:spcAft>
                <a:spcPts val="500"/>
              </a:spcAft>
            </a:pPr>
            <a:r>
              <a:rPr sz="1800" b="0">
                <a:solidFill>
                  <a:srgbClr val="232925"/>
                </a:solidFill>
                <a:latin typeface="Arial"/>
              </a:rPr>
              <a:t>and confidence.</a:t>
            </a:r>
          </a:p>
        </p:txBody>
      </p:sp>
      <p:sp>
        <p:nvSpPr>
          <p:cNvPr id="25" name="Rectangle 24"/>
          <p:cNvSpPr/>
          <p:nvPr/>
        </p:nvSpPr>
        <p:spPr>
          <a:xfrm>
            <a:off x="60807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Human review gate"/>
          <p:cNvSpPr/>
          <p:nvPr/>
        </p:nvSpPr>
        <p:spPr>
          <a:xfrm>
            <a:off x="60807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ponsor approves"/>
          <p:cNvSpPr txBox="1"/>
          <p:nvPr/>
        </p:nvSpPr>
        <p:spPr>
          <a:xfrm>
            <a:off x="64465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Sponsor approves</a:t>
            </a:r>
          </a:p>
          <a:p>
            <a:pPr>
              <a:lnSpc>
                <a:spcPct val="107000"/>
              </a:lnSpc>
              <a:spcAft>
                <a:spcPts val="500"/>
              </a:spcAft>
            </a:pPr>
            <a:r>
              <a:rPr sz="1700" b="1">
                <a:solidFill>
                  <a:srgbClr val="101411"/>
                </a:solidFill>
                <a:latin typeface="Arial"/>
              </a:rPr>
              <a:t>one bounded action.</a:t>
            </a:r>
          </a:p>
        </p:txBody>
      </p:sp>
      <p:sp>
        <p:nvSpPr>
          <p:cNvPr id="28" name="Rectangle 27"/>
          <p:cNvSpPr/>
          <p:nvPr/>
        </p:nvSpPr>
        <p:spPr>
          <a:xfrm>
            <a:off x="88239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Human review gate"/>
          <p:cNvSpPr/>
          <p:nvPr/>
        </p:nvSpPr>
        <p:spPr>
          <a:xfrm>
            <a:off x="112471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Week 4"/>
          <p:cNvSpPr txBox="1"/>
          <p:nvPr/>
        </p:nvSpPr>
        <p:spPr>
          <a:xfrm>
            <a:off x="88239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4</a:t>
            </a:r>
          </a:p>
          <a:p>
            <a:pPr>
              <a:lnSpc>
                <a:spcPct val="107000"/>
              </a:lnSpc>
              <a:spcAft>
                <a:spcPts val="500"/>
              </a:spcAft>
            </a:pPr>
            <a:r>
              <a:rPr sz="2400" b="1">
                <a:solidFill>
                  <a:srgbClr val="08872B"/>
                </a:solidFill>
                <a:latin typeface="Mona Sans"/>
              </a:rPr>
              <a:t>Prove</a:t>
            </a:r>
          </a:p>
        </p:txBody>
      </p:sp>
      <p:sp>
        <p:nvSpPr>
          <p:cNvPr id="31" name="Use a reviewed PR."/>
          <p:cNvSpPr txBox="1"/>
          <p:nvPr/>
        </p:nvSpPr>
        <p:spPr>
          <a:xfrm>
            <a:off x="88239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Use a reviewed PR.</a:t>
            </a:r>
          </a:p>
          <a:p>
            <a:pPr>
              <a:lnSpc>
                <a:spcPct val="107000"/>
              </a:lnSpc>
              <a:spcAft>
                <a:spcPts val="500"/>
              </a:spcAft>
            </a:pPr>
            <a:r>
              <a:rPr sz="1800" b="0">
                <a:solidFill>
                  <a:srgbClr val="232925"/>
                </a:solidFill>
                <a:latin typeface="Arial"/>
              </a:rPr>
              <a:t>Remeasure comparably.</a:t>
            </a:r>
          </a:p>
          <a:p>
            <a:pPr>
              <a:lnSpc>
                <a:spcPct val="107000"/>
              </a:lnSpc>
              <a:spcAft>
                <a:spcPts val="500"/>
              </a:spcAft>
            </a:pPr>
            <a:r>
              <a:rPr sz="1800" b="0">
                <a:solidFill>
                  <a:srgbClr val="232925"/>
                </a:solidFill>
                <a:latin typeface="Arial"/>
              </a:rPr>
              <a:t>Document rollback.</a:t>
            </a:r>
          </a:p>
        </p:txBody>
      </p:sp>
      <p:sp>
        <p:nvSpPr>
          <p:cNvPr id="32" name="Rectangle 31"/>
          <p:cNvSpPr/>
          <p:nvPr/>
        </p:nvSpPr>
        <p:spPr>
          <a:xfrm>
            <a:off x="88239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Human review gate"/>
          <p:cNvSpPr/>
          <p:nvPr/>
        </p:nvSpPr>
        <p:spPr>
          <a:xfrm>
            <a:off x="88239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wner accepts;"/>
          <p:cNvSpPr txBox="1"/>
          <p:nvPr/>
        </p:nvSpPr>
        <p:spPr>
          <a:xfrm>
            <a:off x="91897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accepts;</a:t>
            </a:r>
          </a:p>
          <a:p>
            <a:pPr>
              <a:lnSpc>
                <a:spcPct val="107000"/>
              </a:lnSpc>
              <a:spcAft>
                <a:spcPts val="500"/>
              </a:spcAft>
            </a:pPr>
            <a:r>
              <a:rPr sz="1700" b="1">
                <a:solidFill>
                  <a:srgbClr val="101411"/>
                </a:solidFill>
                <a:latin typeface="Arial"/>
              </a:rPr>
              <a:t>sponsor decides scale.</a:t>
            </a:r>
          </a:p>
        </p:txBody>
      </p:sp>
      <p:sp>
        <p:nvSpPr>
          <p:cNvPr id="35" name="Chip: Illustrative"/>
          <p:cNvSpPr/>
          <p:nvPr/>
        </p:nvSpPr>
        <p:spPr>
          <a:xfrm>
            <a:off x="594360" y="5742432"/>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6" name="Planning assumption, one repository first. Diamonds mark hum"/>
          <p:cNvSpPr txBox="1"/>
          <p:nvPr/>
        </p:nvSpPr>
        <p:spPr>
          <a:xfrm>
            <a:off x="1783080" y="5769864"/>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Planning assumption, one repository first. Diamonds mark human review gates.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urn findings into an owned GitHub projec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Turn findings into an owned GitHub project.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1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11 / 19</a:t>
            </a:r>
          </a:p>
        </p:txBody>
      </p:sp>
      <p:sp>
        <p:nvSpPr>
          <p:cNvPr id="7" name="Changeability &amp; Modernization"/>
          <p:cNvSpPr txBox="1"/>
          <p:nvPr/>
        </p:nvSpPr>
        <p:spPr>
          <a:xfrm>
            <a:off x="594360" y="1627632"/>
            <a:ext cx="10789920" cy="502920"/>
          </a:xfrm>
          <a:prstGeom prst="rect">
            <a:avLst/>
          </a:prstGeom>
          <a:noFill/>
        </p:spPr>
        <p:txBody>
          <a:bodyPr wrap="square" lIns="0" rIns="0" tIns="0" bIns="0">
            <a:spAutoFit/>
          </a:bodyPr>
          <a:lstStyle/>
          <a:p>
            <a:pPr>
              <a:lnSpc>
                <a:spcPct val="107000"/>
              </a:lnSpc>
              <a:spcAft>
                <a:spcPts val="500"/>
              </a:spcAft>
            </a:pPr>
            <a:r>
              <a:rPr sz="2700" b="1">
                <a:solidFill>
                  <a:srgbClr val="08872B"/>
                </a:solidFill>
                <a:latin typeface="Mona Sans"/>
              </a:rPr>
              <a:t>Changeability &amp; Modernization</a:t>
            </a:r>
          </a:p>
        </p:txBody>
      </p:sp>
      <p:sp>
        <p:nvSpPr>
          <p:cNvPr id="8" name="Rectangle 7"/>
          <p:cNvSpPr/>
          <p:nvPr/>
        </p:nvSpPr>
        <p:spPr>
          <a:xfrm>
            <a:off x="594360"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scovery"/>
          <p:cNvSpPr txBox="1"/>
          <p:nvPr/>
        </p:nvSpPr>
        <p:spPr>
          <a:xfrm>
            <a:off x="758952"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Discovery</a:t>
            </a:r>
          </a:p>
        </p:txBody>
      </p:sp>
      <p:sp>
        <p:nvSpPr>
          <p:cNvPr id="10" name="Rectangle 9"/>
          <p:cNvSpPr/>
          <p:nvPr/>
        </p:nvSpPr>
        <p:spPr>
          <a:xfrm>
            <a:off x="740664"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p validation callers"/>
          <p:cNvSpPr txBox="1"/>
          <p:nvPr/>
        </p:nvSpPr>
        <p:spPr>
          <a:xfrm>
            <a:off x="859536"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Map validation callers</a:t>
            </a:r>
          </a:p>
        </p:txBody>
      </p:sp>
      <p:sp>
        <p:nvSpPr>
          <p:cNvPr id="12" name="Rectangle 11"/>
          <p:cNvSpPr/>
          <p:nvPr/>
        </p:nvSpPr>
        <p:spPr>
          <a:xfrm>
            <a:off x="3401568"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Evidence review"/>
          <p:cNvSpPr txBox="1"/>
          <p:nvPr/>
        </p:nvSpPr>
        <p:spPr>
          <a:xfrm>
            <a:off x="3566160"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Evidence review</a:t>
            </a:r>
          </a:p>
        </p:txBody>
      </p:sp>
      <p:sp>
        <p:nvSpPr>
          <p:cNvPr id="14" name="Rectangle 13"/>
          <p:cNvSpPr/>
          <p:nvPr/>
        </p:nvSpPr>
        <p:spPr>
          <a:xfrm>
            <a:off x="3547872"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spect CI stage timings"/>
          <p:cNvSpPr txBox="1"/>
          <p:nvPr/>
        </p:nvSpPr>
        <p:spPr>
          <a:xfrm>
            <a:off x="3666744"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 stage timings</a:t>
            </a:r>
          </a:p>
        </p:txBody>
      </p:sp>
      <p:sp>
        <p:nvSpPr>
          <p:cNvPr id="16" name="Rectangle 15"/>
          <p:cNvSpPr/>
          <p:nvPr/>
        </p:nvSpPr>
        <p:spPr>
          <a:xfrm>
            <a:off x="6208776"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pproved"/>
          <p:cNvSpPr txBox="1"/>
          <p:nvPr/>
        </p:nvSpPr>
        <p:spPr>
          <a:xfrm>
            <a:off x="6373368"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Approved</a:t>
            </a:r>
          </a:p>
        </p:txBody>
      </p:sp>
      <p:sp>
        <p:nvSpPr>
          <p:cNvPr id="18" name="Rectangle 17"/>
          <p:cNvSpPr/>
          <p:nvPr/>
        </p:nvSpPr>
        <p:spPr>
          <a:xfrm>
            <a:off x="6355080"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dd agreed behavior tests"/>
          <p:cNvSpPr txBox="1"/>
          <p:nvPr/>
        </p:nvSpPr>
        <p:spPr>
          <a:xfrm>
            <a:off x="6473952"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Add agreed behavior tests</a:t>
            </a:r>
          </a:p>
        </p:txBody>
      </p:sp>
      <p:sp>
        <p:nvSpPr>
          <p:cNvPr id="20" name="Rectangle 19"/>
          <p:cNvSpPr/>
          <p:nvPr/>
        </p:nvSpPr>
        <p:spPr>
          <a:xfrm>
            <a:off x="9015984"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Validating"/>
          <p:cNvSpPr txBox="1"/>
          <p:nvPr/>
        </p:nvSpPr>
        <p:spPr>
          <a:xfrm>
            <a:off x="9180576"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Validating</a:t>
            </a:r>
          </a:p>
        </p:txBody>
      </p:sp>
      <p:sp>
        <p:nvSpPr>
          <p:cNvPr id="22" name="Rectangle 21"/>
          <p:cNvSpPr/>
          <p:nvPr/>
        </p:nvSpPr>
        <p:spPr>
          <a:xfrm>
            <a:off x="9162288"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mpare baseline + PR"/>
          <p:cNvSpPr txBox="1"/>
          <p:nvPr/>
        </p:nvSpPr>
        <p:spPr>
          <a:xfrm>
            <a:off x="9281159"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Compare baseline + PR</a:t>
            </a:r>
          </a:p>
        </p:txBody>
      </p:sp>
      <p:sp>
        <p:nvSpPr>
          <p:cNvPr id="24" name="Each issue carries evidence, baseline, owner, reviewer,"/>
          <p:cNvSpPr txBox="1"/>
          <p:nvPr/>
        </p:nvSpPr>
        <p:spPr>
          <a:xfrm>
            <a:off x="594360" y="4773168"/>
            <a:ext cx="10927080" cy="82296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Each issue carries evidence, baseline, owner, reviewer,</a:t>
            </a:r>
          </a:p>
          <a:p>
            <a:pPr>
              <a:lnSpc>
                <a:spcPct val="107000"/>
              </a:lnSpc>
              <a:spcAft>
                <a:spcPts val="500"/>
              </a:spcAft>
            </a:pPr>
            <a:r>
              <a:rPr sz="2400" b="1">
                <a:solidFill>
                  <a:srgbClr val="101411"/>
                </a:solidFill>
                <a:latin typeface="Mona Sans"/>
              </a:rPr>
              <a:t>acceptance criteria, dependencies, risk and rollback.</a:t>
            </a:r>
          </a:p>
        </p:txBody>
      </p:sp>
      <p:sp>
        <p:nvSpPr>
          <p:cNvPr id="25" name="Chip: Illustrative"/>
          <p:cNvSpPr/>
          <p:nvPr/>
        </p:nvSpPr>
        <p:spPr>
          <a:xfrm>
            <a:off x="594360" y="5760720"/>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6" name="Project design, not a live board. Status values do not enfor"/>
          <p:cNvSpPr txBox="1"/>
          <p:nvPr/>
        </p:nvSpPr>
        <p:spPr>
          <a:xfrm>
            <a:off x="1783080" y="5788152"/>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Project design, not a live board. Status values do not enforce approvals.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acklog of hypotheses—not a list of rewri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backlog of hypotheses—not a list of rewrites.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2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12 / 19</a:t>
            </a:r>
          </a:p>
        </p:txBody>
      </p:sp>
      <p:sp>
        <p:nvSpPr>
          <p:cNvPr id="7" name="Rectangle 6"/>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ndidate work"/>
          <p:cNvSpPr txBox="1"/>
          <p:nvPr/>
        </p:nvSpPr>
        <p:spPr>
          <a:xfrm>
            <a:off x="704088" y="1773936"/>
            <a:ext cx="288950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Candidate work</a:t>
            </a:r>
          </a:p>
        </p:txBody>
      </p:sp>
      <p:sp>
        <p:nvSpPr>
          <p:cNvPr id="9" name="Evidence before approval"/>
          <p:cNvSpPr txBox="1"/>
          <p:nvPr/>
        </p:nvSpPr>
        <p:spPr>
          <a:xfrm>
            <a:off x="3813048" y="1773936"/>
            <a:ext cx="458114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before approval</a:t>
            </a:r>
          </a:p>
        </p:txBody>
      </p:sp>
      <p:sp>
        <p:nvSpPr>
          <p:cNvPr id="10" name="Smallest next step"/>
          <p:cNvSpPr txBox="1"/>
          <p:nvPr/>
        </p:nvSpPr>
        <p:spPr>
          <a:xfrm>
            <a:off x="8613648" y="1773936"/>
            <a:ext cx="284378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Smallest next step</a:t>
            </a:r>
          </a:p>
        </p:txBody>
      </p:sp>
      <p:sp>
        <p:nvSpPr>
          <p:cNvPr id="11" name="Rectangle 10"/>
          <p:cNvSpPr/>
          <p:nvPr/>
        </p:nvSpPr>
        <p:spPr>
          <a:xfrm>
            <a:off x="594360" y="307055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rotect the critical path"/>
          <p:cNvSpPr txBox="1"/>
          <p:nvPr/>
        </p:nvSpPr>
        <p:spPr>
          <a:xfrm>
            <a:off x="704088" y="2459736"/>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Protect the critical path</a:t>
            </a:r>
          </a:p>
        </p:txBody>
      </p:sp>
      <p:sp>
        <p:nvSpPr>
          <p:cNvPr id="13" name="Owner-confirmed behavior"/>
          <p:cNvSpPr txBox="1"/>
          <p:nvPr/>
        </p:nvSpPr>
        <p:spPr>
          <a:xfrm>
            <a:off x="3813048" y="2459736"/>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Owner-confirmed behavior</a:t>
            </a:r>
          </a:p>
          <a:p>
            <a:pPr>
              <a:lnSpc>
                <a:spcPct val="107000"/>
              </a:lnSpc>
              <a:spcAft>
                <a:spcPts val="500"/>
              </a:spcAft>
            </a:pPr>
            <a:r>
              <a:rPr sz="1700" b="0">
                <a:solidFill>
                  <a:srgbClr val="232925"/>
                </a:solidFill>
                <a:latin typeface="Arial"/>
              </a:rPr>
              <a:t>and a demonstrable test gap</a:t>
            </a:r>
          </a:p>
        </p:txBody>
      </p:sp>
      <p:sp>
        <p:nvSpPr>
          <p:cNvPr id="14" name="Characterization tests"/>
          <p:cNvSpPr txBox="1"/>
          <p:nvPr/>
        </p:nvSpPr>
        <p:spPr>
          <a:xfrm>
            <a:off x="8613648" y="2459736"/>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Characterization tests</a:t>
            </a:r>
          </a:p>
        </p:txBody>
      </p:sp>
      <p:sp>
        <p:nvSpPr>
          <p:cNvPr id="15" name="Rectangle 14"/>
          <p:cNvSpPr/>
          <p:nvPr/>
        </p:nvSpPr>
        <p:spPr>
          <a:xfrm>
            <a:off x="594360" y="39026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nvestigate slow CI setup"/>
          <p:cNvSpPr txBox="1"/>
          <p:nvPr/>
        </p:nvSpPr>
        <p:spPr>
          <a:xfrm>
            <a:off x="704088" y="3291840"/>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Investigate slow CI setup</a:t>
            </a:r>
          </a:p>
        </p:txBody>
      </p:sp>
      <p:sp>
        <p:nvSpPr>
          <p:cNvPr id="17" name="Comparable step timings"/>
          <p:cNvSpPr txBox="1"/>
          <p:nvPr/>
        </p:nvSpPr>
        <p:spPr>
          <a:xfrm>
            <a:off x="3813048" y="3291840"/>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Comparable step timings</a:t>
            </a:r>
          </a:p>
          <a:p>
            <a:pPr>
              <a:lnSpc>
                <a:spcPct val="107000"/>
              </a:lnSpc>
              <a:spcAft>
                <a:spcPts val="500"/>
              </a:spcAft>
            </a:pPr>
            <a:r>
              <a:rPr sz="1700" b="0">
                <a:solidFill>
                  <a:srgbClr val="232925"/>
                </a:solidFill>
                <a:latin typeface="Arial"/>
              </a:rPr>
              <a:t>and observed cache behavior</a:t>
            </a:r>
          </a:p>
        </p:txBody>
      </p:sp>
      <p:sp>
        <p:nvSpPr>
          <p:cNvPr id="18" name="Trace the delay first"/>
          <p:cNvSpPr txBox="1"/>
          <p:nvPr/>
        </p:nvSpPr>
        <p:spPr>
          <a:xfrm>
            <a:off x="8613648" y="3291840"/>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Trace the delay first</a:t>
            </a:r>
          </a:p>
        </p:txBody>
      </p:sp>
      <p:sp>
        <p:nvSpPr>
          <p:cNvPr id="19" name="Rectangle 18"/>
          <p:cNvSpPr/>
          <p:nvPr/>
        </p:nvSpPr>
        <p:spPr>
          <a:xfrm>
            <a:off x="594360" y="473476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ssess runtime support"/>
          <p:cNvSpPr txBox="1"/>
          <p:nvPr/>
        </p:nvSpPr>
        <p:spPr>
          <a:xfrm>
            <a:off x="704088" y="4123944"/>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Assess runtime support</a:t>
            </a:r>
          </a:p>
        </p:txBody>
      </p:sp>
      <p:sp>
        <p:nvSpPr>
          <p:cNvPr id="21" name="Installed version and current"/>
          <p:cNvSpPr txBox="1"/>
          <p:nvPr/>
        </p:nvSpPr>
        <p:spPr>
          <a:xfrm>
            <a:off x="3813048" y="4123944"/>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Installed version and current</a:t>
            </a:r>
          </a:p>
          <a:p>
            <a:pPr>
              <a:lnSpc>
                <a:spcPct val="107000"/>
              </a:lnSpc>
              <a:spcAft>
                <a:spcPts val="500"/>
              </a:spcAft>
            </a:pPr>
            <a:r>
              <a:rPr sz="1700" b="0">
                <a:solidFill>
                  <a:srgbClr val="232925"/>
                </a:solidFill>
                <a:latin typeface="Arial"/>
              </a:rPr>
              <a:t>vendor support policy</a:t>
            </a:r>
          </a:p>
        </p:txBody>
      </p:sp>
      <p:sp>
        <p:nvSpPr>
          <p:cNvPr id="22" name="Retain / upgrade / isolate"/>
          <p:cNvSpPr txBox="1"/>
          <p:nvPr/>
        </p:nvSpPr>
        <p:spPr>
          <a:xfrm>
            <a:off x="8613648" y="4123944"/>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 upgrade / isolate</a:t>
            </a:r>
          </a:p>
        </p:txBody>
      </p:sp>
      <p:sp>
        <p:nvSpPr>
          <p:cNvPr id="23" name="Rectangle 22"/>
          <p:cNvSpPr/>
          <p:nvPr/>
        </p:nvSpPr>
        <p:spPr>
          <a:xfrm>
            <a:off x="594360" y="556686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duce ownership risk"/>
          <p:cNvSpPr txBox="1"/>
          <p:nvPr/>
        </p:nvSpPr>
        <p:spPr>
          <a:xfrm>
            <a:off x="704088" y="4956048"/>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Reduce ownership risk</a:t>
            </a:r>
          </a:p>
        </p:txBody>
      </p:sp>
      <p:sp>
        <p:nvSpPr>
          <p:cNvPr id="25" name="A verified ownership or"/>
          <p:cNvSpPr txBox="1"/>
          <p:nvPr/>
        </p:nvSpPr>
        <p:spPr>
          <a:xfrm>
            <a:off x="3813048" y="4956048"/>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 verified ownership or</a:t>
            </a:r>
          </a:p>
          <a:p>
            <a:pPr>
              <a:lnSpc>
                <a:spcPct val="107000"/>
              </a:lnSpc>
              <a:spcAft>
                <a:spcPts val="500"/>
              </a:spcAft>
            </a:pPr>
            <a:r>
              <a:rPr sz="1700" b="0">
                <a:solidFill>
                  <a:srgbClr val="232925"/>
                </a:solidFill>
                <a:latin typeface="Arial"/>
              </a:rPr>
              <a:t>release-recovery documentation gap</a:t>
            </a:r>
          </a:p>
        </p:txBody>
      </p:sp>
      <p:sp>
        <p:nvSpPr>
          <p:cNvPr id="26" name="Review a reusable runbook"/>
          <p:cNvSpPr txBox="1"/>
          <p:nvPr/>
        </p:nvSpPr>
        <p:spPr>
          <a:xfrm>
            <a:off x="8613648" y="4956048"/>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Review a reusable runbook</a:t>
            </a:r>
          </a:p>
        </p:txBody>
      </p:sp>
      <p:sp>
        <p:nvSpPr>
          <p:cNvPr id="27" name="Chip: Illustrative"/>
          <p:cNvSpPr/>
          <p:nvPr/>
        </p:nvSpPr>
        <p:spPr>
          <a:xfrm>
            <a:off x="594360" y="5797296"/>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8" name="Candidates, not findings about this repository."/>
          <p:cNvSpPr txBox="1"/>
          <p:nvPr/>
        </p:nvSpPr>
        <p:spPr>
          <a:xfrm>
            <a:off x="1783080" y="5824728"/>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Candidates, not findings about this repository.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rioritize business value and change confiden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Prioritize business value and change confidence.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3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13 / 19</a:t>
            </a:r>
          </a:p>
        </p:txBody>
      </p:sp>
      <p:sp>
        <p:nvSpPr>
          <p:cNvPr id="7" name="Low"/>
          <p:cNvSpPr txBox="1"/>
          <p:nvPr/>
        </p:nvSpPr>
        <p:spPr>
          <a:xfrm rot="16200000">
            <a:off x="-708659" y="3049524"/>
            <a:ext cx="3337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8" name="Business criticality  →"/>
          <p:cNvSpPr txBox="1"/>
          <p:nvPr/>
        </p:nvSpPr>
        <p:spPr>
          <a:xfrm rot="16200000">
            <a:off x="-708659" y="3049524"/>
            <a:ext cx="3337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Business criticality  →</a:t>
            </a:r>
          </a:p>
        </p:txBody>
      </p:sp>
      <p:sp>
        <p:nvSpPr>
          <p:cNvPr id="9" name="High"/>
          <p:cNvSpPr txBox="1"/>
          <p:nvPr/>
        </p:nvSpPr>
        <p:spPr>
          <a:xfrm rot="16200000">
            <a:off x="-708659" y="3049524"/>
            <a:ext cx="3337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10" name="Rectangle 9"/>
          <p:cNvSpPr/>
          <p:nvPr/>
        </p:nvSpPr>
        <p:spPr>
          <a:xfrm>
            <a:off x="1371600" y="1508760"/>
            <a:ext cx="5029200" cy="160020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nvestigate and protect first"/>
          <p:cNvSpPr txBox="1"/>
          <p:nvPr/>
        </p:nvSpPr>
        <p:spPr>
          <a:xfrm>
            <a:off x="160020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FFFFFF"/>
                </a:solidFill>
                <a:latin typeface="Mona Sans"/>
              </a:rPr>
              <a:t>Investigate and protect first</a:t>
            </a:r>
          </a:p>
        </p:txBody>
      </p:sp>
      <p:sp>
        <p:nvSpPr>
          <p:cNvPr id="12" name="High criticality · Low confidence"/>
          <p:cNvSpPr txBox="1"/>
          <p:nvPr/>
        </p:nvSpPr>
        <p:spPr>
          <a:xfrm>
            <a:off x="160020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B6BFB8"/>
                </a:solidFill>
                <a:latin typeface="Arial"/>
              </a:rPr>
              <a:t>High criticality · Low confidence</a:t>
            </a:r>
          </a:p>
        </p:txBody>
      </p:sp>
      <p:sp>
        <p:nvSpPr>
          <p:cNvPr id="13" name="Rectangle 12"/>
          <p:cNvSpPr/>
          <p:nvPr/>
        </p:nvSpPr>
        <p:spPr>
          <a:xfrm>
            <a:off x="6537960" y="1508760"/>
            <a:ext cx="5029200" cy="1600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rget a measured constraint"/>
          <p:cNvSpPr txBox="1"/>
          <p:nvPr/>
        </p:nvSpPr>
        <p:spPr>
          <a:xfrm>
            <a:off x="676656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Target a measured constraint</a:t>
            </a:r>
          </a:p>
        </p:txBody>
      </p:sp>
      <p:sp>
        <p:nvSpPr>
          <p:cNvPr id="15" name="High criticality · High confidence"/>
          <p:cNvSpPr txBox="1"/>
          <p:nvPr/>
        </p:nvSpPr>
        <p:spPr>
          <a:xfrm>
            <a:off x="676656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High criticality · High confidence</a:t>
            </a:r>
          </a:p>
        </p:txBody>
      </p:sp>
      <p:sp>
        <p:nvSpPr>
          <p:cNvPr id="16" name="Rectangle 15"/>
          <p:cNvSpPr/>
          <p:nvPr/>
        </p:nvSpPr>
        <p:spPr>
          <a:xfrm>
            <a:off x="137160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nfirm value and dependencies"/>
          <p:cNvSpPr txBox="1"/>
          <p:nvPr/>
        </p:nvSpPr>
        <p:spPr>
          <a:xfrm>
            <a:off x="160020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Confirm value and dependencies</a:t>
            </a:r>
          </a:p>
        </p:txBody>
      </p:sp>
      <p:sp>
        <p:nvSpPr>
          <p:cNvPr id="18" name="Low criticality · Low confidence"/>
          <p:cNvSpPr txBox="1"/>
          <p:nvPr/>
        </p:nvSpPr>
        <p:spPr>
          <a:xfrm>
            <a:off x="160020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Low confidence</a:t>
            </a:r>
          </a:p>
        </p:txBody>
      </p:sp>
      <p:sp>
        <p:nvSpPr>
          <p:cNvPr id="19" name="Rectangle 18"/>
          <p:cNvSpPr/>
          <p:nvPr/>
        </p:nvSpPr>
        <p:spPr>
          <a:xfrm>
            <a:off x="653796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tain or improve selectively"/>
          <p:cNvSpPr txBox="1"/>
          <p:nvPr/>
        </p:nvSpPr>
        <p:spPr>
          <a:xfrm>
            <a:off x="676656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Retain or improve selectively</a:t>
            </a:r>
          </a:p>
        </p:txBody>
      </p:sp>
      <p:sp>
        <p:nvSpPr>
          <p:cNvPr id="21" name="Low criticality · High confidence"/>
          <p:cNvSpPr txBox="1"/>
          <p:nvPr/>
        </p:nvSpPr>
        <p:spPr>
          <a:xfrm>
            <a:off x="676656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High confidence</a:t>
            </a:r>
          </a:p>
        </p:txBody>
      </p:sp>
      <p:sp>
        <p:nvSpPr>
          <p:cNvPr id="22" name="Low"/>
          <p:cNvSpPr txBox="1"/>
          <p:nvPr/>
        </p:nvSpPr>
        <p:spPr>
          <a:xfrm>
            <a:off x="1371600" y="5029200"/>
            <a:ext cx="10195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23" name="Change confidence  →"/>
          <p:cNvSpPr txBox="1"/>
          <p:nvPr/>
        </p:nvSpPr>
        <p:spPr>
          <a:xfrm>
            <a:off x="1371600" y="5029200"/>
            <a:ext cx="10195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Change confidence  →</a:t>
            </a:r>
          </a:p>
        </p:txBody>
      </p:sp>
      <p:sp>
        <p:nvSpPr>
          <p:cNvPr id="24" name="High"/>
          <p:cNvSpPr txBox="1"/>
          <p:nvPr/>
        </p:nvSpPr>
        <p:spPr>
          <a:xfrm>
            <a:off x="1371600" y="5029200"/>
            <a:ext cx="10195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25" name="Unknown ≠ low risk. Old ≠ obsolete. “Do not change” is a val"/>
          <p:cNvSpPr txBox="1"/>
          <p:nvPr/>
        </p:nvSpPr>
        <p:spPr>
          <a:xfrm>
            <a:off x="594360" y="5577840"/>
            <a:ext cx="10972800" cy="41148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Unknown ≠ low risk. Old ≠ obsolete. “Do not change” is a valid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aring starts discovery. It does not certify chan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Bearing starts discovery. It does not certify change.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4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14 / 19</a:t>
            </a:r>
          </a:p>
        </p:txBody>
      </p:sp>
      <p:sp>
        <p:nvSpPr>
          <p:cNvPr id="7" name="Available in Bearing today"/>
          <p:cNvSpPr txBox="1"/>
          <p:nvPr/>
        </p:nvSpPr>
        <p:spPr>
          <a:xfrm>
            <a:off x="59436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Available in Bearing today</a:t>
            </a:r>
          </a:p>
        </p:txBody>
      </p:sp>
      <p:sp>
        <p:nvSpPr>
          <p:cNvPr id="8" name="Read-only repository exploration."/>
          <p:cNvSpPr txBox="1"/>
          <p:nvPr/>
        </p:nvSpPr>
        <p:spPr>
          <a:xfrm>
            <a:off x="59436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Read-only repository exploration.</a:t>
            </a:r>
          </a:p>
          <a:p>
            <a:pPr>
              <a:lnSpc>
                <a:spcPct val="107000"/>
              </a:lnSpc>
              <a:spcAft>
                <a:spcPts val="500"/>
              </a:spcAft>
            </a:pPr>
            <a:r>
              <a:rPr sz="2000" b="0">
                <a:solidFill>
                  <a:srgbClr val="232925"/>
                </a:solidFill>
                <a:latin typeface="Arial"/>
              </a:rPr>
              <a:t>Parallel map + merged-PR research.</a:t>
            </a:r>
          </a:p>
          <a:p>
            <a:pPr>
              <a:lnSpc>
                <a:spcPct val="107000"/>
              </a:lnSpc>
              <a:spcAft>
                <a:spcPts val="500"/>
              </a:spcAft>
            </a:pPr>
            <a:r>
              <a:rPr sz="2000" b="0">
                <a:solidFill>
                  <a:srgbClr val="232925"/>
                </a:solidFill>
                <a:latin typeface="Arial"/>
              </a:rPr>
              <a:t>Incremental seven-section canvas.</a:t>
            </a:r>
          </a:p>
          <a:p>
            <a:pPr>
              <a:lnSpc>
                <a:spcPct val="107000"/>
              </a:lnSpc>
              <a:spcAft>
                <a:spcPts val="500"/>
              </a:spcAft>
            </a:pPr>
            <a:r>
              <a:rPr sz="2000" b="0">
                <a:solidFill>
                  <a:srgbClr val="232925"/>
                </a:solidFill>
                <a:latin typeface="Arial"/>
              </a:rPr>
              <a:t>File evidence and explicit unavailable sections.</a:t>
            </a:r>
          </a:p>
          <a:p>
            <a:pPr>
              <a:lnSpc>
                <a:spcPct val="107000"/>
              </a:lnSpc>
              <a:spcAft>
                <a:spcPts val="500"/>
              </a:spcAft>
            </a:pPr>
            <a:r>
              <a:rPr sz="2000" b="0">
                <a:solidFill>
                  <a:srgbClr val="232925"/>
                </a:solidFill>
                <a:latin typeface="Arial"/>
              </a:rPr>
              <a:t>Persistent first-steps checklist.</a:t>
            </a:r>
          </a:p>
        </p:txBody>
      </p:sp>
      <p:sp>
        <p:nvSpPr>
          <p:cNvPr id="9" name="Proposed: what to optimize"/>
          <p:cNvSpPr txBox="1"/>
          <p:nvPr/>
        </p:nvSpPr>
        <p:spPr>
          <a:xfrm>
            <a:off x="640080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8534F3"/>
                </a:solidFill>
                <a:latin typeface="Mona Sans"/>
              </a:rPr>
              <a:t>Proposed: what to optimize</a:t>
            </a:r>
          </a:p>
        </p:txBody>
      </p:sp>
      <p:sp>
        <p:nvSpPr>
          <p:cNvPr id="10" name="Ranked optimization candidates."/>
          <p:cNvSpPr txBox="1"/>
          <p:nvPr/>
        </p:nvSpPr>
        <p:spPr>
          <a:xfrm>
            <a:off x="640080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Ranked optimization candidates.</a:t>
            </a:r>
          </a:p>
          <a:p>
            <a:pPr>
              <a:lnSpc>
                <a:spcPct val="107000"/>
              </a:lnSpc>
              <a:spcAft>
                <a:spcPts val="500"/>
              </a:spcAft>
            </a:pPr>
            <a:r>
              <a:rPr sz="2000" b="0">
                <a:solidFill>
                  <a:srgbClr val="232925"/>
                </a:solidFill>
                <a:latin typeface="Arial"/>
              </a:rPr>
              <a:t>Critical-journey and owner review.</a:t>
            </a:r>
          </a:p>
          <a:p>
            <a:pPr>
              <a:lnSpc>
                <a:spcPct val="107000"/>
              </a:lnSpc>
              <a:spcAft>
                <a:spcPts val="500"/>
              </a:spcAft>
            </a:pPr>
            <a:r>
              <a:rPr sz="2000" b="0">
                <a:solidFill>
                  <a:srgbClr val="232925"/>
                </a:solidFill>
                <a:latin typeface="Arial"/>
              </a:rPr>
              <a:t>Coverage, CI and runtime measurement.</a:t>
            </a:r>
          </a:p>
          <a:p>
            <a:pPr>
              <a:lnSpc>
                <a:spcPct val="107000"/>
              </a:lnSpc>
              <a:spcAft>
                <a:spcPts val="500"/>
              </a:spcAft>
            </a:pPr>
            <a:r>
              <a:rPr sz="2000" b="0">
                <a:solidFill>
                  <a:srgbClr val="232925"/>
                </a:solidFill>
                <a:latin typeface="Arial"/>
              </a:rPr>
              <a:t>Support-lifecycle assessment.</a:t>
            </a:r>
          </a:p>
          <a:p>
            <a:pPr>
              <a:lnSpc>
                <a:spcPct val="107000"/>
              </a:lnSpc>
              <a:spcAft>
                <a:spcPts val="500"/>
              </a:spcAft>
            </a:pPr>
            <a:r>
              <a:rPr sz="2000" b="0">
                <a:solidFill>
                  <a:srgbClr val="232925"/>
                </a:solidFill>
                <a:latin typeface="Arial"/>
              </a:rPr>
              <a:t>Task briefs and GitHub project setup.</a:t>
            </a:r>
          </a:p>
        </p:txBody>
      </p:sp>
      <p:sp>
        <p:nvSpPr>
          <p:cNvPr id="11" name="Rectangle 10"/>
          <p:cNvSpPr/>
          <p:nvPr/>
        </p:nvSpPr>
        <p:spPr>
          <a:xfrm>
            <a:off x="594360" y="178308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0" y="1783080"/>
            <a:ext cx="5166360" cy="64008"/>
          </a:xfrm>
          <a:prstGeom prst="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5404104"/>
            <a:ext cx="1097280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earing does not run builds/tests, measure coverage or autom"/>
          <p:cNvSpPr txBox="1"/>
          <p:nvPr/>
        </p:nvSpPr>
        <p:spPr>
          <a:xfrm>
            <a:off x="768096" y="5522976"/>
            <a:ext cx="10607040" cy="27432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Bearing does not run builds/tests, measure coverage or rank optimizations.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Where Bearing fits, and where it doesn’t ye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Where Bearing fits, and where it doesn’t yet.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5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15 / 19</a:t>
            </a:r>
          </a:p>
        </p:txBody>
      </p:sp>
      <p:sp>
        <p:nvSpPr>
          <p:cNvPr id="7" name="Rectangle 6"/>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riterion"/>
          <p:cNvSpPr txBox="1"/>
          <p:nvPr/>
        </p:nvSpPr>
        <p:spPr>
          <a:xfrm>
            <a:off x="704088" y="1792224"/>
            <a:ext cx="2798063"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Criterion</a:t>
            </a:r>
          </a:p>
        </p:txBody>
      </p:sp>
      <p:sp>
        <p:nvSpPr>
          <p:cNvPr id="9" name="Status"/>
          <p:cNvSpPr txBox="1"/>
          <p:nvPr/>
        </p:nvSpPr>
        <p:spPr>
          <a:xfrm>
            <a:off x="3721607" y="1792224"/>
            <a:ext cx="15179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0" name="Evidence in this repository"/>
          <p:cNvSpPr txBox="1"/>
          <p:nvPr/>
        </p:nvSpPr>
        <p:spPr>
          <a:xfrm>
            <a:off x="5458968" y="1792224"/>
            <a:ext cx="599846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in this repository</a:t>
            </a:r>
          </a:p>
        </p:txBody>
      </p:sp>
      <p:sp>
        <p:nvSpPr>
          <p:cNvPr id="11" name="Rectangle 10"/>
          <p:cNvSpPr/>
          <p:nvPr/>
        </p:nvSpPr>
        <p:spPr>
          <a:xfrm>
            <a:off x="594360" y="295168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peatable"/>
          <p:cNvSpPr txBox="1"/>
          <p:nvPr/>
        </p:nvSpPr>
        <p:spPr>
          <a:xfrm>
            <a:off x="704088" y="2322576"/>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Repeatable</a:t>
            </a:r>
          </a:p>
        </p:txBody>
      </p:sp>
      <p:sp>
        <p:nvSpPr>
          <p:cNvPr id="13" name="Chip: Prototype"/>
          <p:cNvSpPr/>
          <p:nvPr/>
        </p:nvSpPr>
        <p:spPr>
          <a:xfrm>
            <a:off x="3721607" y="2450591"/>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4" name="One /onboard-repo command and an installable plugin: skill, "/>
          <p:cNvSpPr txBox="1"/>
          <p:nvPr/>
        </p:nvSpPr>
        <p:spPr>
          <a:xfrm>
            <a:off x="5458968" y="2322576"/>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One /onboard-repo command and an installable plugin: skill, agents, tools, canvas and tests.</a:t>
            </a:r>
          </a:p>
        </p:txBody>
      </p:sp>
      <p:sp>
        <p:nvSpPr>
          <p:cNvPr id="15" name="Rectangle 14"/>
          <p:cNvSpPr/>
          <p:nvPr/>
        </p:nvSpPr>
        <p:spPr>
          <a:xfrm>
            <a:off x="594360" y="3701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overned"/>
          <p:cNvSpPr txBox="1"/>
          <p:nvPr/>
        </p:nvSpPr>
        <p:spPr>
          <a:xfrm>
            <a:off x="704088" y="3072384"/>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Governed</a:t>
            </a:r>
          </a:p>
        </p:txBody>
      </p:sp>
      <p:sp>
        <p:nvSpPr>
          <p:cNvPr id="17" name="Chip: Prototype"/>
          <p:cNvSpPr/>
          <p:nvPr/>
        </p:nvSpPr>
        <p:spPr>
          <a:xfrm>
            <a:off x="3721607" y="3200400"/>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8" name="Read-only, role-scoped tools; loopback canvas with a per-ins"/>
          <p:cNvSpPr txBox="1"/>
          <p:nvPr/>
        </p:nvSpPr>
        <p:spPr>
          <a:xfrm>
            <a:off x="5458968" y="3072384"/>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Read-only, role-scoped tools; loopback canvas with a per-instance token. Production controls remain a separate decision.</a:t>
            </a:r>
          </a:p>
        </p:txBody>
      </p:sp>
      <p:sp>
        <p:nvSpPr>
          <p:cNvPr id="19" name="Rectangle 18"/>
          <p:cNvSpPr/>
          <p:nvPr/>
        </p:nvSpPr>
        <p:spPr>
          <a:xfrm>
            <a:off x="594360" y="4451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ative to the Copilot App"/>
          <p:cNvSpPr txBox="1"/>
          <p:nvPr/>
        </p:nvSpPr>
        <p:spPr>
          <a:xfrm>
            <a:off x="704088" y="3822191"/>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Native to the Copilot App</a:t>
            </a:r>
          </a:p>
        </p:txBody>
      </p:sp>
      <p:sp>
        <p:nvSpPr>
          <p:cNvPr id="21" name="Chip: Prototype"/>
          <p:cNvSpPr/>
          <p:nvPr/>
        </p:nvSpPr>
        <p:spPr>
          <a:xfrm>
            <a:off x="3721607" y="3950207"/>
            <a:ext cx="146303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22" name="A skill, two parallel agents, extension tools and a live can"/>
          <p:cNvSpPr txBox="1"/>
          <p:nvPr/>
        </p:nvSpPr>
        <p:spPr>
          <a:xfrm>
            <a:off x="5458968" y="3822191"/>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A skill, two parallel agents, extension tools and a live canvas inside the app.</a:t>
            </a:r>
          </a:p>
        </p:txBody>
      </p:sp>
      <p:sp>
        <p:nvSpPr>
          <p:cNvPr id="23" name="Rectangle 22"/>
          <p:cNvSpPr/>
          <p:nvPr/>
        </p:nvSpPr>
        <p:spPr>
          <a:xfrm>
            <a:off x="594360" y="520110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Useful beyond developers"/>
          <p:cNvSpPr txBox="1"/>
          <p:nvPr/>
        </p:nvSpPr>
        <p:spPr>
          <a:xfrm>
            <a:off x="704088" y="4572000"/>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Useful beyond developers</a:t>
            </a:r>
          </a:p>
        </p:txBody>
      </p:sp>
      <p:sp>
        <p:nvSpPr>
          <p:cNvPr id="25" name="Chip: Emerging"/>
          <p:cNvSpPr/>
          <p:nvPr/>
        </p:nvSpPr>
        <p:spPr>
          <a:xfrm>
            <a:off x="3721607" y="4700016"/>
            <a:ext cx="1463039"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6" name="Enablement teams can reuse one guide format. Not yet validat"/>
          <p:cNvSpPr txBox="1"/>
          <p:nvPr/>
        </p:nvSpPr>
        <p:spPr>
          <a:xfrm>
            <a:off x="5458968" y="4572000"/>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Field teams can reuse it as a light FDE pass. Not yet validated with non-developer users.</a:t>
            </a:r>
          </a:p>
        </p:txBody>
      </p:sp>
      <p:sp>
        <p:nvSpPr>
          <p:cNvPr id="27" name="Rectangle 26"/>
          <p:cNvSpPr/>
          <p:nvPr/>
        </p:nvSpPr>
        <p:spPr>
          <a:xfrm>
            <a:off x="594360" y="595091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nks what to optimize"/>
          <p:cNvSpPr txBox="1"/>
          <p:nvPr/>
        </p:nvSpPr>
        <p:spPr>
          <a:xfrm>
            <a:off x="704088" y="5321808"/>
            <a:ext cx="2798063" cy="603503"/>
          </a:xfrm>
          <a:prstGeom prst="rect">
            <a:avLst/>
          </a:prstGeom>
          <a:noFill/>
        </p:spPr>
        <p:txBody>
          <a:bodyPr wrap="square" lIns="0" rIns="0" tIns="0" bIns="0">
            <a:spAutoFit/>
          </a:bodyPr>
          <a:lstStyle/>
          <a:p>
            <a:pPr>
              <a:lnSpc>
                <a:spcPct val="107000"/>
              </a:lnSpc>
              <a:spcAft>
                <a:spcPts val="500"/>
              </a:spcAft>
            </a:pPr>
            <a:r>
              <a:rPr sz="1600" b="1">
                <a:solidFill>
                  <a:srgbClr val="101411"/>
                </a:solidFill>
                <a:latin typeface="Arial"/>
              </a:rPr>
              <a:t>Ranks what to optimize</a:t>
            </a:r>
          </a:p>
        </p:txBody>
      </p:sp>
      <p:sp>
        <p:nvSpPr>
          <p:cNvPr id="29" name="Chip: Proposed"/>
          <p:cNvSpPr/>
          <p:nvPr/>
        </p:nvSpPr>
        <p:spPr>
          <a:xfrm>
            <a:off x="3721607" y="5449824"/>
            <a:ext cx="146303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0" name="The legacy modernization assessment in this deck. No such wo"/>
          <p:cNvSpPr txBox="1"/>
          <p:nvPr/>
        </p:nvSpPr>
        <p:spPr>
          <a:xfrm>
            <a:off x="5458968" y="5321808"/>
            <a:ext cx="5998464" cy="603503"/>
          </a:xfrm>
          <a:prstGeom prst="rect">
            <a:avLst/>
          </a:prstGeom>
          <a:noFill/>
        </p:spPr>
        <p:txBody>
          <a:bodyPr wrap="square" lIns="0" rIns="0" tIns="0" bIns="0">
            <a:spAutoFit/>
          </a:bodyPr>
          <a:lstStyle/>
          <a:p>
            <a:pPr>
              <a:lnSpc>
                <a:spcPct val="107000"/>
              </a:lnSpc>
              <a:spcAft>
                <a:spcPts val="500"/>
              </a:spcAft>
            </a:pPr>
            <a:r>
              <a:rPr sz="1600" b="0">
                <a:solidFill>
                  <a:srgbClr val="232925"/>
                </a:solidFill>
                <a:latin typeface="Arial"/>
              </a:rPr>
              <a:t>Ranked candidates with evidence and task briefs, as proposed in this deck. Not implemented.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ne review discipline, several workflow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One review discipline, several workflows.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6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16 / 19</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orkflow"/>
          <p:cNvSpPr txBox="1"/>
          <p:nvPr/>
        </p:nvSpPr>
        <p:spPr>
          <a:xfrm>
            <a:off x="704088" y="1755648"/>
            <a:ext cx="27066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Workflow</a:t>
            </a:r>
          </a:p>
        </p:txBody>
      </p:sp>
      <p:sp>
        <p:nvSpPr>
          <p:cNvPr id="9" name="Audience"/>
          <p:cNvSpPr txBox="1"/>
          <p:nvPr/>
        </p:nvSpPr>
        <p:spPr>
          <a:xfrm>
            <a:off x="3630168" y="1755648"/>
            <a:ext cx="243230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Audience</a:t>
            </a:r>
          </a:p>
        </p:txBody>
      </p:sp>
      <p:sp>
        <p:nvSpPr>
          <p:cNvPr id="10" name="Value"/>
          <p:cNvSpPr txBox="1"/>
          <p:nvPr/>
        </p:nvSpPr>
        <p:spPr>
          <a:xfrm>
            <a:off x="6281928" y="1755648"/>
            <a:ext cx="40782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Value</a:t>
            </a:r>
          </a:p>
        </p:txBody>
      </p:sp>
      <p:sp>
        <p:nvSpPr>
          <p:cNvPr id="11" name="Status"/>
          <p:cNvSpPr txBox="1"/>
          <p:nvPr/>
        </p:nvSpPr>
        <p:spPr>
          <a:xfrm>
            <a:off x="10579607" y="1755648"/>
            <a:ext cx="8778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2" name="Rectangle 11"/>
          <p:cNvSpPr/>
          <p:nvPr/>
        </p:nvSpPr>
        <p:spPr>
          <a:xfrm>
            <a:off x="594360" y="28510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pository exploration"/>
          <p:cNvSpPr txBox="1"/>
          <p:nvPr/>
        </p:nvSpPr>
        <p:spPr>
          <a:xfrm>
            <a:off x="704088" y="22860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Repository exploration</a:t>
            </a:r>
          </a:p>
        </p:txBody>
      </p:sp>
      <p:sp>
        <p:nvSpPr>
          <p:cNvPr id="14" name="New or rotating developers"/>
          <p:cNvSpPr txBox="1"/>
          <p:nvPr/>
        </p:nvSpPr>
        <p:spPr>
          <a:xfrm>
            <a:off x="3630168" y="22860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New or rotating developers</a:t>
            </a:r>
          </a:p>
        </p:txBody>
      </p:sp>
      <p:sp>
        <p:nvSpPr>
          <p:cNvPr id="15" name="A light FDE pass: an evidence-backed guide inside the Copilot App."/>
          <p:cNvSpPr txBox="1"/>
          <p:nvPr/>
        </p:nvSpPr>
        <p:spPr>
          <a:xfrm>
            <a:off x="6281928" y="22860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A light FDE pass: an evidence-backed guide inside the Copilot App.</a:t>
            </a:r>
          </a:p>
        </p:txBody>
      </p:sp>
      <p:sp>
        <p:nvSpPr>
          <p:cNvPr id="16" name="Chip: Prototype"/>
          <p:cNvSpPr/>
          <p:nvPr/>
        </p:nvSpPr>
        <p:spPr>
          <a:xfrm>
            <a:off x="10579607" y="2382012"/>
            <a:ext cx="82295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17" name="Rectangle 16"/>
          <p:cNvSpPr/>
          <p:nvPr/>
        </p:nvSpPr>
        <p:spPr>
          <a:xfrm>
            <a:off x="594360" y="35368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ptimization assessment"/>
          <p:cNvSpPr txBox="1"/>
          <p:nvPr/>
        </p:nvSpPr>
        <p:spPr>
          <a:xfrm>
            <a:off x="704088" y="29718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Optimization assessment</a:t>
            </a:r>
          </a:p>
        </p:txBody>
      </p:sp>
      <p:sp>
        <p:nvSpPr>
          <p:cNvPr id="19" name="Engineering and platform owners"/>
          <p:cNvSpPr txBox="1"/>
          <p:nvPr/>
        </p:nvSpPr>
        <p:spPr>
          <a:xfrm>
            <a:off x="3630168" y="29718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Engineering and platform owners</a:t>
            </a:r>
          </a:p>
        </p:txBody>
      </p:sp>
      <p:sp>
        <p:nvSpPr>
          <p:cNvPr id="20" name="Locate the real constraint. Rank candidates with evidence and task briefs."/>
          <p:cNvSpPr txBox="1"/>
          <p:nvPr/>
        </p:nvSpPr>
        <p:spPr>
          <a:xfrm>
            <a:off x="6281928" y="29718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Locate the real constraint. Rank candidates with evidence and task briefs.</a:t>
            </a:r>
          </a:p>
        </p:txBody>
      </p:sp>
      <p:sp>
        <p:nvSpPr>
          <p:cNvPr id="21" name="Chip: Proposed"/>
          <p:cNvSpPr/>
          <p:nvPr/>
        </p:nvSpPr>
        <p:spPr>
          <a:xfrm>
            <a:off x="10579607" y="30678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2" name="Rectangle 21"/>
          <p:cNvSpPr/>
          <p:nvPr/>
        </p:nvSpPr>
        <p:spPr>
          <a:xfrm>
            <a:off x="594360" y="42226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ustomer codebase brief"/>
          <p:cNvSpPr txBox="1"/>
          <p:nvPr/>
        </p:nvSpPr>
        <p:spPr>
          <a:xfrm>
            <a:off x="704088" y="36576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Customer codebase brief</a:t>
            </a:r>
          </a:p>
        </p:txBody>
      </p:sp>
      <p:sp>
        <p:nvSpPr>
          <p:cNvPr id="24" name="Solution architects"/>
          <p:cNvSpPr txBox="1"/>
          <p:nvPr/>
        </p:nvSpPr>
        <p:spPr>
          <a:xfrm>
            <a:off x="3630168" y="36576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Solution architects</a:t>
            </a:r>
          </a:p>
        </p:txBody>
      </p:sp>
      <p:sp>
        <p:nvSpPr>
          <p:cNvPr id="25" name="Enter a deep-dive with a cited map instead of discovery ques"/>
          <p:cNvSpPr txBox="1"/>
          <p:nvPr/>
        </p:nvSpPr>
        <p:spPr>
          <a:xfrm>
            <a:off x="6281928" y="36576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Enter a deep-dive with a cited map instead of discovery questions.</a:t>
            </a:r>
          </a:p>
        </p:txBody>
      </p:sp>
      <p:sp>
        <p:nvSpPr>
          <p:cNvPr id="26" name="Chip: Proposed"/>
          <p:cNvSpPr/>
          <p:nvPr/>
        </p:nvSpPr>
        <p:spPr>
          <a:xfrm>
            <a:off x="10579607" y="3753611"/>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7" name="Rectangle 26"/>
          <p:cNvSpPr/>
          <p:nvPr/>
        </p:nvSpPr>
        <p:spPr>
          <a:xfrm>
            <a:off x="594360" y="49084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Migration readiness review"/>
          <p:cNvSpPr txBox="1"/>
          <p:nvPr/>
        </p:nvSpPr>
        <p:spPr>
          <a:xfrm>
            <a:off x="704088" y="43434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Migration readiness review</a:t>
            </a:r>
          </a:p>
        </p:txBody>
      </p:sp>
      <p:sp>
        <p:nvSpPr>
          <p:cNvPr id="29" name="Customer success"/>
          <p:cNvSpPr txBox="1"/>
          <p:nvPr/>
        </p:nvSpPr>
        <p:spPr>
          <a:xfrm>
            <a:off x="3630168" y="43434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Customer success</a:t>
            </a:r>
          </a:p>
        </p:txBody>
      </p:sp>
      <p:sp>
        <p:nvSpPr>
          <p:cNvPr id="30" name="Findings cited to file and line, so customers verify rather "/>
          <p:cNvSpPr txBox="1"/>
          <p:nvPr/>
        </p:nvSpPr>
        <p:spPr>
          <a:xfrm>
            <a:off x="6281928" y="43434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Findings cited to file and line, so customers verify rather than trust.</a:t>
            </a:r>
          </a:p>
        </p:txBody>
      </p:sp>
      <p:sp>
        <p:nvSpPr>
          <p:cNvPr id="31" name="Chip: Proposed"/>
          <p:cNvSpPr/>
          <p:nvPr/>
        </p:nvSpPr>
        <p:spPr>
          <a:xfrm>
            <a:off x="10579607" y="44394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2" name="Rectangle 31"/>
          <p:cNvSpPr/>
          <p:nvPr/>
        </p:nvSpPr>
        <p:spPr>
          <a:xfrm>
            <a:off x="594360" y="559429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Enablement packs"/>
          <p:cNvSpPr txBox="1"/>
          <p:nvPr/>
        </p:nvSpPr>
        <p:spPr>
          <a:xfrm>
            <a:off x="704088" y="5029200"/>
            <a:ext cx="2706624" cy="539496"/>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Enablement packs</a:t>
            </a:r>
          </a:p>
        </p:txBody>
      </p:sp>
      <p:sp>
        <p:nvSpPr>
          <p:cNvPr id="34" name="Partner and customer enablement"/>
          <p:cNvSpPr txBox="1"/>
          <p:nvPr/>
        </p:nvSpPr>
        <p:spPr>
          <a:xfrm>
            <a:off x="3630168" y="5029200"/>
            <a:ext cx="243230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Partner and customer enablement</a:t>
            </a:r>
          </a:p>
        </p:txBody>
      </p:sp>
      <p:sp>
        <p:nvSpPr>
          <p:cNvPr id="35" name="Onboarding material grounded in the customer’s own code."/>
          <p:cNvSpPr txBox="1"/>
          <p:nvPr/>
        </p:nvSpPr>
        <p:spPr>
          <a:xfrm>
            <a:off x="6281928" y="5029200"/>
            <a:ext cx="4078224" cy="539496"/>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Onboarding material grounded in the customer’s own code.</a:t>
            </a:r>
          </a:p>
        </p:txBody>
      </p:sp>
      <p:sp>
        <p:nvSpPr>
          <p:cNvPr id="36" name="Chip: Proposed"/>
          <p:cNvSpPr/>
          <p:nvPr/>
        </p:nvSpPr>
        <p:spPr>
          <a:xfrm>
            <a:off x="10579607" y="51252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7" name="Prototype: implemented in this repository. Proposed: not bui"/>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implemented in this repository. Proposed: not built. Shared pattern: cite sources, keep unknowns visible, stop at a human decision.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Start with one servi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Start with one service.</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6" name="18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18 / 19</a:t>
            </a:r>
          </a:p>
        </p:txBody>
      </p:sp>
      <p:sp>
        <p:nvSpPr>
          <p:cNvPr id="7" name="Light FDE pass, then one improvement."/>
          <p:cNvSpPr txBox="1"/>
          <p:nvPr/>
        </p:nvSpPr>
        <p:spPr>
          <a:xfrm>
            <a:off x="594360" y="1554480"/>
            <a:ext cx="10972800" cy="713232"/>
          </a:xfrm>
          <a:prstGeom prst="rect">
            <a:avLst/>
          </a:prstGeom>
          <a:noFill/>
        </p:spPr>
        <p:txBody>
          <a:bodyPr wrap="square" lIns="0" rIns="0" tIns="0" bIns="0">
            <a:spAutoFit/>
          </a:bodyPr>
          <a:lstStyle/>
          <a:p>
            <a:pPr>
              <a:lnSpc>
                <a:spcPct val="107000"/>
              </a:lnSpc>
              <a:spcAft>
                <a:spcPts val="500"/>
              </a:spcAft>
            </a:pPr>
            <a:r>
              <a:rPr sz="3700" b="1">
                <a:solidFill>
                  <a:srgbClr val="0FBF3E"/>
                </a:solidFill>
                <a:latin typeface="Mona Sans"/>
              </a:rPr>
              <a:t>Light FDE pass, then one improvement.</a:t>
            </a:r>
          </a:p>
        </p:txBody>
      </p:sp>
      <p:sp>
        <p:nvSpPr>
          <p:cNvPr id="8" name="One journey"/>
          <p:cNvSpPr txBox="1"/>
          <p:nvPr/>
        </p:nvSpPr>
        <p:spPr>
          <a:xfrm>
            <a:off x="594360"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journey</a:t>
            </a:r>
          </a:p>
        </p:txBody>
      </p:sp>
      <p:sp>
        <p:nvSpPr>
          <p:cNvPr id="9" name="A business-critical flow"/>
          <p:cNvSpPr txBox="1"/>
          <p:nvPr/>
        </p:nvSpPr>
        <p:spPr>
          <a:xfrm>
            <a:off x="594360"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business-critical flow</a:t>
            </a:r>
          </a:p>
          <a:p>
            <a:pPr>
              <a:lnSpc>
                <a:spcPct val="107000"/>
              </a:lnSpc>
              <a:spcAft>
                <a:spcPts val="500"/>
              </a:spcAft>
            </a:pPr>
            <a:r>
              <a:rPr sz="2100" b="0">
                <a:solidFill>
                  <a:srgbClr val="B6BFB8"/>
                </a:solidFill>
                <a:latin typeface="Arial"/>
              </a:rPr>
              <a:t>whose behavior must stay intact.</a:t>
            </a:r>
          </a:p>
        </p:txBody>
      </p:sp>
      <p:sp>
        <p:nvSpPr>
          <p:cNvPr id="10" name="One owner"/>
          <p:cNvSpPr txBox="1"/>
          <p:nvPr/>
        </p:nvSpPr>
        <p:spPr>
          <a:xfrm>
            <a:off x="4425696"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owner</a:t>
            </a:r>
          </a:p>
        </p:txBody>
      </p:sp>
      <p:sp>
        <p:nvSpPr>
          <p:cNvPr id="11" name="Someone who can validate"/>
          <p:cNvSpPr txBox="1"/>
          <p:nvPr/>
        </p:nvSpPr>
        <p:spPr>
          <a:xfrm>
            <a:off x="4425696"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Someone who can validate</a:t>
            </a:r>
          </a:p>
          <a:p>
            <a:pPr>
              <a:lnSpc>
                <a:spcPct val="107000"/>
              </a:lnSpc>
              <a:spcAft>
                <a:spcPts val="500"/>
              </a:spcAft>
            </a:pPr>
            <a:r>
              <a:rPr sz="2100" b="0">
                <a:solidFill>
                  <a:srgbClr val="B6BFB8"/>
                </a:solidFill>
                <a:latin typeface="Arial"/>
              </a:rPr>
              <a:t>context and approve the change.</a:t>
            </a:r>
          </a:p>
        </p:txBody>
      </p:sp>
      <p:sp>
        <p:nvSpPr>
          <p:cNvPr id="12" name="One baseline"/>
          <p:cNvSpPr txBox="1"/>
          <p:nvPr/>
        </p:nvSpPr>
        <p:spPr>
          <a:xfrm>
            <a:off x="8257031"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baseline</a:t>
            </a:r>
          </a:p>
        </p:txBody>
      </p:sp>
      <p:sp>
        <p:nvSpPr>
          <p:cNvPr id="13" name="A measured constraint,"/>
          <p:cNvSpPr txBox="1"/>
          <p:nvPr/>
        </p:nvSpPr>
        <p:spPr>
          <a:xfrm>
            <a:off x="8257031"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measured constraint,</a:t>
            </a:r>
          </a:p>
          <a:p>
            <a:pPr>
              <a:lnSpc>
                <a:spcPct val="107000"/>
              </a:lnSpc>
              <a:spcAft>
                <a:spcPts val="500"/>
              </a:spcAft>
            </a:pPr>
            <a:r>
              <a:rPr sz="2100" b="0">
                <a:solidFill>
                  <a:srgbClr val="B6BFB8"/>
                </a:solidFill>
                <a:latin typeface="Arial"/>
              </a:rPr>
              <a:t>not an arbitrary target.</a:t>
            </a:r>
          </a:p>
        </p:txBody>
      </p:sp>
      <p:sp>
        <p:nvSpPr>
          <p:cNvPr id="14" name="Success = accepted evidence + reviewed outcome."/>
          <p:cNvSpPr txBox="1"/>
          <p:nvPr/>
        </p:nvSpPr>
        <p:spPr>
          <a:xfrm>
            <a:off x="594360" y="5276088"/>
            <a:ext cx="10972800" cy="758952"/>
          </a:xfrm>
          <a:prstGeom prst="rect">
            <a:avLst/>
          </a:prstGeom>
          <a:noFill/>
        </p:spPr>
        <p:txBody>
          <a:bodyPr wrap="square" lIns="0" rIns="0" tIns="0" bIns="0">
            <a:spAutoFit/>
          </a:bodyPr>
          <a:lstStyle/>
          <a:p>
            <a:pPr>
              <a:lnSpc>
                <a:spcPct val="107000"/>
              </a:lnSpc>
              <a:spcAft>
                <a:spcPts val="500"/>
              </a:spcAft>
            </a:pPr>
            <a:r>
              <a:rPr sz="2400" b="1">
                <a:solidFill>
                  <a:srgbClr val="FFFFFF"/>
                </a:solidFill>
                <a:latin typeface="Mona Sans"/>
              </a:rPr>
              <a:t>Success = accepted evidence + reviewed outcome.</a:t>
            </a:r>
          </a:p>
          <a:p>
            <a:pPr>
              <a:lnSpc>
                <a:spcPct val="107000"/>
              </a:lnSpc>
              <a:spcAft>
                <a:spcPts val="500"/>
              </a:spcAft>
            </a:pPr>
            <a:r>
              <a:rPr sz="2400" b="1">
                <a:solidFill>
                  <a:srgbClr val="FFFFFF"/>
                </a:solidFill>
                <a:latin typeface="Mona Sans"/>
              </a:rPr>
              <a:t>Retain as-is when the evidence says not to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search, definitions and honest limit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Research, definitions and honest limits.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9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19 / 19</a:t>
            </a:r>
          </a:p>
        </p:txBody>
      </p:sp>
      <p:sp>
        <p:nvSpPr>
          <p:cNvPr id="7" name="Stack Overflow Developer Survey 2025"/>
          <p:cNvSpPr txBox="1"/>
          <p:nvPr/>
        </p:nvSpPr>
        <p:spPr>
          <a:xfrm>
            <a:off x="594360" y="1463040"/>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2"/>
              </a:rPr>
              <a:t>Stack Overflow Developer Survey 2025</a:t>
            </a:r>
          </a:p>
        </p:txBody>
      </p:sp>
      <p:sp>
        <p:nvSpPr>
          <p:cNvPr id="8" name="84% use or plan to use AI tools (76% in 2024); 46% don’t tru"/>
          <p:cNvSpPr txBox="1"/>
          <p:nvPr/>
        </p:nvSpPr>
        <p:spPr>
          <a:xfrm>
            <a:off x="594360" y="1856232"/>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84% use or plan to use AI tools (76% in 2024); 46% don’t trust AI accuracy (31% in 2024).</a:t>
            </a:r>
          </a:p>
          <a:p>
            <a:pPr>
              <a:lnSpc>
                <a:spcPct val="107000"/>
              </a:lnSpc>
              <a:spcAft>
                <a:spcPts val="500"/>
              </a:spcAft>
            </a:pPr>
            <a:r>
              <a:rPr sz="1500" b="0">
                <a:solidFill>
                  <a:srgbClr val="232925"/>
                </a:solidFill>
                <a:latin typeface="Arial"/>
              </a:rPr>
              <a:t>49,000+ respondents; 177 countries; self-reported.</a:t>
            </a:r>
          </a:p>
        </p:txBody>
      </p:sp>
      <p:sp>
        <p:nvSpPr>
          <p:cNvPr id="9" name="Kyndryl Readiness Report 2025"/>
          <p:cNvSpPr txBox="1"/>
          <p:nvPr/>
        </p:nvSpPr>
        <p:spPr>
          <a:xfrm>
            <a:off x="594360" y="2450592"/>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3"/>
              </a:rPr>
              <a:t>Kyndryl Readiness Report 2025</a:t>
            </a:r>
          </a:p>
        </p:txBody>
      </p:sp>
      <p:sp>
        <p:nvSpPr>
          <p:cNvPr id="10" name="57%: surveyed leaders report innovation delayed by technolog"/>
          <p:cNvSpPr txBox="1"/>
          <p:nvPr/>
        </p:nvSpPr>
        <p:spPr>
          <a:xfrm>
            <a:off x="594360" y="2843784"/>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57%: surveyed leaders report innovation delayed by technology-stack issues.</a:t>
            </a:r>
          </a:p>
          <a:p>
            <a:pPr>
              <a:lnSpc>
                <a:spcPct val="107000"/>
              </a:lnSpc>
              <a:spcAft>
                <a:spcPts val="500"/>
              </a:spcAft>
            </a:pPr>
            <a:r>
              <a:rPr sz="1500" b="0">
                <a:solidFill>
                  <a:srgbClr val="232925"/>
                </a:solidFill>
                <a:latin typeface="Arial"/>
              </a:rPr>
              <a:t>3,700 leaders; 21 countries; vendor-commissioned survey.</a:t>
            </a:r>
          </a:p>
        </p:txBody>
      </p:sp>
      <p:sp>
        <p:nvSpPr>
          <p:cNvPr id="11" name="Kyndryl Readiness Report 2024"/>
          <p:cNvSpPr txBox="1"/>
          <p:nvPr/>
        </p:nvSpPr>
        <p:spPr>
          <a:xfrm>
            <a:off x="594360" y="3438144"/>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4"/>
              </a:rPr>
              <a:t>Kyndryl Readiness Report 2024</a:t>
            </a:r>
          </a:p>
        </p:txBody>
      </p:sp>
      <p:sp>
        <p:nvSpPr>
          <p:cNvPr id="12" name="44%: observed mission-critical infrastructure approaching/at"/>
          <p:cNvSpPr txBox="1"/>
          <p:nvPr/>
        </p:nvSpPr>
        <p:spPr>
          <a:xfrm>
            <a:off x="594360" y="3831335"/>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44%: observed mission-critical infrastructure approaching/at end-of-life.</a:t>
            </a:r>
          </a:p>
          <a:p>
            <a:pPr>
              <a:lnSpc>
                <a:spcPct val="107000"/>
              </a:lnSpc>
              <a:spcAft>
                <a:spcPts val="500"/>
              </a:spcAft>
            </a:pPr>
            <a:r>
              <a:rPr sz="1500" b="0">
                <a:solidFill>
                  <a:srgbClr val="232925"/>
                </a:solidFill>
                <a:latin typeface="Arial"/>
              </a:rPr>
              <a:t>Kyndryl Bridge data—not a percentage of legacy source code.</a:t>
            </a:r>
          </a:p>
        </p:txBody>
      </p:sp>
      <p:sp>
        <p:nvSpPr>
          <p:cNvPr id="13" name="GitHub / Microsoft / DX, DevEx research (2024)"/>
          <p:cNvSpPr txBox="1"/>
          <p:nvPr/>
        </p:nvSpPr>
        <p:spPr>
          <a:xfrm>
            <a:off x="594360" y="4425696"/>
            <a:ext cx="10881360" cy="347472"/>
          </a:xfrm>
          <a:prstGeom prst="rect">
            <a:avLst/>
          </a:prstGeom>
          <a:noFill/>
        </p:spPr>
        <p:txBody>
          <a:bodyPr wrap="square" lIns="0" rIns="0" tIns="0" bIns="0">
            <a:spAutoFit/>
          </a:bodyPr>
          <a:lstStyle/>
          <a:p>
            <a:pPr>
              <a:lnSpc>
                <a:spcPct val="107000"/>
              </a:lnSpc>
              <a:spcAft>
                <a:spcPts val="500"/>
              </a:spcAft>
            </a:pPr>
            <a:r>
              <a:rPr sz="1900" b="1">
                <a:solidFill>
                  <a:srgbClr val="08872B"/>
                </a:solidFill>
                <a:latin typeface="Arial"/>
                <a:hlinkClick r:id="rId5"/>
              </a:rPr>
              <a:t>GitHub / Microsoft / DX, DevEx research (2024)</a:t>
            </a:r>
          </a:p>
        </p:txBody>
      </p:sp>
      <p:sp>
        <p:nvSpPr>
          <p:cNvPr id="14" name="42%: developers with high code understanding feel more produ"/>
          <p:cNvSpPr txBox="1"/>
          <p:nvPr/>
        </p:nvSpPr>
        <p:spPr>
          <a:xfrm>
            <a:off x="594360" y="4818888"/>
            <a:ext cx="10881360" cy="5486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42%: developers with high code understanding feel more productive.</a:t>
            </a:r>
          </a:p>
          <a:p>
            <a:pPr>
              <a:lnSpc>
                <a:spcPct val="107000"/>
              </a:lnSpc>
              <a:spcAft>
                <a:spcPts val="500"/>
              </a:spcAft>
            </a:pPr>
            <a:r>
              <a:rPr sz="1500" b="0">
                <a:solidFill>
                  <a:srgbClr val="232925"/>
                </a:solidFill>
                <a:latin typeface="Arial"/>
              </a:rPr>
              <a:t>Self-reported association—not proof of a causal modernization benefit.</a:t>
            </a:r>
          </a:p>
        </p:txBody>
      </p:sp>
      <p:sp>
        <p:nvSpPr>
          <p:cNvPr id="15" name="Source titles are clickable. Full links and methods are in t"/>
          <p:cNvSpPr txBox="1"/>
          <p:nvPr/>
        </p:nvSpPr>
        <p:spPr>
          <a:xfrm>
            <a:off x="594360" y="5522976"/>
            <a:ext cx="10972800" cy="530352"/>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Source titles are clickable. Full links and methods are in the companion brief.</a:t>
            </a:r>
          </a:p>
          <a:p>
            <a:pPr>
              <a:lnSpc>
                <a:spcPct val="107000"/>
              </a:lnSpc>
              <a:spcAft>
                <a:spcPts val="500"/>
              </a:spcAft>
            </a:pPr>
            <a:r>
              <a:rPr sz="1400" b="0">
                <a:solidFill>
                  <a:srgbClr val="232925"/>
                </a:solidFill>
                <a:latin typeface="Arial"/>
              </a:rPr>
              <a:t>Checked October 5, 2026. No customer ROI, ranked optimization or shipped modernization capability is claimed.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ne pattern, four field audienc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One pattern, four field audiences.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17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17 / 19</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udience"/>
          <p:cNvSpPr txBox="1"/>
          <p:nvPr/>
        </p:nvSpPr>
        <p:spPr>
          <a:xfrm>
            <a:off x="704088" y="1755648"/>
            <a:ext cx="219456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Audience</a:t>
            </a:r>
          </a:p>
        </p:txBody>
      </p:sp>
      <p:sp>
        <p:nvSpPr>
          <p:cNvPr id="9" name="How they use it"/>
          <p:cNvSpPr txBox="1"/>
          <p:nvPr/>
        </p:nvSpPr>
        <p:spPr>
          <a:xfrm>
            <a:off x="3108960" y="1755648"/>
            <a:ext cx="347472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How they use it</a:t>
            </a:r>
          </a:p>
        </p:txBody>
      </p:sp>
      <p:sp>
        <p:nvSpPr>
          <p:cNvPr id="10" name="Value"/>
          <p:cNvSpPr txBox="1"/>
          <p:nvPr/>
        </p:nvSpPr>
        <p:spPr>
          <a:xfrm>
            <a:off x="6711696" y="1755648"/>
            <a:ext cx="365760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Value</a:t>
            </a:r>
          </a:p>
        </p:txBody>
      </p:sp>
      <p:sp>
        <p:nvSpPr>
          <p:cNvPr id="11" name="Status"/>
          <p:cNvSpPr txBox="1"/>
          <p:nvPr/>
        </p:nvSpPr>
        <p:spPr>
          <a:xfrm>
            <a:off x="10579607" y="1755648"/>
            <a:ext cx="877824"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2" name="Rectangle 11"/>
          <p:cNvSpPr/>
          <p:nvPr/>
        </p:nvSpPr>
        <p:spPr>
          <a:xfrm>
            <a:off x="594360" y="29882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Account teams"/>
          <p:cNvSpPr txBox="1"/>
          <p:nvPr/>
        </p:nvSpPr>
        <p:spPr>
          <a:xfrm>
            <a:off x="704088" y="228600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Account teams</a:t>
            </a:r>
          </a:p>
        </p:txBody>
      </p:sp>
      <p:sp>
        <p:nvSpPr>
          <p:cNvPr id="14" name="Run a light FDE pass on one service; agree owner and review gate."/>
          <p:cNvSpPr txBox="1"/>
          <p:nvPr/>
        </p:nvSpPr>
        <p:spPr>
          <a:xfrm>
            <a:off x="3108960" y="228600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a light FDE pass on one service; agree owner and review gate.</a:t>
            </a:r>
          </a:p>
        </p:txBody>
      </p:sp>
      <p:sp>
        <p:nvSpPr>
          <p:cNvPr id="15" name="A pilot the customer can verify, not just a pitch."/>
          <p:cNvSpPr txBox="1"/>
          <p:nvPr/>
        </p:nvSpPr>
        <p:spPr>
          <a:xfrm>
            <a:off x="6711696" y="228600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A pilot the customer can verify, not just a pitch.</a:t>
            </a:r>
          </a:p>
        </p:txBody>
      </p:sp>
      <p:sp>
        <p:nvSpPr>
          <p:cNvPr id="16" name="Chip: Proposed"/>
          <p:cNvSpPr/>
          <p:nvPr/>
        </p:nvSpPr>
        <p:spPr>
          <a:xfrm>
            <a:off x="10579607" y="238201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17" name="Rectangle 16"/>
          <p:cNvSpPr/>
          <p:nvPr/>
        </p:nvSpPr>
        <p:spPr>
          <a:xfrm>
            <a:off x="594360" y="381121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ustomer success"/>
          <p:cNvSpPr txBox="1"/>
          <p:nvPr/>
        </p:nvSpPr>
        <p:spPr>
          <a:xfrm>
            <a:off x="704088" y="310896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Customer success</a:t>
            </a:r>
          </a:p>
        </p:txBody>
      </p:sp>
      <p:sp>
        <p:nvSpPr>
          <p:cNvPr id="19" name="Run a light FDE pass with the service owner; log gaps and unavailable sections."/>
          <p:cNvSpPr txBox="1"/>
          <p:nvPr/>
        </p:nvSpPr>
        <p:spPr>
          <a:xfrm>
            <a:off x="3108960" y="310896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a light FDE pass with the service owner; log gaps and unavailable sections.</a:t>
            </a:r>
          </a:p>
        </p:txBody>
      </p:sp>
      <p:sp>
        <p:nvSpPr>
          <p:cNvPr id="20" name="Gaps surface early; owners review instead of re-explaining."/>
          <p:cNvSpPr txBox="1"/>
          <p:nvPr/>
        </p:nvSpPr>
        <p:spPr>
          <a:xfrm>
            <a:off x="6711696" y="310896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Gaps surface early; owners review instead of re-explaining.</a:t>
            </a:r>
          </a:p>
        </p:txBody>
      </p:sp>
      <p:sp>
        <p:nvSpPr>
          <p:cNvPr id="21" name="Chip: Emerging"/>
          <p:cNvSpPr/>
          <p:nvPr/>
        </p:nvSpPr>
        <p:spPr>
          <a:xfrm>
            <a:off x="10579607" y="3204972"/>
            <a:ext cx="822959"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2" name="Rectangle 21"/>
          <p:cNvSpPr/>
          <p:nvPr/>
        </p:nvSpPr>
        <p:spPr>
          <a:xfrm>
            <a:off x="594360" y="463417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olution sales"/>
          <p:cNvSpPr txBox="1"/>
          <p:nvPr/>
        </p:nvSpPr>
        <p:spPr>
          <a:xfrm>
            <a:off x="704088" y="393192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Solution sales</a:t>
            </a:r>
          </a:p>
        </p:txBody>
      </p:sp>
      <p:sp>
        <p:nvSpPr>
          <p:cNvPr id="24" name="Run a light FDE pass for a cited map before the technical deep-dive."/>
          <p:cNvSpPr txBox="1"/>
          <p:nvPr/>
        </p:nvSpPr>
        <p:spPr>
          <a:xfrm>
            <a:off x="3108960" y="393192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a light FDE pass for a cited map before the technical deep-dive.</a:t>
            </a:r>
          </a:p>
        </p:txBody>
      </p:sp>
      <p:sp>
        <p:nvSpPr>
          <p:cNvPr id="25" name="Go into the session with sources, not discovery questions."/>
          <p:cNvSpPr txBox="1"/>
          <p:nvPr/>
        </p:nvSpPr>
        <p:spPr>
          <a:xfrm>
            <a:off x="6711696" y="393192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Go into the session with sources, not discovery questions.</a:t>
            </a:r>
          </a:p>
        </p:txBody>
      </p:sp>
      <p:sp>
        <p:nvSpPr>
          <p:cNvPr id="26" name="Chip: Proposed"/>
          <p:cNvSpPr/>
          <p:nvPr/>
        </p:nvSpPr>
        <p:spPr>
          <a:xfrm>
            <a:off x="10579607" y="4027932"/>
            <a:ext cx="822959"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27" name="Rectangle 26"/>
          <p:cNvSpPr/>
          <p:nvPr/>
        </p:nvSpPr>
        <p:spPr>
          <a:xfrm>
            <a:off x="594360" y="545713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eveloper stakeholders"/>
          <p:cNvSpPr txBox="1"/>
          <p:nvPr/>
        </p:nvSpPr>
        <p:spPr>
          <a:xfrm>
            <a:off x="704088" y="4754880"/>
            <a:ext cx="2194560" cy="64008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Developer stakeholders</a:t>
            </a:r>
          </a:p>
        </p:txBody>
      </p:sp>
      <p:sp>
        <p:nvSpPr>
          <p:cNvPr id="29" name="Run /onboard-repo as the light FDE pass, then inspect the cited files."/>
          <p:cNvSpPr txBox="1"/>
          <p:nvPr/>
        </p:nvSpPr>
        <p:spPr>
          <a:xfrm>
            <a:off x="3108960" y="4754880"/>
            <a:ext cx="347472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Run /onboard-repo as the light FDE pass, then inspect the cited files.</a:t>
            </a:r>
          </a:p>
        </p:txBody>
      </p:sp>
      <p:sp>
        <p:nvSpPr>
          <p:cNvPr id="30" name="Less repeated discovery; claims to verify, not trust."/>
          <p:cNvSpPr txBox="1"/>
          <p:nvPr/>
        </p:nvSpPr>
        <p:spPr>
          <a:xfrm>
            <a:off x="6711696" y="4754880"/>
            <a:ext cx="3657600" cy="64008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Less repeated discovery; claims to verify, not trust.</a:t>
            </a:r>
          </a:p>
        </p:txBody>
      </p:sp>
      <p:sp>
        <p:nvSpPr>
          <p:cNvPr id="31" name="Chip: Prototype"/>
          <p:cNvSpPr/>
          <p:nvPr/>
        </p:nvSpPr>
        <p:spPr>
          <a:xfrm>
            <a:off x="10579607" y="4850892"/>
            <a:ext cx="822959"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37" name="Prototype: implemented in this repository. Emerging: today’s guide reused as-is, not yet validated with this audience. Proposed: not built. Only developer repository exploration exists today."/>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implemented in this repository. Emerging: today’s guide reused as-is, not yet validated with this audience. Proposed: not built. Only developer repository exploration exists today.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Delegate more. Review where it matter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Delegate more. Review where it matters.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4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04 / 19</a:t>
            </a:r>
          </a:p>
        </p:txBody>
      </p:sp>
      <p:sp>
        <p:nvSpPr>
          <p:cNvPr id="7" name="Rectangle 6"/>
          <p:cNvSpPr/>
          <p:nvPr/>
        </p:nvSpPr>
        <p:spPr>
          <a:xfrm>
            <a:off x="594360" y="1627632"/>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age"/>
          <p:cNvSpPr txBox="1"/>
          <p:nvPr/>
        </p:nvSpPr>
        <p:spPr>
          <a:xfrm>
            <a:off x="704088" y="1755648"/>
            <a:ext cx="128016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Stage</a:t>
            </a:r>
          </a:p>
        </p:txBody>
      </p:sp>
      <p:sp>
        <p:nvSpPr>
          <p:cNvPr id="9" name="Delegated to Copilot"/>
          <p:cNvSpPr txBox="1"/>
          <p:nvPr/>
        </p:nvSpPr>
        <p:spPr>
          <a:xfrm>
            <a:off x="2148840" y="1755648"/>
            <a:ext cx="384048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Delegated to Copilot</a:t>
            </a:r>
          </a:p>
        </p:txBody>
      </p:sp>
      <p:sp>
        <p:nvSpPr>
          <p:cNvPr id="10" name="Human review gate"/>
          <p:cNvSpPr txBox="1"/>
          <p:nvPr/>
        </p:nvSpPr>
        <p:spPr>
          <a:xfrm>
            <a:off x="6903720" y="1755648"/>
            <a:ext cx="4846320" cy="3200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Human review gate</a:t>
            </a:r>
          </a:p>
        </p:txBody>
      </p:sp>
      <p:sp>
        <p:nvSpPr>
          <p:cNvPr id="11" name="Plan"/>
          <p:cNvSpPr txBox="1"/>
          <p:nvPr/>
        </p:nvSpPr>
        <p:spPr>
          <a:xfrm>
            <a:off x="704088" y="225828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Plan</a:t>
            </a:r>
          </a:p>
        </p:txBody>
      </p:sp>
      <p:sp>
        <p:nvSpPr>
          <p:cNvPr id="12" name="Developer starts /onboard-repo"/>
          <p:cNvSpPr txBox="1"/>
          <p:nvPr/>
        </p:nvSpPr>
        <p:spPr>
          <a:xfrm>
            <a:off x="2148840" y="225828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Developer starts /onboard-repo and chooses reuse or refresh.</a:t>
            </a:r>
          </a:p>
        </p:txBody>
      </p:sp>
      <p:sp>
        <p:nvSpPr>
          <p:cNvPr id="13" name="Repository selection"/>
          <p:cNvSpPr txBox="1"/>
          <p:nvPr/>
        </p:nvSpPr>
        <p:spPr>
          <a:xfrm>
            <a:off x="6903720" y="225828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Repository selection</a:t>
            </a:r>
          </a:p>
        </p:txBody>
      </p:sp>
      <p:sp>
        <p:nvSpPr>
          <p:cNvPr id="14" name="Human review gate"/>
          <p:cNvSpPr/>
          <p:nvPr/>
        </p:nvSpPr>
        <p:spPr>
          <a:xfrm>
            <a:off x="6537960" y="227657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1"/>
          <p:cNvSpPr/>
          <p:nvPr/>
        </p:nvSpPr>
        <p:spPr>
          <a:xfrm>
            <a:off x="594360" y="283436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legate"/>
          <p:cNvSpPr txBox="1"/>
          <p:nvPr/>
        </p:nvSpPr>
        <p:spPr>
          <a:xfrm>
            <a:off x="704088" y="289836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Delegate</a:t>
            </a:r>
          </a:p>
        </p:txBody>
      </p:sp>
      <p:sp>
        <p:nvSpPr>
          <p:cNvPr id="17" name="Two parallel specialists resea"/>
          <p:cNvSpPr txBox="1"/>
          <p:nvPr/>
        </p:nvSpPr>
        <p:spPr>
          <a:xfrm>
            <a:off x="2148840" y="289836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Two parallel specialists research the repo map and merged-PR history.</a:t>
            </a:r>
          </a:p>
        </p:txBody>
      </p:sp>
      <p:sp>
        <p:nvSpPr>
          <p:cNvPr id="18" name="Read-only tools, no shell, set"/>
          <p:cNvSpPr txBox="1"/>
          <p:nvPr/>
        </p:nvSpPr>
        <p:spPr>
          <a:xfrm>
            <a:off x="6903720" y="289836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Read-only tools, no shell, set before work starts</a:t>
            </a:r>
          </a:p>
        </p:txBody>
      </p:sp>
      <p:sp>
        <p:nvSpPr>
          <p:cNvPr id="19" name="Human review gate"/>
          <p:cNvSpPr/>
          <p:nvPr/>
        </p:nvSpPr>
        <p:spPr>
          <a:xfrm>
            <a:off x="6537960" y="291665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1"/>
          <p:cNvSpPr/>
          <p:nvPr/>
        </p:nvSpPr>
        <p:spPr>
          <a:xfrm>
            <a:off x="594360" y="347444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Validate"/>
          <p:cNvSpPr txBox="1"/>
          <p:nvPr/>
        </p:nvSpPr>
        <p:spPr>
          <a:xfrm>
            <a:off x="704088" y="353844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Validate</a:t>
            </a:r>
          </a:p>
        </p:txBody>
      </p:sp>
      <p:sp>
        <p:nvSpPr>
          <p:cNvPr id="22" name="Tools check file paths and lin"/>
          <p:cNvSpPr txBox="1"/>
          <p:nvPr/>
        </p:nvSpPr>
        <p:spPr>
          <a:xfrm>
            <a:off x="2148840" y="353844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Tools check file paths and line ranges. Gaps stay unavailable. Commands are never run.</a:t>
            </a:r>
          </a:p>
        </p:txBody>
      </p:sp>
      <p:sp>
        <p:nvSpPr>
          <p:cNvPr id="23" name="Service owner inspects the cit"/>
          <p:cNvSpPr txBox="1"/>
          <p:nvPr/>
        </p:nvSpPr>
        <p:spPr>
          <a:xfrm>
            <a:off x="6903720" y="353844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Service owner inspects the cited files</a:t>
            </a:r>
          </a:p>
        </p:txBody>
      </p:sp>
      <p:sp>
        <p:nvSpPr>
          <p:cNvPr id="24" name="Human review gate"/>
          <p:cNvSpPr/>
          <p:nvPr/>
        </p:nvSpPr>
        <p:spPr>
          <a:xfrm>
            <a:off x="6537960" y="355673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11"/>
          <p:cNvSpPr/>
          <p:nvPr/>
        </p:nvSpPr>
        <p:spPr>
          <a:xfrm>
            <a:off x="594360" y="411452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view"/>
          <p:cNvSpPr txBox="1"/>
          <p:nvPr/>
        </p:nvSpPr>
        <p:spPr>
          <a:xfrm>
            <a:off x="704088" y="417852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Review</a:t>
            </a:r>
          </a:p>
        </p:txBody>
      </p:sp>
      <p:sp>
        <p:nvSpPr>
          <p:cNvPr id="27" name="Grounded follow-up questions, "/>
          <p:cNvSpPr txBox="1"/>
          <p:nvPr/>
        </p:nvSpPr>
        <p:spPr>
          <a:xfrm>
            <a:off x="2148840" y="417852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Grounded follow-up questions, answered in the same Copilot session.</a:t>
            </a:r>
          </a:p>
        </p:txBody>
      </p:sp>
      <p:sp>
        <p:nvSpPr>
          <p:cNvPr id="28" name="Developer questions the eviden"/>
          <p:cNvSpPr txBox="1"/>
          <p:nvPr/>
        </p:nvSpPr>
        <p:spPr>
          <a:xfrm>
            <a:off x="6903720" y="417852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Developer questions the evidence</a:t>
            </a:r>
          </a:p>
        </p:txBody>
      </p:sp>
      <p:sp>
        <p:nvSpPr>
          <p:cNvPr id="29" name="Human review gate"/>
          <p:cNvSpPr/>
          <p:nvPr/>
        </p:nvSpPr>
        <p:spPr>
          <a:xfrm>
            <a:off x="6537960" y="419681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11"/>
          <p:cNvSpPr/>
          <p:nvPr/>
        </p:nvSpPr>
        <p:spPr>
          <a:xfrm>
            <a:off x="594360" y="475460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hip"/>
          <p:cNvSpPr txBox="1"/>
          <p:nvPr/>
        </p:nvSpPr>
        <p:spPr>
          <a:xfrm>
            <a:off x="704088" y="4818608"/>
            <a:ext cx="12801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Ship</a:t>
            </a:r>
          </a:p>
        </p:txBody>
      </p:sp>
      <p:sp>
        <p:nvSpPr>
          <p:cNvPr id="32" name="First-steps checklist handed o"/>
          <p:cNvSpPr txBox="1"/>
          <p:nvPr/>
        </p:nvSpPr>
        <p:spPr>
          <a:xfrm>
            <a:off x="2148840" y="4818608"/>
            <a:ext cx="3840480" cy="54864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First-steps checklist handed over. Bearing stops before implementation.</a:t>
            </a:r>
          </a:p>
        </p:txBody>
      </p:sp>
      <p:sp>
        <p:nvSpPr>
          <p:cNvPr id="33" name="A person decides whether and w"/>
          <p:cNvSpPr txBox="1"/>
          <p:nvPr/>
        </p:nvSpPr>
        <p:spPr>
          <a:xfrm>
            <a:off x="6903720" y="4818608"/>
            <a:ext cx="4480560" cy="548640"/>
          </a:xfrm>
          <a:prstGeom prst="rect">
            <a:avLst/>
          </a:prstGeom>
          <a:noFill/>
        </p:spPr>
        <p:txBody>
          <a:bodyPr wrap="square" lIns="0" rIns="0" tIns="0" bIns="0">
            <a:spAutoFit/>
          </a:bodyPr>
          <a:lstStyle/>
          <a:p>
            <a:pPr>
              <a:lnSpc>
                <a:spcPct val="107000"/>
              </a:lnSpc>
              <a:spcAft>
                <a:spcPts val="500"/>
              </a:spcAft>
            </a:pPr>
            <a:r>
              <a:rPr sz="1400" b="1">
                <a:solidFill>
                  <a:srgbClr val="101411"/>
                </a:solidFill>
                <a:latin typeface="Arial"/>
              </a:rPr>
              <a:t>A person decides whether and what to implement</a:t>
            </a:r>
          </a:p>
        </p:txBody>
      </p:sp>
      <p:sp>
        <p:nvSpPr>
          <p:cNvPr id="34" name="Human review gate"/>
          <p:cNvSpPr/>
          <p:nvPr/>
        </p:nvSpPr>
        <p:spPr>
          <a:xfrm>
            <a:off x="6537960" y="4836896"/>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11"/>
          <p:cNvSpPr/>
          <p:nvPr/>
        </p:nvSpPr>
        <p:spPr>
          <a:xfrm>
            <a:off x="594360" y="5394680"/>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ootnote"/>
          <p:cNvSpPr txBox="1"/>
          <p:nvPr/>
        </p:nvSpPr>
        <p:spPr>
          <a:xfrm>
            <a:off x="594360" y="5733288"/>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all five stages are implemented in this repository. Diamonds mark human review gates. Path and line checks validate references, not semantic correctness.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Input: a repository. Output: what to optimiz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Input: a repository. Output: what to optimize.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itHub mark" descr="GitHub logo"/>
          <p:cNvSpPr/>
          <p:nvPr/>
        </p:nvSpPr>
        <p:spPr>
          <a:xfrm>
            <a:off x="594360" y="6419088"/>
            <a:ext cx="182880" cy="182880"/>
          </a:xfrm>
          <a:custGeom>
            <a:avLst/>
            <a:gdLst/>
            <a:ahLst/>
            <a:cxnLst/>
            <a:rect l="0" t="0" r="r" b="b"/>
            <a:pathLst>
              <a:path w="16000" h="16000">
                <a:moveTo>
                  <a:pt x="8000" y="0"/>
                </a:moveTo>
                <a:cubicBezTo>
                  <a:pt x="3580" y="0"/>
                  <a:pt x="0" y="3580"/>
                  <a:pt x="0" y="8000"/>
                </a:cubicBezTo>
                <a:cubicBezTo>
                  <a:pt x="0" y="11540"/>
                  <a:pt x="2290" y="14530"/>
                  <a:pt x="5470" y="15590"/>
                </a:cubicBezTo>
                <a:cubicBezTo>
                  <a:pt x="5870" y="15660"/>
                  <a:pt x="6020" y="15420"/>
                  <a:pt x="6020" y="15210"/>
                </a:cubicBezTo>
                <a:cubicBezTo>
                  <a:pt x="6020" y="15020"/>
                  <a:pt x="6010" y="14390"/>
                  <a:pt x="6010" y="13720"/>
                </a:cubicBezTo>
                <a:cubicBezTo>
                  <a:pt x="4000" y="14090"/>
                  <a:pt x="3480" y="13230"/>
                  <a:pt x="3320" y="12780"/>
                </a:cubicBezTo>
                <a:cubicBezTo>
                  <a:pt x="3230" y="12550"/>
                  <a:pt x="2840" y="11840"/>
                  <a:pt x="2500" y="11650"/>
                </a:cubicBezTo>
                <a:cubicBezTo>
                  <a:pt x="2220" y="11500"/>
                  <a:pt x="1820" y="11130"/>
                  <a:pt x="2490" y="11120"/>
                </a:cubicBezTo>
                <a:cubicBezTo>
                  <a:pt x="3120" y="11110"/>
                  <a:pt x="3570" y="11700"/>
                  <a:pt x="3720" y="11940"/>
                </a:cubicBezTo>
                <a:cubicBezTo>
                  <a:pt x="4440" y="13150"/>
                  <a:pt x="5590" y="12810"/>
                  <a:pt x="6050" y="12600"/>
                </a:cubicBezTo>
                <a:cubicBezTo>
                  <a:pt x="6120" y="12080"/>
                  <a:pt x="6330" y="11730"/>
                  <a:pt x="6560" y="11530"/>
                </a:cubicBezTo>
                <a:cubicBezTo>
                  <a:pt x="4780" y="11330"/>
                  <a:pt x="2920" y="10640"/>
                  <a:pt x="2920" y="7580"/>
                </a:cubicBezTo>
                <a:cubicBezTo>
                  <a:pt x="2920" y="6710"/>
                  <a:pt x="3230" y="5990"/>
                  <a:pt x="3740" y="5430"/>
                </a:cubicBezTo>
                <a:cubicBezTo>
                  <a:pt x="3660" y="5230"/>
                  <a:pt x="3380" y="4410"/>
                  <a:pt x="3820" y="3310"/>
                </a:cubicBezTo>
                <a:cubicBezTo>
                  <a:pt x="3820" y="3310"/>
                  <a:pt x="4490" y="3100"/>
                  <a:pt x="6020" y="4130"/>
                </a:cubicBezTo>
                <a:cubicBezTo>
                  <a:pt x="6660" y="3950"/>
                  <a:pt x="7340" y="3860"/>
                  <a:pt x="8020" y="3860"/>
                </a:cubicBezTo>
                <a:cubicBezTo>
                  <a:pt x="8700" y="3860"/>
                  <a:pt x="9380" y="3950"/>
                  <a:pt x="10020" y="4130"/>
                </a:cubicBezTo>
                <a:cubicBezTo>
                  <a:pt x="11550" y="3090"/>
                  <a:pt x="12220" y="3310"/>
                  <a:pt x="12220" y="3310"/>
                </a:cubicBezTo>
                <a:cubicBezTo>
                  <a:pt x="12660" y="4410"/>
                  <a:pt x="12380" y="5230"/>
                  <a:pt x="12300" y="5430"/>
                </a:cubicBezTo>
                <a:cubicBezTo>
                  <a:pt x="12810" y="5990"/>
                  <a:pt x="13120" y="6700"/>
                  <a:pt x="13120" y="7580"/>
                </a:cubicBezTo>
                <a:cubicBezTo>
                  <a:pt x="13120" y="10650"/>
                  <a:pt x="11250" y="11330"/>
                  <a:pt x="9470" y="11530"/>
                </a:cubicBezTo>
                <a:cubicBezTo>
                  <a:pt x="9760" y="11780"/>
                  <a:pt x="10010" y="12260"/>
                  <a:pt x="10010" y="13010"/>
                </a:cubicBezTo>
                <a:cubicBezTo>
                  <a:pt x="10010" y="14080"/>
                  <a:pt x="10000" y="14940"/>
                  <a:pt x="10000" y="15210"/>
                </a:cubicBezTo>
                <a:cubicBezTo>
                  <a:pt x="10000" y="15420"/>
                  <a:pt x="10150" y="15670"/>
                  <a:pt x="10550" y="15590"/>
                </a:cubicBezTo>
                <a:cubicBezTo>
                  <a:pt x="11604" y="15234"/>
                  <a:pt x="12572" y="14663"/>
                  <a:pt x="13394" y="13912"/>
                </a:cubicBezTo>
                <a:cubicBezTo>
                  <a:pt x="14215" y="13162"/>
                  <a:pt x="14870" y="12248"/>
                  <a:pt x="15319" y="11231"/>
                </a:cubicBezTo>
                <a:cubicBezTo>
                  <a:pt x="15768" y="10213"/>
                  <a:pt x="16000" y="9112"/>
                  <a:pt x="16000" y="8000"/>
                </a:cubicBezTo>
                <a:cubicBezTo>
                  <a:pt x="16000" y="3580"/>
                  <a:pt x="12420" y="0"/>
                  <a:pt x="8000" y="0"/>
                </a:cubicBezTo>
                <a:close/>
              </a:path>
            </a:pathLst>
          </a:cu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earing  |  GitHub Copilot App workflow"/>
          <p:cNvSpPr txBox="1"/>
          <p:nvPr/>
        </p:nvSpPr>
        <p:spPr>
          <a:xfrm>
            <a:off x="914400" y="6428232"/>
            <a:ext cx="7726679"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6" name="05 / 19"/>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05 / 19</a:t>
            </a:r>
          </a:p>
        </p:txBody>
      </p:sp>
      <p:sp>
        <p:nvSpPr>
          <p:cNvPr id="7" name="Input box"/>
          <p:cNvSpPr/>
          <p:nvPr/>
        </p:nvSpPr>
        <p:spPr>
          <a:xfrm>
            <a:off x="594360" y="1627632"/>
            <a:ext cx="2286000" cy="77724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 repository"/>
          <p:cNvSpPr txBox="1"/>
          <p:nvPr/>
        </p:nvSpPr>
        <p:spPr>
          <a:xfrm>
            <a:off x="777240" y="1737360"/>
            <a:ext cx="2011680" cy="54864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A repository</a:t>
            </a:r>
          </a:p>
          <a:p>
            <a:pPr>
              <a:lnSpc>
                <a:spcPct val="107000"/>
              </a:lnSpc>
              <a:spcAft>
                <a:spcPts val="500"/>
              </a:spcAft>
            </a:pPr>
            <a:r>
              <a:rPr sz="1300" b="0">
                <a:solidFill>
                  <a:srgbClr val="232925"/>
                </a:solidFill>
                <a:latin typeface="Arial"/>
              </a:rPr>
              <a:t>One service first</a:t>
            </a:r>
          </a:p>
        </p:txBody>
      </p:sp>
      <p:sp>
        <p:nvSpPr>
          <p:cNvPr id="9" name="Arrow 1"/>
          <p:cNvSpPr/>
          <p:nvPr/>
        </p:nvSpPr>
        <p:spPr>
          <a:xfrm>
            <a:off x="2926080" y="1879092"/>
            <a:ext cx="365760" cy="274320"/>
          </a:xfrm>
          <a:prstGeom prst="rightArrow">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xploration box"/>
          <p:cNvSpPr/>
          <p:nvPr/>
        </p:nvSpPr>
        <p:spPr>
          <a:xfrm>
            <a:off x="3337560" y="1627632"/>
            <a:ext cx="5212080" cy="7772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ight FDE pass"/>
          <p:cNvSpPr txBox="1"/>
          <p:nvPr/>
        </p:nvSpPr>
        <p:spPr>
          <a:xfrm>
            <a:off x="3520440" y="1737360"/>
            <a:ext cx="4846320" cy="54864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Light FDE pass: read-only exploration</a:t>
            </a:r>
          </a:p>
          <a:p>
            <a:pPr>
              <a:lnSpc>
                <a:spcPct val="107000"/>
              </a:lnSpc>
              <a:spcAft>
                <a:spcPts val="500"/>
              </a:spcAft>
            </a:pPr>
            <a:r>
              <a:rPr sz="1300" b="0">
                <a:solidFill>
                  <a:srgbClr val="B6BFB8"/>
                </a:solidFill>
                <a:latin typeface="Arial"/>
              </a:rPr>
              <a:t>Plan → Delegate → Validate → Review → Ship</a:t>
            </a:r>
          </a:p>
        </p:txBody>
      </p:sp>
      <p:sp>
        <p:nvSpPr>
          <p:cNvPr id="12" name="Arrow 2"/>
          <p:cNvSpPr/>
          <p:nvPr/>
        </p:nvSpPr>
        <p:spPr>
          <a:xfrm>
            <a:off x="8595360" y="1879092"/>
            <a:ext cx="365760" cy="274320"/>
          </a:xfrm>
          <a:prstGeom prst="rightArrow">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utput box"/>
          <p:cNvSpPr/>
          <p:nvPr/>
        </p:nvSpPr>
        <p:spPr>
          <a:xfrm>
            <a:off x="9006840" y="1627632"/>
            <a:ext cx="2560320" cy="77724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What to optimize"/>
          <p:cNvSpPr txBox="1"/>
          <p:nvPr/>
        </p:nvSpPr>
        <p:spPr>
          <a:xfrm>
            <a:off x="9189720" y="1737360"/>
            <a:ext cx="2194560" cy="54864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What to optimize</a:t>
            </a:r>
          </a:p>
          <a:p>
            <a:pPr>
              <a:lnSpc>
                <a:spcPct val="107000"/>
              </a:lnSpc>
              <a:spcAft>
                <a:spcPts val="500"/>
              </a:spcAft>
            </a:pPr>
            <a:r>
              <a:rPr sz="1300" b="0">
                <a:solidFill>
                  <a:srgbClr val="232925"/>
                </a:solidFill>
                <a:latin typeface="Arial"/>
              </a:rPr>
              <a:t>With cited evidence</a:t>
            </a:r>
          </a:p>
        </p:txBody>
      </p:sp>
      <p:sp>
        <p:nvSpPr>
          <p:cNvPr id="15" name="Table header"/>
          <p:cNvSpPr/>
          <p:nvPr/>
        </p:nvSpPr>
        <p:spPr>
          <a:xfrm>
            <a:off x="594360" y="2560320"/>
            <a:ext cx="10972800" cy="45720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utput"/>
          <p:cNvSpPr txBox="1"/>
          <p:nvPr/>
        </p:nvSpPr>
        <p:spPr>
          <a:xfrm>
            <a:off x="704088" y="2651760"/>
            <a:ext cx="2743200" cy="27432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Output</a:t>
            </a:r>
          </a:p>
        </p:txBody>
      </p:sp>
      <p:sp>
        <p:nvSpPr>
          <p:cNvPr id="17" name="What comes back"/>
          <p:cNvSpPr txBox="1"/>
          <p:nvPr/>
        </p:nvSpPr>
        <p:spPr>
          <a:xfrm>
            <a:off x="3611880" y="2651760"/>
            <a:ext cx="6400800" cy="27432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What comes back</a:t>
            </a:r>
          </a:p>
        </p:txBody>
      </p:sp>
      <p:sp>
        <p:nvSpPr>
          <p:cNvPr id="18" name="Status"/>
          <p:cNvSpPr txBox="1"/>
          <p:nvPr/>
        </p:nvSpPr>
        <p:spPr>
          <a:xfrm>
            <a:off x="10579608" y="2651760"/>
            <a:ext cx="877824" cy="274320"/>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Status</a:t>
            </a:r>
          </a:p>
        </p:txBody>
      </p:sp>
      <p:sp>
        <p:nvSpPr>
          <p:cNvPr id="19" name="Cited picture"/>
          <p:cNvSpPr txBox="1"/>
          <p:nvPr/>
        </p:nvSpPr>
        <p:spPr>
          <a:xfrm>
            <a:off x="704088" y="3163824"/>
            <a:ext cx="2834640" cy="27432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Cited picture</a:t>
            </a:r>
          </a:p>
        </p:txBody>
      </p:sp>
      <p:sp>
        <p:nvSpPr>
          <p:cNvPr id="20" name="Cited picture: detail"/>
          <p:cNvSpPr txBox="1"/>
          <p:nvPr/>
        </p:nvSpPr>
        <p:spPr>
          <a:xfrm>
            <a:off x="3611880" y="3163824"/>
            <a:ext cx="6766560" cy="5029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Map, conventions (documented vs observed), workflow, merged-PR history and first steps. Every claim cites file and line.</a:t>
            </a:r>
          </a:p>
        </p:txBody>
      </p:sp>
      <p:sp>
        <p:nvSpPr>
          <p:cNvPr id="21" name="Chip: Prototype"/>
          <p:cNvSpPr/>
          <p:nvPr/>
        </p:nvSpPr>
        <p:spPr>
          <a:xfrm>
            <a:off x="10579608" y="3182112"/>
            <a:ext cx="822960" cy="274320"/>
          </a:xfrm>
          <a:prstGeom prst="round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Prototype</a:t>
            </a:r>
          </a:p>
        </p:txBody>
      </p:sp>
      <p:sp>
        <p:nvSpPr>
          <p:cNvPr id="22" name="Rule"/>
          <p:cNvSpPr/>
          <p:nvPr/>
        </p:nvSpPr>
        <p:spPr>
          <a:xfrm>
            <a:off x="594360" y="3749040"/>
            <a:ext cx="10972800" cy="10973"/>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Evidence gaps"/>
          <p:cNvSpPr txBox="1"/>
          <p:nvPr/>
        </p:nvSpPr>
        <p:spPr>
          <a:xfrm>
            <a:off x="704088" y="3840480"/>
            <a:ext cx="2834640" cy="27432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Evidence gaps</a:t>
            </a:r>
          </a:p>
        </p:txBody>
      </p:sp>
      <p:sp>
        <p:nvSpPr>
          <p:cNvPr id="24" name="Evidence gaps: detail"/>
          <p:cNvSpPr txBox="1"/>
          <p:nvPr/>
        </p:nvSpPr>
        <p:spPr>
          <a:xfrm>
            <a:off x="3611880" y="3840480"/>
            <a:ext cx="6766560" cy="5029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Unavailable sections, observed-only conventions and missing docs: the first optimization signals. Not a ranked output.</a:t>
            </a:r>
          </a:p>
        </p:txBody>
      </p:sp>
      <p:sp>
        <p:nvSpPr>
          <p:cNvPr id="25" name="Chip: Emerging"/>
          <p:cNvSpPr/>
          <p:nvPr/>
        </p:nvSpPr>
        <p:spPr>
          <a:xfrm>
            <a:off x="10579608" y="3858768"/>
            <a:ext cx="822960" cy="274320"/>
          </a:xfrm>
          <a:prstGeom prst="round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Emerging</a:t>
            </a:r>
          </a:p>
        </p:txBody>
      </p:sp>
      <p:sp>
        <p:nvSpPr>
          <p:cNvPr id="26" name="Rule"/>
          <p:cNvSpPr/>
          <p:nvPr/>
        </p:nvSpPr>
        <p:spPr>
          <a:xfrm>
            <a:off x="594360" y="4425696"/>
            <a:ext cx="10972800" cy="10973"/>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ptimization candidates"/>
          <p:cNvSpPr txBox="1"/>
          <p:nvPr/>
        </p:nvSpPr>
        <p:spPr>
          <a:xfrm>
            <a:off x="704088" y="4517136"/>
            <a:ext cx="2834640" cy="27432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Optimization candidates</a:t>
            </a:r>
          </a:p>
        </p:txBody>
      </p:sp>
      <p:sp>
        <p:nvSpPr>
          <p:cNvPr id="28" name="Optimization candidates: detail"/>
          <p:cNvSpPr txBox="1"/>
          <p:nvPr/>
        </p:nvSpPr>
        <p:spPr>
          <a:xfrm>
            <a:off x="3611880" y="4517136"/>
            <a:ext cx="6766560" cy="5029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Ranked by test confidence, delivery friction, supportability, ownership risk; each with evidence, confidence and a Copilot task brief.</a:t>
            </a:r>
          </a:p>
        </p:txBody>
      </p:sp>
      <p:sp>
        <p:nvSpPr>
          <p:cNvPr id="29" name="Chip: Proposed"/>
          <p:cNvSpPr/>
          <p:nvPr/>
        </p:nvSpPr>
        <p:spPr>
          <a:xfrm>
            <a:off x="10579608" y="4535424"/>
            <a:ext cx="82296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Proposed</a:t>
            </a:r>
          </a:p>
        </p:txBody>
      </p:sp>
      <p:sp>
        <p:nvSpPr>
          <p:cNvPr id="30" name="Rule"/>
          <p:cNvSpPr/>
          <p:nvPr/>
        </p:nvSpPr>
        <p:spPr>
          <a:xfrm>
            <a:off x="594360" y="5102352"/>
            <a:ext cx="10972800" cy="10973"/>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Human review gate"/>
          <p:cNvSpPr/>
          <p:nvPr/>
        </p:nvSpPr>
        <p:spPr>
          <a:xfrm>
            <a:off x="704088" y="5212080"/>
            <a:ext cx="201168" cy="201168"/>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Human review gate label"/>
          <p:cNvSpPr txBox="1"/>
          <p:nvPr/>
        </p:nvSpPr>
        <p:spPr>
          <a:xfrm>
            <a:off x="1005840" y="5193792"/>
            <a:ext cx="2468880" cy="274320"/>
          </a:xfrm>
          <a:prstGeom prst="rect">
            <a:avLst/>
          </a:prstGeom>
          <a:noFill/>
        </p:spPr>
        <p:txBody>
          <a:bodyPr wrap="square" lIns="0" rIns="0" tIns="0" bIns="0">
            <a:spAutoFit/>
          </a:bodyPr>
          <a:lstStyle/>
          <a:p>
            <a:pPr>
              <a:lnSpc>
                <a:spcPct val="107000"/>
              </a:lnSpc>
              <a:spcAft>
                <a:spcPts val="500"/>
              </a:spcAft>
            </a:pPr>
            <a:r>
              <a:rPr sz="1500" b="1">
                <a:solidFill>
                  <a:srgbClr val="101411"/>
                </a:solidFill>
                <a:latin typeface="Arial"/>
              </a:rPr>
              <a:t>Human review gate</a:t>
            </a:r>
          </a:p>
        </p:txBody>
      </p:sp>
      <p:sp>
        <p:nvSpPr>
          <p:cNvPr id="33" name="Human review gate: detail"/>
          <p:cNvSpPr txBox="1"/>
          <p:nvPr/>
        </p:nvSpPr>
        <p:spPr>
          <a:xfrm>
            <a:off x="3611880" y="5193792"/>
            <a:ext cx="676656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The service owner reviews the cited evidence before any task is delegated onward.</a:t>
            </a:r>
          </a:p>
        </p:txBody>
      </p:sp>
      <p:sp>
        <p:nvSpPr>
          <p:cNvPr id="34" name="Rule"/>
          <p:cNvSpPr/>
          <p:nvPr/>
        </p:nvSpPr>
        <p:spPr>
          <a:xfrm>
            <a:off x="594360" y="5687568"/>
            <a:ext cx="10972800" cy="10973"/>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ootnote"/>
          <p:cNvSpPr txBox="1"/>
          <p:nvPr/>
        </p:nvSpPr>
        <p:spPr>
          <a:xfrm>
            <a:off x="594360" y="5760720"/>
            <a:ext cx="10972800" cy="45720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Prototype: built today. Emerging: surfaced today, not a ranked output. Proposed: not built. Path and line checks validate references, not semantic correctness.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agents you can check</dc:title>
  <dc:subject>Evidence-first agent workflows: repository onboarding today, legacy modernization proposed</dc:subject>
  <dc:creator>Bearing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