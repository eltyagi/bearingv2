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7.xml" ContentType="application/vnd.openxmlformats-officedocument.presentationml.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2" r:id="rId24"/>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trust problem, then show the answer: findings that cite sources and stop at a human decision. Bearing is a prototype GitHub Copilot App plugin that orients a developer in an unfamiliar repository. Legacy modernization is a proposed extension of the same discipline, not shipped functionality. We are not proposing a rewrite because a service is old; we are proposing a bounded assessment of what makes the next change expensive or risky. This is not an official GitHub service or endorsement.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 https://stackoverflow.co/company/press/archive/stack-overflow-2025-developer-survey/ (published July 29, 2025). 84% use or plan to use AI tools, up from 76% in 2024; 46% say they don’t trust the accuracy of AI output, up from 31%. Stack Overflow’s December 2025 write-up separately reports trust in AI accuracy falling from 40% to 29%; other summaries quote a different trust figure, so this deck uses only the two press-release measures above. The survey is self-reported and describes its respondents, not this customer. Each bar runs from 0 to 100%. The two charts measure different questions and are not additive.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Right-hand claims are verified against the repo: plugins/bearing/agents/repo-cartographer.agent.md (every claim from a file read with view; documented vs observed conventions; unavailable sections with a reason), plugins/bearing/skills/onboard-repo/SKILL.md (no repository changes, no build, install or test commands, no implementation work) and the extension section validation (referenced files must exist; line ranges are checked). The left-hand column characterizes ad-hoc prompting in general, not any named product. Bearing does not verify that an explanation is semantically correct; the developer reviews the cited evidence. The diamond marks the human review gate.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https://www.kyndryl.com/us/en/insights/readiness-report-2025</a:t>
            </a:r>
          </a:p>
          <a:p>
            <a:r>
              <a:t>https://www.kyndryl.com/us/en/about-us/news/2024/10/kyndryl-readiness-report-2024</a:t>
            </a:r>
          </a:p>
          <a:p>
            <a:r>
              <a:t>The 2025 survey was conducted by Edelman DXI for Kyndryl, June 20–August 15, 2025. The 44% figure is from Bridge operational observations, not the 3,200-person 2024 survey. Do not infer that 44% of enterprise code is legacy or that either statistic describes this repository. Each square in a chart is one percentage point. The two charts show different measures from different populations; do not add or compare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scenario, not a customer case study or a finding about bearingV2. The business constraint is uncertainty about a consequential change. AI can help explore, but its explanation does not establish coverage, dependencies or runtime performance. Bring the accountable service owner into the assessment before selecting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observed, measured, hypothesis and unknown. Pin the source commit and date all evidence. A file reference is not correctness certification. Dependencies and business criticality require service-owner confirmation; code alone cannot establish them. Inspect existing CI and coverage reports in discovery. Additional instrumentation, test execution or production-data use requires separate approval.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coverage does not prove correct business behavior, and no report is not zero coverage. Characterization tests should preserve owner-confirmed intentional behavior, not accidentally freeze a bug. Use customer-agreed observation windows. Calculate median/p95 only with enough samples, and compare like workflows, runner classes, branches and cache states. Do not monetize all saved CI minutes as engineer time. Customer-specific targets are agreed only after the baseline exists. The journey and pipeline strips are illustrative: pipeline segments have equal widths on purpose, so no timing is implied, and an empty circle means unknown, not zero coverage.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schedule is a planning assumption, not an SLA. Each diamond is a human review gate. Discovery remains read-only. Running tests/builds and all implementation work use separately approved permissions and delivery workflows. A retain-as-is decision is a successful assessment outcome. Record unresolved unknowns rather than forcing an improvement to meet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proposed GitHub Projects design; no live project or issue has been created. Suggested full statuses: Discovery, Evidence review, Ready for decision, Approved, In progress, Validating, Done. Also record disposition (retain/improve/reshape/retire), blocked reasons, business journey, criticality, confidence, effort, target date and workstream. Use issues for evidence-rich work items, a table for triage, a board for status and a roadmap for approved dated work. Normal branch protections and deployment controls remain in force; a project field is not policy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these candidates have been diagnosed. Evidence gaps create investigation issues, not confident prescriptions. Caching, parallelization and upgrades are options after measurement, not guaranteed fixes. Every implemented action needs an owner, acceptance checks and rollback.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decision aid, not an automated risk model: criticality rises upward, change confidence rises to the right. Shading shows suggested order of attention, not a score. Urgent compliance/support obligations take precedence according to customer policy. Compare measured friction, frequency, effort, confidence and reversibility. Retire only after business-owner approval of dependencies, retention and exit plans. Reshape a boundary only when repeated change constraints justify the larger investment.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behavior is verified against README.md and plugins/bearing/skills/onboard-repo/SKILL.md, the repo-cartographer and pr-historian agent instructions, and section-validation code. Path/line checks are reference validation, not semantic correctness certification. The prototype targets small repositories on github.com, not production monorepo/large-estate analysis or GitHub Enterprise Server. Production rollout still needs approved data/model handling, access, retention, auditability, quality criteria and operational ownership.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self-assessment, not a score. Prototype = implemented in this repository (README.md, submission/README.md and plugins/bearing/). Emerging = partly supported, not validated. Proposed = described in this deck or the companion brief but not built. Governed means the prototype’s own controls: read-only agents with role-scoped tool lists, workspace state kept outside the analyzed repository, and a loopback-only canvas with a per-instance token. Production rollout still needs approved data and model handling, access, retention, auditability and an owner.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repository onboarding exists. Every other row is a proposal that would need its own analyzers, tool permissions, evaluation and human review gates; none inherits Bearing’s current controls automatically. The shared pattern is a design intent, not an implemented cross-workflow contract.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customer to nominate the service, journey and accountable owner. Agree measurement and review gates before selecting the intervention. Track comparable CI/test-stage performance, failure behavior and confidence for the named journey. For assessment value, record evidence completeness, time to owner-approved first meaningful PR and repeated orientation questions. All targets are customer-agreed pilot hypotheses, not claimed Bearing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and qualifications:</a:t>
            </a:r>
          </a:p>
          <a:p>
            <a:r>
              <a:t>https://stackoverflow.co/company/press/archive/stack-overflow-2025-developer-survey/</a:t>
            </a:r>
          </a:p>
          <a:p>
            <a:r>
              <a:t>https://www.kyndryl.com/us/en/insights/readiness-report-2025</a:t>
            </a:r>
          </a:p>
          <a:p>
            <a:r>
              <a:t>https://www.kyndryl.com/us/en/about-us/news/2024/10/kyndryl-readiness-report-2024</a:t>
            </a:r>
          </a:p>
          <a:p>
            <a:r>
              <a:t>https://github.blog/news-insights/research/good-devex-increases-productivity/</a:t>
            </a:r>
          </a:p>
          <a:p>
            <a:r>
              <a:t>Stack Overflow’s December 2025 results write-up (https://stackoverflow.blog/2025/12/29/developers-remain-willing-but-reluctant-to-use-ai-the-2025-developer-survey-results-are-here/) reports trust in AI accuracy falling from 40% to 29%; other summaries quote different trust figures, so the deck uses only the press-release measures.</a:t>
            </a:r>
          </a:p>
          <a:p>
            <a:r>
              <a:t>Underlying DevEx paper: https://queue.acm.org/detail.cfm?id=3639443</a:t>
            </a:r>
          </a:p>
          <a:p>
            <a:r>
              <a:t>Brand: https://brand.github.com/foundations/color and https://brand.github.com/foundations/typography</a:t>
            </a:r>
          </a:p>
          <a:p>
            <a:r>
              <a:t>The Kyndryl 2025 survey dates are June 20–August 15, 2025. The 2024 announcement was October 16, 2024. Vendor research describes its stated populations, not the customer's estate. The four-week schedule and all backlog examples are illustrative. Artifacts use the official neutral/green palette with a restrained Copilot Purple accent: green marks what exists today, purple marks illustrative or proposed content. Mona Sans is used for display type and Arial for body text so the files stay portable. They do not imply GitHub endorsement of Bearing.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developer onboarding is implemented today. The other three rows are reuse patterns of the same guide format and review discipline. Emerging: today’s guide could be reused as-is but has not been validated with that audience. Proposed: the workflow is not built. No adoption, telemetry, time-saving or customer-validation results are claimed. Any field use still needs repository eligibility, owner review and a human decision before action. Slide 14 lists workflows; this slide lists who would use the pattern.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tackoverflow.co/company/press/archive/stack-overflow-2025-developer-survey/" TargetMode="External"/><Relationship Id="rId3" Type="http://schemas.openxmlformats.org/officeDocument/2006/relationships/hyperlink" Target="https://www.kyndryl.com/us/en/insights/readiness-report-2025" TargetMode="External"/><Relationship Id="rId4" Type="http://schemas.openxmlformats.org/officeDocument/2006/relationships/hyperlink" Target="https://www.kyndryl.com/us/en/about-us/news/2024/10/kyndryl-readiness-report-2024" TargetMode="External"/><Relationship Id="rId5" Type="http://schemas.openxmlformats.org/officeDocument/2006/relationships/hyperlink" Target="https://github.blog/news-insights/research/good-devex-increases-productivity/" TargetMode="Externa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411"/>
        </a:solidFill>
        <a:effectLst/>
      </p:bgPr>
    </p:bg>
    <p:spTree>
      <p:nvGrpSpPr>
        <p:cNvPr id="1" name=""/>
        <p:cNvGrpSpPr/>
        <p:nvPr/>
      </p:nvGrpSpPr>
      <p:grpSpPr/>
      <p:sp>
        <p:nvSpPr>
          <p:cNvPr id="2" name="Agents you can check."/>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FFFFFF"/>
                </a:solidFill>
                <a:latin typeface="Mona Sans"/>
              </a:rPr>
              <a:t>Agents you can check.</a:t>
            </a:r>
          </a:p>
        </p:txBody>
      </p:sp>
      <p:sp>
        <p:nvSpPr>
          <p:cNvPr id="3" name="Rectangle 2"/>
          <p:cNvSpPr/>
          <p:nvPr/>
        </p:nvSpPr>
        <p:spPr>
          <a:xfrm>
            <a:off x="594360" y="6327648"/>
            <a:ext cx="10972800" cy="1097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Bearing  |  GitHub Copilot App workflow</a:t>
            </a:r>
          </a:p>
        </p:txBody>
      </p:sp>
      <p:sp>
        <p:nvSpPr>
          <p:cNvPr id="6" name="01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01 / 17</a:t>
            </a:r>
          </a:p>
        </p:txBody>
      </p:sp>
      <p:sp>
        <p:nvSpPr>
          <p:cNvPr id="7" name="GitHub mark" descr="GitHub logo"/>
          <p:cNvSpPr/>
          <p:nvPr/>
        </p:nvSpPr>
        <p:spPr>
          <a:xfrm>
            <a:off x="7863840" y="457200"/>
            <a:ext cx="640080" cy="6400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0" y="457200"/>
            <a:ext cx="10972" cy="640080"/>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itHub Copilot App"/>
          <p:cNvSpPr txBox="1"/>
          <p:nvPr/>
        </p:nvSpPr>
        <p:spPr>
          <a:xfrm>
            <a:off x="8887968" y="502920"/>
            <a:ext cx="2743200" cy="292608"/>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GitHub Copilot App</a:t>
            </a:r>
          </a:p>
        </p:txBody>
      </p:sp>
      <p:sp>
        <p:nvSpPr>
          <p:cNvPr id="10" name="Enterprise workflow challenge"/>
          <p:cNvSpPr txBox="1"/>
          <p:nvPr/>
        </p:nvSpPr>
        <p:spPr>
          <a:xfrm>
            <a:off x="8887968" y="850392"/>
            <a:ext cx="2743200" cy="256032"/>
          </a:xfrm>
          <a:prstGeom prst="rect">
            <a:avLst/>
          </a:prstGeom>
          <a:noFill/>
        </p:spPr>
        <p:txBody>
          <a:bodyPr wrap="square" lIns="0" rIns="0" tIns="0" bIns="0">
            <a:spAutoFit/>
          </a:bodyPr>
          <a:lstStyle/>
          <a:p>
            <a:pPr>
              <a:lnSpc>
                <a:spcPct val="107000"/>
              </a:lnSpc>
              <a:spcAft>
                <a:spcPts val="500"/>
              </a:spcAft>
            </a:pPr>
            <a:r>
              <a:rPr sz="1200" b="0">
                <a:solidFill>
                  <a:srgbClr val="B6BFB8"/>
                </a:solidFill>
                <a:latin typeface="Arial"/>
              </a:rPr>
              <a:t>Enterprise workflow challenge</a:t>
            </a:r>
          </a:p>
        </p:txBody>
      </p:sp>
      <p:sp>
        <p:nvSpPr>
          <p:cNvPr id="11" name="Evidence first."/>
          <p:cNvSpPr txBox="1"/>
          <p:nvPr/>
        </p:nvSpPr>
        <p:spPr>
          <a:xfrm>
            <a:off x="594360" y="1417320"/>
            <a:ext cx="7680960" cy="777240"/>
          </a:xfrm>
          <a:prstGeom prst="rect">
            <a:avLst/>
          </a:prstGeom>
          <a:noFill/>
        </p:spPr>
        <p:txBody>
          <a:bodyPr wrap="square" lIns="0" rIns="0" tIns="0" bIns="0">
            <a:spAutoFit/>
          </a:bodyPr>
          <a:lstStyle/>
          <a:p>
            <a:pPr>
              <a:lnSpc>
                <a:spcPct val="107000"/>
              </a:lnSpc>
              <a:spcAft>
                <a:spcPts val="500"/>
              </a:spcAft>
            </a:pPr>
            <a:r>
              <a:rPr sz="4300" b="1">
                <a:solidFill>
                  <a:srgbClr val="0FBF3E"/>
                </a:solidFill>
                <a:latin typeface="Mona Sans"/>
              </a:rPr>
              <a:t>Evidence first.</a:t>
            </a:r>
          </a:p>
        </p:txBody>
      </p:sp>
      <p:sp>
        <p:nvSpPr>
          <p:cNvPr id="12" name="Repository onboarding today."/>
          <p:cNvSpPr txBox="1"/>
          <p:nvPr/>
        </p:nvSpPr>
        <p:spPr>
          <a:xfrm>
            <a:off x="594360" y="2542032"/>
            <a:ext cx="6675120" cy="1097280"/>
          </a:xfrm>
          <a:prstGeom prst="rect">
            <a:avLst/>
          </a:prstGeom>
          <a:noFill/>
        </p:spPr>
        <p:txBody>
          <a:bodyPr wrap="square" lIns="0" rIns="0" tIns="0" bIns="0">
            <a:spAutoFit/>
          </a:bodyPr>
          <a:lstStyle/>
          <a:p>
            <a:pPr>
              <a:lnSpc>
                <a:spcPct val="107000"/>
              </a:lnSpc>
              <a:spcAft>
                <a:spcPts val="500"/>
              </a:spcAft>
            </a:pPr>
            <a:r>
              <a:rPr sz="2800" b="0">
                <a:solidFill>
                  <a:srgbClr val="FFFFFF"/>
                </a:solidFill>
                <a:latin typeface="Arial"/>
              </a:rPr>
              <a:t>Repository onboarding today.</a:t>
            </a:r>
          </a:p>
          <a:p>
            <a:pPr>
              <a:lnSpc>
                <a:spcPct val="107000"/>
              </a:lnSpc>
              <a:spcAft>
                <a:spcPts val="500"/>
              </a:spcAft>
            </a:pPr>
            <a:r>
              <a:rPr sz="2800" b="0">
                <a:solidFill>
                  <a:srgbClr val="FFFFFF"/>
                </a:solidFill>
                <a:latin typeface="Arial"/>
              </a:rPr>
              <a:t>Legacy modernization next.</a:t>
            </a:r>
          </a:p>
        </p:txBody>
      </p:sp>
      <p:sp>
        <p:nvSpPr>
          <p:cNvPr id="13" name="Findings cite their sources."/>
          <p:cNvSpPr txBox="1"/>
          <p:nvPr/>
        </p:nvSpPr>
        <p:spPr>
          <a:xfrm>
            <a:off x="594360" y="3968496"/>
            <a:ext cx="6766560" cy="1024128"/>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Findings cite their sources.</a:t>
            </a:r>
          </a:p>
          <a:p>
            <a:pPr>
              <a:lnSpc>
                <a:spcPct val="107000"/>
              </a:lnSpc>
              <a:spcAft>
                <a:spcPts val="500"/>
              </a:spcAft>
            </a:pPr>
            <a:r>
              <a:rPr sz="2100" b="0">
                <a:solidFill>
                  <a:srgbClr val="B6BFB8"/>
                </a:solidFill>
                <a:latin typeface="Arial"/>
              </a:rPr>
              <a:t>Every step ends in a human decision.</a:t>
            </a:r>
          </a:p>
        </p:txBody>
      </p:sp>
      <p:sp>
        <p:nvSpPr>
          <p:cNvPr id="14" name="Rectangle 13"/>
          <p:cNvSpPr/>
          <p:nvPr/>
        </p:nvSpPr>
        <p:spPr>
          <a:xfrm>
            <a:off x="8229600" y="182880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Unfamiliar code"/>
          <p:cNvSpPr txBox="1"/>
          <p:nvPr/>
        </p:nvSpPr>
        <p:spPr>
          <a:xfrm>
            <a:off x="8412480" y="1993392"/>
            <a:ext cx="2651760" cy="411480"/>
          </a:xfrm>
          <a:prstGeom prst="rect">
            <a:avLst/>
          </a:prstGeom>
          <a:noFill/>
        </p:spPr>
        <p:txBody>
          <a:bodyPr wrap="square" lIns="0" rIns="0" tIns="0" bIns="0">
            <a:spAutoFit/>
          </a:bodyPr>
          <a:lstStyle/>
          <a:p>
            <a:pPr>
              <a:lnSpc>
                <a:spcPct val="107000"/>
              </a:lnSpc>
              <a:spcAft>
                <a:spcPts val="500"/>
              </a:spcAft>
            </a:pPr>
            <a:r>
              <a:rPr sz="2000" b="1">
                <a:solidFill>
                  <a:srgbClr val="FFFFFF"/>
                </a:solidFill>
                <a:latin typeface="Arial"/>
              </a:rPr>
              <a:t>Unfamiliar code</a:t>
            </a:r>
          </a:p>
        </p:txBody>
      </p:sp>
      <p:sp>
        <p:nvSpPr>
          <p:cNvPr id="16" name="Rectangle 15"/>
          <p:cNvSpPr/>
          <p:nvPr/>
        </p:nvSpPr>
        <p:spPr>
          <a:xfrm>
            <a:off x="9729216" y="2542032"/>
            <a:ext cx="16459" cy="33832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0" y="288036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vidence + context"/>
          <p:cNvSpPr txBox="1"/>
          <p:nvPr/>
        </p:nvSpPr>
        <p:spPr>
          <a:xfrm>
            <a:off x="8412480" y="3044952"/>
            <a:ext cx="2651760" cy="411480"/>
          </a:xfrm>
          <a:prstGeom prst="rect">
            <a:avLst/>
          </a:prstGeom>
          <a:noFill/>
        </p:spPr>
        <p:txBody>
          <a:bodyPr wrap="square" lIns="0" rIns="0" tIns="0" bIns="0">
            <a:spAutoFit/>
          </a:bodyPr>
          <a:lstStyle/>
          <a:p>
            <a:pPr>
              <a:lnSpc>
                <a:spcPct val="107000"/>
              </a:lnSpc>
              <a:spcAft>
                <a:spcPts val="500"/>
              </a:spcAft>
            </a:pPr>
            <a:r>
              <a:rPr sz="2000" b="1">
                <a:solidFill>
                  <a:srgbClr val="0FBF3E"/>
                </a:solidFill>
                <a:latin typeface="Arial"/>
              </a:rPr>
              <a:t>Evidence + context</a:t>
            </a:r>
          </a:p>
        </p:txBody>
      </p:sp>
      <p:sp>
        <p:nvSpPr>
          <p:cNvPr id="19" name="Rectangle 18"/>
          <p:cNvSpPr/>
          <p:nvPr/>
        </p:nvSpPr>
        <p:spPr>
          <a:xfrm>
            <a:off x="9729216" y="3593591"/>
            <a:ext cx="16459" cy="33832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0" y="393192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uman decision"/>
          <p:cNvSpPr txBox="1"/>
          <p:nvPr/>
        </p:nvSpPr>
        <p:spPr>
          <a:xfrm>
            <a:off x="8412480" y="4096511"/>
            <a:ext cx="2651760" cy="411480"/>
          </a:xfrm>
          <a:prstGeom prst="rect">
            <a:avLst/>
          </a:prstGeom>
          <a:noFill/>
        </p:spPr>
        <p:txBody>
          <a:bodyPr wrap="square" lIns="0" rIns="0" tIns="0" bIns="0">
            <a:spAutoFit/>
          </a:bodyPr>
          <a:lstStyle/>
          <a:p>
            <a:pPr>
              <a:lnSpc>
                <a:spcPct val="107000"/>
              </a:lnSpc>
              <a:spcAft>
                <a:spcPts val="500"/>
              </a:spcAft>
            </a:pPr>
            <a:r>
              <a:rPr sz="2000" b="1">
                <a:solidFill>
                  <a:srgbClr val="FFFFFF"/>
                </a:solidFill>
                <a:latin typeface="Arial"/>
              </a:rPr>
              <a:t>Human decision</a:t>
            </a:r>
          </a:p>
        </p:txBody>
      </p:sp>
      <p:sp>
        <p:nvSpPr>
          <p:cNvPr id="22" name="Human review gate"/>
          <p:cNvSpPr/>
          <p:nvPr/>
        </p:nvSpPr>
        <p:spPr>
          <a:xfrm>
            <a:off x="10789920" y="4151376"/>
            <a:ext cx="274320" cy="274320"/>
          </a:xfrm>
          <a:prstGeom prst="diamond">
            <a:avLst/>
          </a:prstGeom>
          <a:solidFill>
            <a:srgbClr val="0FB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Independent Bearing prototype. Content marked Illustrative o"/>
          <p:cNvSpPr txBox="1"/>
          <p:nvPr/>
        </p:nvSpPr>
        <p:spPr>
          <a:xfrm>
            <a:off x="594360" y="5577840"/>
            <a:ext cx="10607040" cy="320040"/>
          </a:xfrm>
          <a:prstGeom prst="rect">
            <a:avLst/>
          </a:prstGeom>
          <a:noFill/>
        </p:spPr>
        <p:txBody>
          <a:bodyPr wrap="square" lIns="0" rIns="0" tIns="0" bIns="0">
            <a:spAutoFit/>
          </a:bodyPr>
          <a:lstStyle/>
          <a:p>
            <a:pPr>
              <a:lnSpc>
                <a:spcPct val="107000"/>
              </a:lnSpc>
              <a:spcAft>
                <a:spcPts val="500"/>
              </a:spcAft>
            </a:pPr>
            <a:r>
              <a:rPr sz="1400" b="0">
                <a:solidFill>
                  <a:srgbClr val="B6BFB8"/>
                </a:solidFill>
                <a:latin typeface="Arial"/>
              </a:rPr>
              <a:t>Independent Bearing prototype. Content marked Illustrative or Proposed is not implemented.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doption is rising. Trust is no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Adoption is rising. Trust is not.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2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02 / 17</a:t>
            </a:r>
          </a:p>
        </p:txBody>
      </p:sp>
      <p:sp>
        <p:nvSpPr>
          <p:cNvPr id="7" name="Source: Stack Overflow Developer Survey 2025; 49,000+ respon"/>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Source: Stack Overflow Developer Survey 2025; 49,000+ responses from 177 countries; self-reported.</a:t>
            </a:r>
          </a:p>
        </p:txBody>
      </p:sp>
      <p:sp>
        <p:nvSpPr>
          <p:cNvPr id="8" name="of developers use or plan to use AI tools"/>
          <p:cNvSpPr txBox="1"/>
          <p:nvPr/>
        </p:nvSpPr>
        <p:spPr>
          <a:xfrm>
            <a:off x="594360" y="1691640"/>
            <a:ext cx="516636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of developers use or plan to use AI tools</a:t>
            </a:r>
          </a:p>
        </p:txBody>
      </p:sp>
      <p:sp>
        <p:nvSpPr>
          <p:cNvPr id="9" name="2024"/>
          <p:cNvSpPr txBox="1"/>
          <p:nvPr/>
        </p:nvSpPr>
        <p:spPr>
          <a:xfrm>
            <a:off x="594360" y="27889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2024</a:t>
            </a:r>
          </a:p>
        </p:txBody>
      </p:sp>
      <p:sp>
        <p:nvSpPr>
          <p:cNvPr id="10" name="Rectangle 9"/>
          <p:cNvSpPr/>
          <p:nvPr/>
        </p:nvSpPr>
        <p:spPr>
          <a:xfrm>
            <a:off x="1325880" y="26974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2024 bar: 76%"/>
          <p:cNvSpPr/>
          <p:nvPr/>
        </p:nvSpPr>
        <p:spPr>
          <a:xfrm>
            <a:off x="1325880" y="2697480"/>
            <a:ext cx="2918764" cy="457200"/>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76%"/>
          <p:cNvSpPr txBox="1"/>
          <p:nvPr/>
        </p:nvSpPr>
        <p:spPr>
          <a:xfrm>
            <a:off x="5257800" y="27340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76%</a:t>
            </a:r>
          </a:p>
        </p:txBody>
      </p:sp>
      <p:sp>
        <p:nvSpPr>
          <p:cNvPr id="13" name="2025"/>
          <p:cNvSpPr txBox="1"/>
          <p:nvPr/>
        </p:nvSpPr>
        <p:spPr>
          <a:xfrm>
            <a:off x="594360" y="34747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2025</a:t>
            </a:r>
          </a:p>
        </p:txBody>
      </p:sp>
      <p:sp>
        <p:nvSpPr>
          <p:cNvPr id="14" name="Rectangle 13"/>
          <p:cNvSpPr/>
          <p:nvPr/>
        </p:nvSpPr>
        <p:spPr>
          <a:xfrm>
            <a:off x="1325880" y="33832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2025 bar: 84%"/>
          <p:cNvSpPr/>
          <p:nvPr/>
        </p:nvSpPr>
        <p:spPr>
          <a:xfrm>
            <a:off x="1325880" y="3383280"/>
            <a:ext cx="3226003" cy="457200"/>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84%"/>
          <p:cNvSpPr txBox="1"/>
          <p:nvPr/>
        </p:nvSpPr>
        <p:spPr>
          <a:xfrm>
            <a:off x="5257800" y="34198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84%</a:t>
            </a:r>
          </a:p>
        </p:txBody>
      </p:sp>
      <p:sp>
        <p:nvSpPr>
          <p:cNvPr id="17" name="+8 percentage points"/>
          <p:cNvSpPr txBox="1"/>
          <p:nvPr/>
        </p:nvSpPr>
        <p:spPr>
          <a:xfrm>
            <a:off x="594360" y="4224528"/>
            <a:ext cx="5166360" cy="411480"/>
          </a:xfrm>
          <a:prstGeom prst="rect">
            <a:avLst/>
          </a:prstGeom>
          <a:noFill/>
        </p:spPr>
        <p:txBody>
          <a:bodyPr wrap="square" lIns="0" rIns="0" tIns="0" bIns="0">
            <a:spAutoFit/>
          </a:bodyPr>
          <a:lstStyle/>
          <a:p>
            <a:pPr>
              <a:lnSpc>
                <a:spcPct val="107000"/>
              </a:lnSpc>
              <a:spcAft>
                <a:spcPts val="500"/>
              </a:spcAft>
            </a:pPr>
            <a:r>
              <a:rPr sz="2200" b="1">
                <a:solidFill>
                  <a:srgbClr val="08872B"/>
                </a:solidFill>
                <a:latin typeface="Mona Sans"/>
              </a:rPr>
              <a:t>+8 percentage points</a:t>
            </a:r>
          </a:p>
        </p:txBody>
      </p:sp>
      <p:sp>
        <p:nvSpPr>
          <p:cNvPr id="18" name="of developers don’t trust the accuracy of AI output"/>
          <p:cNvSpPr txBox="1"/>
          <p:nvPr/>
        </p:nvSpPr>
        <p:spPr>
          <a:xfrm>
            <a:off x="6400800" y="1691640"/>
            <a:ext cx="516636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of developers don’t trust the accuracy of AI output</a:t>
            </a:r>
          </a:p>
        </p:txBody>
      </p:sp>
      <p:sp>
        <p:nvSpPr>
          <p:cNvPr id="19" name="2024"/>
          <p:cNvSpPr txBox="1"/>
          <p:nvPr/>
        </p:nvSpPr>
        <p:spPr>
          <a:xfrm>
            <a:off x="6400800" y="27889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2024</a:t>
            </a:r>
          </a:p>
        </p:txBody>
      </p:sp>
      <p:sp>
        <p:nvSpPr>
          <p:cNvPr id="20" name="Rectangle 19"/>
          <p:cNvSpPr/>
          <p:nvPr/>
        </p:nvSpPr>
        <p:spPr>
          <a:xfrm>
            <a:off x="7132320" y="26974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2024 bar: 31%"/>
          <p:cNvSpPr/>
          <p:nvPr/>
        </p:nvSpPr>
        <p:spPr>
          <a:xfrm>
            <a:off x="7132320" y="2697480"/>
            <a:ext cx="1190548" cy="457200"/>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31%"/>
          <p:cNvSpPr txBox="1"/>
          <p:nvPr/>
        </p:nvSpPr>
        <p:spPr>
          <a:xfrm>
            <a:off x="11064240" y="27340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31%</a:t>
            </a:r>
          </a:p>
        </p:txBody>
      </p:sp>
      <p:sp>
        <p:nvSpPr>
          <p:cNvPr id="23" name="2025"/>
          <p:cNvSpPr txBox="1"/>
          <p:nvPr/>
        </p:nvSpPr>
        <p:spPr>
          <a:xfrm>
            <a:off x="6400800" y="34747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2025</a:t>
            </a:r>
          </a:p>
        </p:txBody>
      </p:sp>
      <p:sp>
        <p:nvSpPr>
          <p:cNvPr id="24" name="Rectangle 23"/>
          <p:cNvSpPr/>
          <p:nvPr/>
        </p:nvSpPr>
        <p:spPr>
          <a:xfrm>
            <a:off x="7132320" y="33832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2025 bar: 46%"/>
          <p:cNvSpPr/>
          <p:nvPr/>
        </p:nvSpPr>
        <p:spPr>
          <a:xfrm>
            <a:off x="7132320" y="3383280"/>
            <a:ext cx="1766620" cy="457200"/>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46%"/>
          <p:cNvSpPr txBox="1"/>
          <p:nvPr/>
        </p:nvSpPr>
        <p:spPr>
          <a:xfrm>
            <a:off x="11064240" y="34198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46%</a:t>
            </a:r>
          </a:p>
        </p:txBody>
      </p:sp>
      <p:sp>
        <p:nvSpPr>
          <p:cNvPr id="27" name="+15 percentage points"/>
          <p:cNvSpPr txBox="1"/>
          <p:nvPr/>
        </p:nvSpPr>
        <p:spPr>
          <a:xfrm>
            <a:off x="6400800" y="4224528"/>
            <a:ext cx="5166360" cy="411480"/>
          </a:xfrm>
          <a:prstGeom prst="rect">
            <a:avLst/>
          </a:prstGeom>
          <a:noFill/>
        </p:spPr>
        <p:txBody>
          <a:bodyPr wrap="square" lIns="0" rIns="0" tIns="0" bIns="0">
            <a:spAutoFit/>
          </a:bodyPr>
          <a:lstStyle/>
          <a:p>
            <a:pPr>
              <a:lnSpc>
                <a:spcPct val="107000"/>
              </a:lnSpc>
              <a:spcAft>
                <a:spcPts val="500"/>
              </a:spcAft>
            </a:pPr>
            <a:r>
              <a:rPr sz="2200" b="1">
                <a:solidFill>
                  <a:srgbClr val="08872B"/>
                </a:solidFill>
                <a:latin typeface="Mona Sans"/>
              </a:rPr>
              <a:t>+15 percentage points</a:t>
            </a:r>
          </a:p>
        </p:txBody>
      </p:sp>
      <p:sp>
        <p:nvSpPr>
          <p:cNvPr id="28" name="Rectangle 27"/>
          <p:cNvSpPr/>
          <p:nvPr/>
        </p:nvSpPr>
        <p:spPr>
          <a:xfrm>
            <a:off x="594360" y="5029200"/>
            <a:ext cx="10972800" cy="658368"/>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sing AI is not the same as trusting it."/>
          <p:cNvSpPr txBox="1"/>
          <p:nvPr/>
        </p:nvSpPr>
        <p:spPr>
          <a:xfrm>
            <a:off x="768096" y="5202936"/>
            <a:ext cx="1060704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Using AI is not the same as trusting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From “trust me” to “check m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From “trust me” to “check me”.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3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03 / 17</a:t>
            </a:r>
          </a:p>
        </p:txBody>
      </p:sp>
      <p:sp>
        <p:nvSpPr>
          <p:cNvPr id="7" name="Verified against Bearing’s agent and skill files. Path and l"/>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Verified against Bearing’s agent and skill files. Path and line checks validate references, not semantic correctness.</a:t>
            </a:r>
          </a:p>
        </p:txBody>
      </p:sp>
      <p:sp>
        <p:nvSpPr>
          <p:cNvPr id="8" name="Rectangle 7"/>
          <p:cNvSpPr/>
          <p:nvPr/>
        </p:nvSpPr>
        <p:spPr>
          <a:xfrm>
            <a:off x="594360" y="1691640"/>
            <a:ext cx="5166360" cy="3154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691640"/>
            <a:ext cx="5166360" cy="6400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An agent that tells you"/>
          <p:cNvSpPr txBox="1"/>
          <p:nvPr/>
        </p:nvSpPr>
        <p:spPr>
          <a:xfrm>
            <a:off x="868680" y="1965960"/>
            <a:ext cx="4663440" cy="45720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An agent that tells you</a:t>
            </a:r>
          </a:p>
        </p:txBody>
      </p:sp>
      <p:sp>
        <p:nvSpPr>
          <p:cNvPr id="11" name="Rectangle 10"/>
          <p:cNvSpPr/>
          <p:nvPr/>
        </p:nvSpPr>
        <p:spPr>
          <a:xfrm>
            <a:off x="886968" y="2770632"/>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se answers, no sources."/>
          <p:cNvSpPr txBox="1"/>
          <p:nvPr/>
        </p:nvSpPr>
        <p:spPr>
          <a:xfrm>
            <a:off x="1161288" y="2697480"/>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Prose answers, no sources.</a:t>
            </a:r>
          </a:p>
        </p:txBody>
      </p:sp>
      <p:sp>
        <p:nvSpPr>
          <p:cNvPr id="13" name="Rectangle 12"/>
          <p:cNvSpPr/>
          <p:nvPr/>
        </p:nvSpPr>
        <p:spPr>
          <a:xfrm>
            <a:off x="886968" y="3300984"/>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Guesses read like findings."/>
          <p:cNvSpPr txBox="1"/>
          <p:nvPr/>
        </p:nvSpPr>
        <p:spPr>
          <a:xfrm>
            <a:off x="1161288" y="3227832"/>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Guesses read like findings.</a:t>
            </a:r>
          </a:p>
        </p:txBody>
      </p:sp>
      <p:sp>
        <p:nvSpPr>
          <p:cNvPr id="15" name="Rectangle 14"/>
          <p:cNvSpPr/>
          <p:nvPr/>
        </p:nvSpPr>
        <p:spPr>
          <a:xfrm>
            <a:off x="886968" y="3831336"/>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Gaps are quietly filled in."/>
          <p:cNvSpPr txBox="1"/>
          <p:nvPr/>
        </p:nvSpPr>
        <p:spPr>
          <a:xfrm>
            <a:off x="1161288" y="3758184"/>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Gaps are quietly filled in.</a:t>
            </a:r>
          </a:p>
        </p:txBody>
      </p:sp>
      <p:sp>
        <p:nvSpPr>
          <p:cNvPr id="17" name="Rectangle 16"/>
          <p:cNvSpPr/>
          <p:nvPr/>
        </p:nvSpPr>
        <p:spPr>
          <a:xfrm>
            <a:off x="886968" y="4361688"/>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Advice and action blur together."/>
          <p:cNvSpPr txBox="1"/>
          <p:nvPr/>
        </p:nvSpPr>
        <p:spPr>
          <a:xfrm>
            <a:off x="1161288" y="4288536"/>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Advice and action blur together.</a:t>
            </a:r>
          </a:p>
        </p:txBody>
      </p:sp>
      <p:sp>
        <p:nvSpPr>
          <p:cNvPr id="19" name="Rectangle 18"/>
          <p:cNvSpPr/>
          <p:nvPr/>
        </p:nvSpPr>
        <p:spPr>
          <a:xfrm>
            <a:off x="6400800" y="1691640"/>
            <a:ext cx="5166360" cy="3154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0" y="1691640"/>
            <a:ext cx="5166360" cy="6400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An agent that shows you"/>
          <p:cNvSpPr txBox="1"/>
          <p:nvPr/>
        </p:nvSpPr>
        <p:spPr>
          <a:xfrm>
            <a:off x="6675120" y="1965960"/>
            <a:ext cx="4663440" cy="45720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An agent that shows you</a:t>
            </a:r>
          </a:p>
        </p:txBody>
      </p:sp>
      <p:sp>
        <p:nvSpPr>
          <p:cNvPr id="22" name="Rectangle 21"/>
          <p:cNvSpPr/>
          <p:nvPr/>
        </p:nvSpPr>
        <p:spPr>
          <a:xfrm>
            <a:off x="6693408" y="2770632"/>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nventions cite files and line ranges."/>
          <p:cNvSpPr txBox="1"/>
          <p:nvPr/>
        </p:nvSpPr>
        <p:spPr>
          <a:xfrm>
            <a:off x="6967728" y="2697480"/>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Conventions cite files and line ranges.</a:t>
            </a:r>
          </a:p>
        </p:txBody>
      </p:sp>
      <p:sp>
        <p:nvSpPr>
          <p:cNvPr id="24" name="Rectangle 23"/>
          <p:cNvSpPr/>
          <p:nvPr/>
        </p:nvSpPr>
        <p:spPr>
          <a:xfrm>
            <a:off x="6693408" y="3300984"/>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Each rule is marked documented or observed."/>
          <p:cNvSpPr txBox="1"/>
          <p:nvPr/>
        </p:nvSpPr>
        <p:spPr>
          <a:xfrm>
            <a:off x="6967728" y="3227832"/>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Each rule is marked documented or observed.</a:t>
            </a:r>
          </a:p>
        </p:txBody>
      </p:sp>
      <p:sp>
        <p:nvSpPr>
          <p:cNvPr id="26" name="Rectangle 25"/>
          <p:cNvSpPr/>
          <p:nvPr/>
        </p:nvSpPr>
        <p:spPr>
          <a:xfrm>
            <a:off x="6693408" y="3831336"/>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Missing evidence is shown as unavailable."/>
          <p:cNvSpPr txBox="1"/>
          <p:nvPr/>
        </p:nvSpPr>
        <p:spPr>
          <a:xfrm>
            <a:off x="6967728" y="3758184"/>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Missing evidence is shown as unavailable.</a:t>
            </a:r>
          </a:p>
        </p:txBody>
      </p:sp>
      <p:sp>
        <p:nvSpPr>
          <p:cNvPr id="28" name="Rectangle 27"/>
          <p:cNvSpPr/>
          <p:nvPr/>
        </p:nvSpPr>
        <p:spPr>
          <a:xfrm>
            <a:off x="6693408" y="4361688"/>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ad-only. It stops before implementation."/>
          <p:cNvSpPr txBox="1"/>
          <p:nvPr/>
        </p:nvSpPr>
        <p:spPr>
          <a:xfrm>
            <a:off x="6967728" y="4288536"/>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Read-only. It stops before implementation.</a:t>
            </a:r>
          </a:p>
        </p:txBody>
      </p:sp>
      <p:sp>
        <p:nvSpPr>
          <p:cNvPr id="30" name="→"/>
          <p:cNvSpPr txBox="1"/>
          <p:nvPr/>
        </p:nvSpPr>
        <p:spPr>
          <a:xfrm>
            <a:off x="5760720" y="3063240"/>
            <a:ext cx="548640" cy="548640"/>
          </a:xfrm>
          <a:prstGeom prst="rect">
            <a:avLst/>
          </a:prstGeom>
          <a:noFill/>
        </p:spPr>
        <p:txBody>
          <a:bodyPr wrap="square" lIns="0" rIns="0" tIns="0" bIns="0">
            <a:spAutoFit/>
          </a:bodyPr>
          <a:lstStyle/>
          <a:p>
            <a:pPr algn="ctr">
              <a:lnSpc>
                <a:spcPct val="107000"/>
              </a:lnSpc>
              <a:spcAft>
                <a:spcPts val="500"/>
              </a:spcAft>
            </a:pPr>
            <a:r>
              <a:rPr sz="3200" b="1">
                <a:solidFill>
                  <a:srgbClr val="101411"/>
                </a:solidFill>
                <a:latin typeface="Mona Sans"/>
              </a:rPr>
              <a:t>→</a:t>
            </a:r>
          </a:p>
        </p:txBody>
      </p:sp>
      <p:sp>
        <p:nvSpPr>
          <p:cNvPr id="31" name="Human review gate"/>
          <p:cNvSpPr/>
          <p:nvPr/>
        </p:nvSpPr>
        <p:spPr>
          <a:xfrm>
            <a:off x="594360" y="5138928"/>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uilt for onboarding today. The same review discipline is pr"/>
          <p:cNvSpPr txBox="1"/>
          <p:nvPr/>
        </p:nvSpPr>
        <p:spPr>
          <a:xfrm>
            <a:off x="1051560" y="5157216"/>
            <a:ext cx="10515600" cy="32004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Built for onboarding today. The same review discipline is proposed for legacy code next.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he estate works. That does not mean it is ready."/>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The estate works. That does not mean it is ready.</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4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04 / 17</a:t>
            </a:r>
          </a:p>
        </p:txBody>
      </p:sp>
      <p:sp>
        <p:nvSpPr>
          <p:cNvPr id="7" name="Sources: Kyndryl Readiness Reports 2025 and 2024. Population"/>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Sources: Kyndryl Readiness Reports 2025 and 2024. Populations differ; neither measures legacy-code share.</a:t>
            </a:r>
          </a:p>
        </p:txBody>
      </p:sp>
      <p:grpSp>
        <p:nvGrpSpPr>
          <p:cNvPr id="8" name="Unit chart: 57 of 100 squares filled" descr="Unit chart: 57 of 100 squares filled"/>
          <p:cNvGrpSpPr/>
          <p:nvPr/>
        </p:nvGrpSpPr>
        <p:grpSpPr>
          <a:xfrm>
            <a:off x="594360" y="1691640"/>
            <a:ext cx="2340864" cy="2340863"/>
            <a:chOff x="594360" y="1691640"/>
            <a:chExt cx="2340864" cy="2340863"/>
          </a:xfrm>
        </p:grpSpPr>
        <p:sp>
          <p:nvSpPr>
            <p:cNvPr id="9" name="Rectangle 8"/>
            <p:cNvSpPr/>
            <p:nvPr/>
          </p:nvSpPr>
          <p:spPr>
            <a:xfrm>
              <a:off x="59436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984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30759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4533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8308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2082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25856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49631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3405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210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984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30759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54533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78308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02082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5856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49631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3405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9436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6984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30759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54533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8308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02082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5856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49631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73405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9436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3210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6984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30759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54533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8308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02082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25856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49631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3405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9436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3210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6984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30759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545336"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78308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02082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25856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49631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734056"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94360"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32104"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69848"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307592"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545336"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783080"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020824"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258568"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496312"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273405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10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06984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30759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54533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78308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02082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25856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49631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73405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436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3210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06984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30759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154533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78308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202082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225856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249631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273405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59436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3210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06984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30759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54533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78308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202082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225856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249631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273405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59436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83210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06984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30759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54533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8308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202082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25856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249631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273405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9" name="57%"/>
          <p:cNvSpPr txBox="1"/>
          <p:nvPr/>
        </p:nvSpPr>
        <p:spPr>
          <a:xfrm>
            <a:off x="3291840" y="1627632"/>
            <a:ext cx="2377440" cy="914400"/>
          </a:xfrm>
          <a:prstGeom prst="rect">
            <a:avLst/>
          </a:prstGeom>
          <a:noFill/>
        </p:spPr>
        <p:txBody>
          <a:bodyPr wrap="square" lIns="0" rIns="0" tIns="0" bIns="0">
            <a:spAutoFit/>
          </a:bodyPr>
          <a:lstStyle/>
          <a:p>
            <a:pPr>
              <a:lnSpc>
                <a:spcPct val="107000"/>
              </a:lnSpc>
              <a:spcAft>
                <a:spcPts val="500"/>
              </a:spcAft>
            </a:pPr>
            <a:r>
              <a:rPr sz="6000" b="1">
                <a:solidFill>
                  <a:srgbClr val="08872B"/>
                </a:solidFill>
                <a:latin typeface="Mona Sans"/>
              </a:rPr>
              <a:t>57%</a:t>
            </a:r>
          </a:p>
        </p:txBody>
      </p:sp>
      <p:sp>
        <p:nvSpPr>
          <p:cNvPr id="110" name="of surveyed leaders"/>
          <p:cNvSpPr txBox="1"/>
          <p:nvPr/>
        </p:nvSpPr>
        <p:spPr>
          <a:xfrm>
            <a:off x="3291840" y="2697480"/>
            <a:ext cx="2377440" cy="9144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of surveyed leaders</a:t>
            </a:r>
          </a:p>
        </p:txBody>
      </p:sp>
      <p:sp>
        <p:nvSpPr>
          <p:cNvPr id="111" name="say technology-stack issues delay their company’s innovation"/>
          <p:cNvSpPr txBox="1"/>
          <p:nvPr/>
        </p:nvSpPr>
        <p:spPr>
          <a:xfrm>
            <a:off x="594360" y="4315968"/>
            <a:ext cx="512064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say technology-stack issues delay their company’s innovation.</a:t>
            </a:r>
          </a:p>
        </p:txBody>
      </p:sp>
      <p:sp>
        <p:nvSpPr>
          <p:cNvPr id="112" name="2025 survey of 3,700 senior leaders in 21 countries; commiss"/>
          <p:cNvSpPr txBox="1"/>
          <p:nvPr/>
        </p:nvSpPr>
        <p:spPr>
          <a:xfrm>
            <a:off x="594360" y="5120640"/>
            <a:ext cx="5120640" cy="64008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2025 survey of 3,700 senior leaders in 21 countries; commissioned by Kyndryl.</a:t>
            </a:r>
          </a:p>
        </p:txBody>
      </p:sp>
      <p:grpSp>
        <p:nvGrpSpPr>
          <p:cNvPr id="113" name="Unit chart: 44 of 100 squares filled" descr="Unit chart: 44 of 100 squares filled"/>
          <p:cNvGrpSpPr/>
          <p:nvPr/>
        </p:nvGrpSpPr>
        <p:grpSpPr>
          <a:xfrm>
            <a:off x="6446520" y="1691640"/>
            <a:ext cx="2340864" cy="2340863"/>
            <a:chOff x="6446520" y="1691640"/>
            <a:chExt cx="2340864" cy="2340863"/>
          </a:xfrm>
        </p:grpSpPr>
        <p:sp>
          <p:nvSpPr>
            <p:cNvPr id="114" name="Rectangle 113"/>
            <p:cNvSpPr/>
            <p:nvPr/>
          </p:nvSpPr>
          <p:spPr>
            <a:xfrm>
              <a:off x="644652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668426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92200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715975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39749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763524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7872983"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8110727"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8348471"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858621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644652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68426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92200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15975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39749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63524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872983"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110727"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8348471"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858621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44652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8426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92200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15975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39749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63524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872983"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8110727"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8348471"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858621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644652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668426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692200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15975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39749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63524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872983"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8110727"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8348471"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858621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44652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68426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692200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15975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397496"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635240"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7872983"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8110727"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8348471"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8586216"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6446520"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6684264"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6922008"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7159752"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739749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7635240"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7872983"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8110727"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8348471"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858621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644652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668426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692200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15975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39749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763524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7872983"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8110727"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8348471"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858621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44652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68426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92200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715975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39749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63524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7872983"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8110727"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8348471"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858621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644652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668426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692200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715975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739749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763524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7872983"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8110727"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8348471"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858621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644652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668426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692200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15975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39749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63524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7872983"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110727"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8348471"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858621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14" name="44%"/>
          <p:cNvSpPr txBox="1"/>
          <p:nvPr/>
        </p:nvSpPr>
        <p:spPr>
          <a:xfrm>
            <a:off x="9144000" y="1627632"/>
            <a:ext cx="2377440" cy="914400"/>
          </a:xfrm>
          <a:prstGeom prst="rect">
            <a:avLst/>
          </a:prstGeom>
          <a:noFill/>
        </p:spPr>
        <p:txBody>
          <a:bodyPr wrap="square" lIns="0" rIns="0" tIns="0" bIns="0">
            <a:spAutoFit/>
          </a:bodyPr>
          <a:lstStyle/>
          <a:p>
            <a:pPr>
              <a:lnSpc>
                <a:spcPct val="107000"/>
              </a:lnSpc>
              <a:spcAft>
                <a:spcPts val="500"/>
              </a:spcAft>
            </a:pPr>
            <a:r>
              <a:rPr sz="6000" b="1">
                <a:solidFill>
                  <a:srgbClr val="08872B"/>
                </a:solidFill>
                <a:latin typeface="Mona Sans"/>
              </a:rPr>
              <a:t>44%</a:t>
            </a:r>
          </a:p>
        </p:txBody>
      </p:sp>
      <p:sp>
        <p:nvSpPr>
          <p:cNvPr id="215" name="of mission-critical IT infrastructure"/>
          <p:cNvSpPr txBox="1"/>
          <p:nvPr/>
        </p:nvSpPr>
        <p:spPr>
          <a:xfrm>
            <a:off x="9144000" y="2697480"/>
            <a:ext cx="2377440" cy="9144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of mission-critical IT infrastructure</a:t>
            </a:r>
          </a:p>
        </p:txBody>
      </p:sp>
      <p:sp>
        <p:nvSpPr>
          <p:cNvPr id="216" name="was approaching or at end-of-life."/>
          <p:cNvSpPr txBox="1"/>
          <p:nvPr/>
        </p:nvSpPr>
        <p:spPr>
          <a:xfrm>
            <a:off x="6446520" y="4315968"/>
            <a:ext cx="512064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was approaching or at end-of-life.</a:t>
            </a:r>
          </a:p>
        </p:txBody>
      </p:sp>
      <p:sp>
        <p:nvSpPr>
          <p:cNvPr id="217" name="2024 Kyndryl Bridge operational data. Infrastructure, not th"/>
          <p:cNvSpPr txBox="1"/>
          <p:nvPr/>
        </p:nvSpPr>
        <p:spPr>
          <a:xfrm>
            <a:off x="6446520" y="5120640"/>
            <a:ext cx="5120640" cy="64008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2024 Kyndryl Bridge operational data. Infrastructure, not the share of old source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mall change. Unclear blast radiu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Small change. Unclear blast radius.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5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05 / 17</a:t>
            </a:r>
          </a:p>
        </p:txBody>
      </p:sp>
      <p:sp>
        <p:nvSpPr>
          <p:cNvPr id="7" name="An engineer inherits a working order-processing service."/>
          <p:cNvSpPr txBox="1"/>
          <p:nvPr/>
        </p:nvSpPr>
        <p:spPr>
          <a:xfrm>
            <a:off x="594360" y="1645920"/>
            <a:ext cx="10698480" cy="960120"/>
          </a:xfrm>
          <a:prstGeom prst="rect">
            <a:avLst/>
          </a:prstGeom>
          <a:noFill/>
        </p:spPr>
        <p:txBody>
          <a:bodyPr wrap="square" lIns="0" rIns="0" tIns="0" bIns="0">
            <a:spAutoFit/>
          </a:bodyPr>
          <a:lstStyle/>
          <a:p>
            <a:pPr>
              <a:lnSpc>
                <a:spcPct val="107000"/>
              </a:lnSpc>
              <a:spcAft>
                <a:spcPts val="500"/>
              </a:spcAft>
            </a:pPr>
            <a:r>
              <a:rPr sz="2700" b="0">
                <a:solidFill>
                  <a:srgbClr val="101411"/>
                </a:solidFill>
                <a:latin typeface="Arial"/>
              </a:rPr>
              <a:t>An engineer inherits a working order-processing service.</a:t>
            </a:r>
          </a:p>
          <a:p>
            <a:pPr>
              <a:lnSpc>
                <a:spcPct val="107000"/>
              </a:lnSpc>
              <a:spcAft>
                <a:spcPts val="500"/>
              </a:spcAft>
            </a:pPr>
            <a:r>
              <a:rPr sz="2700" b="0">
                <a:solidFill>
                  <a:srgbClr val="101411"/>
                </a:solidFill>
                <a:latin typeface="Arial"/>
              </a:rPr>
              <a:t>The business asks for one validation change.</a:t>
            </a:r>
          </a:p>
        </p:txBody>
      </p:sp>
      <p:sp>
        <p:nvSpPr>
          <p:cNvPr id="8" name="The service runs."/>
          <p:cNvSpPr txBox="1"/>
          <p:nvPr/>
        </p:nvSpPr>
        <p:spPr>
          <a:xfrm>
            <a:off x="594360"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service runs.</a:t>
            </a:r>
          </a:p>
        </p:txBody>
      </p:sp>
      <p:sp>
        <p:nvSpPr>
          <p:cNvPr id="9" name="Orders still flow."/>
          <p:cNvSpPr txBox="1"/>
          <p:nvPr/>
        </p:nvSpPr>
        <p:spPr>
          <a:xfrm>
            <a:off x="594360"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Orders still flow.</a:t>
            </a:r>
          </a:p>
          <a:p>
            <a:pPr>
              <a:lnSpc>
                <a:spcPct val="107000"/>
              </a:lnSpc>
              <a:spcAft>
                <a:spcPts val="500"/>
              </a:spcAft>
            </a:pPr>
            <a:r>
              <a:rPr sz="2000" b="0">
                <a:solidFill>
                  <a:srgbClr val="232925"/>
                </a:solidFill>
                <a:latin typeface="Arial"/>
              </a:rPr>
              <a:t>Age alone is not a reason</a:t>
            </a:r>
          </a:p>
          <a:p>
            <a:pPr>
              <a:lnSpc>
                <a:spcPct val="107000"/>
              </a:lnSpc>
              <a:spcAft>
                <a:spcPts val="500"/>
              </a:spcAft>
            </a:pPr>
            <a:r>
              <a:rPr sz="2000" b="0">
                <a:solidFill>
                  <a:srgbClr val="232925"/>
                </a:solidFill>
                <a:latin typeface="Arial"/>
              </a:rPr>
              <a:t>to replace the system.</a:t>
            </a:r>
          </a:p>
        </p:txBody>
      </p:sp>
      <p:sp>
        <p:nvSpPr>
          <p:cNvPr id="10" name="The evidence is scattered."/>
          <p:cNvSpPr txBox="1"/>
          <p:nvPr/>
        </p:nvSpPr>
        <p:spPr>
          <a:xfrm>
            <a:off x="4416552"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evidence is scattered.</a:t>
            </a:r>
          </a:p>
        </p:txBody>
      </p:sp>
      <p:sp>
        <p:nvSpPr>
          <p:cNvPr id="11" name="Which callers rely on it?"/>
          <p:cNvSpPr txBox="1"/>
          <p:nvPr/>
        </p:nvSpPr>
        <p:spPr>
          <a:xfrm>
            <a:off x="4416552"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Which callers rely on it?</a:t>
            </a:r>
          </a:p>
          <a:p>
            <a:pPr>
              <a:lnSpc>
                <a:spcPct val="107000"/>
              </a:lnSpc>
              <a:spcAft>
                <a:spcPts val="500"/>
              </a:spcAft>
            </a:pPr>
            <a:r>
              <a:rPr sz="2000" b="0">
                <a:solidFill>
                  <a:srgbClr val="232925"/>
                </a:solidFill>
                <a:latin typeface="Arial"/>
              </a:rPr>
              <a:t>Which tests catch regressions?</a:t>
            </a:r>
          </a:p>
          <a:p>
            <a:pPr>
              <a:lnSpc>
                <a:spcPct val="107000"/>
              </a:lnSpc>
              <a:spcAft>
                <a:spcPts val="500"/>
              </a:spcAft>
            </a:pPr>
            <a:r>
              <a:rPr sz="2000" b="0">
                <a:solidFill>
                  <a:srgbClr val="232925"/>
                </a:solidFill>
                <a:latin typeface="Arial"/>
              </a:rPr>
              <a:t>Which CI stage causes delay?</a:t>
            </a:r>
          </a:p>
        </p:txBody>
      </p:sp>
      <p:sp>
        <p:nvSpPr>
          <p:cNvPr id="12" name="The decision is blocked."/>
          <p:cNvSpPr txBox="1"/>
          <p:nvPr/>
        </p:nvSpPr>
        <p:spPr>
          <a:xfrm>
            <a:off x="8247888"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decision is blocked.</a:t>
            </a:r>
          </a:p>
        </p:txBody>
      </p:sp>
      <p:sp>
        <p:nvSpPr>
          <p:cNvPr id="13" name="Ask the one expert,"/>
          <p:cNvSpPr txBox="1"/>
          <p:nvPr/>
        </p:nvSpPr>
        <p:spPr>
          <a:xfrm>
            <a:off x="8247888"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Ask the one expert,</a:t>
            </a:r>
          </a:p>
          <a:p>
            <a:pPr>
              <a:lnSpc>
                <a:spcPct val="107000"/>
              </a:lnSpc>
              <a:spcAft>
                <a:spcPts val="500"/>
              </a:spcAft>
            </a:pPr>
            <a:r>
              <a:rPr sz="2000" b="0">
                <a:solidFill>
                  <a:srgbClr val="232925"/>
                </a:solidFill>
                <a:latin typeface="Arial"/>
              </a:rPr>
              <a:t>guess from an AI answer,</a:t>
            </a:r>
          </a:p>
          <a:p>
            <a:pPr>
              <a:lnSpc>
                <a:spcPct val="107000"/>
              </a:lnSpc>
              <a:spcAft>
                <a:spcPts val="500"/>
              </a:spcAft>
            </a:pPr>
            <a:r>
              <a:rPr sz="2000" b="0">
                <a:solidFill>
                  <a:srgbClr val="232925"/>
                </a:solidFill>
                <a:latin typeface="Arial"/>
              </a:rPr>
              <a:t>or establish the facts.</a:t>
            </a:r>
          </a:p>
        </p:txBody>
      </p:sp>
      <p:sp>
        <p:nvSpPr>
          <p:cNvPr id="14" name="The goal is change confidence—not a prettier repository summ"/>
          <p:cNvSpPr txBox="1"/>
          <p:nvPr/>
        </p:nvSpPr>
        <p:spPr>
          <a:xfrm>
            <a:off x="594360" y="5596128"/>
            <a:ext cx="1097280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The goal is change confidence—not a prettier repository summary.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ssess changeability, not ag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Assess changeability, not age.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6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06 / 17</a:t>
            </a:r>
          </a:p>
        </p:txBody>
      </p:sp>
      <p:sp>
        <p:nvSpPr>
          <p:cNvPr id="7" name="Rectangle 6"/>
          <p:cNvSpPr/>
          <p:nvPr/>
        </p:nvSpPr>
        <p:spPr>
          <a:xfrm>
            <a:off x="594360" y="1682496"/>
            <a:ext cx="10972800" cy="50292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lane"/>
          <p:cNvSpPr txBox="1"/>
          <p:nvPr/>
        </p:nvSpPr>
        <p:spPr>
          <a:xfrm>
            <a:off x="704088" y="1792224"/>
            <a:ext cx="2112263"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Evidence lane</a:t>
            </a:r>
          </a:p>
        </p:txBody>
      </p:sp>
      <p:sp>
        <p:nvSpPr>
          <p:cNvPr id="9" name="What we inspect"/>
          <p:cNvSpPr txBox="1"/>
          <p:nvPr/>
        </p:nvSpPr>
        <p:spPr>
          <a:xfrm>
            <a:off x="3035808" y="1792224"/>
            <a:ext cx="4764024"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What we inspect</a:t>
            </a:r>
          </a:p>
        </p:txBody>
      </p:sp>
      <p:sp>
        <p:nvSpPr>
          <p:cNvPr id="10" name="Decision it enables"/>
          <p:cNvSpPr txBox="1"/>
          <p:nvPr/>
        </p:nvSpPr>
        <p:spPr>
          <a:xfrm>
            <a:off x="8019288" y="1792224"/>
            <a:ext cx="3438144"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Decision it enables</a:t>
            </a:r>
          </a:p>
        </p:txBody>
      </p:sp>
      <p:sp>
        <p:nvSpPr>
          <p:cNvPr id="11" name="Rectangle 10"/>
          <p:cNvSpPr/>
          <p:nvPr/>
        </p:nvSpPr>
        <p:spPr>
          <a:xfrm>
            <a:off x="594360" y="310713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ystem context"/>
          <p:cNvSpPr txBox="1"/>
          <p:nvPr/>
        </p:nvSpPr>
        <p:spPr>
          <a:xfrm>
            <a:off x="704088" y="244144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System context</a:t>
            </a:r>
          </a:p>
        </p:txBody>
      </p:sp>
      <p:sp>
        <p:nvSpPr>
          <p:cNvPr id="13" name="Entry points, critical journeys,"/>
          <p:cNvSpPr txBox="1"/>
          <p:nvPr/>
        </p:nvSpPr>
        <p:spPr>
          <a:xfrm>
            <a:off x="3035808" y="244144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Entry points, critical journeys,</a:t>
            </a:r>
          </a:p>
          <a:p>
            <a:pPr>
              <a:lnSpc>
                <a:spcPct val="107000"/>
              </a:lnSpc>
              <a:spcAft>
                <a:spcPts val="500"/>
              </a:spcAft>
            </a:pPr>
            <a:r>
              <a:rPr sz="1700" b="0">
                <a:solidFill>
                  <a:srgbClr val="232925"/>
                </a:solidFill>
                <a:latin typeface="Arial"/>
              </a:rPr>
              <a:t>PR history, dependencies and owner review</a:t>
            </a:r>
          </a:p>
        </p:txBody>
      </p:sp>
      <p:sp>
        <p:nvSpPr>
          <p:cNvPr id="14" name="Bound the change;"/>
          <p:cNvSpPr txBox="1"/>
          <p:nvPr/>
        </p:nvSpPr>
        <p:spPr>
          <a:xfrm>
            <a:off x="8019288" y="244144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Bound the change;</a:t>
            </a:r>
          </a:p>
          <a:p>
            <a:pPr>
              <a:lnSpc>
                <a:spcPct val="107000"/>
              </a:lnSpc>
              <a:spcAft>
                <a:spcPts val="500"/>
              </a:spcAft>
            </a:pPr>
            <a:r>
              <a:rPr sz="1700" b="0">
                <a:solidFill>
                  <a:srgbClr val="232925"/>
                </a:solidFill>
                <a:latin typeface="Arial"/>
              </a:rPr>
              <a:t>identify the reviewers</a:t>
            </a:r>
          </a:p>
        </p:txBody>
      </p:sp>
      <p:sp>
        <p:nvSpPr>
          <p:cNvPr id="15" name="Rectangle 14"/>
          <p:cNvSpPr/>
          <p:nvPr/>
        </p:nvSpPr>
        <p:spPr>
          <a:xfrm>
            <a:off x="594360" y="397581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st confidence"/>
          <p:cNvSpPr txBox="1"/>
          <p:nvPr/>
        </p:nvSpPr>
        <p:spPr>
          <a:xfrm>
            <a:off x="704088" y="331012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Test confidence</a:t>
            </a:r>
          </a:p>
        </p:txBody>
      </p:sp>
      <p:sp>
        <p:nvSpPr>
          <p:cNvPr id="17" name="Assertions, failure paths and dated"/>
          <p:cNvSpPr txBox="1"/>
          <p:nvPr/>
        </p:nvSpPr>
        <p:spPr>
          <a:xfrm>
            <a:off x="3035808" y="331012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Assertions, failure paths and dated</a:t>
            </a:r>
          </a:p>
          <a:p>
            <a:pPr>
              <a:lnSpc>
                <a:spcPct val="107000"/>
              </a:lnSpc>
              <a:spcAft>
                <a:spcPts val="500"/>
              </a:spcAft>
            </a:pPr>
            <a:r>
              <a:rPr sz="1700" b="0">
                <a:solidFill>
                  <a:srgbClr val="232925"/>
                </a:solidFill>
                <a:latin typeface="Arial"/>
              </a:rPr>
              <a:t>coverage reports at a pinned commit</a:t>
            </a:r>
          </a:p>
        </p:txBody>
      </p:sp>
      <p:sp>
        <p:nvSpPr>
          <p:cNvPr id="18" name="Characterize behavior;"/>
          <p:cNvSpPr txBox="1"/>
          <p:nvPr/>
        </p:nvSpPr>
        <p:spPr>
          <a:xfrm>
            <a:off x="8019288" y="331012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Characterize behavior;</a:t>
            </a:r>
          </a:p>
          <a:p>
            <a:pPr>
              <a:lnSpc>
                <a:spcPct val="107000"/>
              </a:lnSpc>
              <a:spcAft>
                <a:spcPts val="500"/>
              </a:spcAft>
            </a:pPr>
            <a:r>
              <a:rPr sz="1700" b="0">
                <a:solidFill>
                  <a:srgbClr val="232925"/>
                </a:solidFill>
                <a:latin typeface="Arial"/>
              </a:rPr>
              <a:t>close a justified test gap</a:t>
            </a:r>
          </a:p>
        </p:txBody>
      </p:sp>
      <p:sp>
        <p:nvSpPr>
          <p:cNvPr id="19" name="Rectangle 18"/>
          <p:cNvSpPr/>
          <p:nvPr/>
        </p:nvSpPr>
        <p:spPr>
          <a:xfrm>
            <a:off x="594360" y="484449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livery friction"/>
          <p:cNvSpPr txBox="1"/>
          <p:nvPr/>
        </p:nvSpPr>
        <p:spPr>
          <a:xfrm>
            <a:off x="704088" y="417880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Delivery friction</a:t>
            </a:r>
          </a:p>
        </p:txBody>
      </p:sp>
      <p:sp>
        <p:nvSpPr>
          <p:cNvPr id="21" name="Queue and stage timings,"/>
          <p:cNvSpPr txBox="1"/>
          <p:nvPr/>
        </p:nvSpPr>
        <p:spPr>
          <a:xfrm>
            <a:off x="3035808" y="417880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Queue and stage timings,</a:t>
            </a:r>
          </a:p>
          <a:p>
            <a:pPr>
              <a:lnSpc>
                <a:spcPct val="107000"/>
              </a:lnSpc>
              <a:spcAft>
                <a:spcPts val="500"/>
              </a:spcAft>
            </a:pPr>
            <a:r>
              <a:rPr sz="1700" b="0">
                <a:solidFill>
                  <a:srgbClr val="232925"/>
                </a:solidFill>
                <a:latin typeface="Arial"/>
              </a:rPr>
              <a:t>runner class and cache conditions</a:t>
            </a:r>
          </a:p>
        </p:txBody>
      </p:sp>
      <p:sp>
        <p:nvSpPr>
          <p:cNvPr id="22" name="Fix the demonstrated"/>
          <p:cNvSpPr txBox="1"/>
          <p:nvPr/>
        </p:nvSpPr>
        <p:spPr>
          <a:xfrm>
            <a:off x="8019288" y="417880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Fix the demonstrated</a:t>
            </a:r>
          </a:p>
          <a:p>
            <a:pPr>
              <a:lnSpc>
                <a:spcPct val="107000"/>
              </a:lnSpc>
              <a:spcAft>
                <a:spcPts val="500"/>
              </a:spcAft>
            </a:pPr>
            <a:r>
              <a:rPr sz="1700" b="0">
                <a:solidFill>
                  <a:srgbClr val="232925"/>
                </a:solidFill>
                <a:latin typeface="Arial"/>
              </a:rPr>
              <a:t>bottleneck—not a guess</a:t>
            </a:r>
          </a:p>
        </p:txBody>
      </p:sp>
      <p:sp>
        <p:nvSpPr>
          <p:cNvPr id="23" name="Rectangle 22"/>
          <p:cNvSpPr/>
          <p:nvPr/>
        </p:nvSpPr>
        <p:spPr>
          <a:xfrm>
            <a:off x="594360" y="571317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upportability"/>
          <p:cNvSpPr txBox="1"/>
          <p:nvPr/>
        </p:nvSpPr>
        <p:spPr>
          <a:xfrm>
            <a:off x="704088" y="504748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Supportability</a:t>
            </a:r>
          </a:p>
        </p:txBody>
      </p:sp>
      <p:sp>
        <p:nvSpPr>
          <p:cNvPr id="25" name="Runtime/dependency versions,"/>
          <p:cNvSpPr txBox="1"/>
          <p:nvPr/>
        </p:nvSpPr>
        <p:spPr>
          <a:xfrm>
            <a:off x="3035808" y="504748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Runtime/dependency versions,</a:t>
            </a:r>
          </a:p>
          <a:p>
            <a:pPr>
              <a:lnSpc>
                <a:spcPct val="107000"/>
              </a:lnSpc>
              <a:spcAft>
                <a:spcPts val="500"/>
              </a:spcAft>
            </a:pPr>
            <a:r>
              <a:rPr sz="1700" b="0">
                <a:solidFill>
                  <a:srgbClr val="232925"/>
                </a:solidFill>
                <a:latin typeface="Arial"/>
              </a:rPr>
              <a:t>vendor support dates and constraints</a:t>
            </a:r>
          </a:p>
        </p:txBody>
      </p:sp>
      <p:sp>
        <p:nvSpPr>
          <p:cNvPr id="26" name="Retain, upgrade or isolate;"/>
          <p:cNvSpPr txBox="1"/>
          <p:nvPr/>
        </p:nvSpPr>
        <p:spPr>
          <a:xfrm>
            <a:off x="8019288" y="504748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Retain, upgrade or isolate;</a:t>
            </a:r>
          </a:p>
          <a:p>
            <a:pPr>
              <a:lnSpc>
                <a:spcPct val="107000"/>
              </a:lnSpc>
              <a:spcAft>
                <a:spcPts val="500"/>
              </a:spcAft>
            </a:pPr>
            <a:r>
              <a:rPr sz="1700" b="0">
                <a:solidFill>
                  <a:srgbClr val="232925"/>
                </a:solidFill>
                <a:latin typeface="Arial"/>
              </a:rPr>
              <a:t>record the rationale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Measure confidence. Locate the actual delay."/>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Measure confidence. Locate the actual delay.</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7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07 / 17</a:t>
            </a:r>
          </a:p>
        </p:txBody>
      </p:sp>
      <p:sp>
        <p:nvSpPr>
          <p:cNvPr id="7" name="Test confidence"/>
          <p:cNvSpPr txBox="1"/>
          <p:nvPr/>
        </p:nvSpPr>
        <p:spPr>
          <a:xfrm>
            <a:off x="594360" y="1627632"/>
            <a:ext cx="502920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Test confidence</a:t>
            </a:r>
          </a:p>
        </p:txBody>
      </p:sp>
      <p:sp>
        <p:nvSpPr>
          <p:cNvPr id="8" name="Build and test speed"/>
          <p:cNvSpPr txBox="1"/>
          <p:nvPr/>
        </p:nvSpPr>
        <p:spPr>
          <a:xfrm>
            <a:off x="6400800" y="1627632"/>
            <a:ext cx="516636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Build and test speed</a:t>
            </a:r>
          </a:p>
        </p:txBody>
      </p:sp>
      <p:sp>
        <p:nvSpPr>
          <p:cNvPr id="9" name="Rectangle 8"/>
          <p:cNvSpPr/>
          <p:nvPr/>
        </p:nvSpPr>
        <p:spPr>
          <a:xfrm>
            <a:off x="594360"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Receive</a:t>
            </a:r>
          </a:p>
        </p:txBody>
      </p:sp>
      <p:sp>
        <p:nvSpPr>
          <p:cNvPr id="10" name="Unknown"/>
          <p:cNvSpPr/>
          <p:nvPr/>
        </p:nvSpPr>
        <p:spPr>
          <a:xfrm>
            <a:off x="1051560" y="2898648"/>
            <a:ext cx="182880" cy="182880"/>
          </a:xfrm>
          <a:prstGeom prst="ellipse">
            <a:avLst/>
          </a:prstGeom>
          <a:solidFill>
            <a:srgbClr val="FFFFFF"/>
          </a:solidFill>
          <a:ln w="19050">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874519"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Validate</a:t>
            </a:r>
          </a:p>
        </p:txBody>
      </p:sp>
      <p:sp>
        <p:nvSpPr>
          <p:cNvPr id="12" name="Assertions inspected"/>
          <p:cNvSpPr/>
          <p:nvPr/>
        </p:nvSpPr>
        <p:spPr>
          <a:xfrm>
            <a:off x="2331720" y="2898648"/>
            <a:ext cx="182880" cy="182880"/>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54679"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Price</a:t>
            </a:r>
          </a:p>
        </p:txBody>
      </p:sp>
      <p:sp>
        <p:nvSpPr>
          <p:cNvPr id="14" name="Unknown"/>
          <p:cNvSpPr/>
          <p:nvPr/>
        </p:nvSpPr>
        <p:spPr>
          <a:xfrm>
            <a:off x="3611879" y="2898648"/>
            <a:ext cx="182880" cy="182880"/>
          </a:xfrm>
          <a:prstGeom prst="ellipse">
            <a:avLst/>
          </a:prstGeom>
          <a:solidFill>
            <a:srgbClr val="FFFFFF"/>
          </a:solidFill>
          <a:ln w="19050">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34840"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Persist</a:t>
            </a:r>
          </a:p>
        </p:txBody>
      </p:sp>
      <p:sp>
        <p:nvSpPr>
          <p:cNvPr id="16" name="Assertions inspected"/>
          <p:cNvSpPr/>
          <p:nvPr/>
        </p:nvSpPr>
        <p:spPr>
          <a:xfrm>
            <a:off x="4892040" y="2898648"/>
            <a:ext cx="182880" cy="182880"/>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94360" y="3273552"/>
            <a:ext cx="128016" cy="128016"/>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Assertions inspected"/>
          <p:cNvSpPr txBox="1"/>
          <p:nvPr/>
        </p:nvSpPr>
        <p:spPr>
          <a:xfrm>
            <a:off x="804672" y="3236976"/>
            <a:ext cx="182880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Assertions inspected</a:t>
            </a:r>
          </a:p>
        </p:txBody>
      </p:sp>
      <p:sp>
        <p:nvSpPr>
          <p:cNvPr id="19" name="Oval 18"/>
          <p:cNvSpPr/>
          <p:nvPr/>
        </p:nvSpPr>
        <p:spPr>
          <a:xfrm>
            <a:off x="2743200" y="3273552"/>
            <a:ext cx="128016" cy="128016"/>
          </a:xfrm>
          <a:prstGeom prst="ellipse">
            <a:avLst/>
          </a:prstGeom>
          <a:solidFill>
            <a:srgbClr val="FFFFFF"/>
          </a:solidFill>
          <a:ln w="15875">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Unknown"/>
          <p:cNvSpPr txBox="1"/>
          <p:nvPr/>
        </p:nvSpPr>
        <p:spPr>
          <a:xfrm>
            <a:off x="2953512" y="3236976"/>
            <a:ext cx="137160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Unknown</a:t>
            </a:r>
          </a:p>
        </p:txBody>
      </p:sp>
      <p:sp>
        <p:nvSpPr>
          <p:cNvPr id="21" name="Pentagon 20"/>
          <p:cNvSpPr/>
          <p:nvPr/>
        </p:nvSpPr>
        <p:spPr>
          <a:xfrm>
            <a:off x="6400800"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Queue</a:t>
            </a:r>
          </a:p>
        </p:txBody>
      </p:sp>
      <p:sp>
        <p:nvSpPr>
          <p:cNvPr id="22" name="Pentagon 21"/>
          <p:cNvSpPr/>
          <p:nvPr/>
        </p:nvSpPr>
        <p:spPr>
          <a:xfrm>
            <a:off x="7415783"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Setup</a:t>
            </a:r>
          </a:p>
        </p:txBody>
      </p:sp>
      <p:sp>
        <p:nvSpPr>
          <p:cNvPr id="23" name="Pentagon 22"/>
          <p:cNvSpPr/>
          <p:nvPr/>
        </p:nvSpPr>
        <p:spPr>
          <a:xfrm>
            <a:off x="8430768"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Build</a:t>
            </a:r>
          </a:p>
        </p:txBody>
      </p:sp>
      <p:sp>
        <p:nvSpPr>
          <p:cNvPr id="24" name="Pentagon 23"/>
          <p:cNvSpPr/>
          <p:nvPr/>
        </p:nvSpPr>
        <p:spPr>
          <a:xfrm>
            <a:off x="9445752"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Test</a:t>
            </a:r>
          </a:p>
        </p:txBody>
      </p:sp>
      <p:sp>
        <p:nvSpPr>
          <p:cNvPr id="25" name="Pentagon 24"/>
          <p:cNvSpPr/>
          <p:nvPr/>
        </p:nvSpPr>
        <p:spPr>
          <a:xfrm>
            <a:off x="10460736"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Package</a:t>
            </a:r>
          </a:p>
        </p:txBody>
      </p:sp>
      <p:sp>
        <p:nvSpPr>
          <p:cNvPr id="26" name="Segments are not to scale. Timings appear only after measure"/>
          <p:cNvSpPr txBox="1"/>
          <p:nvPr/>
        </p:nvSpPr>
        <p:spPr>
          <a:xfrm>
            <a:off x="6400800" y="3236976"/>
            <a:ext cx="516636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Segments are not to scale. Timings appear only after measurement.</a:t>
            </a:r>
          </a:p>
        </p:txBody>
      </p:sp>
      <p:sp>
        <p:nvSpPr>
          <p:cNvPr id="27" name="Map tests to the critical journey."/>
          <p:cNvSpPr txBox="1"/>
          <p:nvPr/>
        </p:nvSpPr>
        <p:spPr>
          <a:xfrm>
            <a:off x="594360" y="3639312"/>
            <a:ext cx="5029200" cy="13716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Map tests to the critical journey.</a:t>
            </a:r>
          </a:p>
          <a:p>
            <a:pPr>
              <a:lnSpc>
                <a:spcPct val="107000"/>
              </a:lnSpc>
              <a:spcAft>
                <a:spcPts val="500"/>
              </a:spcAft>
            </a:pPr>
            <a:r>
              <a:rPr sz="1700" b="0">
                <a:solidFill>
                  <a:srgbClr val="232925"/>
                </a:solidFill>
                <a:latin typeface="Arial"/>
              </a:rPr>
              <a:t>Inspect assertions and failure paths.</a:t>
            </a:r>
          </a:p>
          <a:p>
            <a:pPr>
              <a:lnSpc>
                <a:spcPct val="107000"/>
              </a:lnSpc>
              <a:spcAft>
                <a:spcPts val="500"/>
              </a:spcAft>
            </a:pPr>
            <a:r>
              <a:rPr sz="1700" b="0">
                <a:solidFill>
                  <a:srgbClr val="232925"/>
                </a:solidFill>
                <a:latin typeface="Arial"/>
              </a:rPr>
              <a:t>Record report tool, commit and exclusions.</a:t>
            </a:r>
          </a:p>
          <a:p>
            <a:pPr>
              <a:lnSpc>
                <a:spcPct val="107000"/>
              </a:lnSpc>
              <a:spcAft>
                <a:spcPts val="500"/>
              </a:spcAft>
            </a:pPr>
            <a:r>
              <a:rPr sz="1700" b="0">
                <a:solidFill>
                  <a:srgbClr val="232925"/>
                </a:solidFill>
                <a:latin typeface="Arial"/>
              </a:rPr>
              <a:t>Treat missing coverage as unknown.</a:t>
            </a:r>
          </a:p>
        </p:txBody>
      </p:sp>
      <p:sp>
        <p:nvSpPr>
          <p:cNvPr id="28" name="Separate queue time from execution."/>
          <p:cNvSpPr txBox="1"/>
          <p:nvPr/>
        </p:nvSpPr>
        <p:spPr>
          <a:xfrm>
            <a:off x="6400800" y="3639312"/>
            <a:ext cx="5166360" cy="13716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Separate queue time from execution.</a:t>
            </a:r>
          </a:p>
          <a:p>
            <a:pPr>
              <a:lnSpc>
                <a:spcPct val="107000"/>
              </a:lnSpc>
              <a:spcAft>
                <a:spcPts val="500"/>
              </a:spcAft>
            </a:pPr>
            <a:r>
              <a:rPr sz="1700" b="0">
                <a:solidFill>
                  <a:srgbClr val="232925"/>
                </a:solidFill>
                <a:latin typeface="Arial"/>
              </a:rPr>
              <a:t>Break out setup, build, tests and packaging.</a:t>
            </a:r>
          </a:p>
          <a:p>
            <a:pPr>
              <a:lnSpc>
                <a:spcPct val="107000"/>
              </a:lnSpc>
              <a:spcAft>
                <a:spcPts val="500"/>
              </a:spcAft>
            </a:pPr>
            <a:r>
              <a:rPr sz="1700" b="0">
                <a:solidFill>
                  <a:srgbClr val="232925"/>
                </a:solidFill>
                <a:latin typeface="Arial"/>
              </a:rPr>
              <a:t>Compare like runners and cache conditions.</a:t>
            </a:r>
          </a:p>
          <a:p>
            <a:pPr>
              <a:lnSpc>
                <a:spcPct val="107000"/>
              </a:lnSpc>
              <a:spcAft>
                <a:spcPts val="500"/>
              </a:spcAft>
            </a:pPr>
            <a:r>
              <a:rPr sz="1700" b="0">
                <a:solidFill>
                  <a:srgbClr val="232925"/>
                </a:solidFill>
                <a:latin typeface="Arial"/>
              </a:rPr>
              <a:t>Record the sample count and uncertainty.</a:t>
            </a:r>
          </a:p>
        </p:txBody>
      </p:sp>
      <p:sp>
        <p:nvSpPr>
          <p:cNvPr id="29" name="Rectangle 28"/>
          <p:cNvSpPr/>
          <p:nvPr/>
        </p:nvSpPr>
        <p:spPr>
          <a:xfrm>
            <a:off x="594360" y="5029200"/>
            <a:ext cx="10972800" cy="658368"/>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No universal build-time cutoff. No “safe” coverage percentag"/>
          <p:cNvSpPr txBox="1"/>
          <p:nvPr/>
        </p:nvSpPr>
        <p:spPr>
          <a:xfrm>
            <a:off x="795528" y="5202936"/>
            <a:ext cx="1051560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No universal build-time cutoff. No “safe” coverage percentage.</a:t>
            </a:r>
          </a:p>
        </p:txBody>
      </p:sp>
      <p:sp>
        <p:nvSpPr>
          <p:cNvPr id="31" name="Chip: Illustrative"/>
          <p:cNvSpPr/>
          <p:nvPr/>
        </p:nvSpPr>
        <p:spPr>
          <a:xfrm>
            <a:off x="594360" y="5870448"/>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32" name="A sample journey and generic pipeline stages. No coverage or"/>
          <p:cNvSpPr txBox="1"/>
          <p:nvPr/>
        </p:nvSpPr>
        <p:spPr>
          <a:xfrm>
            <a:off x="1783080" y="5897880"/>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A sample journey and generic pipeline stages. No coverage or timing values are shown.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 bounded pilot. Four explicit review gat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 bounded pilot. Four explicit review gates.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8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08 / 17</a:t>
            </a:r>
          </a:p>
        </p:txBody>
      </p:sp>
      <p:sp>
        <p:nvSpPr>
          <p:cNvPr id="7" name="Rectangle 6"/>
          <p:cNvSpPr/>
          <p:nvPr/>
        </p:nvSpPr>
        <p:spPr>
          <a:xfrm>
            <a:off x="5943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Human review gate"/>
          <p:cNvSpPr/>
          <p:nvPr/>
        </p:nvSpPr>
        <p:spPr>
          <a:xfrm>
            <a:off x="3017520"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eek 1"/>
          <p:cNvSpPr txBox="1"/>
          <p:nvPr/>
        </p:nvSpPr>
        <p:spPr>
          <a:xfrm>
            <a:off x="5943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1</a:t>
            </a:r>
          </a:p>
          <a:p>
            <a:pPr>
              <a:lnSpc>
                <a:spcPct val="107000"/>
              </a:lnSpc>
              <a:spcAft>
                <a:spcPts val="500"/>
              </a:spcAft>
            </a:pPr>
            <a:r>
              <a:rPr sz="2400" b="1">
                <a:solidFill>
                  <a:srgbClr val="08872B"/>
                </a:solidFill>
                <a:latin typeface="Mona Sans"/>
              </a:rPr>
              <a:t>Discover</a:t>
            </a:r>
          </a:p>
        </p:txBody>
      </p:sp>
      <p:sp>
        <p:nvSpPr>
          <p:cNvPr id="10" name="Scope one journey."/>
          <p:cNvSpPr txBox="1"/>
          <p:nvPr/>
        </p:nvSpPr>
        <p:spPr>
          <a:xfrm>
            <a:off x="5943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Scope one journey.</a:t>
            </a:r>
          </a:p>
          <a:p>
            <a:pPr>
              <a:lnSpc>
                <a:spcPct val="107000"/>
              </a:lnSpc>
              <a:spcAft>
                <a:spcPts val="500"/>
              </a:spcAft>
            </a:pPr>
            <a:r>
              <a:rPr sz="1800" b="0">
                <a:solidFill>
                  <a:srgbClr val="232925"/>
                </a:solidFill>
                <a:latin typeface="Arial"/>
              </a:rPr>
              <a:t>Map the service.</a:t>
            </a:r>
          </a:p>
          <a:p>
            <a:pPr>
              <a:lnSpc>
                <a:spcPct val="107000"/>
              </a:lnSpc>
              <a:spcAft>
                <a:spcPts val="500"/>
              </a:spcAft>
            </a:pPr>
            <a:r>
              <a:rPr sz="1800" b="0">
                <a:solidFill>
                  <a:srgbClr val="232925"/>
                </a:solidFill>
                <a:latin typeface="Arial"/>
              </a:rPr>
              <a:t>Name the owner.</a:t>
            </a:r>
          </a:p>
        </p:txBody>
      </p:sp>
      <p:sp>
        <p:nvSpPr>
          <p:cNvPr id="11" name="Rectangle 10"/>
          <p:cNvSpPr/>
          <p:nvPr/>
        </p:nvSpPr>
        <p:spPr>
          <a:xfrm>
            <a:off x="5943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Human review gate"/>
          <p:cNvSpPr/>
          <p:nvPr/>
        </p:nvSpPr>
        <p:spPr>
          <a:xfrm>
            <a:off x="5943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wner approves"/>
          <p:cNvSpPr txBox="1"/>
          <p:nvPr/>
        </p:nvSpPr>
        <p:spPr>
          <a:xfrm>
            <a:off x="9601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approves</a:t>
            </a:r>
          </a:p>
          <a:p>
            <a:pPr>
              <a:lnSpc>
                <a:spcPct val="107000"/>
              </a:lnSpc>
              <a:spcAft>
                <a:spcPts val="500"/>
              </a:spcAft>
            </a:pPr>
            <a:r>
              <a:rPr sz="1700" b="1">
                <a:solidFill>
                  <a:srgbClr val="101411"/>
                </a:solidFill>
                <a:latin typeface="Arial"/>
              </a:rPr>
              <a:t>scope + map.</a:t>
            </a:r>
          </a:p>
        </p:txBody>
      </p:sp>
      <p:sp>
        <p:nvSpPr>
          <p:cNvPr id="14" name="Rectangle 13"/>
          <p:cNvSpPr/>
          <p:nvPr/>
        </p:nvSpPr>
        <p:spPr>
          <a:xfrm>
            <a:off x="33375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Human review gate"/>
          <p:cNvSpPr/>
          <p:nvPr/>
        </p:nvSpPr>
        <p:spPr>
          <a:xfrm>
            <a:off x="57607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Week 2"/>
          <p:cNvSpPr txBox="1"/>
          <p:nvPr/>
        </p:nvSpPr>
        <p:spPr>
          <a:xfrm>
            <a:off x="33375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2</a:t>
            </a:r>
          </a:p>
          <a:p>
            <a:pPr>
              <a:lnSpc>
                <a:spcPct val="107000"/>
              </a:lnSpc>
              <a:spcAft>
                <a:spcPts val="500"/>
              </a:spcAft>
            </a:pPr>
            <a:r>
              <a:rPr sz="2400" b="1">
                <a:solidFill>
                  <a:srgbClr val="08872B"/>
                </a:solidFill>
                <a:latin typeface="Mona Sans"/>
              </a:rPr>
              <a:t>Baseline</a:t>
            </a:r>
          </a:p>
        </p:txBody>
      </p:sp>
      <p:sp>
        <p:nvSpPr>
          <p:cNvPr id="17" name="Inspect CI/test data."/>
          <p:cNvSpPr txBox="1"/>
          <p:nvPr/>
        </p:nvSpPr>
        <p:spPr>
          <a:xfrm>
            <a:off x="33375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Inspect CI/test data.</a:t>
            </a:r>
          </a:p>
          <a:p>
            <a:pPr>
              <a:lnSpc>
                <a:spcPct val="107000"/>
              </a:lnSpc>
              <a:spcAft>
                <a:spcPts val="500"/>
              </a:spcAft>
            </a:pPr>
            <a:r>
              <a:rPr sz="1800" b="0">
                <a:solidFill>
                  <a:srgbClr val="232925"/>
                </a:solidFill>
                <a:latin typeface="Arial"/>
              </a:rPr>
              <a:t>Measure only with</a:t>
            </a:r>
          </a:p>
          <a:p>
            <a:pPr>
              <a:lnSpc>
                <a:spcPct val="107000"/>
              </a:lnSpc>
              <a:spcAft>
                <a:spcPts val="500"/>
              </a:spcAft>
            </a:pPr>
            <a:r>
              <a:rPr sz="1800" b="0">
                <a:solidFill>
                  <a:srgbClr val="232925"/>
                </a:solidFill>
                <a:latin typeface="Arial"/>
              </a:rPr>
              <a:t>separate approval.</a:t>
            </a:r>
          </a:p>
        </p:txBody>
      </p:sp>
      <p:sp>
        <p:nvSpPr>
          <p:cNvPr id="18" name="Rectangle 17"/>
          <p:cNvSpPr/>
          <p:nvPr/>
        </p:nvSpPr>
        <p:spPr>
          <a:xfrm>
            <a:off x="33375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uman review gate"/>
          <p:cNvSpPr/>
          <p:nvPr/>
        </p:nvSpPr>
        <p:spPr>
          <a:xfrm>
            <a:off x="33375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wner + specialist"/>
          <p:cNvSpPr txBox="1"/>
          <p:nvPr/>
        </p:nvSpPr>
        <p:spPr>
          <a:xfrm>
            <a:off x="37033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 specialist</a:t>
            </a:r>
          </a:p>
          <a:p>
            <a:pPr>
              <a:lnSpc>
                <a:spcPct val="107000"/>
              </a:lnSpc>
              <a:spcAft>
                <a:spcPts val="500"/>
              </a:spcAft>
            </a:pPr>
            <a:r>
              <a:rPr sz="1700" b="1">
                <a:solidFill>
                  <a:srgbClr val="101411"/>
                </a:solidFill>
                <a:latin typeface="Arial"/>
              </a:rPr>
              <a:t>accept the baseline.</a:t>
            </a:r>
          </a:p>
        </p:txBody>
      </p:sp>
      <p:sp>
        <p:nvSpPr>
          <p:cNvPr id="21" name="Rectangle 20"/>
          <p:cNvSpPr/>
          <p:nvPr/>
        </p:nvSpPr>
        <p:spPr>
          <a:xfrm>
            <a:off x="60807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uman review gate"/>
          <p:cNvSpPr/>
          <p:nvPr/>
        </p:nvSpPr>
        <p:spPr>
          <a:xfrm>
            <a:off x="85039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Week 3"/>
          <p:cNvSpPr txBox="1"/>
          <p:nvPr/>
        </p:nvSpPr>
        <p:spPr>
          <a:xfrm>
            <a:off x="60807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3</a:t>
            </a:r>
          </a:p>
          <a:p>
            <a:pPr>
              <a:lnSpc>
                <a:spcPct val="107000"/>
              </a:lnSpc>
              <a:spcAft>
                <a:spcPts val="500"/>
              </a:spcAft>
            </a:pPr>
            <a:r>
              <a:rPr sz="2400" b="1">
                <a:solidFill>
                  <a:srgbClr val="08872B"/>
                </a:solidFill>
                <a:latin typeface="Mona Sans"/>
              </a:rPr>
              <a:t>Decide</a:t>
            </a:r>
          </a:p>
        </p:txBody>
      </p:sp>
      <p:sp>
        <p:nvSpPr>
          <p:cNvPr id="24" name="Create candidate issues."/>
          <p:cNvSpPr txBox="1"/>
          <p:nvPr/>
        </p:nvSpPr>
        <p:spPr>
          <a:xfrm>
            <a:off x="60807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Create candidate issues.</a:t>
            </a:r>
          </a:p>
          <a:p>
            <a:pPr>
              <a:lnSpc>
                <a:spcPct val="107000"/>
              </a:lnSpc>
              <a:spcAft>
                <a:spcPts val="500"/>
              </a:spcAft>
            </a:pPr>
            <a:r>
              <a:rPr sz="1800" b="0">
                <a:solidFill>
                  <a:srgbClr val="232925"/>
                </a:solidFill>
                <a:latin typeface="Arial"/>
              </a:rPr>
              <a:t>Compare value, risk</a:t>
            </a:r>
          </a:p>
          <a:p>
            <a:pPr>
              <a:lnSpc>
                <a:spcPct val="107000"/>
              </a:lnSpc>
              <a:spcAft>
                <a:spcPts val="500"/>
              </a:spcAft>
            </a:pPr>
            <a:r>
              <a:rPr sz="1800" b="0">
                <a:solidFill>
                  <a:srgbClr val="232925"/>
                </a:solidFill>
                <a:latin typeface="Arial"/>
              </a:rPr>
              <a:t>and confidence.</a:t>
            </a:r>
          </a:p>
        </p:txBody>
      </p:sp>
      <p:sp>
        <p:nvSpPr>
          <p:cNvPr id="25" name="Rectangle 24"/>
          <p:cNvSpPr/>
          <p:nvPr/>
        </p:nvSpPr>
        <p:spPr>
          <a:xfrm>
            <a:off x="60807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Human review gate"/>
          <p:cNvSpPr/>
          <p:nvPr/>
        </p:nvSpPr>
        <p:spPr>
          <a:xfrm>
            <a:off x="60807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ponsor approves"/>
          <p:cNvSpPr txBox="1"/>
          <p:nvPr/>
        </p:nvSpPr>
        <p:spPr>
          <a:xfrm>
            <a:off x="64465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Sponsor approves</a:t>
            </a:r>
          </a:p>
          <a:p>
            <a:pPr>
              <a:lnSpc>
                <a:spcPct val="107000"/>
              </a:lnSpc>
              <a:spcAft>
                <a:spcPts val="500"/>
              </a:spcAft>
            </a:pPr>
            <a:r>
              <a:rPr sz="1700" b="1">
                <a:solidFill>
                  <a:srgbClr val="101411"/>
                </a:solidFill>
                <a:latin typeface="Arial"/>
              </a:rPr>
              <a:t>one bounded action.</a:t>
            </a:r>
          </a:p>
        </p:txBody>
      </p:sp>
      <p:sp>
        <p:nvSpPr>
          <p:cNvPr id="28" name="Rectangle 27"/>
          <p:cNvSpPr/>
          <p:nvPr/>
        </p:nvSpPr>
        <p:spPr>
          <a:xfrm>
            <a:off x="88239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Human review gate"/>
          <p:cNvSpPr/>
          <p:nvPr/>
        </p:nvSpPr>
        <p:spPr>
          <a:xfrm>
            <a:off x="112471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Week 4"/>
          <p:cNvSpPr txBox="1"/>
          <p:nvPr/>
        </p:nvSpPr>
        <p:spPr>
          <a:xfrm>
            <a:off x="88239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4</a:t>
            </a:r>
          </a:p>
          <a:p>
            <a:pPr>
              <a:lnSpc>
                <a:spcPct val="107000"/>
              </a:lnSpc>
              <a:spcAft>
                <a:spcPts val="500"/>
              </a:spcAft>
            </a:pPr>
            <a:r>
              <a:rPr sz="2400" b="1">
                <a:solidFill>
                  <a:srgbClr val="08872B"/>
                </a:solidFill>
                <a:latin typeface="Mona Sans"/>
              </a:rPr>
              <a:t>Prove</a:t>
            </a:r>
          </a:p>
        </p:txBody>
      </p:sp>
      <p:sp>
        <p:nvSpPr>
          <p:cNvPr id="31" name="Use a reviewed PR."/>
          <p:cNvSpPr txBox="1"/>
          <p:nvPr/>
        </p:nvSpPr>
        <p:spPr>
          <a:xfrm>
            <a:off x="88239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Use a reviewed PR.</a:t>
            </a:r>
          </a:p>
          <a:p>
            <a:pPr>
              <a:lnSpc>
                <a:spcPct val="107000"/>
              </a:lnSpc>
              <a:spcAft>
                <a:spcPts val="500"/>
              </a:spcAft>
            </a:pPr>
            <a:r>
              <a:rPr sz="1800" b="0">
                <a:solidFill>
                  <a:srgbClr val="232925"/>
                </a:solidFill>
                <a:latin typeface="Arial"/>
              </a:rPr>
              <a:t>Remeasure comparably.</a:t>
            </a:r>
          </a:p>
          <a:p>
            <a:pPr>
              <a:lnSpc>
                <a:spcPct val="107000"/>
              </a:lnSpc>
              <a:spcAft>
                <a:spcPts val="500"/>
              </a:spcAft>
            </a:pPr>
            <a:r>
              <a:rPr sz="1800" b="0">
                <a:solidFill>
                  <a:srgbClr val="232925"/>
                </a:solidFill>
                <a:latin typeface="Arial"/>
              </a:rPr>
              <a:t>Document rollback.</a:t>
            </a:r>
          </a:p>
        </p:txBody>
      </p:sp>
      <p:sp>
        <p:nvSpPr>
          <p:cNvPr id="32" name="Rectangle 31"/>
          <p:cNvSpPr/>
          <p:nvPr/>
        </p:nvSpPr>
        <p:spPr>
          <a:xfrm>
            <a:off x="88239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Human review gate"/>
          <p:cNvSpPr/>
          <p:nvPr/>
        </p:nvSpPr>
        <p:spPr>
          <a:xfrm>
            <a:off x="88239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wner accepts;"/>
          <p:cNvSpPr txBox="1"/>
          <p:nvPr/>
        </p:nvSpPr>
        <p:spPr>
          <a:xfrm>
            <a:off x="91897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accepts;</a:t>
            </a:r>
          </a:p>
          <a:p>
            <a:pPr>
              <a:lnSpc>
                <a:spcPct val="107000"/>
              </a:lnSpc>
              <a:spcAft>
                <a:spcPts val="500"/>
              </a:spcAft>
            </a:pPr>
            <a:r>
              <a:rPr sz="1700" b="1">
                <a:solidFill>
                  <a:srgbClr val="101411"/>
                </a:solidFill>
                <a:latin typeface="Arial"/>
              </a:rPr>
              <a:t>sponsor decides scale.</a:t>
            </a:r>
          </a:p>
        </p:txBody>
      </p:sp>
      <p:sp>
        <p:nvSpPr>
          <p:cNvPr id="35" name="Chip: Illustrative"/>
          <p:cNvSpPr/>
          <p:nvPr/>
        </p:nvSpPr>
        <p:spPr>
          <a:xfrm>
            <a:off x="594360" y="5742432"/>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36" name="Planning assumption, one repository first. Diamonds mark hum"/>
          <p:cNvSpPr txBox="1"/>
          <p:nvPr/>
        </p:nvSpPr>
        <p:spPr>
          <a:xfrm>
            <a:off x="1783080" y="5769864"/>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Planning assumption, one repository first. Diamonds mark human review gates.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urn findings into an owned GitHub projec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Turn findings into an owned GitHub project.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9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09 / 17</a:t>
            </a:r>
          </a:p>
        </p:txBody>
      </p:sp>
      <p:sp>
        <p:nvSpPr>
          <p:cNvPr id="7" name="Changeability &amp; Modernization"/>
          <p:cNvSpPr txBox="1"/>
          <p:nvPr/>
        </p:nvSpPr>
        <p:spPr>
          <a:xfrm>
            <a:off x="594360" y="1627632"/>
            <a:ext cx="10789920" cy="502920"/>
          </a:xfrm>
          <a:prstGeom prst="rect">
            <a:avLst/>
          </a:prstGeom>
          <a:noFill/>
        </p:spPr>
        <p:txBody>
          <a:bodyPr wrap="square" lIns="0" rIns="0" tIns="0" bIns="0">
            <a:spAutoFit/>
          </a:bodyPr>
          <a:lstStyle/>
          <a:p>
            <a:pPr>
              <a:lnSpc>
                <a:spcPct val="107000"/>
              </a:lnSpc>
              <a:spcAft>
                <a:spcPts val="500"/>
              </a:spcAft>
            </a:pPr>
            <a:r>
              <a:rPr sz="2700" b="1">
                <a:solidFill>
                  <a:srgbClr val="08872B"/>
                </a:solidFill>
                <a:latin typeface="Mona Sans"/>
              </a:rPr>
              <a:t>Changeability &amp; Modernization</a:t>
            </a:r>
          </a:p>
        </p:txBody>
      </p:sp>
      <p:sp>
        <p:nvSpPr>
          <p:cNvPr id="8" name="Rectangle 7"/>
          <p:cNvSpPr/>
          <p:nvPr/>
        </p:nvSpPr>
        <p:spPr>
          <a:xfrm>
            <a:off x="594360"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scovery"/>
          <p:cNvSpPr txBox="1"/>
          <p:nvPr/>
        </p:nvSpPr>
        <p:spPr>
          <a:xfrm>
            <a:off x="758952"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Discovery</a:t>
            </a:r>
          </a:p>
        </p:txBody>
      </p:sp>
      <p:sp>
        <p:nvSpPr>
          <p:cNvPr id="10" name="Rectangle 9"/>
          <p:cNvSpPr/>
          <p:nvPr/>
        </p:nvSpPr>
        <p:spPr>
          <a:xfrm>
            <a:off x="740664"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p validation callers"/>
          <p:cNvSpPr txBox="1"/>
          <p:nvPr/>
        </p:nvSpPr>
        <p:spPr>
          <a:xfrm>
            <a:off x="859536"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Map validation callers</a:t>
            </a:r>
          </a:p>
        </p:txBody>
      </p:sp>
      <p:sp>
        <p:nvSpPr>
          <p:cNvPr id="12" name="Rectangle 11"/>
          <p:cNvSpPr/>
          <p:nvPr/>
        </p:nvSpPr>
        <p:spPr>
          <a:xfrm>
            <a:off x="3401568"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Evidence review"/>
          <p:cNvSpPr txBox="1"/>
          <p:nvPr/>
        </p:nvSpPr>
        <p:spPr>
          <a:xfrm>
            <a:off x="3566160"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Evidence review</a:t>
            </a:r>
          </a:p>
        </p:txBody>
      </p:sp>
      <p:sp>
        <p:nvSpPr>
          <p:cNvPr id="14" name="Rectangle 13"/>
          <p:cNvSpPr/>
          <p:nvPr/>
        </p:nvSpPr>
        <p:spPr>
          <a:xfrm>
            <a:off x="3547872"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spect CI stage timings"/>
          <p:cNvSpPr txBox="1"/>
          <p:nvPr/>
        </p:nvSpPr>
        <p:spPr>
          <a:xfrm>
            <a:off x="3666744"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Inspect CI stage timings</a:t>
            </a:r>
          </a:p>
        </p:txBody>
      </p:sp>
      <p:sp>
        <p:nvSpPr>
          <p:cNvPr id="16" name="Rectangle 15"/>
          <p:cNvSpPr/>
          <p:nvPr/>
        </p:nvSpPr>
        <p:spPr>
          <a:xfrm>
            <a:off x="6208776"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pproved"/>
          <p:cNvSpPr txBox="1"/>
          <p:nvPr/>
        </p:nvSpPr>
        <p:spPr>
          <a:xfrm>
            <a:off x="6373368"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Approved</a:t>
            </a:r>
          </a:p>
        </p:txBody>
      </p:sp>
      <p:sp>
        <p:nvSpPr>
          <p:cNvPr id="18" name="Rectangle 17"/>
          <p:cNvSpPr/>
          <p:nvPr/>
        </p:nvSpPr>
        <p:spPr>
          <a:xfrm>
            <a:off x="6355080"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dd agreed behavior tests"/>
          <p:cNvSpPr txBox="1"/>
          <p:nvPr/>
        </p:nvSpPr>
        <p:spPr>
          <a:xfrm>
            <a:off x="6473952"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Add agreed behavior tests</a:t>
            </a:r>
          </a:p>
        </p:txBody>
      </p:sp>
      <p:sp>
        <p:nvSpPr>
          <p:cNvPr id="20" name="Rectangle 19"/>
          <p:cNvSpPr/>
          <p:nvPr/>
        </p:nvSpPr>
        <p:spPr>
          <a:xfrm>
            <a:off x="9015984"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Validating"/>
          <p:cNvSpPr txBox="1"/>
          <p:nvPr/>
        </p:nvSpPr>
        <p:spPr>
          <a:xfrm>
            <a:off x="9180576"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Validating</a:t>
            </a:r>
          </a:p>
        </p:txBody>
      </p:sp>
      <p:sp>
        <p:nvSpPr>
          <p:cNvPr id="22" name="Rectangle 21"/>
          <p:cNvSpPr/>
          <p:nvPr/>
        </p:nvSpPr>
        <p:spPr>
          <a:xfrm>
            <a:off x="9162288"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mpare baseline + PR"/>
          <p:cNvSpPr txBox="1"/>
          <p:nvPr/>
        </p:nvSpPr>
        <p:spPr>
          <a:xfrm>
            <a:off x="9281159"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Compare baseline + PR</a:t>
            </a:r>
          </a:p>
        </p:txBody>
      </p:sp>
      <p:sp>
        <p:nvSpPr>
          <p:cNvPr id="24" name="Each issue carries evidence, baseline, owner, reviewer,"/>
          <p:cNvSpPr txBox="1"/>
          <p:nvPr/>
        </p:nvSpPr>
        <p:spPr>
          <a:xfrm>
            <a:off x="594360" y="4773168"/>
            <a:ext cx="10927080" cy="82296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Each issue carries evidence, baseline, owner, reviewer,</a:t>
            </a:r>
          </a:p>
          <a:p>
            <a:pPr>
              <a:lnSpc>
                <a:spcPct val="107000"/>
              </a:lnSpc>
              <a:spcAft>
                <a:spcPts val="500"/>
              </a:spcAft>
            </a:pPr>
            <a:r>
              <a:rPr sz="2400" b="1">
                <a:solidFill>
                  <a:srgbClr val="101411"/>
                </a:solidFill>
                <a:latin typeface="Mona Sans"/>
              </a:rPr>
              <a:t>acceptance criteria, dependencies, risk and rollback.</a:t>
            </a:r>
          </a:p>
        </p:txBody>
      </p:sp>
      <p:sp>
        <p:nvSpPr>
          <p:cNvPr id="25" name="Chip: Illustrative"/>
          <p:cNvSpPr/>
          <p:nvPr/>
        </p:nvSpPr>
        <p:spPr>
          <a:xfrm>
            <a:off x="594360" y="5760720"/>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26" name="Project design, not a live board. Status values do not enfor"/>
          <p:cNvSpPr txBox="1"/>
          <p:nvPr/>
        </p:nvSpPr>
        <p:spPr>
          <a:xfrm>
            <a:off x="1783080" y="5788152"/>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Project design, not a live board. Status values do not enforce approvals.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 backlog of hypotheses—not a list of rewrit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 backlog of hypotheses—not a list of rewrites.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0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10 / 17</a:t>
            </a:r>
          </a:p>
        </p:txBody>
      </p:sp>
      <p:sp>
        <p:nvSpPr>
          <p:cNvPr id="7" name="Rectangle 6"/>
          <p:cNvSpPr/>
          <p:nvPr/>
        </p:nvSpPr>
        <p:spPr>
          <a:xfrm>
            <a:off x="594360" y="1664208"/>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ndidate work"/>
          <p:cNvSpPr txBox="1"/>
          <p:nvPr/>
        </p:nvSpPr>
        <p:spPr>
          <a:xfrm>
            <a:off x="704088" y="1773936"/>
            <a:ext cx="288950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Candidate work</a:t>
            </a:r>
          </a:p>
        </p:txBody>
      </p:sp>
      <p:sp>
        <p:nvSpPr>
          <p:cNvPr id="9" name="Evidence before approval"/>
          <p:cNvSpPr txBox="1"/>
          <p:nvPr/>
        </p:nvSpPr>
        <p:spPr>
          <a:xfrm>
            <a:off x="3813048" y="1773936"/>
            <a:ext cx="458114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Evidence before approval</a:t>
            </a:r>
          </a:p>
        </p:txBody>
      </p:sp>
      <p:sp>
        <p:nvSpPr>
          <p:cNvPr id="10" name="Smallest next step"/>
          <p:cNvSpPr txBox="1"/>
          <p:nvPr/>
        </p:nvSpPr>
        <p:spPr>
          <a:xfrm>
            <a:off x="8613648" y="1773936"/>
            <a:ext cx="284378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Smallest next step</a:t>
            </a:r>
          </a:p>
        </p:txBody>
      </p:sp>
      <p:sp>
        <p:nvSpPr>
          <p:cNvPr id="11" name="Rectangle 10"/>
          <p:cNvSpPr/>
          <p:nvPr/>
        </p:nvSpPr>
        <p:spPr>
          <a:xfrm>
            <a:off x="594360" y="3070555"/>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tect the critical path"/>
          <p:cNvSpPr txBox="1"/>
          <p:nvPr/>
        </p:nvSpPr>
        <p:spPr>
          <a:xfrm>
            <a:off x="704088" y="2459736"/>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Protect the critical path</a:t>
            </a:r>
          </a:p>
        </p:txBody>
      </p:sp>
      <p:sp>
        <p:nvSpPr>
          <p:cNvPr id="13" name="Owner-confirmed behavior"/>
          <p:cNvSpPr txBox="1"/>
          <p:nvPr/>
        </p:nvSpPr>
        <p:spPr>
          <a:xfrm>
            <a:off x="3813048" y="2459736"/>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Owner-confirmed behavior</a:t>
            </a:r>
          </a:p>
          <a:p>
            <a:pPr>
              <a:lnSpc>
                <a:spcPct val="107000"/>
              </a:lnSpc>
              <a:spcAft>
                <a:spcPts val="500"/>
              </a:spcAft>
            </a:pPr>
            <a:r>
              <a:rPr sz="1700" b="0">
                <a:solidFill>
                  <a:srgbClr val="232925"/>
                </a:solidFill>
                <a:latin typeface="Arial"/>
              </a:rPr>
              <a:t>and a demonstrable test gap</a:t>
            </a:r>
          </a:p>
        </p:txBody>
      </p:sp>
      <p:sp>
        <p:nvSpPr>
          <p:cNvPr id="14" name="Characterization tests"/>
          <p:cNvSpPr txBox="1"/>
          <p:nvPr/>
        </p:nvSpPr>
        <p:spPr>
          <a:xfrm>
            <a:off x="8613648" y="2459736"/>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Characterization tests</a:t>
            </a:r>
          </a:p>
        </p:txBody>
      </p:sp>
      <p:sp>
        <p:nvSpPr>
          <p:cNvPr id="15" name="Rectangle 14"/>
          <p:cNvSpPr/>
          <p:nvPr/>
        </p:nvSpPr>
        <p:spPr>
          <a:xfrm>
            <a:off x="594360" y="390265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nvestigate slow CI setup"/>
          <p:cNvSpPr txBox="1"/>
          <p:nvPr/>
        </p:nvSpPr>
        <p:spPr>
          <a:xfrm>
            <a:off x="704088" y="3291840"/>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Investigate slow CI setup</a:t>
            </a:r>
          </a:p>
        </p:txBody>
      </p:sp>
      <p:sp>
        <p:nvSpPr>
          <p:cNvPr id="17" name="Comparable step timings"/>
          <p:cNvSpPr txBox="1"/>
          <p:nvPr/>
        </p:nvSpPr>
        <p:spPr>
          <a:xfrm>
            <a:off x="3813048" y="3291840"/>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Comparable step timings</a:t>
            </a:r>
          </a:p>
          <a:p>
            <a:pPr>
              <a:lnSpc>
                <a:spcPct val="107000"/>
              </a:lnSpc>
              <a:spcAft>
                <a:spcPts val="500"/>
              </a:spcAft>
            </a:pPr>
            <a:r>
              <a:rPr sz="1700" b="0">
                <a:solidFill>
                  <a:srgbClr val="232925"/>
                </a:solidFill>
                <a:latin typeface="Arial"/>
              </a:rPr>
              <a:t>and observed cache behavior</a:t>
            </a:r>
          </a:p>
        </p:txBody>
      </p:sp>
      <p:sp>
        <p:nvSpPr>
          <p:cNvPr id="18" name="Trace the delay first"/>
          <p:cNvSpPr txBox="1"/>
          <p:nvPr/>
        </p:nvSpPr>
        <p:spPr>
          <a:xfrm>
            <a:off x="8613648" y="3291840"/>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Trace the delay first</a:t>
            </a:r>
          </a:p>
        </p:txBody>
      </p:sp>
      <p:sp>
        <p:nvSpPr>
          <p:cNvPr id="19" name="Rectangle 18"/>
          <p:cNvSpPr/>
          <p:nvPr/>
        </p:nvSpPr>
        <p:spPr>
          <a:xfrm>
            <a:off x="594360" y="4734763"/>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Assess runtime support"/>
          <p:cNvSpPr txBox="1"/>
          <p:nvPr/>
        </p:nvSpPr>
        <p:spPr>
          <a:xfrm>
            <a:off x="704088" y="4123944"/>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Assess runtime support</a:t>
            </a:r>
          </a:p>
        </p:txBody>
      </p:sp>
      <p:sp>
        <p:nvSpPr>
          <p:cNvPr id="21" name="Installed version and current"/>
          <p:cNvSpPr txBox="1"/>
          <p:nvPr/>
        </p:nvSpPr>
        <p:spPr>
          <a:xfrm>
            <a:off x="3813048" y="4123944"/>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Installed version and current</a:t>
            </a:r>
          </a:p>
          <a:p>
            <a:pPr>
              <a:lnSpc>
                <a:spcPct val="107000"/>
              </a:lnSpc>
              <a:spcAft>
                <a:spcPts val="500"/>
              </a:spcAft>
            </a:pPr>
            <a:r>
              <a:rPr sz="1700" b="0">
                <a:solidFill>
                  <a:srgbClr val="232925"/>
                </a:solidFill>
                <a:latin typeface="Arial"/>
              </a:rPr>
              <a:t>vendor support policy</a:t>
            </a:r>
          </a:p>
        </p:txBody>
      </p:sp>
      <p:sp>
        <p:nvSpPr>
          <p:cNvPr id="22" name="Retain / upgrade / isolate"/>
          <p:cNvSpPr txBox="1"/>
          <p:nvPr/>
        </p:nvSpPr>
        <p:spPr>
          <a:xfrm>
            <a:off x="8613648" y="4123944"/>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Retain / upgrade / isolate</a:t>
            </a:r>
          </a:p>
        </p:txBody>
      </p:sp>
      <p:sp>
        <p:nvSpPr>
          <p:cNvPr id="23" name="Rectangle 22"/>
          <p:cNvSpPr/>
          <p:nvPr/>
        </p:nvSpPr>
        <p:spPr>
          <a:xfrm>
            <a:off x="594360" y="5566867"/>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duce ownership risk"/>
          <p:cNvSpPr txBox="1"/>
          <p:nvPr/>
        </p:nvSpPr>
        <p:spPr>
          <a:xfrm>
            <a:off x="704088" y="4956048"/>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Reduce ownership risk</a:t>
            </a:r>
          </a:p>
        </p:txBody>
      </p:sp>
      <p:sp>
        <p:nvSpPr>
          <p:cNvPr id="25" name="A verified ownership or"/>
          <p:cNvSpPr txBox="1"/>
          <p:nvPr/>
        </p:nvSpPr>
        <p:spPr>
          <a:xfrm>
            <a:off x="3813048" y="4956048"/>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 verified ownership or</a:t>
            </a:r>
          </a:p>
          <a:p>
            <a:pPr>
              <a:lnSpc>
                <a:spcPct val="107000"/>
              </a:lnSpc>
              <a:spcAft>
                <a:spcPts val="500"/>
              </a:spcAft>
            </a:pPr>
            <a:r>
              <a:rPr sz="1700" b="0">
                <a:solidFill>
                  <a:srgbClr val="232925"/>
                </a:solidFill>
                <a:latin typeface="Arial"/>
              </a:rPr>
              <a:t>release-recovery documentation gap</a:t>
            </a:r>
          </a:p>
        </p:txBody>
      </p:sp>
      <p:sp>
        <p:nvSpPr>
          <p:cNvPr id="26" name="Review a reusable runbook"/>
          <p:cNvSpPr txBox="1"/>
          <p:nvPr/>
        </p:nvSpPr>
        <p:spPr>
          <a:xfrm>
            <a:off x="8613648" y="4956048"/>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Review a reusable runbook</a:t>
            </a:r>
          </a:p>
        </p:txBody>
      </p:sp>
      <p:sp>
        <p:nvSpPr>
          <p:cNvPr id="27" name="Chip: Illustrative"/>
          <p:cNvSpPr/>
          <p:nvPr/>
        </p:nvSpPr>
        <p:spPr>
          <a:xfrm>
            <a:off x="594360" y="5797296"/>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28" name="Candidates, not findings about this repository."/>
          <p:cNvSpPr txBox="1"/>
          <p:nvPr/>
        </p:nvSpPr>
        <p:spPr>
          <a:xfrm>
            <a:off x="1783080" y="5824728"/>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Candidates, not findings about this repository.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rioritize business value and change confidenc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Prioritize business value and change confidence.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1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11 / 17</a:t>
            </a:r>
          </a:p>
        </p:txBody>
      </p:sp>
      <p:sp>
        <p:nvSpPr>
          <p:cNvPr id="7" name="Low"/>
          <p:cNvSpPr txBox="1"/>
          <p:nvPr/>
        </p:nvSpPr>
        <p:spPr>
          <a:xfrm rot="16200000">
            <a:off x="-708659" y="3049524"/>
            <a:ext cx="3337560" cy="256032"/>
          </a:xfrm>
          <a:prstGeom prst="rect">
            <a:avLst/>
          </a:prstGeom>
          <a:noFill/>
        </p:spPr>
        <p:txBody>
          <a:bodyPr wrap="square" lIns="0" rIns="0" tIns="0" bIns="0">
            <a:spAutoFit/>
          </a:bodyPr>
          <a:lstStyle/>
          <a:p>
            <a:pPr algn="l">
              <a:lnSpc>
                <a:spcPct val="107000"/>
              </a:lnSpc>
              <a:spcAft>
                <a:spcPts val="500"/>
              </a:spcAft>
            </a:pPr>
            <a:r>
              <a:rPr sz="1400" b="1">
                <a:solidFill>
                  <a:srgbClr val="232925"/>
                </a:solidFill>
                <a:latin typeface="Arial"/>
              </a:rPr>
              <a:t>Low</a:t>
            </a:r>
          </a:p>
        </p:txBody>
      </p:sp>
      <p:sp>
        <p:nvSpPr>
          <p:cNvPr id="8" name="Business criticality  →"/>
          <p:cNvSpPr txBox="1"/>
          <p:nvPr/>
        </p:nvSpPr>
        <p:spPr>
          <a:xfrm rot="16200000">
            <a:off x="-708659" y="3049524"/>
            <a:ext cx="3337560" cy="256032"/>
          </a:xfrm>
          <a:prstGeom prst="rect">
            <a:avLst/>
          </a:prstGeom>
          <a:noFill/>
        </p:spPr>
        <p:txBody>
          <a:bodyPr wrap="square" lIns="0" rIns="0" tIns="0" bIns="0">
            <a:spAutoFit/>
          </a:bodyPr>
          <a:lstStyle/>
          <a:p>
            <a:pPr algn="ctr">
              <a:lnSpc>
                <a:spcPct val="107000"/>
              </a:lnSpc>
              <a:spcAft>
                <a:spcPts val="500"/>
              </a:spcAft>
            </a:pPr>
            <a:r>
              <a:rPr sz="1400" b="1">
                <a:solidFill>
                  <a:srgbClr val="232925"/>
                </a:solidFill>
                <a:latin typeface="Arial"/>
              </a:rPr>
              <a:t>Business criticality  →</a:t>
            </a:r>
          </a:p>
        </p:txBody>
      </p:sp>
      <p:sp>
        <p:nvSpPr>
          <p:cNvPr id="9" name="High"/>
          <p:cNvSpPr txBox="1"/>
          <p:nvPr/>
        </p:nvSpPr>
        <p:spPr>
          <a:xfrm rot="16200000">
            <a:off x="-708659" y="3049524"/>
            <a:ext cx="3337560" cy="256032"/>
          </a:xfrm>
          <a:prstGeom prst="rect">
            <a:avLst/>
          </a:prstGeom>
          <a:noFill/>
        </p:spPr>
        <p:txBody>
          <a:bodyPr wrap="square" lIns="0" rIns="0" tIns="0" bIns="0">
            <a:spAutoFit/>
          </a:bodyPr>
          <a:lstStyle/>
          <a:p>
            <a:pPr algn="r">
              <a:lnSpc>
                <a:spcPct val="107000"/>
              </a:lnSpc>
              <a:spcAft>
                <a:spcPts val="500"/>
              </a:spcAft>
            </a:pPr>
            <a:r>
              <a:rPr sz="1400" b="1">
                <a:solidFill>
                  <a:srgbClr val="232925"/>
                </a:solidFill>
                <a:latin typeface="Arial"/>
              </a:rPr>
              <a:t>High</a:t>
            </a:r>
          </a:p>
        </p:txBody>
      </p:sp>
      <p:sp>
        <p:nvSpPr>
          <p:cNvPr id="10" name="Rectangle 9"/>
          <p:cNvSpPr/>
          <p:nvPr/>
        </p:nvSpPr>
        <p:spPr>
          <a:xfrm>
            <a:off x="1371600" y="1508760"/>
            <a:ext cx="5029200" cy="160020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nvestigate and protect first"/>
          <p:cNvSpPr txBox="1"/>
          <p:nvPr/>
        </p:nvSpPr>
        <p:spPr>
          <a:xfrm>
            <a:off x="1600200" y="1783080"/>
            <a:ext cx="4572000" cy="457200"/>
          </a:xfrm>
          <a:prstGeom prst="rect">
            <a:avLst/>
          </a:prstGeom>
          <a:noFill/>
        </p:spPr>
        <p:txBody>
          <a:bodyPr wrap="square" lIns="0" rIns="0" tIns="0" bIns="0">
            <a:spAutoFit/>
          </a:bodyPr>
          <a:lstStyle/>
          <a:p>
            <a:pPr>
              <a:lnSpc>
                <a:spcPct val="107000"/>
              </a:lnSpc>
              <a:spcAft>
                <a:spcPts val="500"/>
              </a:spcAft>
            </a:pPr>
            <a:r>
              <a:rPr sz="2200" b="1">
                <a:solidFill>
                  <a:srgbClr val="FFFFFF"/>
                </a:solidFill>
                <a:latin typeface="Mona Sans"/>
              </a:rPr>
              <a:t>Investigate and protect first</a:t>
            </a:r>
          </a:p>
        </p:txBody>
      </p:sp>
      <p:sp>
        <p:nvSpPr>
          <p:cNvPr id="12" name="High criticality · Low confidence"/>
          <p:cNvSpPr txBox="1"/>
          <p:nvPr/>
        </p:nvSpPr>
        <p:spPr>
          <a:xfrm>
            <a:off x="1600200" y="2468880"/>
            <a:ext cx="4572000" cy="320040"/>
          </a:xfrm>
          <a:prstGeom prst="rect">
            <a:avLst/>
          </a:prstGeom>
          <a:noFill/>
        </p:spPr>
        <p:txBody>
          <a:bodyPr wrap="square" lIns="0" rIns="0" tIns="0" bIns="0">
            <a:spAutoFit/>
          </a:bodyPr>
          <a:lstStyle/>
          <a:p>
            <a:pPr>
              <a:lnSpc>
                <a:spcPct val="107000"/>
              </a:lnSpc>
              <a:spcAft>
                <a:spcPts val="500"/>
              </a:spcAft>
            </a:pPr>
            <a:r>
              <a:rPr sz="1500" b="0">
                <a:solidFill>
                  <a:srgbClr val="B6BFB8"/>
                </a:solidFill>
                <a:latin typeface="Arial"/>
              </a:rPr>
              <a:t>High criticality · Low confidence</a:t>
            </a:r>
          </a:p>
        </p:txBody>
      </p:sp>
      <p:sp>
        <p:nvSpPr>
          <p:cNvPr id="13" name="Rectangle 12"/>
          <p:cNvSpPr/>
          <p:nvPr/>
        </p:nvSpPr>
        <p:spPr>
          <a:xfrm>
            <a:off x="6537960" y="1508760"/>
            <a:ext cx="5029200" cy="1600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arget a measured constraint"/>
          <p:cNvSpPr txBox="1"/>
          <p:nvPr/>
        </p:nvSpPr>
        <p:spPr>
          <a:xfrm>
            <a:off x="6766560" y="1783080"/>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Target a measured constraint</a:t>
            </a:r>
          </a:p>
        </p:txBody>
      </p:sp>
      <p:sp>
        <p:nvSpPr>
          <p:cNvPr id="15" name="High criticality · High confidence"/>
          <p:cNvSpPr txBox="1"/>
          <p:nvPr/>
        </p:nvSpPr>
        <p:spPr>
          <a:xfrm>
            <a:off x="6766560" y="246888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High criticality · High confidence</a:t>
            </a:r>
          </a:p>
        </p:txBody>
      </p:sp>
      <p:sp>
        <p:nvSpPr>
          <p:cNvPr id="16" name="Rectangle 15"/>
          <p:cNvSpPr/>
          <p:nvPr/>
        </p:nvSpPr>
        <p:spPr>
          <a:xfrm>
            <a:off x="1371600" y="3246120"/>
            <a:ext cx="5029200" cy="160020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nfirm value and dependencies"/>
          <p:cNvSpPr txBox="1"/>
          <p:nvPr/>
        </p:nvSpPr>
        <p:spPr>
          <a:xfrm>
            <a:off x="1600200" y="3520439"/>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Confirm value and dependencies</a:t>
            </a:r>
          </a:p>
        </p:txBody>
      </p:sp>
      <p:sp>
        <p:nvSpPr>
          <p:cNvPr id="18" name="Low criticality · Low confidence"/>
          <p:cNvSpPr txBox="1"/>
          <p:nvPr/>
        </p:nvSpPr>
        <p:spPr>
          <a:xfrm>
            <a:off x="1600200" y="420624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Low criticality · Low confidence</a:t>
            </a:r>
          </a:p>
        </p:txBody>
      </p:sp>
      <p:sp>
        <p:nvSpPr>
          <p:cNvPr id="19" name="Rectangle 18"/>
          <p:cNvSpPr/>
          <p:nvPr/>
        </p:nvSpPr>
        <p:spPr>
          <a:xfrm>
            <a:off x="6537960" y="3246120"/>
            <a:ext cx="5029200" cy="160020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tain or improve selectively"/>
          <p:cNvSpPr txBox="1"/>
          <p:nvPr/>
        </p:nvSpPr>
        <p:spPr>
          <a:xfrm>
            <a:off x="6766560" y="3520439"/>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Retain or improve selectively</a:t>
            </a:r>
          </a:p>
        </p:txBody>
      </p:sp>
      <p:sp>
        <p:nvSpPr>
          <p:cNvPr id="21" name="Low criticality · High confidence"/>
          <p:cNvSpPr txBox="1"/>
          <p:nvPr/>
        </p:nvSpPr>
        <p:spPr>
          <a:xfrm>
            <a:off x="6766560" y="420624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Low criticality · High confidence</a:t>
            </a:r>
          </a:p>
        </p:txBody>
      </p:sp>
      <p:sp>
        <p:nvSpPr>
          <p:cNvPr id="22" name="Low"/>
          <p:cNvSpPr txBox="1"/>
          <p:nvPr/>
        </p:nvSpPr>
        <p:spPr>
          <a:xfrm>
            <a:off x="1371600" y="5029200"/>
            <a:ext cx="10195560" cy="256032"/>
          </a:xfrm>
          <a:prstGeom prst="rect">
            <a:avLst/>
          </a:prstGeom>
          <a:noFill/>
        </p:spPr>
        <p:txBody>
          <a:bodyPr wrap="square" lIns="0" rIns="0" tIns="0" bIns="0">
            <a:spAutoFit/>
          </a:bodyPr>
          <a:lstStyle/>
          <a:p>
            <a:pPr algn="l">
              <a:lnSpc>
                <a:spcPct val="107000"/>
              </a:lnSpc>
              <a:spcAft>
                <a:spcPts val="500"/>
              </a:spcAft>
            </a:pPr>
            <a:r>
              <a:rPr sz="1400" b="1">
                <a:solidFill>
                  <a:srgbClr val="232925"/>
                </a:solidFill>
                <a:latin typeface="Arial"/>
              </a:rPr>
              <a:t>Low</a:t>
            </a:r>
          </a:p>
        </p:txBody>
      </p:sp>
      <p:sp>
        <p:nvSpPr>
          <p:cNvPr id="23" name="Change confidence  →"/>
          <p:cNvSpPr txBox="1"/>
          <p:nvPr/>
        </p:nvSpPr>
        <p:spPr>
          <a:xfrm>
            <a:off x="1371600" y="5029200"/>
            <a:ext cx="10195560" cy="256032"/>
          </a:xfrm>
          <a:prstGeom prst="rect">
            <a:avLst/>
          </a:prstGeom>
          <a:noFill/>
        </p:spPr>
        <p:txBody>
          <a:bodyPr wrap="square" lIns="0" rIns="0" tIns="0" bIns="0">
            <a:spAutoFit/>
          </a:bodyPr>
          <a:lstStyle/>
          <a:p>
            <a:pPr algn="ctr">
              <a:lnSpc>
                <a:spcPct val="107000"/>
              </a:lnSpc>
              <a:spcAft>
                <a:spcPts val="500"/>
              </a:spcAft>
            </a:pPr>
            <a:r>
              <a:rPr sz="1400" b="1">
                <a:solidFill>
                  <a:srgbClr val="232925"/>
                </a:solidFill>
                <a:latin typeface="Arial"/>
              </a:rPr>
              <a:t>Change confidence  →</a:t>
            </a:r>
          </a:p>
        </p:txBody>
      </p:sp>
      <p:sp>
        <p:nvSpPr>
          <p:cNvPr id="24" name="High"/>
          <p:cNvSpPr txBox="1"/>
          <p:nvPr/>
        </p:nvSpPr>
        <p:spPr>
          <a:xfrm>
            <a:off x="1371600" y="5029200"/>
            <a:ext cx="10195560" cy="256032"/>
          </a:xfrm>
          <a:prstGeom prst="rect">
            <a:avLst/>
          </a:prstGeom>
          <a:noFill/>
        </p:spPr>
        <p:txBody>
          <a:bodyPr wrap="square" lIns="0" rIns="0" tIns="0" bIns="0">
            <a:spAutoFit/>
          </a:bodyPr>
          <a:lstStyle/>
          <a:p>
            <a:pPr algn="r">
              <a:lnSpc>
                <a:spcPct val="107000"/>
              </a:lnSpc>
              <a:spcAft>
                <a:spcPts val="500"/>
              </a:spcAft>
            </a:pPr>
            <a:r>
              <a:rPr sz="1400" b="1">
                <a:solidFill>
                  <a:srgbClr val="232925"/>
                </a:solidFill>
                <a:latin typeface="Arial"/>
              </a:rPr>
              <a:t>High</a:t>
            </a:r>
          </a:p>
        </p:txBody>
      </p:sp>
      <p:sp>
        <p:nvSpPr>
          <p:cNvPr id="25" name="Unknown ≠ low risk. Old ≠ obsolete. “Do not change” is a val"/>
          <p:cNvSpPr txBox="1"/>
          <p:nvPr/>
        </p:nvSpPr>
        <p:spPr>
          <a:xfrm>
            <a:off x="594360" y="5577840"/>
            <a:ext cx="10972800" cy="41148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Unknown ≠ low risk. Old ≠ obsolete. “Do not change” is a valid decision.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earing starts discovery. It does not certify chang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Bearing starts discovery. It does not certify change.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2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12 / 17</a:t>
            </a:r>
          </a:p>
        </p:txBody>
      </p:sp>
      <p:sp>
        <p:nvSpPr>
          <p:cNvPr id="7" name="Available in Bearing today"/>
          <p:cNvSpPr txBox="1"/>
          <p:nvPr/>
        </p:nvSpPr>
        <p:spPr>
          <a:xfrm>
            <a:off x="594360" y="2057400"/>
            <a:ext cx="516636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Available in Bearing today</a:t>
            </a:r>
          </a:p>
        </p:txBody>
      </p:sp>
      <p:sp>
        <p:nvSpPr>
          <p:cNvPr id="8" name="Read-only repository orientation."/>
          <p:cNvSpPr txBox="1"/>
          <p:nvPr/>
        </p:nvSpPr>
        <p:spPr>
          <a:xfrm>
            <a:off x="594360" y="2670048"/>
            <a:ext cx="5166360" cy="2651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Read-only repository orientation.</a:t>
            </a:r>
          </a:p>
          <a:p>
            <a:pPr>
              <a:lnSpc>
                <a:spcPct val="107000"/>
              </a:lnSpc>
              <a:spcAft>
                <a:spcPts val="500"/>
              </a:spcAft>
            </a:pPr>
            <a:r>
              <a:rPr sz="2000" b="0">
                <a:solidFill>
                  <a:srgbClr val="232925"/>
                </a:solidFill>
                <a:latin typeface="Arial"/>
              </a:rPr>
              <a:t>Parallel map + merged-PR research.</a:t>
            </a:r>
          </a:p>
          <a:p>
            <a:pPr>
              <a:lnSpc>
                <a:spcPct val="107000"/>
              </a:lnSpc>
              <a:spcAft>
                <a:spcPts val="500"/>
              </a:spcAft>
            </a:pPr>
            <a:r>
              <a:rPr sz="2000" b="0">
                <a:solidFill>
                  <a:srgbClr val="232925"/>
                </a:solidFill>
                <a:latin typeface="Arial"/>
              </a:rPr>
              <a:t>Incremental seven-section canvas.</a:t>
            </a:r>
          </a:p>
          <a:p>
            <a:pPr>
              <a:lnSpc>
                <a:spcPct val="107000"/>
              </a:lnSpc>
              <a:spcAft>
                <a:spcPts val="500"/>
              </a:spcAft>
            </a:pPr>
            <a:r>
              <a:rPr sz="2000" b="0">
                <a:solidFill>
                  <a:srgbClr val="232925"/>
                </a:solidFill>
                <a:latin typeface="Arial"/>
              </a:rPr>
              <a:t>File evidence and explicit unavailable sections.</a:t>
            </a:r>
          </a:p>
          <a:p>
            <a:pPr>
              <a:lnSpc>
                <a:spcPct val="107000"/>
              </a:lnSpc>
              <a:spcAft>
                <a:spcPts val="500"/>
              </a:spcAft>
            </a:pPr>
            <a:r>
              <a:rPr sz="2000" b="0">
                <a:solidFill>
                  <a:srgbClr val="232925"/>
                </a:solidFill>
                <a:latin typeface="Arial"/>
              </a:rPr>
              <a:t>Persistent first-steps checklist.</a:t>
            </a:r>
          </a:p>
        </p:txBody>
      </p:sp>
      <p:sp>
        <p:nvSpPr>
          <p:cNvPr id="9" name="Separate proposed assessment"/>
          <p:cNvSpPr txBox="1"/>
          <p:nvPr/>
        </p:nvSpPr>
        <p:spPr>
          <a:xfrm>
            <a:off x="6400800" y="2057400"/>
            <a:ext cx="5166360" cy="457200"/>
          </a:xfrm>
          <a:prstGeom prst="rect">
            <a:avLst/>
          </a:prstGeom>
          <a:noFill/>
        </p:spPr>
        <p:txBody>
          <a:bodyPr wrap="square" lIns="0" rIns="0" tIns="0" bIns="0">
            <a:spAutoFit/>
          </a:bodyPr>
          <a:lstStyle/>
          <a:p>
            <a:pPr>
              <a:lnSpc>
                <a:spcPct val="107000"/>
              </a:lnSpc>
              <a:spcAft>
                <a:spcPts val="500"/>
              </a:spcAft>
            </a:pPr>
            <a:r>
              <a:rPr sz="2400" b="1">
                <a:solidFill>
                  <a:srgbClr val="8534F3"/>
                </a:solidFill>
                <a:latin typeface="Mona Sans"/>
              </a:rPr>
              <a:t>Separate proposed assessment</a:t>
            </a:r>
          </a:p>
        </p:txBody>
      </p:sp>
      <p:sp>
        <p:nvSpPr>
          <p:cNvPr id="10" name="Critical-journey and owner review."/>
          <p:cNvSpPr txBox="1"/>
          <p:nvPr/>
        </p:nvSpPr>
        <p:spPr>
          <a:xfrm>
            <a:off x="6400800" y="2670048"/>
            <a:ext cx="5166360" cy="2651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Critical-journey and owner review.</a:t>
            </a:r>
          </a:p>
          <a:p>
            <a:pPr>
              <a:lnSpc>
                <a:spcPct val="107000"/>
              </a:lnSpc>
              <a:spcAft>
                <a:spcPts val="500"/>
              </a:spcAft>
            </a:pPr>
            <a:r>
              <a:rPr sz="2000" b="0">
                <a:solidFill>
                  <a:srgbClr val="232925"/>
                </a:solidFill>
                <a:latin typeface="Arial"/>
              </a:rPr>
              <a:t>Coverage and CI data collection.</a:t>
            </a:r>
          </a:p>
          <a:p>
            <a:pPr>
              <a:lnSpc>
                <a:spcPct val="107000"/>
              </a:lnSpc>
              <a:spcAft>
                <a:spcPts val="500"/>
              </a:spcAft>
            </a:pPr>
            <a:r>
              <a:rPr sz="2000" b="0">
                <a:solidFill>
                  <a:srgbClr val="232925"/>
                </a:solidFill>
                <a:latin typeface="Arial"/>
              </a:rPr>
              <a:t>Comparable runtime measurements.</a:t>
            </a:r>
          </a:p>
          <a:p>
            <a:pPr>
              <a:lnSpc>
                <a:spcPct val="107000"/>
              </a:lnSpc>
              <a:spcAft>
                <a:spcPts val="500"/>
              </a:spcAft>
            </a:pPr>
            <a:r>
              <a:rPr sz="2000" b="0">
                <a:solidFill>
                  <a:srgbClr val="232925"/>
                </a:solidFill>
                <a:latin typeface="Arial"/>
              </a:rPr>
              <a:t>Support-lifecycle assessment.</a:t>
            </a:r>
          </a:p>
          <a:p>
            <a:pPr>
              <a:lnSpc>
                <a:spcPct val="107000"/>
              </a:lnSpc>
              <a:spcAft>
                <a:spcPts val="500"/>
              </a:spcAft>
            </a:pPr>
            <a:r>
              <a:rPr sz="2000" b="0">
                <a:solidFill>
                  <a:srgbClr val="232925"/>
                </a:solidFill>
                <a:latin typeface="Arial"/>
              </a:rPr>
              <a:t>Prioritization and GitHub project setup.</a:t>
            </a:r>
          </a:p>
        </p:txBody>
      </p:sp>
      <p:sp>
        <p:nvSpPr>
          <p:cNvPr id="11" name="Rectangle 10"/>
          <p:cNvSpPr/>
          <p:nvPr/>
        </p:nvSpPr>
        <p:spPr>
          <a:xfrm>
            <a:off x="594360" y="1783080"/>
            <a:ext cx="5166360" cy="6400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1783080"/>
            <a:ext cx="5166360" cy="64008"/>
          </a:xfrm>
          <a:prstGeom prst="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5404104"/>
            <a:ext cx="1097280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earing does not run builds/tests, measure coverage or autom"/>
          <p:cNvSpPr txBox="1"/>
          <p:nvPr/>
        </p:nvSpPr>
        <p:spPr>
          <a:xfrm>
            <a:off x="768096" y="5522976"/>
            <a:ext cx="10607040" cy="27432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Bearing does not run builds/tests, measure coverage or automatically create this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Where Bearing fits, and where it doesn’t ye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Where Bearing fits, and where it doesn’t yet.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3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13 / 17</a:t>
            </a:r>
          </a:p>
        </p:txBody>
      </p:sp>
      <p:sp>
        <p:nvSpPr>
          <p:cNvPr id="7" name="Rectangle 6"/>
          <p:cNvSpPr/>
          <p:nvPr/>
        </p:nvSpPr>
        <p:spPr>
          <a:xfrm>
            <a:off x="594360" y="1664208"/>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riterion"/>
          <p:cNvSpPr txBox="1"/>
          <p:nvPr/>
        </p:nvSpPr>
        <p:spPr>
          <a:xfrm>
            <a:off x="704088" y="1792224"/>
            <a:ext cx="2798063"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Criterion</a:t>
            </a:r>
          </a:p>
        </p:txBody>
      </p:sp>
      <p:sp>
        <p:nvSpPr>
          <p:cNvPr id="9" name="Status"/>
          <p:cNvSpPr txBox="1"/>
          <p:nvPr/>
        </p:nvSpPr>
        <p:spPr>
          <a:xfrm>
            <a:off x="3721607" y="1792224"/>
            <a:ext cx="151790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Status</a:t>
            </a:r>
          </a:p>
        </p:txBody>
      </p:sp>
      <p:sp>
        <p:nvSpPr>
          <p:cNvPr id="10" name="Evidence in this repository"/>
          <p:cNvSpPr txBox="1"/>
          <p:nvPr/>
        </p:nvSpPr>
        <p:spPr>
          <a:xfrm>
            <a:off x="5458968" y="1792224"/>
            <a:ext cx="599846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Evidence in this repository</a:t>
            </a:r>
          </a:p>
        </p:txBody>
      </p:sp>
      <p:sp>
        <p:nvSpPr>
          <p:cNvPr id="11" name="Rectangle 10"/>
          <p:cNvSpPr/>
          <p:nvPr/>
        </p:nvSpPr>
        <p:spPr>
          <a:xfrm>
            <a:off x="594360" y="2951683"/>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peatable"/>
          <p:cNvSpPr txBox="1"/>
          <p:nvPr/>
        </p:nvSpPr>
        <p:spPr>
          <a:xfrm>
            <a:off x="704088" y="2322576"/>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Repeatable</a:t>
            </a:r>
          </a:p>
        </p:txBody>
      </p:sp>
      <p:sp>
        <p:nvSpPr>
          <p:cNvPr id="13" name="Chip: Prototype"/>
          <p:cNvSpPr/>
          <p:nvPr/>
        </p:nvSpPr>
        <p:spPr>
          <a:xfrm>
            <a:off x="3721607" y="2450591"/>
            <a:ext cx="146303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14" name="One /onboard-repo command and an installable plugin: skill, "/>
          <p:cNvSpPr txBox="1"/>
          <p:nvPr/>
        </p:nvSpPr>
        <p:spPr>
          <a:xfrm>
            <a:off x="5458968" y="2322576"/>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One /onboard-repo command and an installable plugin: skill, agents, tools, canvas and tests.</a:t>
            </a:r>
          </a:p>
        </p:txBody>
      </p:sp>
      <p:sp>
        <p:nvSpPr>
          <p:cNvPr id="15" name="Rectangle 14"/>
          <p:cNvSpPr/>
          <p:nvPr/>
        </p:nvSpPr>
        <p:spPr>
          <a:xfrm>
            <a:off x="594360" y="370149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Governed"/>
          <p:cNvSpPr txBox="1"/>
          <p:nvPr/>
        </p:nvSpPr>
        <p:spPr>
          <a:xfrm>
            <a:off x="704088" y="3072384"/>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Governed</a:t>
            </a:r>
          </a:p>
        </p:txBody>
      </p:sp>
      <p:sp>
        <p:nvSpPr>
          <p:cNvPr id="17" name="Chip: Prototype"/>
          <p:cNvSpPr/>
          <p:nvPr/>
        </p:nvSpPr>
        <p:spPr>
          <a:xfrm>
            <a:off x="3721607" y="3200400"/>
            <a:ext cx="146303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18" name="Read-only, role-scoped tools; loopback canvas with a per-ins"/>
          <p:cNvSpPr txBox="1"/>
          <p:nvPr/>
        </p:nvSpPr>
        <p:spPr>
          <a:xfrm>
            <a:off x="5458968" y="3072384"/>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Read-only, role-scoped tools; loopback canvas with a per-instance token. Production controls remain a separate decision.</a:t>
            </a:r>
          </a:p>
        </p:txBody>
      </p:sp>
      <p:sp>
        <p:nvSpPr>
          <p:cNvPr id="19" name="Rectangle 18"/>
          <p:cNvSpPr/>
          <p:nvPr/>
        </p:nvSpPr>
        <p:spPr>
          <a:xfrm>
            <a:off x="594360" y="44512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Native to the Copilot App"/>
          <p:cNvSpPr txBox="1"/>
          <p:nvPr/>
        </p:nvSpPr>
        <p:spPr>
          <a:xfrm>
            <a:off x="704088" y="3822191"/>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Native to the Copilot App</a:t>
            </a:r>
          </a:p>
        </p:txBody>
      </p:sp>
      <p:sp>
        <p:nvSpPr>
          <p:cNvPr id="21" name="Chip: Prototype"/>
          <p:cNvSpPr/>
          <p:nvPr/>
        </p:nvSpPr>
        <p:spPr>
          <a:xfrm>
            <a:off x="3721607" y="3950207"/>
            <a:ext cx="146303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22" name="A skill, two parallel agents, extension tools and a live can"/>
          <p:cNvSpPr txBox="1"/>
          <p:nvPr/>
        </p:nvSpPr>
        <p:spPr>
          <a:xfrm>
            <a:off x="5458968" y="3822191"/>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A skill, two parallel agents, extension tools and a live canvas inside the app.</a:t>
            </a:r>
          </a:p>
        </p:txBody>
      </p:sp>
      <p:sp>
        <p:nvSpPr>
          <p:cNvPr id="23" name="Rectangle 22"/>
          <p:cNvSpPr/>
          <p:nvPr/>
        </p:nvSpPr>
        <p:spPr>
          <a:xfrm>
            <a:off x="594360" y="5201107"/>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Useful beyond developers"/>
          <p:cNvSpPr txBox="1"/>
          <p:nvPr/>
        </p:nvSpPr>
        <p:spPr>
          <a:xfrm>
            <a:off x="704088" y="4572000"/>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Useful beyond developers</a:t>
            </a:r>
          </a:p>
        </p:txBody>
      </p:sp>
      <p:sp>
        <p:nvSpPr>
          <p:cNvPr id="25" name="Chip: Emerging"/>
          <p:cNvSpPr/>
          <p:nvPr/>
        </p:nvSpPr>
        <p:spPr>
          <a:xfrm>
            <a:off x="3721607" y="4700016"/>
            <a:ext cx="1463039" cy="274320"/>
          </a:xfrm>
          <a:prstGeom prst="round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Emerging</a:t>
            </a:r>
          </a:p>
        </p:txBody>
      </p:sp>
      <p:sp>
        <p:nvSpPr>
          <p:cNvPr id="26" name="Enablement teams can reuse one guide format. Not yet validat"/>
          <p:cNvSpPr txBox="1"/>
          <p:nvPr/>
        </p:nvSpPr>
        <p:spPr>
          <a:xfrm>
            <a:off x="5458968" y="4572000"/>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Enablement teams can reuse one guide format. Not yet validated with non-developer users.</a:t>
            </a:r>
          </a:p>
        </p:txBody>
      </p:sp>
      <p:sp>
        <p:nvSpPr>
          <p:cNvPr id="27" name="Rectangle 26"/>
          <p:cNvSpPr/>
          <p:nvPr/>
        </p:nvSpPr>
        <p:spPr>
          <a:xfrm>
            <a:off x="594360" y="5950915"/>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aches beyond onboarding"/>
          <p:cNvSpPr txBox="1"/>
          <p:nvPr/>
        </p:nvSpPr>
        <p:spPr>
          <a:xfrm>
            <a:off x="704088" y="5321808"/>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Reaches beyond onboarding</a:t>
            </a:r>
          </a:p>
        </p:txBody>
      </p:sp>
      <p:sp>
        <p:nvSpPr>
          <p:cNvPr id="29" name="Chip: Proposed"/>
          <p:cNvSpPr/>
          <p:nvPr/>
        </p:nvSpPr>
        <p:spPr>
          <a:xfrm>
            <a:off x="3721607" y="5449824"/>
            <a:ext cx="146303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30" name="The legacy modernization assessment in this deck. No such wo"/>
          <p:cNvSpPr txBox="1"/>
          <p:nvPr/>
        </p:nvSpPr>
        <p:spPr>
          <a:xfrm>
            <a:off x="5458968" y="5321808"/>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The legacy modernization assessment in this deck. No such workflow is implemented.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ne review discipline, several workflow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One review discipline, several workflows.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4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14 / 17</a:t>
            </a:r>
          </a:p>
        </p:txBody>
      </p:sp>
      <p:sp>
        <p:nvSpPr>
          <p:cNvPr id="7" name="Rectangle 6"/>
          <p:cNvSpPr/>
          <p:nvPr/>
        </p:nvSpPr>
        <p:spPr>
          <a:xfrm>
            <a:off x="594360" y="1627632"/>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orkflow"/>
          <p:cNvSpPr txBox="1"/>
          <p:nvPr/>
        </p:nvSpPr>
        <p:spPr>
          <a:xfrm>
            <a:off x="704088" y="1755648"/>
            <a:ext cx="27066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Workflow</a:t>
            </a:r>
          </a:p>
        </p:txBody>
      </p:sp>
      <p:sp>
        <p:nvSpPr>
          <p:cNvPr id="9" name="Audience"/>
          <p:cNvSpPr txBox="1"/>
          <p:nvPr/>
        </p:nvSpPr>
        <p:spPr>
          <a:xfrm>
            <a:off x="3630168" y="1755648"/>
            <a:ext cx="243230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Audience</a:t>
            </a:r>
          </a:p>
        </p:txBody>
      </p:sp>
      <p:sp>
        <p:nvSpPr>
          <p:cNvPr id="10" name="Value"/>
          <p:cNvSpPr txBox="1"/>
          <p:nvPr/>
        </p:nvSpPr>
        <p:spPr>
          <a:xfrm>
            <a:off x="6281928" y="1755648"/>
            <a:ext cx="40782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Value</a:t>
            </a:r>
          </a:p>
        </p:txBody>
      </p:sp>
      <p:sp>
        <p:nvSpPr>
          <p:cNvPr id="11" name="Status"/>
          <p:cNvSpPr txBox="1"/>
          <p:nvPr/>
        </p:nvSpPr>
        <p:spPr>
          <a:xfrm>
            <a:off x="10579607" y="1755648"/>
            <a:ext cx="8778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Status</a:t>
            </a:r>
          </a:p>
        </p:txBody>
      </p:sp>
      <p:sp>
        <p:nvSpPr>
          <p:cNvPr id="12" name="Rectangle 11"/>
          <p:cNvSpPr/>
          <p:nvPr/>
        </p:nvSpPr>
        <p:spPr>
          <a:xfrm>
            <a:off x="594360" y="28510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pository onboarding"/>
          <p:cNvSpPr txBox="1"/>
          <p:nvPr/>
        </p:nvSpPr>
        <p:spPr>
          <a:xfrm>
            <a:off x="704088" y="22860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Repository onboarding</a:t>
            </a:r>
          </a:p>
        </p:txBody>
      </p:sp>
      <p:sp>
        <p:nvSpPr>
          <p:cNvPr id="14" name="New or rotating developers"/>
          <p:cNvSpPr txBox="1"/>
          <p:nvPr/>
        </p:nvSpPr>
        <p:spPr>
          <a:xfrm>
            <a:off x="3630168" y="22860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New or rotating developers</a:t>
            </a:r>
          </a:p>
        </p:txBody>
      </p:sp>
      <p:sp>
        <p:nvSpPr>
          <p:cNvPr id="15" name="An evidence-backed guide inside the Copilot App."/>
          <p:cNvSpPr txBox="1"/>
          <p:nvPr/>
        </p:nvSpPr>
        <p:spPr>
          <a:xfrm>
            <a:off x="6281928" y="22860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An evidence-backed guide inside the Copilot App.</a:t>
            </a:r>
          </a:p>
        </p:txBody>
      </p:sp>
      <p:sp>
        <p:nvSpPr>
          <p:cNvPr id="16" name="Chip: Prototype"/>
          <p:cNvSpPr/>
          <p:nvPr/>
        </p:nvSpPr>
        <p:spPr>
          <a:xfrm>
            <a:off x="10579607" y="2382012"/>
            <a:ext cx="82295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17" name="Rectangle 16"/>
          <p:cNvSpPr/>
          <p:nvPr/>
        </p:nvSpPr>
        <p:spPr>
          <a:xfrm>
            <a:off x="594360" y="35368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egacy modernization assessment"/>
          <p:cNvSpPr txBox="1"/>
          <p:nvPr/>
        </p:nvSpPr>
        <p:spPr>
          <a:xfrm>
            <a:off x="704088" y="29718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Legacy modernization assessment</a:t>
            </a:r>
          </a:p>
        </p:txBody>
      </p:sp>
      <p:sp>
        <p:nvSpPr>
          <p:cNvPr id="19" name="Engineering and platform owners"/>
          <p:cNvSpPr txBox="1"/>
          <p:nvPr/>
        </p:nvSpPr>
        <p:spPr>
          <a:xfrm>
            <a:off x="3630168" y="29718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Engineering and platform owners</a:t>
            </a:r>
          </a:p>
        </p:txBody>
      </p:sp>
      <p:sp>
        <p:nvSpPr>
          <p:cNvPr id="20" name="Locate the real constraint. Build a backlog of hypotheses."/>
          <p:cNvSpPr txBox="1"/>
          <p:nvPr/>
        </p:nvSpPr>
        <p:spPr>
          <a:xfrm>
            <a:off x="6281928" y="29718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Locate the real constraint. Build a backlog of hypotheses.</a:t>
            </a:r>
          </a:p>
        </p:txBody>
      </p:sp>
      <p:sp>
        <p:nvSpPr>
          <p:cNvPr id="21" name="Chip: Proposed"/>
          <p:cNvSpPr/>
          <p:nvPr/>
        </p:nvSpPr>
        <p:spPr>
          <a:xfrm>
            <a:off x="10579607" y="30678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22" name="Rectangle 21"/>
          <p:cNvSpPr/>
          <p:nvPr/>
        </p:nvSpPr>
        <p:spPr>
          <a:xfrm>
            <a:off x="594360" y="42226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ustomer codebase brief"/>
          <p:cNvSpPr txBox="1"/>
          <p:nvPr/>
        </p:nvSpPr>
        <p:spPr>
          <a:xfrm>
            <a:off x="704088" y="36576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Customer codebase brief</a:t>
            </a:r>
          </a:p>
        </p:txBody>
      </p:sp>
      <p:sp>
        <p:nvSpPr>
          <p:cNvPr id="24" name="Solution architects"/>
          <p:cNvSpPr txBox="1"/>
          <p:nvPr/>
        </p:nvSpPr>
        <p:spPr>
          <a:xfrm>
            <a:off x="3630168" y="36576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Solution architects</a:t>
            </a:r>
          </a:p>
        </p:txBody>
      </p:sp>
      <p:sp>
        <p:nvSpPr>
          <p:cNvPr id="25" name="Enter a deep-dive with a cited map instead of discovery ques"/>
          <p:cNvSpPr txBox="1"/>
          <p:nvPr/>
        </p:nvSpPr>
        <p:spPr>
          <a:xfrm>
            <a:off x="6281928" y="36576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Enter a deep-dive with a cited map instead of discovery questions.</a:t>
            </a:r>
          </a:p>
        </p:txBody>
      </p:sp>
      <p:sp>
        <p:nvSpPr>
          <p:cNvPr id="26" name="Chip: Proposed"/>
          <p:cNvSpPr/>
          <p:nvPr/>
        </p:nvSpPr>
        <p:spPr>
          <a:xfrm>
            <a:off x="10579607" y="3753611"/>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27" name="Rectangle 26"/>
          <p:cNvSpPr/>
          <p:nvPr/>
        </p:nvSpPr>
        <p:spPr>
          <a:xfrm>
            <a:off x="594360" y="49084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Migration readiness review"/>
          <p:cNvSpPr txBox="1"/>
          <p:nvPr/>
        </p:nvSpPr>
        <p:spPr>
          <a:xfrm>
            <a:off x="704088" y="43434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Migration readiness review</a:t>
            </a:r>
          </a:p>
        </p:txBody>
      </p:sp>
      <p:sp>
        <p:nvSpPr>
          <p:cNvPr id="29" name="Customer success"/>
          <p:cNvSpPr txBox="1"/>
          <p:nvPr/>
        </p:nvSpPr>
        <p:spPr>
          <a:xfrm>
            <a:off x="3630168" y="43434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Customer success</a:t>
            </a:r>
          </a:p>
        </p:txBody>
      </p:sp>
      <p:sp>
        <p:nvSpPr>
          <p:cNvPr id="30" name="Findings cited to file and line, so customers verify rather "/>
          <p:cNvSpPr txBox="1"/>
          <p:nvPr/>
        </p:nvSpPr>
        <p:spPr>
          <a:xfrm>
            <a:off x="6281928" y="43434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Findings cited to file and line, so customers verify rather than trust.</a:t>
            </a:r>
          </a:p>
        </p:txBody>
      </p:sp>
      <p:sp>
        <p:nvSpPr>
          <p:cNvPr id="31" name="Chip: Proposed"/>
          <p:cNvSpPr/>
          <p:nvPr/>
        </p:nvSpPr>
        <p:spPr>
          <a:xfrm>
            <a:off x="10579607" y="44394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32" name="Rectangle 31"/>
          <p:cNvSpPr/>
          <p:nvPr/>
        </p:nvSpPr>
        <p:spPr>
          <a:xfrm>
            <a:off x="594360" y="55942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Enablement packs"/>
          <p:cNvSpPr txBox="1"/>
          <p:nvPr/>
        </p:nvSpPr>
        <p:spPr>
          <a:xfrm>
            <a:off x="704088" y="50292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Enablement packs</a:t>
            </a:r>
          </a:p>
        </p:txBody>
      </p:sp>
      <p:sp>
        <p:nvSpPr>
          <p:cNvPr id="34" name="Partner and customer enablement"/>
          <p:cNvSpPr txBox="1"/>
          <p:nvPr/>
        </p:nvSpPr>
        <p:spPr>
          <a:xfrm>
            <a:off x="3630168" y="50292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Partner and customer enablement</a:t>
            </a:r>
          </a:p>
        </p:txBody>
      </p:sp>
      <p:sp>
        <p:nvSpPr>
          <p:cNvPr id="35" name="Onboarding material grounded in the customer’s own code."/>
          <p:cNvSpPr txBox="1"/>
          <p:nvPr/>
        </p:nvSpPr>
        <p:spPr>
          <a:xfrm>
            <a:off x="6281928" y="50292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Onboarding material grounded in the customer’s own code.</a:t>
            </a:r>
          </a:p>
        </p:txBody>
      </p:sp>
      <p:sp>
        <p:nvSpPr>
          <p:cNvPr id="36" name="Chip: Proposed"/>
          <p:cNvSpPr/>
          <p:nvPr/>
        </p:nvSpPr>
        <p:spPr>
          <a:xfrm>
            <a:off x="10579607" y="51252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37" name="Prototype: implemented in this repository. Proposed: not bui"/>
          <p:cNvSpPr txBox="1"/>
          <p:nvPr/>
        </p:nvSpPr>
        <p:spPr>
          <a:xfrm>
            <a:off x="594360" y="5733288"/>
            <a:ext cx="10972800" cy="45720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Prototype: implemented in this repository. Proposed: not built. Shared pattern: cite sources, keep unknowns visible, stop at a human decision.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411"/>
        </a:solidFill>
        <a:effectLst/>
      </p:bgPr>
    </p:bg>
    <p:spTree>
      <p:nvGrpSpPr>
        <p:cNvPr id="1" name=""/>
        <p:cNvGrpSpPr/>
        <p:nvPr/>
      </p:nvGrpSpPr>
      <p:grpSpPr/>
      <p:sp>
        <p:nvSpPr>
          <p:cNvPr id="2" name="Start with one servic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FFFFFF"/>
                </a:solidFill>
                <a:latin typeface="Mona Sans"/>
              </a:rPr>
              <a:t>Start with one service.</a:t>
            </a:r>
          </a:p>
        </p:txBody>
      </p:sp>
      <p:sp>
        <p:nvSpPr>
          <p:cNvPr id="3" name="Rectangle 2"/>
          <p:cNvSpPr/>
          <p:nvPr/>
        </p:nvSpPr>
        <p:spPr>
          <a:xfrm>
            <a:off x="594360" y="6327648"/>
            <a:ext cx="10972800" cy="1097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Bearing  |  GitHub Copilot App workflow</a:t>
            </a:r>
          </a:p>
        </p:txBody>
      </p:sp>
      <p:sp>
        <p:nvSpPr>
          <p:cNvPr id="6" name="16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16 / 17</a:t>
            </a:r>
          </a:p>
        </p:txBody>
      </p:sp>
      <p:sp>
        <p:nvSpPr>
          <p:cNvPr id="7" name="Prove one justified improvement."/>
          <p:cNvSpPr txBox="1"/>
          <p:nvPr/>
        </p:nvSpPr>
        <p:spPr>
          <a:xfrm>
            <a:off x="594360" y="1554480"/>
            <a:ext cx="10972800" cy="713232"/>
          </a:xfrm>
          <a:prstGeom prst="rect">
            <a:avLst/>
          </a:prstGeom>
          <a:noFill/>
        </p:spPr>
        <p:txBody>
          <a:bodyPr wrap="square" lIns="0" rIns="0" tIns="0" bIns="0">
            <a:spAutoFit/>
          </a:bodyPr>
          <a:lstStyle/>
          <a:p>
            <a:pPr>
              <a:lnSpc>
                <a:spcPct val="107000"/>
              </a:lnSpc>
              <a:spcAft>
                <a:spcPts val="500"/>
              </a:spcAft>
            </a:pPr>
            <a:r>
              <a:rPr sz="3700" b="1">
                <a:solidFill>
                  <a:srgbClr val="0FBF3E"/>
                </a:solidFill>
                <a:latin typeface="Mona Sans"/>
              </a:rPr>
              <a:t>Prove one justified improvement.</a:t>
            </a:r>
          </a:p>
        </p:txBody>
      </p:sp>
      <p:sp>
        <p:nvSpPr>
          <p:cNvPr id="8" name="One journey"/>
          <p:cNvSpPr txBox="1"/>
          <p:nvPr/>
        </p:nvSpPr>
        <p:spPr>
          <a:xfrm>
            <a:off x="594360"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journey</a:t>
            </a:r>
          </a:p>
        </p:txBody>
      </p:sp>
      <p:sp>
        <p:nvSpPr>
          <p:cNvPr id="9" name="A business-critical flow"/>
          <p:cNvSpPr txBox="1"/>
          <p:nvPr/>
        </p:nvSpPr>
        <p:spPr>
          <a:xfrm>
            <a:off x="594360"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A business-critical flow</a:t>
            </a:r>
          </a:p>
          <a:p>
            <a:pPr>
              <a:lnSpc>
                <a:spcPct val="107000"/>
              </a:lnSpc>
              <a:spcAft>
                <a:spcPts val="500"/>
              </a:spcAft>
            </a:pPr>
            <a:r>
              <a:rPr sz="2100" b="0">
                <a:solidFill>
                  <a:srgbClr val="B6BFB8"/>
                </a:solidFill>
                <a:latin typeface="Arial"/>
              </a:rPr>
              <a:t>whose behavior must stay intact.</a:t>
            </a:r>
          </a:p>
        </p:txBody>
      </p:sp>
      <p:sp>
        <p:nvSpPr>
          <p:cNvPr id="10" name="One owner"/>
          <p:cNvSpPr txBox="1"/>
          <p:nvPr/>
        </p:nvSpPr>
        <p:spPr>
          <a:xfrm>
            <a:off x="4425696"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owner</a:t>
            </a:r>
          </a:p>
        </p:txBody>
      </p:sp>
      <p:sp>
        <p:nvSpPr>
          <p:cNvPr id="11" name="Someone who can validate"/>
          <p:cNvSpPr txBox="1"/>
          <p:nvPr/>
        </p:nvSpPr>
        <p:spPr>
          <a:xfrm>
            <a:off x="4425696"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Someone who can validate</a:t>
            </a:r>
          </a:p>
          <a:p>
            <a:pPr>
              <a:lnSpc>
                <a:spcPct val="107000"/>
              </a:lnSpc>
              <a:spcAft>
                <a:spcPts val="500"/>
              </a:spcAft>
            </a:pPr>
            <a:r>
              <a:rPr sz="2100" b="0">
                <a:solidFill>
                  <a:srgbClr val="B6BFB8"/>
                </a:solidFill>
                <a:latin typeface="Arial"/>
              </a:rPr>
              <a:t>context and approve the change.</a:t>
            </a:r>
          </a:p>
        </p:txBody>
      </p:sp>
      <p:sp>
        <p:nvSpPr>
          <p:cNvPr id="12" name="One baseline"/>
          <p:cNvSpPr txBox="1"/>
          <p:nvPr/>
        </p:nvSpPr>
        <p:spPr>
          <a:xfrm>
            <a:off x="8257031"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baseline</a:t>
            </a:r>
          </a:p>
        </p:txBody>
      </p:sp>
      <p:sp>
        <p:nvSpPr>
          <p:cNvPr id="13" name="A measured constraint,"/>
          <p:cNvSpPr txBox="1"/>
          <p:nvPr/>
        </p:nvSpPr>
        <p:spPr>
          <a:xfrm>
            <a:off x="8257031"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A measured constraint,</a:t>
            </a:r>
          </a:p>
          <a:p>
            <a:pPr>
              <a:lnSpc>
                <a:spcPct val="107000"/>
              </a:lnSpc>
              <a:spcAft>
                <a:spcPts val="500"/>
              </a:spcAft>
            </a:pPr>
            <a:r>
              <a:rPr sz="2100" b="0">
                <a:solidFill>
                  <a:srgbClr val="B6BFB8"/>
                </a:solidFill>
                <a:latin typeface="Arial"/>
              </a:rPr>
              <a:t>not an arbitrary target.</a:t>
            </a:r>
          </a:p>
        </p:txBody>
      </p:sp>
      <p:sp>
        <p:nvSpPr>
          <p:cNvPr id="14" name="Success = accepted evidence + reviewed outcome."/>
          <p:cNvSpPr txBox="1"/>
          <p:nvPr/>
        </p:nvSpPr>
        <p:spPr>
          <a:xfrm>
            <a:off x="594360" y="5276088"/>
            <a:ext cx="10972800" cy="758952"/>
          </a:xfrm>
          <a:prstGeom prst="rect">
            <a:avLst/>
          </a:prstGeom>
          <a:noFill/>
        </p:spPr>
        <p:txBody>
          <a:bodyPr wrap="square" lIns="0" rIns="0" tIns="0" bIns="0">
            <a:spAutoFit/>
          </a:bodyPr>
          <a:lstStyle/>
          <a:p>
            <a:pPr>
              <a:lnSpc>
                <a:spcPct val="107000"/>
              </a:lnSpc>
              <a:spcAft>
                <a:spcPts val="500"/>
              </a:spcAft>
            </a:pPr>
            <a:r>
              <a:rPr sz="2400" b="1">
                <a:solidFill>
                  <a:srgbClr val="FFFFFF"/>
                </a:solidFill>
                <a:latin typeface="Mona Sans"/>
              </a:rPr>
              <a:t>Success = accepted evidence + reviewed outcome.</a:t>
            </a:r>
          </a:p>
          <a:p>
            <a:pPr>
              <a:lnSpc>
                <a:spcPct val="107000"/>
              </a:lnSpc>
              <a:spcAft>
                <a:spcPts val="500"/>
              </a:spcAft>
            </a:pPr>
            <a:r>
              <a:rPr sz="2400" b="1">
                <a:solidFill>
                  <a:srgbClr val="FFFFFF"/>
                </a:solidFill>
                <a:latin typeface="Mona Sans"/>
              </a:rPr>
              <a:t>Retain as-is when the evidence says not to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search, definitions and honest limit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Research, definitions and honest limits.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7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17 / 17</a:t>
            </a:r>
          </a:p>
        </p:txBody>
      </p:sp>
      <p:sp>
        <p:nvSpPr>
          <p:cNvPr id="7" name="Stack Overflow Developer Survey 2025"/>
          <p:cNvSpPr txBox="1"/>
          <p:nvPr/>
        </p:nvSpPr>
        <p:spPr>
          <a:xfrm>
            <a:off x="594360" y="1463040"/>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2"/>
              </a:rPr>
              <a:t>Stack Overflow Developer Survey 2025</a:t>
            </a:r>
          </a:p>
        </p:txBody>
      </p:sp>
      <p:sp>
        <p:nvSpPr>
          <p:cNvPr id="8" name="84% use or plan to use AI tools (76% in 2024); 46% don’t tru"/>
          <p:cNvSpPr txBox="1"/>
          <p:nvPr/>
        </p:nvSpPr>
        <p:spPr>
          <a:xfrm>
            <a:off x="594360" y="1856232"/>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84% use or plan to use AI tools (76% in 2024); 46% don’t trust AI accuracy (31% in 2024).</a:t>
            </a:r>
          </a:p>
          <a:p>
            <a:pPr>
              <a:lnSpc>
                <a:spcPct val="107000"/>
              </a:lnSpc>
              <a:spcAft>
                <a:spcPts val="500"/>
              </a:spcAft>
            </a:pPr>
            <a:r>
              <a:rPr sz="1500" b="0">
                <a:solidFill>
                  <a:srgbClr val="232925"/>
                </a:solidFill>
                <a:latin typeface="Arial"/>
              </a:rPr>
              <a:t>49,000+ respondents; 177 countries; self-reported.</a:t>
            </a:r>
          </a:p>
        </p:txBody>
      </p:sp>
      <p:sp>
        <p:nvSpPr>
          <p:cNvPr id="9" name="Kyndryl Readiness Report 2025"/>
          <p:cNvSpPr txBox="1"/>
          <p:nvPr/>
        </p:nvSpPr>
        <p:spPr>
          <a:xfrm>
            <a:off x="594360" y="2450592"/>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3"/>
              </a:rPr>
              <a:t>Kyndryl Readiness Report 2025</a:t>
            </a:r>
          </a:p>
        </p:txBody>
      </p:sp>
      <p:sp>
        <p:nvSpPr>
          <p:cNvPr id="10" name="57%: surveyed leaders report innovation delayed by technolog"/>
          <p:cNvSpPr txBox="1"/>
          <p:nvPr/>
        </p:nvSpPr>
        <p:spPr>
          <a:xfrm>
            <a:off x="594360" y="2843784"/>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57%: surveyed leaders report innovation delayed by technology-stack issues.</a:t>
            </a:r>
          </a:p>
          <a:p>
            <a:pPr>
              <a:lnSpc>
                <a:spcPct val="107000"/>
              </a:lnSpc>
              <a:spcAft>
                <a:spcPts val="500"/>
              </a:spcAft>
            </a:pPr>
            <a:r>
              <a:rPr sz="1500" b="0">
                <a:solidFill>
                  <a:srgbClr val="232925"/>
                </a:solidFill>
                <a:latin typeface="Arial"/>
              </a:rPr>
              <a:t>3,700 leaders; 21 countries; vendor-commissioned survey.</a:t>
            </a:r>
          </a:p>
        </p:txBody>
      </p:sp>
      <p:sp>
        <p:nvSpPr>
          <p:cNvPr id="11" name="Kyndryl Readiness Report 2024"/>
          <p:cNvSpPr txBox="1"/>
          <p:nvPr/>
        </p:nvSpPr>
        <p:spPr>
          <a:xfrm>
            <a:off x="594360" y="3438144"/>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4"/>
              </a:rPr>
              <a:t>Kyndryl Readiness Report 2024</a:t>
            </a:r>
          </a:p>
        </p:txBody>
      </p:sp>
      <p:sp>
        <p:nvSpPr>
          <p:cNvPr id="12" name="44%: observed mission-critical infrastructure approaching/at"/>
          <p:cNvSpPr txBox="1"/>
          <p:nvPr/>
        </p:nvSpPr>
        <p:spPr>
          <a:xfrm>
            <a:off x="594360" y="3831335"/>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44%: observed mission-critical infrastructure approaching/at end-of-life.</a:t>
            </a:r>
          </a:p>
          <a:p>
            <a:pPr>
              <a:lnSpc>
                <a:spcPct val="107000"/>
              </a:lnSpc>
              <a:spcAft>
                <a:spcPts val="500"/>
              </a:spcAft>
            </a:pPr>
            <a:r>
              <a:rPr sz="1500" b="0">
                <a:solidFill>
                  <a:srgbClr val="232925"/>
                </a:solidFill>
                <a:latin typeface="Arial"/>
              </a:rPr>
              <a:t>Kyndryl Bridge data—not a percentage of legacy source code.</a:t>
            </a:r>
          </a:p>
        </p:txBody>
      </p:sp>
      <p:sp>
        <p:nvSpPr>
          <p:cNvPr id="13" name="GitHub / Microsoft / DX, DevEx research (2024)"/>
          <p:cNvSpPr txBox="1"/>
          <p:nvPr/>
        </p:nvSpPr>
        <p:spPr>
          <a:xfrm>
            <a:off x="594360" y="4425696"/>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5"/>
              </a:rPr>
              <a:t>GitHub / Microsoft / DX, DevEx research (2024)</a:t>
            </a:r>
          </a:p>
        </p:txBody>
      </p:sp>
      <p:sp>
        <p:nvSpPr>
          <p:cNvPr id="14" name="42%: developers with high code understanding feel more produ"/>
          <p:cNvSpPr txBox="1"/>
          <p:nvPr/>
        </p:nvSpPr>
        <p:spPr>
          <a:xfrm>
            <a:off x="594360" y="4818888"/>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42%: developers with high code understanding feel more productive.</a:t>
            </a:r>
          </a:p>
          <a:p>
            <a:pPr>
              <a:lnSpc>
                <a:spcPct val="107000"/>
              </a:lnSpc>
              <a:spcAft>
                <a:spcPts val="500"/>
              </a:spcAft>
            </a:pPr>
            <a:r>
              <a:rPr sz="1500" b="0">
                <a:solidFill>
                  <a:srgbClr val="232925"/>
                </a:solidFill>
                <a:latin typeface="Arial"/>
              </a:rPr>
              <a:t>Self-reported association—not proof of a causal modernization benefit.</a:t>
            </a:r>
          </a:p>
        </p:txBody>
      </p:sp>
      <p:sp>
        <p:nvSpPr>
          <p:cNvPr id="15" name="Source titles are clickable. Full links and methods are in t"/>
          <p:cNvSpPr txBox="1"/>
          <p:nvPr/>
        </p:nvSpPr>
        <p:spPr>
          <a:xfrm>
            <a:off x="594360" y="5522976"/>
            <a:ext cx="10972800" cy="530352"/>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Source titles are clickable. Full links and methods are in the companion brief.</a:t>
            </a:r>
          </a:p>
          <a:p>
            <a:pPr>
              <a:lnSpc>
                <a:spcPct val="107000"/>
              </a:lnSpc>
              <a:spcAft>
                <a:spcPts val="500"/>
              </a:spcAft>
            </a:pPr>
            <a:r>
              <a:rPr sz="1400" b="0">
                <a:solidFill>
                  <a:srgbClr val="232925"/>
                </a:solidFill>
                <a:latin typeface="Arial"/>
              </a:rPr>
              <a:t>Checked October 5, 2026. No customer ROI or shipped modernization capability is claimed.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ne pattern, four field audienc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One pattern, four field audiences.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5 / 17"/>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15 / 17</a:t>
            </a:r>
          </a:p>
        </p:txBody>
      </p:sp>
      <p:sp>
        <p:nvSpPr>
          <p:cNvPr id="7" name="Rectangle 6"/>
          <p:cNvSpPr/>
          <p:nvPr/>
        </p:nvSpPr>
        <p:spPr>
          <a:xfrm>
            <a:off x="594360" y="1627632"/>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udience"/>
          <p:cNvSpPr txBox="1"/>
          <p:nvPr/>
        </p:nvSpPr>
        <p:spPr>
          <a:xfrm>
            <a:off x="704088" y="1755648"/>
            <a:ext cx="219456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Audience</a:t>
            </a:r>
          </a:p>
        </p:txBody>
      </p:sp>
      <p:sp>
        <p:nvSpPr>
          <p:cNvPr id="9" name="How they use it"/>
          <p:cNvSpPr txBox="1"/>
          <p:nvPr/>
        </p:nvSpPr>
        <p:spPr>
          <a:xfrm>
            <a:off x="3108960" y="1755648"/>
            <a:ext cx="347472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How they use it</a:t>
            </a:r>
          </a:p>
        </p:txBody>
      </p:sp>
      <p:sp>
        <p:nvSpPr>
          <p:cNvPr id="10" name="Value"/>
          <p:cNvSpPr txBox="1"/>
          <p:nvPr/>
        </p:nvSpPr>
        <p:spPr>
          <a:xfrm>
            <a:off x="6711696" y="1755648"/>
            <a:ext cx="365760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Value</a:t>
            </a:r>
          </a:p>
        </p:txBody>
      </p:sp>
      <p:sp>
        <p:nvSpPr>
          <p:cNvPr id="11" name="Status"/>
          <p:cNvSpPr txBox="1"/>
          <p:nvPr/>
        </p:nvSpPr>
        <p:spPr>
          <a:xfrm>
            <a:off x="10579607" y="1755648"/>
            <a:ext cx="8778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Status</a:t>
            </a:r>
          </a:p>
        </p:txBody>
      </p:sp>
      <p:sp>
        <p:nvSpPr>
          <p:cNvPr id="12" name="Rectangle 11"/>
          <p:cNvSpPr/>
          <p:nvPr/>
        </p:nvSpPr>
        <p:spPr>
          <a:xfrm>
            <a:off x="594360" y="298825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Account teams"/>
          <p:cNvSpPr txBox="1"/>
          <p:nvPr/>
        </p:nvSpPr>
        <p:spPr>
          <a:xfrm>
            <a:off x="704088" y="2286000"/>
            <a:ext cx="2194560" cy="64008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Account teams</a:t>
            </a:r>
          </a:p>
        </p:txBody>
      </p:sp>
      <p:sp>
        <p:nvSpPr>
          <p:cNvPr id="14" name="Frame a one-service pilot with the customer: agree the service, owner and review gate."/>
          <p:cNvSpPr txBox="1"/>
          <p:nvPr/>
        </p:nvSpPr>
        <p:spPr>
          <a:xfrm>
            <a:off x="3108960" y="2286000"/>
            <a:ext cx="347472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Frame a one-service pilot with the customer: agree the service, owner and review gate.</a:t>
            </a:r>
          </a:p>
        </p:txBody>
      </p:sp>
      <p:sp>
        <p:nvSpPr>
          <p:cNvPr id="15" name="A pilot the customer can verify, not just a pitch."/>
          <p:cNvSpPr txBox="1"/>
          <p:nvPr/>
        </p:nvSpPr>
        <p:spPr>
          <a:xfrm>
            <a:off x="6711696" y="2286000"/>
            <a:ext cx="365760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A pilot the customer can verify, not just a pitch.</a:t>
            </a:r>
          </a:p>
        </p:txBody>
      </p:sp>
      <p:sp>
        <p:nvSpPr>
          <p:cNvPr id="16" name="Chip: Proposed"/>
          <p:cNvSpPr/>
          <p:nvPr/>
        </p:nvSpPr>
        <p:spPr>
          <a:xfrm>
            <a:off x="10579607" y="23820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17" name="Rectangle 16"/>
          <p:cNvSpPr/>
          <p:nvPr/>
        </p:nvSpPr>
        <p:spPr>
          <a:xfrm>
            <a:off x="594360" y="381121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ustomer success"/>
          <p:cNvSpPr txBox="1"/>
          <p:nvPr/>
        </p:nvSpPr>
        <p:spPr>
          <a:xfrm>
            <a:off x="704088" y="3108960"/>
            <a:ext cx="2194560" cy="64008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Customer success</a:t>
            </a:r>
          </a:p>
        </p:txBody>
      </p:sp>
      <p:sp>
        <p:nvSpPr>
          <p:cNvPr id="19" name="Run today’s guide with the service owner; log gaps and unavailable sections."/>
          <p:cNvSpPr txBox="1"/>
          <p:nvPr/>
        </p:nvSpPr>
        <p:spPr>
          <a:xfrm>
            <a:off x="3108960" y="3108960"/>
            <a:ext cx="347472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Run today’s guide with the service owner; log gaps and unavailable sections.</a:t>
            </a:r>
          </a:p>
        </p:txBody>
      </p:sp>
      <p:sp>
        <p:nvSpPr>
          <p:cNvPr id="20" name="Gaps surface early; owners review instead of re-explaining."/>
          <p:cNvSpPr txBox="1"/>
          <p:nvPr/>
        </p:nvSpPr>
        <p:spPr>
          <a:xfrm>
            <a:off x="6711696" y="3108960"/>
            <a:ext cx="365760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Gaps surface early; owners review instead of re-explaining.</a:t>
            </a:r>
          </a:p>
        </p:txBody>
      </p:sp>
      <p:sp>
        <p:nvSpPr>
          <p:cNvPr id="21" name="Chip: Emerging"/>
          <p:cNvSpPr/>
          <p:nvPr/>
        </p:nvSpPr>
        <p:spPr>
          <a:xfrm>
            <a:off x="10579607" y="3204972"/>
            <a:ext cx="822959" cy="274320"/>
          </a:xfrm>
          <a:prstGeom prst="round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Emerging</a:t>
            </a:r>
          </a:p>
        </p:txBody>
      </p:sp>
      <p:sp>
        <p:nvSpPr>
          <p:cNvPr id="22" name="Rectangle 21"/>
          <p:cNvSpPr/>
          <p:nvPr/>
        </p:nvSpPr>
        <p:spPr>
          <a:xfrm>
            <a:off x="594360" y="463417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olution sales"/>
          <p:cNvSpPr txBox="1"/>
          <p:nvPr/>
        </p:nvSpPr>
        <p:spPr>
          <a:xfrm>
            <a:off x="704088" y="3931920"/>
            <a:ext cx="2194560" cy="64008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Solution sales</a:t>
            </a:r>
          </a:p>
        </p:txBody>
      </p:sp>
      <p:sp>
        <p:nvSpPr>
          <p:cNvPr id="24" name="Build a cited map of a customer service before the technical deep-dive."/>
          <p:cNvSpPr txBox="1"/>
          <p:nvPr/>
        </p:nvSpPr>
        <p:spPr>
          <a:xfrm>
            <a:off x="3108960" y="3931920"/>
            <a:ext cx="347472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Build a cited map of a customer service before the technical deep-dive.</a:t>
            </a:r>
          </a:p>
        </p:txBody>
      </p:sp>
      <p:sp>
        <p:nvSpPr>
          <p:cNvPr id="25" name="Go into the session with sources, not discovery questions."/>
          <p:cNvSpPr txBox="1"/>
          <p:nvPr/>
        </p:nvSpPr>
        <p:spPr>
          <a:xfrm>
            <a:off x="6711696" y="3931920"/>
            <a:ext cx="365760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Go into the session with sources, not discovery questions.</a:t>
            </a:r>
          </a:p>
        </p:txBody>
      </p:sp>
      <p:sp>
        <p:nvSpPr>
          <p:cNvPr id="26" name="Chip: Proposed"/>
          <p:cNvSpPr/>
          <p:nvPr/>
        </p:nvSpPr>
        <p:spPr>
          <a:xfrm>
            <a:off x="10579607" y="402793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27" name="Rectangle 26"/>
          <p:cNvSpPr/>
          <p:nvPr/>
        </p:nvSpPr>
        <p:spPr>
          <a:xfrm>
            <a:off x="594360" y="545713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eveloper stakeholders"/>
          <p:cNvSpPr txBox="1"/>
          <p:nvPr/>
        </p:nvSpPr>
        <p:spPr>
          <a:xfrm>
            <a:off x="704088" y="4754880"/>
            <a:ext cx="2194560" cy="64008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Developer stakeholders</a:t>
            </a:r>
          </a:p>
        </p:txBody>
      </p:sp>
      <p:sp>
        <p:nvSpPr>
          <p:cNvPr id="29" name="Run /onboard-repo, inspect the cited files, then decide the first task."/>
          <p:cNvSpPr txBox="1"/>
          <p:nvPr/>
        </p:nvSpPr>
        <p:spPr>
          <a:xfrm>
            <a:off x="3108960" y="4754880"/>
            <a:ext cx="347472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Run /onboard-repo, inspect the cited files, then decide the first task.</a:t>
            </a:r>
          </a:p>
        </p:txBody>
      </p:sp>
      <p:sp>
        <p:nvSpPr>
          <p:cNvPr id="30" name="Less repeated discovery; claims to verify, not trust."/>
          <p:cNvSpPr txBox="1"/>
          <p:nvPr/>
        </p:nvSpPr>
        <p:spPr>
          <a:xfrm>
            <a:off x="6711696" y="4754880"/>
            <a:ext cx="365760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Less repeated discovery; claims to verify, not trust.</a:t>
            </a:r>
          </a:p>
        </p:txBody>
      </p:sp>
      <p:sp>
        <p:nvSpPr>
          <p:cNvPr id="31" name="Chip: Prototype"/>
          <p:cNvSpPr/>
          <p:nvPr/>
        </p:nvSpPr>
        <p:spPr>
          <a:xfrm>
            <a:off x="10579607" y="4850892"/>
            <a:ext cx="82295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37" name="Prototype: implemented in this repository. Emerging: today’s guide reused as-is, not yet validated with this audience. Proposed: not built. Only developer onboarding exists today."/>
          <p:cNvSpPr txBox="1"/>
          <p:nvPr/>
        </p:nvSpPr>
        <p:spPr>
          <a:xfrm>
            <a:off x="594360" y="5733288"/>
            <a:ext cx="10972800" cy="45720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Prototype: implemented in this repository. Emerging: today’s guide reused as-is, not yet validated with this audience. Proposed: not built. Only developer onboarding exists today.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Bearing: agents you can check</dc:title>
  <dc:subject>Evidence-first agent workflows: repository onboarding today, legacy modernization proposed</dc:subject>
  <dc:creator>Bearing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