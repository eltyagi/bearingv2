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trust problem, then show the answer: findings that cite sources and stop at a human decision. Bearing is a prototype GitHub Copilot App plugin that orients a developer in an unfamiliar repository. Legacy modernization is a proposed extension of the same discipline, not shipped functionality. We are not proposing a rewrite because a service is old; we are proposing a bounded assessment of what makes the next change expensive or risky. This is not an official GitHub service or endorsement.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source: https://stackoverflow.co/company/press/archive/stack-overflow-2025-developer-survey/ (published July 29, 2025). 84% use or plan to use AI tools, up from 76% in 2024; 46% say they don’t trust the accuracy of AI output, up from 31%. Stack Overflow’s December 2025 write-up separately reports trust in AI accuracy falling from 40% to 29%; other summaries quote a different trust figure, so this deck uses only the two press-release measures above. The survey is self-reported and describes its respondents, not this customer. Each bar runs from 0 to 100%. The two charts measure different questions and are not additive.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Right-hand claims are verified against the repo: plugins/bearing/agents/repo-cartographer.agent.md (every claim from a file read with view; documented vs observed conventions; unavailable sections with a reason), plugins/bearing/skills/onboard-repo/SKILL.md (no repository changes, no build, install or test commands, no implementation work) and the extension section validation (referenced files must exist; line ranges are checked). The left-hand column characterizes ad-hoc prompting in general, not any named product. Bearing does not verify that an explanation is semantically correct; the developer reviews the cited evidence. The diamond marks the human review gate.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sources: https://www.kyndryl.com/us/en/insights/readiness-report-2025</a:t>
            </a:r>
          </a:p>
          <a:p>
            <a:r>
              <a:t>https://www.kyndryl.com/us/en/about-us/news/2024/10/kyndryl-readiness-report-2024</a:t>
            </a:r>
          </a:p>
          <a:p>
            <a:r>
              <a:t>The 2025 survey was conducted by Edelman DXI for Kyndryl, June 20–August 15, 2025. The 44% figure is from Bridge operational observations, not the 3,200-person 2024 survey. Do not infer that 44% of enterprise code is legacy or that either statistic describes this repository. Each square in a chart is one percentage point. The two charts show different measures from different populations; do not add or compare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scenario, not a customer case study or a finding about bearingV2. The business constraint is uncertainty about a consequential change. AI can help explore, but its explanation does not establish coverage, dependencies or runtime performance. Bring the accountable service owner into the assessment before selecting improvements.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 observed, measured, hypothesis and unknown. Pin the source commit and date all evidence. A file reference is not correctness certification. Dependencies and business criticality require service-owner confirmation; code alone cannot establish them. Inspect existing CI and coverage reports in discovery. Additional instrumentation, test execution or production-data use requires separate approval.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 coverage does not prove correct business behavior, and no report is not zero coverage. Characterization tests should preserve owner-confirmed intentional behavior, not accidentally freeze a bug. Use customer-agreed observation windows. Calculate median/p95 only with enough samples, and compare like workflows, runner classes, branches and cache states. Do not monetize all saved CI minutes as engineer time. Customer-specific targets are agreed only after the baseline exists. The journey and pipeline strips are illustrative: pipeline segments have equal widths on purpose, so no timing is implied, and an empty circle means unknown, not zero coverage.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schedule is a planning assumption, not an SLA. Each diamond is a human review gate. Discovery remains read-only. Running tests/builds and all implementation work use separately approved permissions and delivery workflows. A retain-as-is decision is a successful assessment outcome. Record unresolved unknowns rather than forcing an improvement to meet the calendar.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proposed GitHub Projects design; no live project or issue has been created. Suggested full statuses: Discovery, Evidence review, Ready for decision, Approved, In progress, Validating, Done. Also record disposition (retain/improve/reshape/retire), blocked reasons, business journey, criticality, confidence, effort, target date and workstream. Use issues for evidence-rich work items, a table for triage, a board for status and a roadmap for approved dated work. Normal branch protections and deployment controls remain in force; a project field is not policy enforcement.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claim these candidates have been diagnosed. Evidence gaps create investigation issues, not confident prescriptions. Caching, parallelization and upgrades are options after measurement, not guaranteed fixes. Every implemented action needs an owner, acceptance checks and rollback.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decision aid, not an automated risk model: criticality rises upward, change confidence rises to the right. Shading shows suggested order of attention, not a score. Urgent compliance/support obligations take precedence according to customer policy. Compare measured friction, frequency, effort, confidence and reversibility. Retire only after business-owner approval of dependencies, retention and exit plans. Reshape a boundary only when repeated change constraints justify the larger investment.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 behavior is verified against README.md and plugins/bearing/skills/onboard-repo/SKILL.md, the repo-cartographer and pr-historian agent instructions, and section-validation code. Path/line checks are reference validation, not semantic correctness certification. The prototype targets small repositories on github.com, not production monorepo/large-estate analysis or GitHub Enterprise Server. Production rollout still needs approved data/model handling, access, retention, auditability, quality criteria and operational ownership.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self-assessment, not a score. Prototype = implemented in this repository (README.md, submission/README.md and plugins/bearing/). Emerging = partly supported, not validated. Proposed = described in this deck or the companion brief but not built. Governed means the prototype’s own controls: read-only agents with role-scoped tool lists, workspace state kept outside the analyzed repository, and a loopback-only canvas with a per-instance token. Production rollout still needs approved data and model handling, access, retention, auditability and an owner.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repository onboarding exists. Every other row is a proposal that would need its own analyzers, tool permissions, evaluation and human review gates; none inherits Bearing’s current controls automatically. The shared pattern is a design intent, not an implemented cross-workflow contract.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customer to nominate the service, journey and accountable owner. Agree measurement and review gates before selecting the intervention. Track comparable CI/test-stage performance, failure behavior and confidence for the named journey. For assessment value, record evidence completeness, time to owner-approved first meaningful PR and repeated orientation questions. All targets are customer-agreed pilot hypotheses, not claimed Bearing outcomes.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and qualifications:</a:t>
            </a:r>
          </a:p>
          <a:p>
            <a:r>
              <a:t>https://stackoverflow.co/company/press/archive/stack-overflow-2025-developer-survey/</a:t>
            </a:r>
          </a:p>
          <a:p>
            <a:r>
              <a:t>https://www.kyndryl.com/us/en/insights/readiness-report-2025</a:t>
            </a:r>
          </a:p>
          <a:p>
            <a:r>
              <a:t>https://www.kyndryl.com/us/en/about-us/news/2024/10/kyndryl-readiness-report-2024</a:t>
            </a:r>
          </a:p>
          <a:p>
            <a:r>
              <a:t>https://github.blog/news-insights/research/good-devex-increases-productivity/</a:t>
            </a:r>
          </a:p>
          <a:p>
            <a:r>
              <a:t>Stack Overflow’s December 2025 results write-up (https://stackoverflow.blog/2025/12/29/developers-remain-willing-but-reluctant-to-use-ai-the-2025-developer-survey-results-are-here/) reports trust in AI accuracy falling from 40% to 29%; other summaries quote different trust figures, so the deck uses only the press-release measures.</a:t>
            </a:r>
          </a:p>
          <a:p>
            <a:r>
              <a:t>Underlying DevEx paper: https://queue.acm.org/detail.cfm?id=3639443</a:t>
            </a:r>
          </a:p>
          <a:p>
            <a:r>
              <a:t>Brand: https://brand.github.com/foundations/color and https://brand.github.com/foundations/typography</a:t>
            </a:r>
          </a:p>
          <a:p>
            <a:r>
              <a:t>The Kyndryl 2025 survey dates are June 20–August 15, 2025. The 2024 announcement was October 16, 2024. Vendor research describes its stated populations, not the customer's estate. The four-week schedule and all backlog examples are illustrative. Artifacts use the official neutral/green palette with a restrained Copilot Purple accent: green marks what exists today, purple marks illustrative or proposed content. Mona Sans is used for display type and Arial for body text so the files stay portable. They do not imply GitHub endorsement of Bearing.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tackoverflow.co/company/press/archive/stack-overflow-2025-developer-survey/" TargetMode="External"/><Relationship Id="rId3" Type="http://schemas.openxmlformats.org/officeDocument/2006/relationships/hyperlink" Target="https://www.kyndryl.com/us/en/insights/readiness-report-2025" TargetMode="External"/><Relationship Id="rId4" Type="http://schemas.openxmlformats.org/officeDocument/2006/relationships/hyperlink" Target="https://www.kyndryl.com/us/en/about-us/news/2024/10/kyndryl-readiness-report-2024" TargetMode="External"/><Relationship Id="rId5" Type="http://schemas.openxmlformats.org/officeDocument/2006/relationships/hyperlink" Target="https://github.blog/news-insights/research/good-devex-increases-productivity/" TargetMode="External"/><Relationship Id="rId6"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411"/>
        </a:solidFill>
        <a:effectLst/>
      </p:bgPr>
    </p:bg>
    <p:spTree>
      <p:nvGrpSpPr>
        <p:cNvPr id="1" name=""/>
        <p:cNvGrpSpPr/>
        <p:nvPr/>
      </p:nvGrpSpPr>
      <p:grpSpPr/>
      <p:sp>
        <p:nvSpPr>
          <p:cNvPr id="2" name="Agents you can check."/>
          <p:cNvSpPr txBox="1"/>
          <p:nvPr/>
        </p:nvSpPr>
        <p:spPr>
          <a:xfrm>
            <a:off x="594360" y="502920"/>
            <a:ext cx="10972800" cy="1005840"/>
          </a:xfrm>
          <a:prstGeom prst="rect">
            <a:avLst/>
          </a:prstGeom>
          <a:noFill/>
        </p:spPr>
        <p:txBody>
          <a:bodyPr wrap="square" lIns="0" rIns="0" tIns="0" bIns="0">
            <a:spAutoFit/>
          </a:bodyPr>
          <a:lstStyle/>
          <a:p>
            <a:pPr>
              <a:lnSpc>
                <a:spcPct val="107000"/>
              </a:lnSpc>
              <a:spcAft>
                <a:spcPts val="500"/>
              </a:spcAft>
            </a:pPr>
            <a:r>
              <a:rPr sz="3200" b="1">
                <a:solidFill>
                  <a:srgbClr val="FFFFFF"/>
                </a:solidFill>
                <a:latin typeface="Mona Sans"/>
              </a:rPr>
              <a:t>Agents you can check.</a:t>
            </a:r>
          </a:p>
        </p:txBody>
      </p:sp>
      <p:sp>
        <p:nvSpPr>
          <p:cNvPr id="3" name="Rectangle 2"/>
          <p:cNvSpPr/>
          <p:nvPr/>
        </p:nvSpPr>
        <p:spPr>
          <a:xfrm>
            <a:off x="594360" y="6327648"/>
            <a:ext cx="10972800" cy="10972"/>
          </a:xfrm>
          <a:prstGeom prst="rect">
            <a:avLst/>
          </a:prstGeom>
          <a:solidFill>
            <a:srgbClr val="2329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itHub mark" descr="GitHub logo"/>
          <p:cNvSpPr/>
          <p:nvPr/>
        </p:nvSpPr>
        <p:spPr>
          <a:xfrm>
            <a:off x="594360" y="6419088"/>
            <a:ext cx="182880" cy="182880"/>
          </a:xfrm>
          <a:custGeom>
            <a:avLst/>
            <a:gdLst/>
            <a:ahLst/>
            <a:cxnLst/>
            <a:rect l="0" t="0" r="r" b="b"/>
            <a:pathLst>
              <a:path w="16000" h="16000">
                <a:moveTo>
                  <a:pt x="8000" y="0"/>
                </a:moveTo>
                <a:cubicBezTo>
                  <a:pt x="3580" y="0"/>
                  <a:pt x="0" y="3580"/>
                  <a:pt x="0" y="8000"/>
                </a:cubicBezTo>
                <a:cubicBezTo>
                  <a:pt x="0" y="11540"/>
                  <a:pt x="2290" y="14530"/>
                  <a:pt x="5470" y="15590"/>
                </a:cubicBezTo>
                <a:cubicBezTo>
                  <a:pt x="5870" y="15660"/>
                  <a:pt x="6020" y="15420"/>
                  <a:pt x="6020" y="15210"/>
                </a:cubicBezTo>
                <a:cubicBezTo>
                  <a:pt x="6020" y="15020"/>
                  <a:pt x="6010" y="14390"/>
                  <a:pt x="6010" y="13720"/>
                </a:cubicBezTo>
                <a:cubicBezTo>
                  <a:pt x="4000" y="14090"/>
                  <a:pt x="3480" y="13230"/>
                  <a:pt x="3320" y="12780"/>
                </a:cubicBezTo>
                <a:cubicBezTo>
                  <a:pt x="3230" y="12550"/>
                  <a:pt x="2840" y="11840"/>
                  <a:pt x="2500" y="11650"/>
                </a:cubicBezTo>
                <a:cubicBezTo>
                  <a:pt x="2220" y="11500"/>
                  <a:pt x="1820" y="11130"/>
                  <a:pt x="2490" y="11120"/>
                </a:cubicBezTo>
                <a:cubicBezTo>
                  <a:pt x="3120" y="11110"/>
                  <a:pt x="3570" y="11700"/>
                  <a:pt x="3720" y="11940"/>
                </a:cubicBezTo>
                <a:cubicBezTo>
                  <a:pt x="4440" y="13150"/>
                  <a:pt x="5590" y="12810"/>
                  <a:pt x="6050" y="12600"/>
                </a:cubicBezTo>
                <a:cubicBezTo>
                  <a:pt x="6120" y="12080"/>
                  <a:pt x="6330" y="11730"/>
                  <a:pt x="6560" y="11530"/>
                </a:cubicBezTo>
                <a:cubicBezTo>
                  <a:pt x="4780" y="11330"/>
                  <a:pt x="2920" y="10640"/>
                  <a:pt x="2920" y="7580"/>
                </a:cubicBezTo>
                <a:cubicBezTo>
                  <a:pt x="2920" y="6710"/>
                  <a:pt x="3230" y="5990"/>
                  <a:pt x="3740" y="5430"/>
                </a:cubicBezTo>
                <a:cubicBezTo>
                  <a:pt x="3660" y="5230"/>
                  <a:pt x="3380" y="4410"/>
                  <a:pt x="3820" y="3310"/>
                </a:cubicBezTo>
                <a:cubicBezTo>
                  <a:pt x="3820" y="3310"/>
                  <a:pt x="4490" y="3100"/>
                  <a:pt x="6020" y="4130"/>
                </a:cubicBezTo>
                <a:cubicBezTo>
                  <a:pt x="6660" y="3950"/>
                  <a:pt x="7340" y="3860"/>
                  <a:pt x="8020" y="3860"/>
                </a:cubicBezTo>
                <a:cubicBezTo>
                  <a:pt x="8700" y="3860"/>
                  <a:pt x="9380" y="3950"/>
                  <a:pt x="10020" y="4130"/>
                </a:cubicBezTo>
                <a:cubicBezTo>
                  <a:pt x="11550" y="3090"/>
                  <a:pt x="12220" y="3310"/>
                  <a:pt x="12220" y="3310"/>
                </a:cubicBezTo>
                <a:cubicBezTo>
                  <a:pt x="12660" y="4410"/>
                  <a:pt x="12380" y="5230"/>
                  <a:pt x="12300" y="5430"/>
                </a:cubicBezTo>
                <a:cubicBezTo>
                  <a:pt x="12810" y="5990"/>
                  <a:pt x="13120" y="6700"/>
                  <a:pt x="13120" y="7580"/>
                </a:cubicBezTo>
                <a:cubicBezTo>
                  <a:pt x="13120" y="10650"/>
                  <a:pt x="11250" y="11330"/>
                  <a:pt x="9470" y="11530"/>
                </a:cubicBezTo>
                <a:cubicBezTo>
                  <a:pt x="9760" y="11780"/>
                  <a:pt x="10010" y="12260"/>
                  <a:pt x="10010" y="13010"/>
                </a:cubicBezTo>
                <a:cubicBezTo>
                  <a:pt x="10010" y="14080"/>
                  <a:pt x="10000" y="14940"/>
                  <a:pt x="10000" y="15210"/>
                </a:cubicBezTo>
                <a:cubicBezTo>
                  <a:pt x="10000" y="15420"/>
                  <a:pt x="10150" y="15670"/>
                  <a:pt x="10550" y="15590"/>
                </a:cubicBezTo>
                <a:cubicBezTo>
                  <a:pt x="11604" y="15234"/>
                  <a:pt x="12572" y="14663"/>
                  <a:pt x="13394" y="13912"/>
                </a:cubicBezTo>
                <a:cubicBezTo>
                  <a:pt x="14215" y="13162"/>
                  <a:pt x="14870" y="12248"/>
                  <a:pt x="15319" y="11231"/>
                </a:cubicBezTo>
                <a:cubicBezTo>
                  <a:pt x="15768" y="10213"/>
                  <a:pt x="16000" y="9112"/>
                  <a:pt x="16000" y="8000"/>
                </a:cubicBezTo>
                <a:cubicBezTo>
                  <a:pt x="16000" y="3580"/>
                  <a:pt x="12420" y="0"/>
                  <a:pt x="8000" y="0"/>
                </a:cubicBez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earing  |  GitHub Copilot App workflow"/>
          <p:cNvSpPr txBox="1"/>
          <p:nvPr/>
        </p:nvSpPr>
        <p:spPr>
          <a:xfrm>
            <a:off x="914400" y="6428232"/>
            <a:ext cx="7726679" cy="201168"/>
          </a:xfrm>
          <a:prstGeom prst="rect">
            <a:avLst/>
          </a:prstGeom>
          <a:noFill/>
        </p:spPr>
        <p:txBody>
          <a:bodyPr wrap="square" lIns="0" rIns="0" tIns="0" bIns="0">
            <a:spAutoFit/>
          </a:bodyPr>
          <a:lstStyle/>
          <a:p>
            <a:pPr>
              <a:lnSpc>
                <a:spcPct val="107000"/>
              </a:lnSpc>
              <a:spcAft>
                <a:spcPts val="500"/>
              </a:spcAft>
            </a:pPr>
            <a:r>
              <a:rPr sz="1000" b="0">
                <a:solidFill>
                  <a:srgbClr val="B6BFB8"/>
                </a:solidFill>
                <a:latin typeface="Arial"/>
              </a:rPr>
              <a:t>Bearing  |  GitHub Copilot App workflow</a:t>
            </a:r>
          </a:p>
        </p:txBody>
      </p:sp>
      <p:sp>
        <p:nvSpPr>
          <p:cNvPr id="6" name="01 / 16"/>
          <p:cNvSpPr txBox="1"/>
          <p:nvPr/>
        </p:nvSpPr>
        <p:spPr>
          <a:xfrm>
            <a:off x="10744200" y="6428232"/>
            <a:ext cx="822960" cy="201168"/>
          </a:xfrm>
          <a:prstGeom prst="rect">
            <a:avLst/>
          </a:prstGeom>
          <a:noFill/>
        </p:spPr>
        <p:txBody>
          <a:bodyPr wrap="square" lIns="0" rIns="0" tIns="0" bIns="0">
            <a:spAutoFit/>
          </a:bodyPr>
          <a:lstStyle/>
          <a:p>
            <a:pPr>
              <a:lnSpc>
                <a:spcPct val="107000"/>
              </a:lnSpc>
              <a:spcAft>
                <a:spcPts val="500"/>
              </a:spcAft>
            </a:pPr>
            <a:r>
              <a:rPr sz="1000" b="0">
                <a:solidFill>
                  <a:srgbClr val="B6BFB8"/>
                </a:solidFill>
                <a:latin typeface="Arial"/>
              </a:rPr>
              <a:t>01 / 16</a:t>
            </a:r>
          </a:p>
        </p:txBody>
      </p:sp>
      <p:sp>
        <p:nvSpPr>
          <p:cNvPr id="7" name="GitHub mark" descr="GitHub logo"/>
          <p:cNvSpPr/>
          <p:nvPr/>
        </p:nvSpPr>
        <p:spPr>
          <a:xfrm>
            <a:off x="7863840" y="457200"/>
            <a:ext cx="640080" cy="640080"/>
          </a:xfrm>
          <a:custGeom>
            <a:avLst/>
            <a:gdLst/>
            <a:ahLst/>
            <a:cxnLst/>
            <a:rect l="0" t="0" r="r" b="b"/>
            <a:pathLst>
              <a:path w="16000" h="16000">
                <a:moveTo>
                  <a:pt x="8000" y="0"/>
                </a:moveTo>
                <a:cubicBezTo>
                  <a:pt x="3580" y="0"/>
                  <a:pt x="0" y="3580"/>
                  <a:pt x="0" y="8000"/>
                </a:cubicBezTo>
                <a:cubicBezTo>
                  <a:pt x="0" y="11540"/>
                  <a:pt x="2290" y="14530"/>
                  <a:pt x="5470" y="15590"/>
                </a:cubicBezTo>
                <a:cubicBezTo>
                  <a:pt x="5870" y="15660"/>
                  <a:pt x="6020" y="15420"/>
                  <a:pt x="6020" y="15210"/>
                </a:cubicBezTo>
                <a:cubicBezTo>
                  <a:pt x="6020" y="15020"/>
                  <a:pt x="6010" y="14390"/>
                  <a:pt x="6010" y="13720"/>
                </a:cubicBezTo>
                <a:cubicBezTo>
                  <a:pt x="4000" y="14090"/>
                  <a:pt x="3480" y="13230"/>
                  <a:pt x="3320" y="12780"/>
                </a:cubicBezTo>
                <a:cubicBezTo>
                  <a:pt x="3230" y="12550"/>
                  <a:pt x="2840" y="11840"/>
                  <a:pt x="2500" y="11650"/>
                </a:cubicBezTo>
                <a:cubicBezTo>
                  <a:pt x="2220" y="11500"/>
                  <a:pt x="1820" y="11130"/>
                  <a:pt x="2490" y="11120"/>
                </a:cubicBezTo>
                <a:cubicBezTo>
                  <a:pt x="3120" y="11110"/>
                  <a:pt x="3570" y="11700"/>
                  <a:pt x="3720" y="11940"/>
                </a:cubicBezTo>
                <a:cubicBezTo>
                  <a:pt x="4440" y="13150"/>
                  <a:pt x="5590" y="12810"/>
                  <a:pt x="6050" y="12600"/>
                </a:cubicBezTo>
                <a:cubicBezTo>
                  <a:pt x="6120" y="12080"/>
                  <a:pt x="6330" y="11730"/>
                  <a:pt x="6560" y="11530"/>
                </a:cubicBezTo>
                <a:cubicBezTo>
                  <a:pt x="4780" y="11330"/>
                  <a:pt x="2920" y="10640"/>
                  <a:pt x="2920" y="7580"/>
                </a:cubicBezTo>
                <a:cubicBezTo>
                  <a:pt x="2920" y="6710"/>
                  <a:pt x="3230" y="5990"/>
                  <a:pt x="3740" y="5430"/>
                </a:cubicBezTo>
                <a:cubicBezTo>
                  <a:pt x="3660" y="5230"/>
                  <a:pt x="3380" y="4410"/>
                  <a:pt x="3820" y="3310"/>
                </a:cubicBezTo>
                <a:cubicBezTo>
                  <a:pt x="3820" y="3310"/>
                  <a:pt x="4490" y="3100"/>
                  <a:pt x="6020" y="4130"/>
                </a:cubicBezTo>
                <a:cubicBezTo>
                  <a:pt x="6660" y="3950"/>
                  <a:pt x="7340" y="3860"/>
                  <a:pt x="8020" y="3860"/>
                </a:cubicBezTo>
                <a:cubicBezTo>
                  <a:pt x="8700" y="3860"/>
                  <a:pt x="9380" y="3950"/>
                  <a:pt x="10020" y="4130"/>
                </a:cubicBezTo>
                <a:cubicBezTo>
                  <a:pt x="11550" y="3090"/>
                  <a:pt x="12220" y="3310"/>
                  <a:pt x="12220" y="3310"/>
                </a:cubicBezTo>
                <a:cubicBezTo>
                  <a:pt x="12660" y="4410"/>
                  <a:pt x="12380" y="5230"/>
                  <a:pt x="12300" y="5430"/>
                </a:cubicBezTo>
                <a:cubicBezTo>
                  <a:pt x="12810" y="5990"/>
                  <a:pt x="13120" y="6700"/>
                  <a:pt x="13120" y="7580"/>
                </a:cubicBezTo>
                <a:cubicBezTo>
                  <a:pt x="13120" y="10650"/>
                  <a:pt x="11250" y="11330"/>
                  <a:pt x="9470" y="11530"/>
                </a:cubicBezTo>
                <a:cubicBezTo>
                  <a:pt x="9760" y="11780"/>
                  <a:pt x="10010" y="12260"/>
                  <a:pt x="10010" y="13010"/>
                </a:cubicBezTo>
                <a:cubicBezTo>
                  <a:pt x="10010" y="14080"/>
                  <a:pt x="10000" y="14940"/>
                  <a:pt x="10000" y="15210"/>
                </a:cubicBezTo>
                <a:cubicBezTo>
                  <a:pt x="10000" y="15420"/>
                  <a:pt x="10150" y="15670"/>
                  <a:pt x="10550" y="15590"/>
                </a:cubicBezTo>
                <a:cubicBezTo>
                  <a:pt x="11604" y="15234"/>
                  <a:pt x="12572" y="14663"/>
                  <a:pt x="13394" y="13912"/>
                </a:cubicBezTo>
                <a:cubicBezTo>
                  <a:pt x="14215" y="13162"/>
                  <a:pt x="14870" y="12248"/>
                  <a:pt x="15319" y="11231"/>
                </a:cubicBezTo>
                <a:cubicBezTo>
                  <a:pt x="15768" y="10213"/>
                  <a:pt x="16000" y="9112"/>
                  <a:pt x="16000" y="8000"/>
                </a:cubicBezTo>
                <a:cubicBezTo>
                  <a:pt x="16000" y="3580"/>
                  <a:pt x="12420" y="0"/>
                  <a:pt x="8000" y="0"/>
                </a:cubicBez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686800" y="457200"/>
            <a:ext cx="10972" cy="640080"/>
          </a:xfrm>
          <a:prstGeom prst="rect">
            <a:avLst/>
          </a:prstGeom>
          <a:solidFill>
            <a:srgbClr val="B6B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GitHub Copilot App"/>
          <p:cNvSpPr txBox="1"/>
          <p:nvPr/>
        </p:nvSpPr>
        <p:spPr>
          <a:xfrm>
            <a:off x="8887968" y="502920"/>
            <a:ext cx="2743200" cy="292608"/>
          </a:xfrm>
          <a:prstGeom prst="rect">
            <a:avLst/>
          </a:prstGeom>
          <a:noFill/>
        </p:spPr>
        <p:txBody>
          <a:bodyPr wrap="square" lIns="0" rIns="0" tIns="0" bIns="0">
            <a:spAutoFit/>
          </a:bodyPr>
          <a:lstStyle/>
          <a:p>
            <a:pPr>
              <a:lnSpc>
                <a:spcPct val="107000"/>
              </a:lnSpc>
              <a:spcAft>
                <a:spcPts val="500"/>
              </a:spcAft>
            </a:pPr>
            <a:r>
              <a:rPr sz="1700" b="1">
                <a:solidFill>
                  <a:srgbClr val="FFFFFF"/>
                </a:solidFill>
                <a:latin typeface="Arial"/>
              </a:rPr>
              <a:t>GitHub Copilot App</a:t>
            </a:r>
          </a:p>
        </p:txBody>
      </p:sp>
      <p:sp>
        <p:nvSpPr>
          <p:cNvPr id="10" name="Enterprise workflow challenge"/>
          <p:cNvSpPr txBox="1"/>
          <p:nvPr/>
        </p:nvSpPr>
        <p:spPr>
          <a:xfrm>
            <a:off x="8887968" y="850392"/>
            <a:ext cx="2743200" cy="256032"/>
          </a:xfrm>
          <a:prstGeom prst="rect">
            <a:avLst/>
          </a:prstGeom>
          <a:noFill/>
        </p:spPr>
        <p:txBody>
          <a:bodyPr wrap="square" lIns="0" rIns="0" tIns="0" bIns="0">
            <a:spAutoFit/>
          </a:bodyPr>
          <a:lstStyle/>
          <a:p>
            <a:pPr>
              <a:lnSpc>
                <a:spcPct val="107000"/>
              </a:lnSpc>
              <a:spcAft>
                <a:spcPts val="500"/>
              </a:spcAft>
            </a:pPr>
            <a:r>
              <a:rPr sz="1200" b="0">
                <a:solidFill>
                  <a:srgbClr val="B6BFB8"/>
                </a:solidFill>
                <a:latin typeface="Arial"/>
              </a:rPr>
              <a:t>Enterprise workflow challenge</a:t>
            </a:r>
          </a:p>
        </p:txBody>
      </p:sp>
      <p:sp>
        <p:nvSpPr>
          <p:cNvPr id="11" name="Evidence first."/>
          <p:cNvSpPr txBox="1"/>
          <p:nvPr/>
        </p:nvSpPr>
        <p:spPr>
          <a:xfrm>
            <a:off x="594360" y="1417320"/>
            <a:ext cx="7680960" cy="777240"/>
          </a:xfrm>
          <a:prstGeom prst="rect">
            <a:avLst/>
          </a:prstGeom>
          <a:noFill/>
        </p:spPr>
        <p:txBody>
          <a:bodyPr wrap="square" lIns="0" rIns="0" tIns="0" bIns="0">
            <a:spAutoFit/>
          </a:bodyPr>
          <a:lstStyle/>
          <a:p>
            <a:pPr>
              <a:lnSpc>
                <a:spcPct val="107000"/>
              </a:lnSpc>
              <a:spcAft>
                <a:spcPts val="500"/>
              </a:spcAft>
            </a:pPr>
            <a:r>
              <a:rPr sz="4300" b="1">
                <a:solidFill>
                  <a:srgbClr val="0FBF3E"/>
                </a:solidFill>
                <a:latin typeface="Mona Sans"/>
              </a:rPr>
              <a:t>Evidence first.</a:t>
            </a:r>
          </a:p>
        </p:txBody>
      </p:sp>
      <p:sp>
        <p:nvSpPr>
          <p:cNvPr id="12" name="Repository onboarding today."/>
          <p:cNvSpPr txBox="1"/>
          <p:nvPr/>
        </p:nvSpPr>
        <p:spPr>
          <a:xfrm>
            <a:off x="594360" y="2542032"/>
            <a:ext cx="6675120" cy="1097280"/>
          </a:xfrm>
          <a:prstGeom prst="rect">
            <a:avLst/>
          </a:prstGeom>
          <a:noFill/>
        </p:spPr>
        <p:txBody>
          <a:bodyPr wrap="square" lIns="0" rIns="0" tIns="0" bIns="0">
            <a:spAutoFit/>
          </a:bodyPr>
          <a:lstStyle/>
          <a:p>
            <a:pPr>
              <a:lnSpc>
                <a:spcPct val="107000"/>
              </a:lnSpc>
              <a:spcAft>
                <a:spcPts val="500"/>
              </a:spcAft>
            </a:pPr>
            <a:r>
              <a:rPr sz="2800" b="0">
                <a:solidFill>
                  <a:srgbClr val="FFFFFF"/>
                </a:solidFill>
                <a:latin typeface="Arial"/>
              </a:rPr>
              <a:t>Repository onboarding today.</a:t>
            </a:r>
          </a:p>
          <a:p>
            <a:pPr>
              <a:lnSpc>
                <a:spcPct val="107000"/>
              </a:lnSpc>
              <a:spcAft>
                <a:spcPts val="500"/>
              </a:spcAft>
            </a:pPr>
            <a:r>
              <a:rPr sz="2800" b="0">
                <a:solidFill>
                  <a:srgbClr val="FFFFFF"/>
                </a:solidFill>
                <a:latin typeface="Arial"/>
              </a:rPr>
              <a:t>Legacy modernization next.</a:t>
            </a:r>
          </a:p>
        </p:txBody>
      </p:sp>
      <p:sp>
        <p:nvSpPr>
          <p:cNvPr id="13" name="Findings cite their sources."/>
          <p:cNvSpPr txBox="1"/>
          <p:nvPr/>
        </p:nvSpPr>
        <p:spPr>
          <a:xfrm>
            <a:off x="594360" y="3968496"/>
            <a:ext cx="6766560" cy="1024128"/>
          </a:xfrm>
          <a:prstGeom prst="rect">
            <a:avLst/>
          </a:prstGeom>
          <a:noFill/>
        </p:spPr>
        <p:txBody>
          <a:bodyPr wrap="square" lIns="0" rIns="0" tIns="0" bIns="0">
            <a:spAutoFit/>
          </a:bodyPr>
          <a:lstStyle/>
          <a:p>
            <a:pPr>
              <a:lnSpc>
                <a:spcPct val="107000"/>
              </a:lnSpc>
              <a:spcAft>
                <a:spcPts val="500"/>
              </a:spcAft>
            </a:pPr>
            <a:r>
              <a:rPr sz="2100" b="0">
                <a:solidFill>
                  <a:srgbClr val="B6BFB8"/>
                </a:solidFill>
                <a:latin typeface="Arial"/>
              </a:rPr>
              <a:t>Findings cite their sources.</a:t>
            </a:r>
          </a:p>
          <a:p>
            <a:pPr>
              <a:lnSpc>
                <a:spcPct val="107000"/>
              </a:lnSpc>
              <a:spcAft>
                <a:spcPts val="500"/>
              </a:spcAft>
            </a:pPr>
            <a:r>
              <a:rPr sz="2100" b="0">
                <a:solidFill>
                  <a:srgbClr val="B6BFB8"/>
                </a:solidFill>
                <a:latin typeface="Arial"/>
              </a:rPr>
              <a:t>Every step ends in a human decision.</a:t>
            </a:r>
          </a:p>
        </p:txBody>
      </p:sp>
      <p:sp>
        <p:nvSpPr>
          <p:cNvPr id="14" name="Rectangle 13"/>
          <p:cNvSpPr/>
          <p:nvPr/>
        </p:nvSpPr>
        <p:spPr>
          <a:xfrm>
            <a:off x="8229600" y="1828800"/>
            <a:ext cx="3017520" cy="713232"/>
          </a:xfrm>
          <a:prstGeom prst="rect">
            <a:avLst/>
          </a:prstGeom>
          <a:solidFill>
            <a:srgbClr val="2329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Unfamiliar code"/>
          <p:cNvSpPr txBox="1"/>
          <p:nvPr/>
        </p:nvSpPr>
        <p:spPr>
          <a:xfrm>
            <a:off x="8412480" y="1993392"/>
            <a:ext cx="2651760" cy="411480"/>
          </a:xfrm>
          <a:prstGeom prst="rect">
            <a:avLst/>
          </a:prstGeom>
          <a:noFill/>
        </p:spPr>
        <p:txBody>
          <a:bodyPr wrap="square" lIns="0" rIns="0" tIns="0" bIns="0">
            <a:spAutoFit/>
          </a:bodyPr>
          <a:lstStyle/>
          <a:p>
            <a:pPr>
              <a:lnSpc>
                <a:spcPct val="107000"/>
              </a:lnSpc>
              <a:spcAft>
                <a:spcPts val="500"/>
              </a:spcAft>
            </a:pPr>
            <a:r>
              <a:rPr sz="2000" b="1">
                <a:solidFill>
                  <a:srgbClr val="FFFFFF"/>
                </a:solidFill>
                <a:latin typeface="Arial"/>
              </a:rPr>
              <a:t>Unfamiliar code</a:t>
            </a:r>
          </a:p>
        </p:txBody>
      </p:sp>
      <p:sp>
        <p:nvSpPr>
          <p:cNvPr id="16" name="Rectangle 15"/>
          <p:cNvSpPr/>
          <p:nvPr/>
        </p:nvSpPr>
        <p:spPr>
          <a:xfrm>
            <a:off x="9729216" y="2542032"/>
            <a:ext cx="16459" cy="338328"/>
          </a:xfrm>
          <a:prstGeom prst="rect">
            <a:avLst/>
          </a:prstGeom>
          <a:solidFill>
            <a:srgbClr val="B6B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2880360"/>
            <a:ext cx="3017520" cy="713232"/>
          </a:xfrm>
          <a:prstGeom prst="rect">
            <a:avLst/>
          </a:prstGeom>
          <a:solidFill>
            <a:srgbClr val="2329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Evidence + context"/>
          <p:cNvSpPr txBox="1"/>
          <p:nvPr/>
        </p:nvSpPr>
        <p:spPr>
          <a:xfrm>
            <a:off x="8412480" y="3044952"/>
            <a:ext cx="2651760" cy="411480"/>
          </a:xfrm>
          <a:prstGeom prst="rect">
            <a:avLst/>
          </a:prstGeom>
          <a:noFill/>
        </p:spPr>
        <p:txBody>
          <a:bodyPr wrap="square" lIns="0" rIns="0" tIns="0" bIns="0">
            <a:spAutoFit/>
          </a:bodyPr>
          <a:lstStyle/>
          <a:p>
            <a:pPr>
              <a:lnSpc>
                <a:spcPct val="107000"/>
              </a:lnSpc>
              <a:spcAft>
                <a:spcPts val="500"/>
              </a:spcAft>
            </a:pPr>
            <a:r>
              <a:rPr sz="2000" b="1">
                <a:solidFill>
                  <a:srgbClr val="0FBF3E"/>
                </a:solidFill>
                <a:latin typeface="Arial"/>
              </a:rPr>
              <a:t>Evidence + context</a:t>
            </a:r>
          </a:p>
        </p:txBody>
      </p:sp>
      <p:sp>
        <p:nvSpPr>
          <p:cNvPr id="19" name="Rectangle 18"/>
          <p:cNvSpPr/>
          <p:nvPr/>
        </p:nvSpPr>
        <p:spPr>
          <a:xfrm>
            <a:off x="9729216" y="3593591"/>
            <a:ext cx="16459" cy="338328"/>
          </a:xfrm>
          <a:prstGeom prst="rect">
            <a:avLst/>
          </a:prstGeom>
          <a:solidFill>
            <a:srgbClr val="B6B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0" y="3931920"/>
            <a:ext cx="3017520" cy="713232"/>
          </a:xfrm>
          <a:prstGeom prst="rect">
            <a:avLst/>
          </a:prstGeom>
          <a:solidFill>
            <a:srgbClr val="2329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Human decision"/>
          <p:cNvSpPr txBox="1"/>
          <p:nvPr/>
        </p:nvSpPr>
        <p:spPr>
          <a:xfrm>
            <a:off x="8412480" y="4096511"/>
            <a:ext cx="2651760" cy="411480"/>
          </a:xfrm>
          <a:prstGeom prst="rect">
            <a:avLst/>
          </a:prstGeom>
          <a:noFill/>
        </p:spPr>
        <p:txBody>
          <a:bodyPr wrap="square" lIns="0" rIns="0" tIns="0" bIns="0">
            <a:spAutoFit/>
          </a:bodyPr>
          <a:lstStyle/>
          <a:p>
            <a:pPr>
              <a:lnSpc>
                <a:spcPct val="107000"/>
              </a:lnSpc>
              <a:spcAft>
                <a:spcPts val="500"/>
              </a:spcAft>
            </a:pPr>
            <a:r>
              <a:rPr sz="2000" b="1">
                <a:solidFill>
                  <a:srgbClr val="FFFFFF"/>
                </a:solidFill>
                <a:latin typeface="Arial"/>
              </a:rPr>
              <a:t>Human decision</a:t>
            </a:r>
          </a:p>
        </p:txBody>
      </p:sp>
      <p:sp>
        <p:nvSpPr>
          <p:cNvPr id="22" name="Human review gate"/>
          <p:cNvSpPr/>
          <p:nvPr/>
        </p:nvSpPr>
        <p:spPr>
          <a:xfrm>
            <a:off x="10789920" y="4151376"/>
            <a:ext cx="274320" cy="274320"/>
          </a:xfrm>
          <a:prstGeom prst="diamond">
            <a:avLst/>
          </a:prstGeom>
          <a:solidFill>
            <a:srgbClr val="0FBF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ndependent Bearing prototype. Content marked Illustrative o"/>
          <p:cNvSpPr txBox="1"/>
          <p:nvPr/>
        </p:nvSpPr>
        <p:spPr>
          <a:xfrm>
            <a:off x="594360" y="5577840"/>
            <a:ext cx="10607040" cy="320040"/>
          </a:xfrm>
          <a:prstGeom prst="rect">
            <a:avLst/>
          </a:prstGeom>
          <a:noFill/>
        </p:spPr>
        <p:txBody>
          <a:bodyPr wrap="square" lIns="0" rIns="0" tIns="0" bIns="0">
            <a:spAutoFit/>
          </a:bodyPr>
          <a:lstStyle/>
          <a:p>
            <a:pPr>
              <a:lnSpc>
                <a:spcPct val="107000"/>
              </a:lnSpc>
              <a:spcAft>
                <a:spcPts val="500"/>
              </a:spcAft>
            </a:pPr>
            <a:r>
              <a:rPr sz="1400" b="0">
                <a:solidFill>
                  <a:srgbClr val="B6BFB8"/>
                </a:solidFill>
                <a:latin typeface="Arial"/>
              </a:rPr>
              <a:t>Independent Bearing prototype. Content marked Illustrative or Proposed is not implemented.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Adoption is rising. Trust is not."/>
          <p:cNvSpPr txBox="1"/>
          <p:nvPr/>
        </p:nvSpPr>
        <p:spPr>
          <a:xfrm>
            <a:off x="594360" y="502920"/>
            <a:ext cx="10972800" cy="1005840"/>
          </a:xfrm>
          <a:prstGeom prst="rect">
            <a:avLst/>
          </a:prstGeom>
          <a:noFill/>
        </p:spPr>
        <p:txBody>
          <a:bodyPr wrap="square" lIns="0" rIns="0" tIns="0" bIns="0">
            <a:spAutoFit/>
          </a:bodyPr>
          <a:lstStyle/>
          <a:p>
            <a:pPr>
              <a:lnSpc>
                <a:spcPct val="107000"/>
              </a:lnSpc>
              <a:spcAft>
                <a:spcPts val="500"/>
              </a:spcAft>
            </a:pPr>
            <a:r>
              <a:rPr sz="3200" b="1">
                <a:solidFill>
                  <a:srgbClr val="101411"/>
                </a:solidFill>
                <a:latin typeface="Mona Sans"/>
              </a:rPr>
              <a:t>Adoption is rising. Trust is not.</a:t>
            </a:r>
          </a:p>
        </p:txBody>
      </p:sp>
      <p:sp>
        <p:nvSpPr>
          <p:cNvPr id="3" name="Rectangle 2"/>
          <p:cNvSpPr/>
          <p:nvPr/>
        </p:nvSpPr>
        <p:spPr>
          <a:xfrm>
            <a:off x="594360" y="6327648"/>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itHub mark" descr="GitHub logo"/>
          <p:cNvSpPr/>
          <p:nvPr/>
        </p:nvSpPr>
        <p:spPr>
          <a:xfrm>
            <a:off x="594360" y="6419088"/>
            <a:ext cx="182880" cy="182880"/>
          </a:xfrm>
          <a:custGeom>
            <a:avLst/>
            <a:gdLst/>
            <a:ahLst/>
            <a:cxnLst/>
            <a:rect l="0" t="0" r="r" b="b"/>
            <a:pathLst>
              <a:path w="16000" h="16000">
                <a:moveTo>
                  <a:pt x="8000" y="0"/>
                </a:moveTo>
                <a:cubicBezTo>
                  <a:pt x="3580" y="0"/>
                  <a:pt x="0" y="3580"/>
                  <a:pt x="0" y="8000"/>
                </a:cubicBezTo>
                <a:cubicBezTo>
                  <a:pt x="0" y="11540"/>
                  <a:pt x="2290" y="14530"/>
                  <a:pt x="5470" y="15590"/>
                </a:cubicBezTo>
                <a:cubicBezTo>
                  <a:pt x="5870" y="15660"/>
                  <a:pt x="6020" y="15420"/>
                  <a:pt x="6020" y="15210"/>
                </a:cubicBezTo>
                <a:cubicBezTo>
                  <a:pt x="6020" y="15020"/>
                  <a:pt x="6010" y="14390"/>
                  <a:pt x="6010" y="13720"/>
                </a:cubicBezTo>
                <a:cubicBezTo>
                  <a:pt x="4000" y="14090"/>
                  <a:pt x="3480" y="13230"/>
                  <a:pt x="3320" y="12780"/>
                </a:cubicBezTo>
                <a:cubicBezTo>
                  <a:pt x="3230" y="12550"/>
                  <a:pt x="2840" y="11840"/>
                  <a:pt x="2500" y="11650"/>
                </a:cubicBezTo>
                <a:cubicBezTo>
                  <a:pt x="2220" y="11500"/>
                  <a:pt x="1820" y="11130"/>
                  <a:pt x="2490" y="11120"/>
                </a:cubicBezTo>
                <a:cubicBezTo>
                  <a:pt x="3120" y="11110"/>
                  <a:pt x="3570" y="11700"/>
                  <a:pt x="3720" y="11940"/>
                </a:cubicBezTo>
                <a:cubicBezTo>
                  <a:pt x="4440" y="13150"/>
                  <a:pt x="5590" y="12810"/>
                  <a:pt x="6050" y="12600"/>
                </a:cubicBezTo>
                <a:cubicBezTo>
                  <a:pt x="6120" y="12080"/>
                  <a:pt x="6330" y="11730"/>
                  <a:pt x="6560" y="11530"/>
                </a:cubicBezTo>
                <a:cubicBezTo>
                  <a:pt x="4780" y="11330"/>
                  <a:pt x="2920" y="10640"/>
                  <a:pt x="2920" y="7580"/>
                </a:cubicBezTo>
                <a:cubicBezTo>
                  <a:pt x="2920" y="6710"/>
                  <a:pt x="3230" y="5990"/>
                  <a:pt x="3740" y="5430"/>
                </a:cubicBezTo>
                <a:cubicBezTo>
                  <a:pt x="3660" y="5230"/>
                  <a:pt x="3380" y="4410"/>
                  <a:pt x="3820" y="3310"/>
                </a:cubicBezTo>
                <a:cubicBezTo>
                  <a:pt x="3820" y="3310"/>
                  <a:pt x="4490" y="3100"/>
                  <a:pt x="6020" y="4130"/>
                </a:cubicBezTo>
                <a:cubicBezTo>
                  <a:pt x="6660" y="3950"/>
                  <a:pt x="7340" y="3860"/>
                  <a:pt x="8020" y="3860"/>
                </a:cubicBezTo>
                <a:cubicBezTo>
                  <a:pt x="8700" y="3860"/>
                  <a:pt x="9380" y="3950"/>
                  <a:pt x="10020" y="4130"/>
                </a:cubicBezTo>
                <a:cubicBezTo>
                  <a:pt x="11550" y="3090"/>
                  <a:pt x="12220" y="3310"/>
                  <a:pt x="12220" y="3310"/>
                </a:cubicBezTo>
                <a:cubicBezTo>
                  <a:pt x="12660" y="4410"/>
                  <a:pt x="12380" y="5230"/>
                  <a:pt x="12300" y="5430"/>
                </a:cubicBezTo>
                <a:cubicBezTo>
                  <a:pt x="12810" y="5990"/>
                  <a:pt x="13120" y="6700"/>
                  <a:pt x="13120" y="7580"/>
                </a:cubicBezTo>
                <a:cubicBezTo>
                  <a:pt x="13120" y="10650"/>
                  <a:pt x="11250" y="11330"/>
                  <a:pt x="9470" y="11530"/>
                </a:cubicBezTo>
                <a:cubicBezTo>
                  <a:pt x="9760" y="11780"/>
                  <a:pt x="10010" y="12260"/>
                  <a:pt x="10010" y="13010"/>
                </a:cubicBezTo>
                <a:cubicBezTo>
                  <a:pt x="10010" y="14080"/>
                  <a:pt x="10000" y="14940"/>
                  <a:pt x="10000" y="15210"/>
                </a:cubicBezTo>
                <a:cubicBezTo>
                  <a:pt x="10000" y="15420"/>
                  <a:pt x="10150" y="15670"/>
                  <a:pt x="10550" y="15590"/>
                </a:cubicBezTo>
                <a:cubicBezTo>
                  <a:pt x="11604" y="15234"/>
                  <a:pt x="12572" y="14663"/>
                  <a:pt x="13394" y="13912"/>
                </a:cubicBezTo>
                <a:cubicBezTo>
                  <a:pt x="14215" y="13162"/>
                  <a:pt x="14870" y="12248"/>
                  <a:pt x="15319" y="11231"/>
                </a:cubicBezTo>
                <a:cubicBezTo>
                  <a:pt x="15768" y="10213"/>
                  <a:pt x="16000" y="9112"/>
                  <a:pt x="16000" y="8000"/>
                </a:cubicBezTo>
                <a:cubicBezTo>
                  <a:pt x="16000" y="3580"/>
                  <a:pt x="12420" y="0"/>
                  <a:pt x="8000" y="0"/>
                </a:cubicBezTo>
                <a:close/>
              </a:path>
            </a:pathLst>
          </a:custGeom>
          <a:solidFill>
            <a:srgbClr val="1014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earing  |  GitHub Copilot App workflow"/>
          <p:cNvSpPr txBox="1"/>
          <p:nvPr/>
        </p:nvSpPr>
        <p:spPr>
          <a:xfrm>
            <a:off x="914400" y="6428232"/>
            <a:ext cx="7726679" cy="201168"/>
          </a:xfrm>
          <a:prstGeom prst="rect">
            <a:avLst/>
          </a:prstGeom>
          <a:noFill/>
        </p:spPr>
        <p:txBody>
          <a:bodyPr wrap="square" lIns="0" rIns="0" tIns="0" bIns="0">
            <a:spAutoFit/>
          </a:bodyPr>
          <a:lstStyle/>
          <a:p>
            <a:pPr>
              <a:lnSpc>
                <a:spcPct val="107000"/>
              </a:lnSpc>
              <a:spcAft>
                <a:spcPts val="500"/>
              </a:spcAft>
            </a:pPr>
            <a:r>
              <a:rPr sz="1000" b="0">
                <a:solidFill>
                  <a:srgbClr val="232925"/>
                </a:solidFill>
                <a:latin typeface="Arial"/>
              </a:rPr>
              <a:t>Bearing  |  GitHub Copilot App workflow</a:t>
            </a:r>
          </a:p>
        </p:txBody>
      </p:sp>
      <p:sp>
        <p:nvSpPr>
          <p:cNvPr id="6" name="02 / 16"/>
          <p:cNvSpPr txBox="1"/>
          <p:nvPr/>
        </p:nvSpPr>
        <p:spPr>
          <a:xfrm>
            <a:off x="10744200" y="6428232"/>
            <a:ext cx="822960" cy="201168"/>
          </a:xfrm>
          <a:prstGeom prst="rect">
            <a:avLst/>
          </a:prstGeom>
          <a:noFill/>
        </p:spPr>
        <p:txBody>
          <a:bodyPr wrap="square" lIns="0" rIns="0" tIns="0" bIns="0">
            <a:spAutoFit/>
          </a:bodyPr>
          <a:lstStyle/>
          <a:p>
            <a:pPr>
              <a:lnSpc>
                <a:spcPct val="107000"/>
              </a:lnSpc>
              <a:spcAft>
                <a:spcPts val="500"/>
              </a:spcAft>
            </a:pPr>
            <a:r>
              <a:rPr sz="1000" b="0">
                <a:solidFill>
                  <a:srgbClr val="232925"/>
                </a:solidFill>
                <a:latin typeface="Arial"/>
              </a:rPr>
              <a:t>02 / 16</a:t>
            </a:r>
          </a:p>
        </p:txBody>
      </p:sp>
      <p:sp>
        <p:nvSpPr>
          <p:cNvPr id="7" name="Source: Stack Overflow Developer Survey 2025; 49,000+ respon"/>
          <p:cNvSpPr txBox="1"/>
          <p:nvPr/>
        </p:nvSpPr>
        <p:spPr>
          <a:xfrm>
            <a:off x="594360" y="6007608"/>
            <a:ext cx="10881360" cy="237744"/>
          </a:xfrm>
          <a:prstGeom prst="rect">
            <a:avLst/>
          </a:prstGeom>
          <a:noFill/>
        </p:spPr>
        <p:txBody>
          <a:bodyPr wrap="square" lIns="0" rIns="0" tIns="0" bIns="0">
            <a:spAutoFit/>
          </a:bodyPr>
          <a:lstStyle/>
          <a:p>
            <a:pPr>
              <a:lnSpc>
                <a:spcPct val="107000"/>
              </a:lnSpc>
              <a:spcAft>
                <a:spcPts val="500"/>
              </a:spcAft>
            </a:pPr>
            <a:r>
              <a:rPr sz="1000" b="0">
                <a:solidFill>
                  <a:srgbClr val="232925"/>
                </a:solidFill>
                <a:latin typeface="Arial"/>
              </a:rPr>
              <a:t>Source: Stack Overflow Developer Survey 2025; 49,000+ responses from 177 countries; self-reported.</a:t>
            </a:r>
          </a:p>
        </p:txBody>
      </p:sp>
      <p:sp>
        <p:nvSpPr>
          <p:cNvPr id="8" name="of developers use or plan to use AI tools"/>
          <p:cNvSpPr txBox="1"/>
          <p:nvPr/>
        </p:nvSpPr>
        <p:spPr>
          <a:xfrm>
            <a:off x="594360" y="1691640"/>
            <a:ext cx="5166360" cy="731520"/>
          </a:xfrm>
          <a:prstGeom prst="rect">
            <a:avLst/>
          </a:prstGeom>
          <a:noFill/>
        </p:spPr>
        <p:txBody>
          <a:bodyPr wrap="square" lIns="0" rIns="0" tIns="0" bIns="0">
            <a:spAutoFit/>
          </a:bodyPr>
          <a:lstStyle/>
          <a:p>
            <a:pPr>
              <a:lnSpc>
                <a:spcPct val="107000"/>
              </a:lnSpc>
              <a:spcAft>
                <a:spcPts val="500"/>
              </a:spcAft>
            </a:pPr>
            <a:r>
              <a:rPr sz="2000" b="1">
                <a:solidFill>
                  <a:srgbClr val="101411"/>
                </a:solidFill>
                <a:latin typeface="Arial"/>
              </a:rPr>
              <a:t>of developers use or plan to use AI tools</a:t>
            </a:r>
          </a:p>
        </p:txBody>
      </p:sp>
      <p:sp>
        <p:nvSpPr>
          <p:cNvPr id="9" name="2024"/>
          <p:cNvSpPr txBox="1"/>
          <p:nvPr/>
        </p:nvSpPr>
        <p:spPr>
          <a:xfrm>
            <a:off x="594360" y="2788920"/>
            <a:ext cx="640080" cy="274320"/>
          </a:xfrm>
          <a:prstGeom prst="rect">
            <a:avLst/>
          </a:prstGeom>
          <a:noFill/>
        </p:spPr>
        <p:txBody>
          <a:bodyPr wrap="square" lIns="0" rIns="0" tIns="0" bIns="0">
            <a:spAutoFit/>
          </a:bodyPr>
          <a:lstStyle/>
          <a:p>
            <a:pPr>
              <a:lnSpc>
                <a:spcPct val="107000"/>
              </a:lnSpc>
              <a:spcAft>
                <a:spcPts val="500"/>
              </a:spcAft>
            </a:pPr>
            <a:r>
              <a:rPr sz="1600" b="1">
                <a:solidFill>
                  <a:srgbClr val="232925"/>
                </a:solidFill>
                <a:latin typeface="Arial"/>
              </a:rPr>
              <a:t>2024</a:t>
            </a:r>
          </a:p>
        </p:txBody>
      </p:sp>
      <p:sp>
        <p:nvSpPr>
          <p:cNvPr id="10" name="Rectangle 9"/>
          <p:cNvSpPr/>
          <p:nvPr/>
        </p:nvSpPr>
        <p:spPr>
          <a:xfrm>
            <a:off x="1325880" y="2697480"/>
            <a:ext cx="3840480" cy="457200"/>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2024 bar: 76%"/>
          <p:cNvSpPr/>
          <p:nvPr/>
        </p:nvSpPr>
        <p:spPr>
          <a:xfrm>
            <a:off x="1325880" y="2697480"/>
            <a:ext cx="2918764" cy="457200"/>
          </a:xfrm>
          <a:prstGeom prst="rect">
            <a:avLst/>
          </a:prstGeom>
          <a:solidFill>
            <a:srgbClr val="B6B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76%"/>
          <p:cNvSpPr txBox="1"/>
          <p:nvPr/>
        </p:nvSpPr>
        <p:spPr>
          <a:xfrm>
            <a:off x="5257800" y="2734056"/>
            <a:ext cx="822960" cy="365760"/>
          </a:xfrm>
          <a:prstGeom prst="rect">
            <a:avLst/>
          </a:prstGeom>
          <a:noFill/>
        </p:spPr>
        <p:txBody>
          <a:bodyPr wrap="square" lIns="0" rIns="0" tIns="0" bIns="0">
            <a:spAutoFit/>
          </a:bodyPr>
          <a:lstStyle/>
          <a:p>
            <a:pPr>
              <a:lnSpc>
                <a:spcPct val="107000"/>
              </a:lnSpc>
              <a:spcAft>
                <a:spcPts val="500"/>
              </a:spcAft>
            </a:pPr>
            <a:r>
              <a:rPr sz="2200" b="1">
                <a:solidFill>
                  <a:srgbClr val="101411"/>
                </a:solidFill>
                <a:latin typeface="Mona Sans"/>
              </a:rPr>
              <a:t>76%</a:t>
            </a:r>
          </a:p>
        </p:txBody>
      </p:sp>
      <p:sp>
        <p:nvSpPr>
          <p:cNvPr id="13" name="2025"/>
          <p:cNvSpPr txBox="1"/>
          <p:nvPr/>
        </p:nvSpPr>
        <p:spPr>
          <a:xfrm>
            <a:off x="594360" y="3474720"/>
            <a:ext cx="640080" cy="274320"/>
          </a:xfrm>
          <a:prstGeom prst="rect">
            <a:avLst/>
          </a:prstGeom>
          <a:noFill/>
        </p:spPr>
        <p:txBody>
          <a:bodyPr wrap="square" lIns="0" rIns="0" tIns="0" bIns="0">
            <a:spAutoFit/>
          </a:bodyPr>
          <a:lstStyle/>
          <a:p>
            <a:pPr>
              <a:lnSpc>
                <a:spcPct val="107000"/>
              </a:lnSpc>
              <a:spcAft>
                <a:spcPts val="500"/>
              </a:spcAft>
            </a:pPr>
            <a:r>
              <a:rPr sz="1600" b="1">
                <a:solidFill>
                  <a:srgbClr val="232925"/>
                </a:solidFill>
                <a:latin typeface="Arial"/>
              </a:rPr>
              <a:t>2025</a:t>
            </a:r>
          </a:p>
        </p:txBody>
      </p:sp>
      <p:sp>
        <p:nvSpPr>
          <p:cNvPr id="14" name="Rectangle 13"/>
          <p:cNvSpPr/>
          <p:nvPr/>
        </p:nvSpPr>
        <p:spPr>
          <a:xfrm>
            <a:off x="1325880" y="3383280"/>
            <a:ext cx="3840480" cy="457200"/>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2025 bar: 84%"/>
          <p:cNvSpPr/>
          <p:nvPr/>
        </p:nvSpPr>
        <p:spPr>
          <a:xfrm>
            <a:off x="1325880" y="3383280"/>
            <a:ext cx="3226003" cy="457200"/>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84%"/>
          <p:cNvSpPr txBox="1"/>
          <p:nvPr/>
        </p:nvSpPr>
        <p:spPr>
          <a:xfrm>
            <a:off x="5257800" y="3419856"/>
            <a:ext cx="822960" cy="365760"/>
          </a:xfrm>
          <a:prstGeom prst="rect">
            <a:avLst/>
          </a:prstGeom>
          <a:noFill/>
        </p:spPr>
        <p:txBody>
          <a:bodyPr wrap="square" lIns="0" rIns="0" tIns="0" bIns="0">
            <a:spAutoFit/>
          </a:bodyPr>
          <a:lstStyle/>
          <a:p>
            <a:pPr>
              <a:lnSpc>
                <a:spcPct val="107000"/>
              </a:lnSpc>
              <a:spcAft>
                <a:spcPts val="500"/>
              </a:spcAft>
            </a:pPr>
            <a:r>
              <a:rPr sz="2200" b="1">
                <a:solidFill>
                  <a:srgbClr val="101411"/>
                </a:solidFill>
                <a:latin typeface="Mona Sans"/>
              </a:rPr>
              <a:t>84%</a:t>
            </a:r>
          </a:p>
        </p:txBody>
      </p:sp>
      <p:sp>
        <p:nvSpPr>
          <p:cNvPr id="17" name="+8 percentage points"/>
          <p:cNvSpPr txBox="1"/>
          <p:nvPr/>
        </p:nvSpPr>
        <p:spPr>
          <a:xfrm>
            <a:off x="594360" y="4224528"/>
            <a:ext cx="5166360" cy="411480"/>
          </a:xfrm>
          <a:prstGeom prst="rect">
            <a:avLst/>
          </a:prstGeom>
          <a:noFill/>
        </p:spPr>
        <p:txBody>
          <a:bodyPr wrap="square" lIns="0" rIns="0" tIns="0" bIns="0">
            <a:spAutoFit/>
          </a:bodyPr>
          <a:lstStyle/>
          <a:p>
            <a:pPr>
              <a:lnSpc>
                <a:spcPct val="107000"/>
              </a:lnSpc>
              <a:spcAft>
                <a:spcPts val="500"/>
              </a:spcAft>
            </a:pPr>
            <a:r>
              <a:rPr sz="2200" b="1">
                <a:solidFill>
                  <a:srgbClr val="08872B"/>
                </a:solidFill>
                <a:latin typeface="Mona Sans"/>
              </a:rPr>
              <a:t>+8 percentage points</a:t>
            </a:r>
          </a:p>
        </p:txBody>
      </p:sp>
      <p:sp>
        <p:nvSpPr>
          <p:cNvPr id="18" name="of developers don’t trust the accuracy of AI output"/>
          <p:cNvSpPr txBox="1"/>
          <p:nvPr/>
        </p:nvSpPr>
        <p:spPr>
          <a:xfrm>
            <a:off x="6400800" y="1691640"/>
            <a:ext cx="5166360" cy="731520"/>
          </a:xfrm>
          <a:prstGeom prst="rect">
            <a:avLst/>
          </a:prstGeom>
          <a:noFill/>
        </p:spPr>
        <p:txBody>
          <a:bodyPr wrap="square" lIns="0" rIns="0" tIns="0" bIns="0">
            <a:spAutoFit/>
          </a:bodyPr>
          <a:lstStyle/>
          <a:p>
            <a:pPr>
              <a:lnSpc>
                <a:spcPct val="107000"/>
              </a:lnSpc>
              <a:spcAft>
                <a:spcPts val="500"/>
              </a:spcAft>
            </a:pPr>
            <a:r>
              <a:rPr sz="2000" b="1">
                <a:solidFill>
                  <a:srgbClr val="101411"/>
                </a:solidFill>
                <a:latin typeface="Arial"/>
              </a:rPr>
              <a:t>of developers don’t trust the accuracy of AI output</a:t>
            </a:r>
          </a:p>
        </p:txBody>
      </p:sp>
      <p:sp>
        <p:nvSpPr>
          <p:cNvPr id="19" name="2024"/>
          <p:cNvSpPr txBox="1"/>
          <p:nvPr/>
        </p:nvSpPr>
        <p:spPr>
          <a:xfrm>
            <a:off x="6400800" y="2788920"/>
            <a:ext cx="640080" cy="274320"/>
          </a:xfrm>
          <a:prstGeom prst="rect">
            <a:avLst/>
          </a:prstGeom>
          <a:noFill/>
        </p:spPr>
        <p:txBody>
          <a:bodyPr wrap="square" lIns="0" rIns="0" tIns="0" bIns="0">
            <a:spAutoFit/>
          </a:bodyPr>
          <a:lstStyle/>
          <a:p>
            <a:pPr>
              <a:lnSpc>
                <a:spcPct val="107000"/>
              </a:lnSpc>
              <a:spcAft>
                <a:spcPts val="500"/>
              </a:spcAft>
            </a:pPr>
            <a:r>
              <a:rPr sz="1600" b="1">
                <a:solidFill>
                  <a:srgbClr val="232925"/>
                </a:solidFill>
                <a:latin typeface="Arial"/>
              </a:rPr>
              <a:t>2024</a:t>
            </a:r>
          </a:p>
        </p:txBody>
      </p:sp>
      <p:sp>
        <p:nvSpPr>
          <p:cNvPr id="20" name="Rectangle 19"/>
          <p:cNvSpPr/>
          <p:nvPr/>
        </p:nvSpPr>
        <p:spPr>
          <a:xfrm>
            <a:off x="7132320" y="2697480"/>
            <a:ext cx="3840480" cy="457200"/>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2024 bar: 31%"/>
          <p:cNvSpPr/>
          <p:nvPr/>
        </p:nvSpPr>
        <p:spPr>
          <a:xfrm>
            <a:off x="7132320" y="2697480"/>
            <a:ext cx="1190548" cy="457200"/>
          </a:xfrm>
          <a:prstGeom prst="rect">
            <a:avLst/>
          </a:prstGeom>
          <a:solidFill>
            <a:srgbClr val="B6B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31%"/>
          <p:cNvSpPr txBox="1"/>
          <p:nvPr/>
        </p:nvSpPr>
        <p:spPr>
          <a:xfrm>
            <a:off x="11064240" y="2734056"/>
            <a:ext cx="822960" cy="365760"/>
          </a:xfrm>
          <a:prstGeom prst="rect">
            <a:avLst/>
          </a:prstGeom>
          <a:noFill/>
        </p:spPr>
        <p:txBody>
          <a:bodyPr wrap="square" lIns="0" rIns="0" tIns="0" bIns="0">
            <a:spAutoFit/>
          </a:bodyPr>
          <a:lstStyle/>
          <a:p>
            <a:pPr>
              <a:lnSpc>
                <a:spcPct val="107000"/>
              </a:lnSpc>
              <a:spcAft>
                <a:spcPts val="500"/>
              </a:spcAft>
            </a:pPr>
            <a:r>
              <a:rPr sz="2200" b="1">
                <a:solidFill>
                  <a:srgbClr val="101411"/>
                </a:solidFill>
                <a:latin typeface="Mona Sans"/>
              </a:rPr>
              <a:t>31%</a:t>
            </a:r>
          </a:p>
        </p:txBody>
      </p:sp>
      <p:sp>
        <p:nvSpPr>
          <p:cNvPr id="23" name="2025"/>
          <p:cNvSpPr txBox="1"/>
          <p:nvPr/>
        </p:nvSpPr>
        <p:spPr>
          <a:xfrm>
            <a:off x="6400800" y="3474720"/>
            <a:ext cx="640080" cy="274320"/>
          </a:xfrm>
          <a:prstGeom prst="rect">
            <a:avLst/>
          </a:prstGeom>
          <a:noFill/>
        </p:spPr>
        <p:txBody>
          <a:bodyPr wrap="square" lIns="0" rIns="0" tIns="0" bIns="0">
            <a:spAutoFit/>
          </a:bodyPr>
          <a:lstStyle/>
          <a:p>
            <a:pPr>
              <a:lnSpc>
                <a:spcPct val="107000"/>
              </a:lnSpc>
              <a:spcAft>
                <a:spcPts val="500"/>
              </a:spcAft>
            </a:pPr>
            <a:r>
              <a:rPr sz="1600" b="1">
                <a:solidFill>
                  <a:srgbClr val="232925"/>
                </a:solidFill>
                <a:latin typeface="Arial"/>
              </a:rPr>
              <a:t>2025</a:t>
            </a:r>
          </a:p>
        </p:txBody>
      </p:sp>
      <p:sp>
        <p:nvSpPr>
          <p:cNvPr id="24" name="Rectangle 23"/>
          <p:cNvSpPr/>
          <p:nvPr/>
        </p:nvSpPr>
        <p:spPr>
          <a:xfrm>
            <a:off x="7132320" y="3383280"/>
            <a:ext cx="3840480" cy="457200"/>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2025 bar: 46%"/>
          <p:cNvSpPr/>
          <p:nvPr/>
        </p:nvSpPr>
        <p:spPr>
          <a:xfrm>
            <a:off x="7132320" y="3383280"/>
            <a:ext cx="1766620" cy="457200"/>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46%"/>
          <p:cNvSpPr txBox="1"/>
          <p:nvPr/>
        </p:nvSpPr>
        <p:spPr>
          <a:xfrm>
            <a:off x="11064240" y="3419856"/>
            <a:ext cx="822960" cy="365760"/>
          </a:xfrm>
          <a:prstGeom prst="rect">
            <a:avLst/>
          </a:prstGeom>
          <a:noFill/>
        </p:spPr>
        <p:txBody>
          <a:bodyPr wrap="square" lIns="0" rIns="0" tIns="0" bIns="0">
            <a:spAutoFit/>
          </a:bodyPr>
          <a:lstStyle/>
          <a:p>
            <a:pPr>
              <a:lnSpc>
                <a:spcPct val="107000"/>
              </a:lnSpc>
              <a:spcAft>
                <a:spcPts val="500"/>
              </a:spcAft>
            </a:pPr>
            <a:r>
              <a:rPr sz="2200" b="1">
                <a:solidFill>
                  <a:srgbClr val="101411"/>
                </a:solidFill>
                <a:latin typeface="Mona Sans"/>
              </a:rPr>
              <a:t>46%</a:t>
            </a:r>
          </a:p>
        </p:txBody>
      </p:sp>
      <p:sp>
        <p:nvSpPr>
          <p:cNvPr id="27" name="+15 percentage points"/>
          <p:cNvSpPr txBox="1"/>
          <p:nvPr/>
        </p:nvSpPr>
        <p:spPr>
          <a:xfrm>
            <a:off x="6400800" y="4224528"/>
            <a:ext cx="5166360" cy="411480"/>
          </a:xfrm>
          <a:prstGeom prst="rect">
            <a:avLst/>
          </a:prstGeom>
          <a:noFill/>
        </p:spPr>
        <p:txBody>
          <a:bodyPr wrap="square" lIns="0" rIns="0" tIns="0" bIns="0">
            <a:spAutoFit/>
          </a:bodyPr>
          <a:lstStyle/>
          <a:p>
            <a:pPr>
              <a:lnSpc>
                <a:spcPct val="107000"/>
              </a:lnSpc>
              <a:spcAft>
                <a:spcPts val="500"/>
              </a:spcAft>
            </a:pPr>
            <a:r>
              <a:rPr sz="2200" b="1">
                <a:solidFill>
                  <a:srgbClr val="08872B"/>
                </a:solidFill>
                <a:latin typeface="Mona Sans"/>
              </a:rPr>
              <a:t>+15 percentage points</a:t>
            </a:r>
          </a:p>
        </p:txBody>
      </p:sp>
      <p:sp>
        <p:nvSpPr>
          <p:cNvPr id="28" name="Rectangle 27"/>
          <p:cNvSpPr/>
          <p:nvPr/>
        </p:nvSpPr>
        <p:spPr>
          <a:xfrm>
            <a:off x="594360" y="5029200"/>
            <a:ext cx="10972800" cy="658368"/>
          </a:xfrm>
          <a:prstGeom prst="rect">
            <a:avLst/>
          </a:prstGeom>
          <a:solidFill>
            <a:srgbClr val="F2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Using AI is not the same as trusting it."/>
          <p:cNvSpPr txBox="1"/>
          <p:nvPr/>
        </p:nvSpPr>
        <p:spPr>
          <a:xfrm>
            <a:off x="768096" y="5202936"/>
            <a:ext cx="10607040" cy="365760"/>
          </a:xfrm>
          <a:prstGeom prst="rect">
            <a:avLst/>
          </a:prstGeom>
          <a:noFill/>
        </p:spPr>
        <p:txBody>
          <a:bodyPr wrap="square" lIns="0" rIns="0" tIns="0" bIns="0">
            <a:spAutoFit/>
          </a:bodyPr>
          <a:lstStyle/>
          <a:p>
            <a:pPr>
              <a:lnSpc>
                <a:spcPct val="107000"/>
              </a:lnSpc>
              <a:spcAft>
                <a:spcPts val="500"/>
              </a:spcAft>
            </a:pPr>
            <a:r>
              <a:rPr sz="2200" b="1">
                <a:solidFill>
                  <a:srgbClr val="101411"/>
                </a:solidFill>
                <a:latin typeface="Mona Sans"/>
              </a:rPr>
              <a:t>Using AI is not the same as trusting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rom “trust me” to “check me”."/>
          <p:cNvSpPr txBox="1"/>
          <p:nvPr/>
        </p:nvSpPr>
        <p:spPr>
          <a:xfrm>
            <a:off x="594360" y="502920"/>
            <a:ext cx="10972800" cy="1005840"/>
          </a:xfrm>
          <a:prstGeom prst="rect">
            <a:avLst/>
          </a:prstGeom>
          <a:noFill/>
        </p:spPr>
        <p:txBody>
          <a:bodyPr wrap="square" lIns="0" rIns="0" tIns="0" bIns="0">
            <a:spAutoFit/>
          </a:bodyPr>
          <a:lstStyle/>
          <a:p>
            <a:pPr>
              <a:lnSpc>
                <a:spcPct val="107000"/>
              </a:lnSpc>
              <a:spcAft>
                <a:spcPts val="500"/>
              </a:spcAft>
            </a:pPr>
            <a:r>
              <a:rPr sz="3200" b="1">
                <a:solidFill>
                  <a:srgbClr val="101411"/>
                </a:solidFill>
                <a:latin typeface="Mona Sans"/>
              </a:rPr>
              <a:t>From “trust me” to “check me”.</a:t>
            </a:r>
          </a:p>
        </p:txBody>
      </p:sp>
      <p:sp>
        <p:nvSpPr>
          <p:cNvPr id="3" name="Rectangle 2"/>
          <p:cNvSpPr/>
          <p:nvPr/>
        </p:nvSpPr>
        <p:spPr>
          <a:xfrm>
            <a:off x="594360" y="6327648"/>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itHub mark" descr="GitHub logo"/>
          <p:cNvSpPr/>
          <p:nvPr/>
        </p:nvSpPr>
        <p:spPr>
          <a:xfrm>
            <a:off x="594360" y="6419088"/>
            <a:ext cx="182880" cy="182880"/>
          </a:xfrm>
          <a:custGeom>
            <a:avLst/>
            <a:gdLst/>
            <a:ahLst/>
            <a:cxnLst/>
            <a:rect l="0" t="0" r="r" b="b"/>
            <a:pathLst>
              <a:path w="16000" h="16000">
                <a:moveTo>
                  <a:pt x="8000" y="0"/>
                </a:moveTo>
                <a:cubicBezTo>
                  <a:pt x="3580" y="0"/>
                  <a:pt x="0" y="3580"/>
                  <a:pt x="0" y="8000"/>
                </a:cubicBezTo>
                <a:cubicBezTo>
                  <a:pt x="0" y="11540"/>
                  <a:pt x="2290" y="14530"/>
                  <a:pt x="5470" y="15590"/>
                </a:cubicBezTo>
                <a:cubicBezTo>
                  <a:pt x="5870" y="15660"/>
                  <a:pt x="6020" y="15420"/>
                  <a:pt x="6020" y="15210"/>
                </a:cubicBezTo>
                <a:cubicBezTo>
                  <a:pt x="6020" y="15020"/>
                  <a:pt x="6010" y="14390"/>
                  <a:pt x="6010" y="13720"/>
                </a:cubicBezTo>
                <a:cubicBezTo>
                  <a:pt x="4000" y="14090"/>
                  <a:pt x="3480" y="13230"/>
                  <a:pt x="3320" y="12780"/>
                </a:cubicBezTo>
                <a:cubicBezTo>
                  <a:pt x="3230" y="12550"/>
                  <a:pt x="2840" y="11840"/>
                  <a:pt x="2500" y="11650"/>
                </a:cubicBezTo>
                <a:cubicBezTo>
                  <a:pt x="2220" y="11500"/>
                  <a:pt x="1820" y="11130"/>
                  <a:pt x="2490" y="11120"/>
                </a:cubicBezTo>
                <a:cubicBezTo>
                  <a:pt x="3120" y="11110"/>
                  <a:pt x="3570" y="11700"/>
                  <a:pt x="3720" y="11940"/>
                </a:cubicBezTo>
                <a:cubicBezTo>
                  <a:pt x="4440" y="13150"/>
                  <a:pt x="5590" y="12810"/>
                  <a:pt x="6050" y="12600"/>
                </a:cubicBezTo>
                <a:cubicBezTo>
                  <a:pt x="6120" y="12080"/>
                  <a:pt x="6330" y="11730"/>
                  <a:pt x="6560" y="11530"/>
                </a:cubicBezTo>
                <a:cubicBezTo>
                  <a:pt x="4780" y="11330"/>
                  <a:pt x="2920" y="10640"/>
                  <a:pt x="2920" y="7580"/>
                </a:cubicBezTo>
                <a:cubicBezTo>
                  <a:pt x="2920" y="6710"/>
                  <a:pt x="3230" y="5990"/>
                  <a:pt x="3740" y="5430"/>
                </a:cubicBezTo>
                <a:cubicBezTo>
                  <a:pt x="3660" y="5230"/>
                  <a:pt x="3380" y="4410"/>
                  <a:pt x="3820" y="3310"/>
                </a:cubicBezTo>
                <a:cubicBezTo>
                  <a:pt x="3820" y="3310"/>
                  <a:pt x="4490" y="3100"/>
                  <a:pt x="6020" y="4130"/>
                </a:cubicBezTo>
                <a:cubicBezTo>
                  <a:pt x="6660" y="3950"/>
                  <a:pt x="7340" y="3860"/>
                  <a:pt x="8020" y="3860"/>
                </a:cubicBezTo>
                <a:cubicBezTo>
                  <a:pt x="8700" y="3860"/>
                  <a:pt x="9380" y="3950"/>
                  <a:pt x="10020" y="4130"/>
                </a:cubicBezTo>
                <a:cubicBezTo>
                  <a:pt x="11550" y="3090"/>
                  <a:pt x="12220" y="3310"/>
                  <a:pt x="12220" y="3310"/>
                </a:cubicBezTo>
                <a:cubicBezTo>
                  <a:pt x="12660" y="4410"/>
                  <a:pt x="12380" y="5230"/>
                  <a:pt x="12300" y="5430"/>
                </a:cubicBezTo>
                <a:cubicBezTo>
                  <a:pt x="12810" y="5990"/>
                  <a:pt x="13120" y="6700"/>
                  <a:pt x="13120" y="7580"/>
                </a:cubicBezTo>
                <a:cubicBezTo>
                  <a:pt x="13120" y="10650"/>
                  <a:pt x="11250" y="11330"/>
                  <a:pt x="9470" y="11530"/>
                </a:cubicBezTo>
                <a:cubicBezTo>
                  <a:pt x="9760" y="11780"/>
                  <a:pt x="10010" y="12260"/>
                  <a:pt x="10010" y="13010"/>
                </a:cubicBezTo>
                <a:cubicBezTo>
                  <a:pt x="10010" y="14080"/>
                  <a:pt x="10000" y="14940"/>
                  <a:pt x="10000" y="15210"/>
                </a:cubicBezTo>
                <a:cubicBezTo>
                  <a:pt x="10000" y="15420"/>
                  <a:pt x="10150" y="15670"/>
                  <a:pt x="10550" y="15590"/>
                </a:cubicBezTo>
                <a:cubicBezTo>
                  <a:pt x="11604" y="15234"/>
                  <a:pt x="12572" y="14663"/>
                  <a:pt x="13394" y="13912"/>
                </a:cubicBezTo>
                <a:cubicBezTo>
                  <a:pt x="14215" y="13162"/>
                  <a:pt x="14870" y="12248"/>
                  <a:pt x="15319" y="11231"/>
                </a:cubicBezTo>
                <a:cubicBezTo>
                  <a:pt x="15768" y="10213"/>
                  <a:pt x="16000" y="9112"/>
                  <a:pt x="16000" y="8000"/>
                </a:cubicBezTo>
                <a:cubicBezTo>
                  <a:pt x="16000" y="3580"/>
                  <a:pt x="12420" y="0"/>
                  <a:pt x="8000" y="0"/>
                </a:cubicBezTo>
                <a:close/>
              </a:path>
            </a:pathLst>
          </a:custGeom>
          <a:solidFill>
            <a:srgbClr val="1014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earing  |  GitHub Copilot App workflow"/>
          <p:cNvSpPr txBox="1"/>
          <p:nvPr/>
        </p:nvSpPr>
        <p:spPr>
          <a:xfrm>
            <a:off x="914400" y="6428232"/>
            <a:ext cx="7726679" cy="201168"/>
          </a:xfrm>
          <a:prstGeom prst="rect">
            <a:avLst/>
          </a:prstGeom>
          <a:noFill/>
        </p:spPr>
        <p:txBody>
          <a:bodyPr wrap="square" lIns="0" rIns="0" tIns="0" bIns="0">
            <a:spAutoFit/>
          </a:bodyPr>
          <a:lstStyle/>
          <a:p>
            <a:pPr>
              <a:lnSpc>
                <a:spcPct val="107000"/>
              </a:lnSpc>
              <a:spcAft>
                <a:spcPts val="500"/>
              </a:spcAft>
            </a:pPr>
            <a:r>
              <a:rPr sz="1000" b="0">
                <a:solidFill>
                  <a:srgbClr val="232925"/>
                </a:solidFill>
                <a:latin typeface="Arial"/>
              </a:rPr>
              <a:t>Bearing  |  GitHub Copilot App workflow</a:t>
            </a:r>
          </a:p>
        </p:txBody>
      </p:sp>
      <p:sp>
        <p:nvSpPr>
          <p:cNvPr id="6" name="03 / 16"/>
          <p:cNvSpPr txBox="1"/>
          <p:nvPr/>
        </p:nvSpPr>
        <p:spPr>
          <a:xfrm>
            <a:off x="10744200" y="6428232"/>
            <a:ext cx="822960" cy="201168"/>
          </a:xfrm>
          <a:prstGeom prst="rect">
            <a:avLst/>
          </a:prstGeom>
          <a:noFill/>
        </p:spPr>
        <p:txBody>
          <a:bodyPr wrap="square" lIns="0" rIns="0" tIns="0" bIns="0">
            <a:spAutoFit/>
          </a:bodyPr>
          <a:lstStyle/>
          <a:p>
            <a:pPr>
              <a:lnSpc>
                <a:spcPct val="107000"/>
              </a:lnSpc>
              <a:spcAft>
                <a:spcPts val="500"/>
              </a:spcAft>
            </a:pPr>
            <a:r>
              <a:rPr sz="1000" b="0">
                <a:solidFill>
                  <a:srgbClr val="232925"/>
                </a:solidFill>
                <a:latin typeface="Arial"/>
              </a:rPr>
              <a:t>03 / 16</a:t>
            </a:r>
          </a:p>
        </p:txBody>
      </p:sp>
      <p:sp>
        <p:nvSpPr>
          <p:cNvPr id="7" name="Verified against Bearing’s agent and skill files. Path and l"/>
          <p:cNvSpPr txBox="1"/>
          <p:nvPr/>
        </p:nvSpPr>
        <p:spPr>
          <a:xfrm>
            <a:off x="594360" y="6007608"/>
            <a:ext cx="10881360" cy="237744"/>
          </a:xfrm>
          <a:prstGeom prst="rect">
            <a:avLst/>
          </a:prstGeom>
          <a:noFill/>
        </p:spPr>
        <p:txBody>
          <a:bodyPr wrap="square" lIns="0" rIns="0" tIns="0" bIns="0">
            <a:spAutoFit/>
          </a:bodyPr>
          <a:lstStyle/>
          <a:p>
            <a:pPr>
              <a:lnSpc>
                <a:spcPct val="107000"/>
              </a:lnSpc>
              <a:spcAft>
                <a:spcPts val="500"/>
              </a:spcAft>
            </a:pPr>
            <a:r>
              <a:rPr sz="1000" b="0">
                <a:solidFill>
                  <a:srgbClr val="232925"/>
                </a:solidFill>
                <a:latin typeface="Arial"/>
              </a:rPr>
              <a:t>Verified against Bearing’s agent and skill files. Path and line checks validate references, not semantic correctness.</a:t>
            </a:r>
          </a:p>
        </p:txBody>
      </p:sp>
      <p:sp>
        <p:nvSpPr>
          <p:cNvPr id="8" name="Rectangle 7"/>
          <p:cNvSpPr/>
          <p:nvPr/>
        </p:nvSpPr>
        <p:spPr>
          <a:xfrm>
            <a:off x="594360" y="1691640"/>
            <a:ext cx="5166360" cy="3154680"/>
          </a:xfrm>
          <a:prstGeom prst="rect">
            <a:avLst/>
          </a:prstGeom>
          <a:solidFill>
            <a:srgbClr val="F2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691640"/>
            <a:ext cx="5166360" cy="64008"/>
          </a:xfrm>
          <a:prstGeom prst="rect">
            <a:avLst/>
          </a:prstGeom>
          <a:solidFill>
            <a:srgbClr val="B6B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n agent that tells you"/>
          <p:cNvSpPr txBox="1"/>
          <p:nvPr/>
        </p:nvSpPr>
        <p:spPr>
          <a:xfrm>
            <a:off x="868680" y="1965960"/>
            <a:ext cx="4663440" cy="457200"/>
          </a:xfrm>
          <a:prstGeom prst="rect">
            <a:avLst/>
          </a:prstGeom>
          <a:noFill/>
        </p:spPr>
        <p:txBody>
          <a:bodyPr wrap="square" lIns="0" rIns="0" tIns="0" bIns="0">
            <a:spAutoFit/>
          </a:bodyPr>
          <a:lstStyle/>
          <a:p>
            <a:pPr>
              <a:lnSpc>
                <a:spcPct val="107000"/>
              </a:lnSpc>
              <a:spcAft>
                <a:spcPts val="500"/>
              </a:spcAft>
            </a:pPr>
            <a:r>
              <a:rPr sz="2400" b="1">
                <a:solidFill>
                  <a:srgbClr val="101411"/>
                </a:solidFill>
                <a:latin typeface="Mona Sans"/>
              </a:rPr>
              <a:t>An agent that tells you</a:t>
            </a:r>
          </a:p>
        </p:txBody>
      </p:sp>
      <p:sp>
        <p:nvSpPr>
          <p:cNvPr id="11" name="Rectangle 10"/>
          <p:cNvSpPr/>
          <p:nvPr/>
        </p:nvSpPr>
        <p:spPr>
          <a:xfrm>
            <a:off x="886968" y="2770632"/>
            <a:ext cx="128016" cy="128016"/>
          </a:xfrm>
          <a:prstGeom prst="rect">
            <a:avLst/>
          </a:prstGeom>
          <a:solidFill>
            <a:srgbClr val="B6B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rose answers, no sources."/>
          <p:cNvSpPr txBox="1"/>
          <p:nvPr/>
        </p:nvSpPr>
        <p:spPr>
          <a:xfrm>
            <a:off x="1161288" y="2697480"/>
            <a:ext cx="4434840" cy="411480"/>
          </a:xfrm>
          <a:prstGeom prst="rect">
            <a:avLst/>
          </a:prstGeom>
          <a:noFill/>
        </p:spPr>
        <p:txBody>
          <a:bodyPr wrap="square" lIns="0" rIns="0" tIns="0" bIns="0">
            <a:spAutoFit/>
          </a:bodyPr>
          <a:lstStyle/>
          <a:p>
            <a:pPr>
              <a:lnSpc>
                <a:spcPct val="107000"/>
              </a:lnSpc>
              <a:spcAft>
                <a:spcPts val="500"/>
              </a:spcAft>
            </a:pPr>
            <a:r>
              <a:rPr sz="1800" b="0">
                <a:solidFill>
                  <a:srgbClr val="232925"/>
                </a:solidFill>
                <a:latin typeface="Arial"/>
              </a:rPr>
              <a:t>Prose answers, no sources.</a:t>
            </a:r>
          </a:p>
        </p:txBody>
      </p:sp>
      <p:sp>
        <p:nvSpPr>
          <p:cNvPr id="13" name="Rectangle 12"/>
          <p:cNvSpPr/>
          <p:nvPr/>
        </p:nvSpPr>
        <p:spPr>
          <a:xfrm>
            <a:off x="886968" y="3300984"/>
            <a:ext cx="128016" cy="128016"/>
          </a:xfrm>
          <a:prstGeom prst="rect">
            <a:avLst/>
          </a:prstGeom>
          <a:solidFill>
            <a:srgbClr val="B6B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Guesses read like findings."/>
          <p:cNvSpPr txBox="1"/>
          <p:nvPr/>
        </p:nvSpPr>
        <p:spPr>
          <a:xfrm>
            <a:off x="1161288" y="3227832"/>
            <a:ext cx="4434840" cy="411480"/>
          </a:xfrm>
          <a:prstGeom prst="rect">
            <a:avLst/>
          </a:prstGeom>
          <a:noFill/>
        </p:spPr>
        <p:txBody>
          <a:bodyPr wrap="square" lIns="0" rIns="0" tIns="0" bIns="0">
            <a:spAutoFit/>
          </a:bodyPr>
          <a:lstStyle/>
          <a:p>
            <a:pPr>
              <a:lnSpc>
                <a:spcPct val="107000"/>
              </a:lnSpc>
              <a:spcAft>
                <a:spcPts val="500"/>
              </a:spcAft>
            </a:pPr>
            <a:r>
              <a:rPr sz="1800" b="0">
                <a:solidFill>
                  <a:srgbClr val="232925"/>
                </a:solidFill>
                <a:latin typeface="Arial"/>
              </a:rPr>
              <a:t>Guesses read like findings.</a:t>
            </a:r>
          </a:p>
        </p:txBody>
      </p:sp>
      <p:sp>
        <p:nvSpPr>
          <p:cNvPr id="15" name="Rectangle 14"/>
          <p:cNvSpPr/>
          <p:nvPr/>
        </p:nvSpPr>
        <p:spPr>
          <a:xfrm>
            <a:off x="886968" y="3831336"/>
            <a:ext cx="128016" cy="128016"/>
          </a:xfrm>
          <a:prstGeom prst="rect">
            <a:avLst/>
          </a:prstGeom>
          <a:solidFill>
            <a:srgbClr val="B6B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Gaps are quietly filled in."/>
          <p:cNvSpPr txBox="1"/>
          <p:nvPr/>
        </p:nvSpPr>
        <p:spPr>
          <a:xfrm>
            <a:off x="1161288" y="3758184"/>
            <a:ext cx="4434840" cy="411480"/>
          </a:xfrm>
          <a:prstGeom prst="rect">
            <a:avLst/>
          </a:prstGeom>
          <a:noFill/>
        </p:spPr>
        <p:txBody>
          <a:bodyPr wrap="square" lIns="0" rIns="0" tIns="0" bIns="0">
            <a:spAutoFit/>
          </a:bodyPr>
          <a:lstStyle/>
          <a:p>
            <a:pPr>
              <a:lnSpc>
                <a:spcPct val="107000"/>
              </a:lnSpc>
              <a:spcAft>
                <a:spcPts val="500"/>
              </a:spcAft>
            </a:pPr>
            <a:r>
              <a:rPr sz="1800" b="0">
                <a:solidFill>
                  <a:srgbClr val="232925"/>
                </a:solidFill>
                <a:latin typeface="Arial"/>
              </a:rPr>
              <a:t>Gaps are quietly filled in.</a:t>
            </a:r>
          </a:p>
        </p:txBody>
      </p:sp>
      <p:sp>
        <p:nvSpPr>
          <p:cNvPr id="17" name="Rectangle 16"/>
          <p:cNvSpPr/>
          <p:nvPr/>
        </p:nvSpPr>
        <p:spPr>
          <a:xfrm>
            <a:off x="886968" y="4361688"/>
            <a:ext cx="128016" cy="128016"/>
          </a:xfrm>
          <a:prstGeom prst="rect">
            <a:avLst/>
          </a:prstGeom>
          <a:solidFill>
            <a:srgbClr val="B6B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Advice and action blur together."/>
          <p:cNvSpPr txBox="1"/>
          <p:nvPr/>
        </p:nvSpPr>
        <p:spPr>
          <a:xfrm>
            <a:off x="1161288" y="4288536"/>
            <a:ext cx="4434840" cy="411480"/>
          </a:xfrm>
          <a:prstGeom prst="rect">
            <a:avLst/>
          </a:prstGeom>
          <a:noFill/>
        </p:spPr>
        <p:txBody>
          <a:bodyPr wrap="square" lIns="0" rIns="0" tIns="0" bIns="0">
            <a:spAutoFit/>
          </a:bodyPr>
          <a:lstStyle/>
          <a:p>
            <a:pPr>
              <a:lnSpc>
                <a:spcPct val="107000"/>
              </a:lnSpc>
              <a:spcAft>
                <a:spcPts val="500"/>
              </a:spcAft>
            </a:pPr>
            <a:r>
              <a:rPr sz="1800" b="0">
                <a:solidFill>
                  <a:srgbClr val="232925"/>
                </a:solidFill>
                <a:latin typeface="Arial"/>
              </a:rPr>
              <a:t>Advice and action blur together.</a:t>
            </a:r>
          </a:p>
        </p:txBody>
      </p:sp>
      <p:sp>
        <p:nvSpPr>
          <p:cNvPr id="19" name="Rectangle 18"/>
          <p:cNvSpPr/>
          <p:nvPr/>
        </p:nvSpPr>
        <p:spPr>
          <a:xfrm>
            <a:off x="6400800" y="1691640"/>
            <a:ext cx="5166360" cy="3154680"/>
          </a:xfrm>
          <a:prstGeom prst="rect">
            <a:avLst/>
          </a:prstGeom>
          <a:solidFill>
            <a:srgbClr val="F2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0" y="1691640"/>
            <a:ext cx="5166360" cy="6400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n agent that shows you"/>
          <p:cNvSpPr txBox="1"/>
          <p:nvPr/>
        </p:nvSpPr>
        <p:spPr>
          <a:xfrm>
            <a:off x="6675120" y="1965960"/>
            <a:ext cx="4663440" cy="457200"/>
          </a:xfrm>
          <a:prstGeom prst="rect">
            <a:avLst/>
          </a:prstGeom>
          <a:noFill/>
        </p:spPr>
        <p:txBody>
          <a:bodyPr wrap="square" lIns="0" rIns="0" tIns="0" bIns="0">
            <a:spAutoFit/>
          </a:bodyPr>
          <a:lstStyle/>
          <a:p>
            <a:pPr>
              <a:lnSpc>
                <a:spcPct val="107000"/>
              </a:lnSpc>
              <a:spcAft>
                <a:spcPts val="500"/>
              </a:spcAft>
            </a:pPr>
            <a:r>
              <a:rPr sz="2400" b="1">
                <a:solidFill>
                  <a:srgbClr val="101411"/>
                </a:solidFill>
                <a:latin typeface="Mona Sans"/>
              </a:rPr>
              <a:t>An agent that shows you</a:t>
            </a:r>
          </a:p>
        </p:txBody>
      </p:sp>
      <p:sp>
        <p:nvSpPr>
          <p:cNvPr id="22" name="Rectangle 21"/>
          <p:cNvSpPr/>
          <p:nvPr/>
        </p:nvSpPr>
        <p:spPr>
          <a:xfrm>
            <a:off x="6693408" y="2770632"/>
            <a:ext cx="128016" cy="128016"/>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onventions cite files and line ranges."/>
          <p:cNvSpPr txBox="1"/>
          <p:nvPr/>
        </p:nvSpPr>
        <p:spPr>
          <a:xfrm>
            <a:off x="6967728" y="2697480"/>
            <a:ext cx="4434840" cy="411480"/>
          </a:xfrm>
          <a:prstGeom prst="rect">
            <a:avLst/>
          </a:prstGeom>
          <a:noFill/>
        </p:spPr>
        <p:txBody>
          <a:bodyPr wrap="square" lIns="0" rIns="0" tIns="0" bIns="0">
            <a:spAutoFit/>
          </a:bodyPr>
          <a:lstStyle/>
          <a:p>
            <a:pPr>
              <a:lnSpc>
                <a:spcPct val="107000"/>
              </a:lnSpc>
              <a:spcAft>
                <a:spcPts val="500"/>
              </a:spcAft>
            </a:pPr>
            <a:r>
              <a:rPr sz="1800" b="0">
                <a:solidFill>
                  <a:srgbClr val="232925"/>
                </a:solidFill>
                <a:latin typeface="Arial"/>
              </a:rPr>
              <a:t>Conventions cite files and line ranges.</a:t>
            </a:r>
          </a:p>
        </p:txBody>
      </p:sp>
      <p:sp>
        <p:nvSpPr>
          <p:cNvPr id="24" name="Rectangle 23"/>
          <p:cNvSpPr/>
          <p:nvPr/>
        </p:nvSpPr>
        <p:spPr>
          <a:xfrm>
            <a:off x="6693408" y="3300984"/>
            <a:ext cx="128016" cy="128016"/>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Each rule is marked documented or observed."/>
          <p:cNvSpPr txBox="1"/>
          <p:nvPr/>
        </p:nvSpPr>
        <p:spPr>
          <a:xfrm>
            <a:off x="6967728" y="3227832"/>
            <a:ext cx="4434840" cy="411480"/>
          </a:xfrm>
          <a:prstGeom prst="rect">
            <a:avLst/>
          </a:prstGeom>
          <a:noFill/>
        </p:spPr>
        <p:txBody>
          <a:bodyPr wrap="square" lIns="0" rIns="0" tIns="0" bIns="0">
            <a:spAutoFit/>
          </a:bodyPr>
          <a:lstStyle/>
          <a:p>
            <a:pPr>
              <a:lnSpc>
                <a:spcPct val="107000"/>
              </a:lnSpc>
              <a:spcAft>
                <a:spcPts val="500"/>
              </a:spcAft>
            </a:pPr>
            <a:r>
              <a:rPr sz="1800" b="0">
                <a:solidFill>
                  <a:srgbClr val="232925"/>
                </a:solidFill>
                <a:latin typeface="Arial"/>
              </a:rPr>
              <a:t>Each rule is marked documented or observed.</a:t>
            </a:r>
          </a:p>
        </p:txBody>
      </p:sp>
      <p:sp>
        <p:nvSpPr>
          <p:cNvPr id="26" name="Rectangle 25"/>
          <p:cNvSpPr/>
          <p:nvPr/>
        </p:nvSpPr>
        <p:spPr>
          <a:xfrm>
            <a:off x="6693408" y="3831336"/>
            <a:ext cx="128016" cy="128016"/>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Missing evidence is shown as unavailable."/>
          <p:cNvSpPr txBox="1"/>
          <p:nvPr/>
        </p:nvSpPr>
        <p:spPr>
          <a:xfrm>
            <a:off x="6967728" y="3758184"/>
            <a:ext cx="4434840" cy="411480"/>
          </a:xfrm>
          <a:prstGeom prst="rect">
            <a:avLst/>
          </a:prstGeom>
          <a:noFill/>
        </p:spPr>
        <p:txBody>
          <a:bodyPr wrap="square" lIns="0" rIns="0" tIns="0" bIns="0">
            <a:spAutoFit/>
          </a:bodyPr>
          <a:lstStyle/>
          <a:p>
            <a:pPr>
              <a:lnSpc>
                <a:spcPct val="107000"/>
              </a:lnSpc>
              <a:spcAft>
                <a:spcPts val="500"/>
              </a:spcAft>
            </a:pPr>
            <a:r>
              <a:rPr sz="1800" b="0">
                <a:solidFill>
                  <a:srgbClr val="232925"/>
                </a:solidFill>
                <a:latin typeface="Arial"/>
              </a:rPr>
              <a:t>Missing evidence is shown as unavailable.</a:t>
            </a:r>
          </a:p>
        </p:txBody>
      </p:sp>
      <p:sp>
        <p:nvSpPr>
          <p:cNvPr id="28" name="Rectangle 27"/>
          <p:cNvSpPr/>
          <p:nvPr/>
        </p:nvSpPr>
        <p:spPr>
          <a:xfrm>
            <a:off x="6693408" y="4361688"/>
            <a:ext cx="128016" cy="128016"/>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ad-only. It stops before implementation."/>
          <p:cNvSpPr txBox="1"/>
          <p:nvPr/>
        </p:nvSpPr>
        <p:spPr>
          <a:xfrm>
            <a:off x="6967728" y="4288536"/>
            <a:ext cx="4434840" cy="411480"/>
          </a:xfrm>
          <a:prstGeom prst="rect">
            <a:avLst/>
          </a:prstGeom>
          <a:noFill/>
        </p:spPr>
        <p:txBody>
          <a:bodyPr wrap="square" lIns="0" rIns="0" tIns="0" bIns="0">
            <a:spAutoFit/>
          </a:bodyPr>
          <a:lstStyle/>
          <a:p>
            <a:pPr>
              <a:lnSpc>
                <a:spcPct val="107000"/>
              </a:lnSpc>
              <a:spcAft>
                <a:spcPts val="500"/>
              </a:spcAft>
            </a:pPr>
            <a:r>
              <a:rPr sz="1800" b="0">
                <a:solidFill>
                  <a:srgbClr val="232925"/>
                </a:solidFill>
                <a:latin typeface="Arial"/>
              </a:rPr>
              <a:t>Read-only. It stops before implementation.</a:t>
            </a:r>
          </a:p>
        </p:txBody>
      </p:sp>
      <p:sp>
        <p:nvSpPr>
          <p:cNvPr id="30" name="→"/>
          <p:cNvSpPr txBox="1"/>
          <p:nvPr/>
        </p:nvSpPr>
        <p:spPr>
          <a:xfrm>
            <a:off x="5760720" y="3063240"/>
            <a:ext cx="548640" cy="548640"/>
          </a:xfrm>
          <a:prstGeom prst="rect">
            <a:avLst/>
          </a:prstGeom>
          <a:noFill/>
        </p:spPr>
        <p:txBody>
          <a:bodyPr wrap="square" lIns="0" rIns="0" tIns="0" bIns="0">
            <a:spAutoFit/>
          </a:bodyPr>
          <a:lstStyle/>
          <a:p>
            <a:pPr algn="ctr">
              <a:lnSpc>
                <a:spcPct val="107000"/>
              </a:lnSpc>
              <a:spcAft>
                <a:spcPts val="500"/>
              </a:spcAft>
            </a:pPr>
            <a:r>
              <a:rPr sz="3200" b="1">
                <a:solidFill>
                  <a:srgbClr val="101411"/>
                </a:solidFill>
                <a:latin typeface="Mona Sans"/>
              </a:rPr>
              <a:t>→</a:t>
            </a:r>
          </a:p>
        </p:txBody>
      </p:sp>
      <p:sp>
        <p:nvSpPr>
          <p:cNvPr id="31" name="Human review gate"/>
          <p:cNvSpPr/>
          <p:nvPr/>
        </p:nvSpPr>
        <p:spPr>
          <a:xfrm>
            <a:off x="594360" y="5138928"/>
            <a:ext cx="274320" cy="274320"/>
          </a:xfrm>
          <a:prstGeom prst="diamond">
            <a:avLst/>
          </a:prstGeom>
          <a:solidFill>
            <a:srgbClr val="1014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uilt for onboarding today. The same review discipline is pr"/>
          <p:cNvSpPr txBox="1"/>
          <p:nvPr/>
        </p:nvSpPr>
        <p:spPr>
          <a:xfrm>
            <a:off x="1051560" y="5157216"/>
            <a:ext cx="10515600" cy="320040"/>
          </a:xfrm>
          <a:prstGeom prst="rect">
            <a:avLst/>
          </a:prstGeom>
          <a:noFill/>
        </p:spPr>
        <p:txBody>
          <a:bodyPr wrap="square" lIns="0" rIns="0" tIns="0" bIns="0">
            <a:spAutoFit/>
          </a:bodyPr>
          <a:lstStyle/>
          <a:p>
            <a:pPr>
              <a:lnSpc>
                <a:spcPct val="107000"/>
              </a:lnSpc>
              <a:spcAft>
                <a:spcPts val="500"/>
              </a:spcAft>
            </a:pPr>
            <a:r>
              <a:rPr sz="1900" b="1">
                <a:solidFill>
                  <a:srgbClr val="101411"/>
                </a:solidFill>
                <a:latin typeface="Arial"/>
              </a:rPr>
              <a:t>Built for onboarding today. The same review discipline is proposed for legacy code next.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he estate works. That does not mean it is ready."/>
          <p:cNvSpPr txBox="1"/>
          <p:nvPr/>
        </p:nvSpPr>
        <p:spPr>
          <a:xfrm>
            <a:off x="594360" y="502920"/>
            <a:ext cx="10972800" cy="1005840"/>
          </a:xfrm>
          <a:prstGeom prst="rect">
            <a:avLst/>
          </a:prstGeom>
          <a:noFill/>
        </p:spPr>
        <p:txBody>
          <a:bodyPr wrap="square" lIns="0" rIns="0" tIns="0" bIns="0">
            <a:spAutoFit/>
          </a:bodyPr>
          <a:lstStyle/>
          <a:p>
            <a:pPr>
              <a:lnSpc>
                <a:spcPct val="107000"/>
              </a:lnSpc>
              <a:spcAft>
                <a:spcPts val="500"/>
              </a:spcAft>
            </a:pPr>
            <a:r>
              <a:rPr sz="3200" b="1">
                <a:solidFill>
                  <a:srgbClr val="101411"/>
                </a:solidFill>
                <a:latin typeface="Mona Sans"/>
              </a:rPr>
              <a:t>The estate works. That does not mean it is ready.</a:t>
            </a:r>
          </a:p>
        </p:txBody>
      </p:sp>
      <p:sp>
        <p:nvSpPr>
          <p:cNvPr id="3" name="Rectangle 2"/>
          <p:cNvSpPr/>
          <p:nvPr/>
        </p:nvSpPr>
        <p:spPr>
          <a:xfrm>
            <a:off x="594360" y="6327648"/>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itHub mark" descr="GitHub logo"/>
          <p:cNvSpPr/>
          <p:nvPr/>
        </p:nvSpPr>
        <p:spPr>
          <a:xfrm>
            <a:off x="594360" y="6419088"/>
            <a:ext cx="182880" cy="182880"/>
          </a:xfrm>
          <a:custGeom>
            <a:avLst/>
            <a:gdLst/>
            <a:ahLst/>
            <a:cxnLst/>
            <a:rect l="0" t="0" r="r" b="b"/>
            <a:pathLst>
              <a:path w="16000" h="16000">
                <a:moveTo>
                  <a:pt x="8000" y="0"/>
                </a:moveTo>
                <a:cubicBezTo>
                  <a:pt x="3580" y="0"/>
                  <a:pt x="0" y="3580"/>
                  <a:pt x="0" y="8000"/>
                </a:cubicBezTo>
                <a:cubicBezTo>
                  <a:pt x="0" y="11540"/>
                  <a:pt x="2290" y="14530"/>
                  <a:pt x="5470" y="15590"/>
                </a:cubicBezTo>
                <a:cubicBezTo>
                  <a:pt x="5870" y="15660"/>
                  <a:pt x="6020" y="15420"/>
                  <a:pt x="6020" y="15210"/>
                </a:cubicBezTo>
                <a:cubicBezTo>
                  <a:pt x="6020" y="15020"/>
                  <a:pt x="6010" y="14390"/>
                  <a:pt x="6010" y="13720"/>
                </a:cubicBezTo>
                <a:cubicBezTo>
                  <a:pt x="4000" y="14090"/>
                  <a:pt x="3480" y="13230"/>
                  <a:pt x="3320" y="12780"/>
                </a:cubicBezTo>
                <a:cubicBezTo>
                  <a:pt x="3230" y="12550"/>
                  <a:pt x="2840" y="11840"/>
                  <a:pt x="2500" y="11650"/>
                </a:cubicBezTo>
                <a:cubicBezTo>
                  <a:pt x="2220" y="11500"/>
                  <a:pt x="1820" y="11130"/>
                  <a:pt x="2490" y="11120"/>
                </a:cubicBezTo>
                <a:cubicBezTo>
                  <a:pt x="3120" y="11110"/>
                  <a:pt x="3570" y="11700"/>
                  <a:pt x="3720" y="11940"/>
                </a:cubicBezTo>
                <a:cubicBezTo>
                  <a:pt x="4440" y="13150"/>
                  <a:pt x="5590" y="12810"/>
                  <a:pt x="6050" y="12600"/>
                </a:cubicBezTo>
                <a:cubicBezTo>
                  <a:pt x="6120" y="12080"/>
                  <a:pt x="6330" y="11730"/>
                  <a:pt x="6560" y="11530"/>
                </a:cubicBezTo>
                <a:cubicBezTo>
                  <a:pt x="4780" y="11330"/>
                  <a:pt x="2920" y="10640"/>
                  <a:pt x="2920" y="7580"/>
                </a:cubicBezTo>
                <a:cubicBezTo>
                  <a:pt x="2920" y="6710"/>
                  <a:pt x="3230" y="5990"/>
                  <a:pt x="3740" y="5430"/>
                </a:cubicBezTo>
                <a:cubicBezTo>
                  <a:pt x="3660" y="5230"/>
                  <a:pt x="3380" y="4410"/>
                  <a:pt x="3820" y="3310"/>
                </a:cubicBezTo>
                <a:cubicBezTo>
                  <a:pt x="3820" y="3310"/>
                  <a:pt x="4490" y="3100"/>
                  <a:pt x="6020" y="4130"/>
                </a:cubicBezTo>
                <a:cubicBezTo>
                  <a:pt x="6660" y="3950"/>
                  <a:pt x="7340" y="3860"/>
                  <a:pt x="8020" y="3860"/>
                </a:cubicBezTo>
                <a:cubicBezTo>
                  <a:pt x="8700" y="3860"/>
                  <a:pt x="9380" y="3950"/>
                  <a:pt x="10020" y="4130"/>
                </a:cubicBezTo>
                <a:cubicBezTo>
                  <a:pt x="11550" y="3090"/>
                  <a:pt x="12220" y="3310"/>
                  <a:pt x="12220" y="3310"/>
                </a:cubicBezTo>
                <a:cubicBezTo>
                  <a:pt x="12660" y="4410"/>
                  <a:pt x="12380" y="5230"/>
                  <a:pt x="12300" y="5430"/>
                </a:cubicBezTo>
                <a:cubicBezTo>
                  <a:pt x="12810" y="5990"/>
                  <a:pt x="13120" y="6700"/>
                  <a:pt x="13120" y="7580"/>
                </a:cubicBezTo>
                <a:cubicBezTo>
                  <a:pt x="13120" y="10650"/>
                  <a:pt x="11250" y="11330"/>
                  <a:pt x="9470" y="11530"/>
                </a:cubicBezTo>
                <a:cubicBezTo>
                  <a:pt x="9760" y="11780"/>
                  <a:pt x="10010" y="12260"/>
                  <a:pt x="10010" y="13010"/>
                </a:cubicBezTo>
                <a:cubicBezTo>
                  <a:pt x="10010" y="14080"/>
                  <a:pt x="10000" y="14940"/>
                  <a:pt x="10000" y="15210"/>
                </a:cubicBezTo>
                <a:cubicBezTo>
                  <a:pt x="10000" y="15420"/>
                  <a:pt x="10150" y="15670"/>
                  <a:pt x="10550" y="15590"/>
                </a:cubicBezTo>
                <a:cubicBezTo>
                  <a:pt x="11604" y="15234"/>
                  <a:pt x="12572" y="14663"/>
                  <a:pt x="13394" y="13912"/>
                </a:cubicBezTo>
                <a:cubicBezTo>
                  <a:pt x="14215" y="13162"/>
                  <a:pt x="14870" y="12248"/>
                  <a:pt x="15319" y="11231"/>
                </a:cubicBezTo>
                <a:cubicBezTo>
                  <a:pt x="15768" y="10213"/>
                  <a:pt x="16000" y="9112"/>
                  <a:pt x="16000" y="8000"/>
                </a:cubicBezTo>
                <a:cubicBezTo>
                  <a:pt x="16000" y="3580"/>
                  <a:pt x="12420" y="0"/>
                  <a:pt x="8000" y="0"/>
                </a:cubicBezTo>
                <a:close/>
              </a:path>
            </a:pathLst>
          </a:custGeom>
          <a:solidFill>
            <a:srgbClr val="1014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earing  |  GitHub Copilot App workflow"/>
          <p:cNvSpPr txBox="1"/>
          <p:nvPr/>
        </p:nvSpPr>
        <p:spPr>
          <a:xfrm>
            <a:off x="914400" y="6428232"/>
            <a:ext cx="7726679" cy="201168"/>
          </a:xfrm>
          <a:prstGeom prst="rect">
            <a:avLst/>
          </a:prstGeom>
          <a:noFill/>
        </p:spPr>
        <p:txBody>
          <a:bodyPr wrap="square" lIns="0" rIns="0" tIns="0" bIns="0">
            <a:spAutoFit/>
          </a:bodyPr>
          <a:lstStyle/>
          <a:p>
            <a:pPr>
              <a:lnSpc>
                <a:spcPct val="107000"/>
              </a:lnSpc>
              <a:spcAft>
                <a:spcPts val="500"/>
              </a:spcAft>
            </a:pPr>
            <a:r>
              <a:rPr sz="1000" b="0">
                <a:solidFill>
                  <a:srgbClr val="232925"/>
                </a:solidFill>
                <a:latin typeface="Arial"/>
              </a:rPr>
              <a:t>Bearing  |  GitHub Copilot App workflow</a:t>
            </a:r>
          </a:p>
        </p:txBody>
      </p:sp>
      <p:sp>
        <p:nvSpPr>
          <p:cNvPr id="6" name="04 / 16"/>
          <p:cNvSpPr txBox="1"/>
          <p:nvPr/>
        </p:nvSpPr>
        <p:spPr>
          <a:xfrm>
            <a:off x="10744200" y="6428232"/>
            <a:ext cx="822960" cy="201168"/>
          </a:xfrm>
          <a:prstGeom prst="rect">
            <a:avLst/>
          </a:prstGeom>
          <a:noFill/>
        </p:spPr>
        <p:txBody>
          <a:bodyPr wrap="square" lIns="0" rIns="0" tIns="0" bIns="0">
            <a:spAutoFit/>
          </a:bodyPr>
          <a:lstStyle/>
          <a:p>
            <a:pPr>
              <a:lnSpc>
                <a:spcPct val="107000"/>
              </a:lnSpc>
              <a:spcAft>
                <a:spcPts val="500"/>
              </a:spcAft>
            </a:pPr>
            <a:r>
              <a:rPr sz="1000" b="0">
                <a:solidFill>
                  <a:srgbClr val="232925"/>
                </a:solidFill>
                <a:latin typeface="Arial"/>
              </a:rPr>
              <a:t>04 / 16</a:t>
            </a:r>
          </a:p>
        </p:txBody>
      </p:sp>
      <p:sp>
        <p:nvSpPr>
          <p:cNvPr id="7" name="Sources: Kyndryl Readiness Reports 2025 and 2024. Population"/>
          <p:cNvSpPr txBox="1"/>
          <p:nvPr/>
        </p:nvSpPr>
        <p:spPr>
          <a:xfrm>
            <a:off x="594360" y="6007608"/>
            <a:ext cx="10881360" cy="237744"/>
          </a:xfrm>
          <a:prstGeom prst="rect">
            <a:avLst/>
          </a:prstGeom>
          <a:noFill/>
        </p:spPr>
        <p:txBody>
          <a:bodyPr wrap="square" lIns="0" rIns="0" tIns="0" bIns="0">
            <a:spAutoFit/>
          </a:bodyPr>
          <a:lstStyle/>
          <a:p>
            <a:pPr>
              <a:lnSpc>
                <a:spcPct val="107000"/>
              </a:lnSpc>
              <a:spcAft>
                <a:spcPts val="500"/>
              </a:spcAft>
            </a:pPr>
            <a:r>
              <a:rPr sz="1000" b="0">
                <a:solidFill>
                  <a:srgbClr val="232925"/>
                </a:solidFill>
                <a:latin typeface="Arial"/>
              </a:rPr>
              <a:t>Sources: Kyndryl Readiness Reports 2025 and 2024. Populations differ; neither measures legacy-code share.</a:t>
            </a:r>
          </a:p>
        </p:txBody>
      </p:sp>
      <p:grpSp>
        <p:nvGrpSpPr>
          <p:cNvPr id="8" name="Unit chart: 57 of 100 squares filled" descr="Unit chart: 57 of 100 squares filled"/>
          <p:cNvGrpSpPr/>
          <p:nvPr/>
        </p:nvGrpSpPr>
        <p:grpSpPr>
          <a:xfrm>
            <a:off x="594360" y="1691640"/>
            <a:ext cx="2340864" cy="2340863"/>
            <a:chOff x="594360" y="1691640"/>
            <a:chExt cx="2340864" cy="2340863"/>
          </a:xfrm>
        </p:grpSpPr>
        <p:sp>
          <p:nvSpPr>
            <p:cNvPr id="9" name="Rectangle 8"/>
            <p:cNvSpPr/>
            <p:nvPr/>
          </p:nvSpPr>
          <p:spPr>
            <a:xfrm>
              <a:off x="594360" y="1691640"/>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2104" y="1691640"/>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9848" y="1691640"/>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307592" y="1691640"/>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545336" y="1691640"/>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783080" y="1691640"/>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020824" y="1691640"/>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58568" y="1691640"/>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496312" y="1691640"/>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34056" y="1691640"/>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4360" y="1929384"/>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2104" y="1929384"/>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69848" y="1929384"/>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307592" y="1929384"/>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545336" y="1929384"/>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783080" y="1929384"/>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020824" y="1929384"/>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258568" y="1929384"/>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496312" y="1929384"/>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734056" y="1929384"/>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94360" y="2167128"/>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2104" y="2167128"/>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69848" y="2167128"/>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307592" y="2167128"/>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545336" y="2167128"/>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783080" y="2167128"/>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020824" y="2167128"/>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258568" y="2167128"/>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496312" y="2167128"/>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734056" y="2167128"/>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94360" y="2404872"/>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32104" y="2404872"/>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69848" y="2404872"/>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307592" y="2404872"/>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545336" y="2404872"/>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783080" y="2404872"/>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020824" y="2404872"/>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258568" y="2404872"/>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496312" y="2404872"/>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734056" y="2404872"/>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94360" y="2642616"/>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32104" y="2642616"/>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069848" y="2642616"/>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307592" y="2642616"/>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545336" y="2642616"/>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783080" y="2642616"/>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020824" y="2642616"/>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258568" y="2642616"/>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2496312" y="2642616"/>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734056" y="2642616"/>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594360" y="2880360"/>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32104" y="2880360"/>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069848" y="2880360"/>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307592" y="2880360"/>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545336" y="2880360"/>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783080" y="2880360"/>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2020824" y="2880360"/>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258568" y="2880360"/>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2496312" y="2880360"/>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2734056" y="2880360"/>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3118104"/>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832104" y="3118104"/>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069848" y="3118104"/>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1307592" y="3118104"/>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545336" y="3118104"/>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783080" y="3118104"/>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2020824" y="3118104"/>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2258568" y="3118104"/>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496312" y="3118104"/>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2734056" y="3118104"/>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594360" y="3355848"/>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832104" y="3355848"/>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1069848" y="3355848"/>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1307592" y="3355848"/>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1545336" y="3355848"/>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1783080" y="3355848"/>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2020824" y="3355848"/>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2258568" y="3355848"/>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2496312" y="3355848"/>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2734056" y="3355848"/>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594360" y="3593592"/>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832104" y="3593592"/>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1069848" y="3593592"/>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1307592" y="3593592"/>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1545336" y="3593592"/>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1783080" y="3593592"/>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2020824" y="3593592"/>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2258568" y="3593592"/>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2496312" y="3593592"/>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2734056" y="3593592"/>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594360" y="3831335"/>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832104" y="3831335"/>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069848" y="3831335"/>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307592" y="3831335"/>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545336" y="3831335"/>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783080" y="3831335"/>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2020824" y="3831335"/>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2258568" y="3831335"/>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2496312" y="3831335"/>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2734056" y="3831335"/>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09" name="57%"/>
          <p:cNvSpPr txBox="1"/>
          <p:nvPr/>
        </p:nvSpPr>
        <p:spPr>
          <a:xfrm>
            <a:off x="3291840" y="1627632"/>
            <a:ext cx="2377440" cy="914400"/>
          </a:xfrm>
          <a:prstGeom prst="rect">
            <a:avLst/>
          </a:prstGeom>
          <a:noFill/>
        </p:spPr>
        <p:txBody>
          <a:bodyPr wrap="square" lIns="0" rIns="0" tIns="0" bIns="0">
            <a:spAutoFit/>
          </a:bodyPr>
          <a:lstStyle/>
          <a:p>
            <a:pPr>
              <a:lnSpc>
                <a:spcPct val="107000"/>
              </a:lnSpc>
              <a:spcAft>
                <a:spcPts val="500"/>
              </a:spcAft>
            </a:pPr>
            <a:r>
              <a:rPr sz="6000" b="1">
                <a:solidFill>
                  <a:srgbClr val="08872B"/>
                </a:solidFill>
                <a:latin typeface="Mona Sans"/>
              </a:rPr>
              <a:t>57%</a:t>
            </a:r>
          </a:p>
        </p:txBody>
      </p:sp>
      <p:sp>
        <p:nvSpPr>
          <p:cNvPr id="110" name="of surveyed leaders"/>
          <p:cNvSpPr txBox="1"/>
          <p:nvPr/>
        </p:nvSpPr>
        <p:spPr>
          <a:xfrm>
            <a:off x="3291840" y="2697480"/>
            <a:ext cx="2377440" cy="914400"/>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of surveyed leaders</a:t>
            </a:r>
          </a:p>
        </p:txBody>
      </p:sp>
      <p:sp>
        <p:nvSpPr>
          <p:cNvPr id="111" name="say technology-stack issues delay their company’s innovation"/>
          <p:cNvSpPr txBox="1"/>
          <p:nvPr/>
        </p:nvSpPr>
        <p:spPr>
          <a:xfrm>
            <a:off x="594360" y="4315968"/>
            <a:ext cx="5120640" cy="731520"/>
          </a:xfrm>
          <a:prstGeom prst="rect">
            <a:avLst/>
          </a:prstGeom>
          <a:noFill/>
        </p:spPr>
        <p:txBody>
          <a:bodyPr wrap="square" lIns="0" rIns="0" tIns="0" bIns="0">
            <a:spAutoFit/>
          </a:bodyPr>
          <a:lstStyle/>
          <a:p>
            <a:pPr>
              <a:lnSpc>
                <a:spcPct val="107000"/>
              </a:lnSpc>
              <a:spcAft>
                <a:spcPts val="500"/>
              </a:spcAft>
            </a:pPr>
            <a:r>
              <a:rPr sz="2000" b="1">
                <a:solidFill>
                  <a:srgbClr val="101411"/>
                </a:solidFill>
                <a:latin typeface="Arial"/>
              </a:rPr>
              <a:t>say technology-stack issues delay their company’s innovation.</a:t>
            </a:r>
          </a:p>
        </p:txBody>
      </p:sp>
      <p:sp>
        <p:nvSpPr>
          <p:cNvPr id="112" name="2025 survey of 3,700 senior leaders in 21 countries; commiss"/>
          <p:cNvSpPr txBox="1"/>
          <p:nvPr/>
        </p:nvSpPr>
        <p:spPr>
          <a:xfrm>
            <a:off x="594360" y="5120640"/>
            <a:ext cx="5120640" cy="640080"/>
          </a:xfrm>
          <a:prstGeom prst="rect">
            <a:avLst/>
          </a:prstGeom>
          <a:noFill/>
        </p:spPr>
        <p:txBody>
          <a:bodyPr wrap="square" lIns="0" rIns="0" tIns="0" bIns="0">
            <a:spAutoFit/>
          </a:bodyPr>
          <a:lstStyle/>
          <a:p>
            <a:pPr>
              <a:lnSpc>
                <a:spcPct val="107000"/>
              </a:lnSpc>
              <a:spcAft>
                <a:spcPts val="500"/>
              </a:spcAft>
            </a:pPr>
            <a:r>
              <a:rPr sz="1400" b="0">
                <a:solidFill>
                  <a:srgbClr val="232925"/>
                </a:solidFill>
                <a:latin typeface="Arial"/>
              </a:rPr>
              <a:t>2025 survey of 3,700 senior leaders in 21 countries; commissioned by Kyndryl.</a:t>
            </a:r>
          </a:p>
        </p:txBody>
      </p:sp>
      <p:grpSp>
        <p:nvGrpSpPr>
          <p:cNvPr id="113" name="Unit chart: 44 of 100 squares filled" descr="Unit chart: 44 of 100 squares filled"/>
          <p:cNvGrpSpPr/>
          <p:nvPr/>
        </p:nvGrpSpPr>
        <p:grpSpPr>
          <a:xfrm>
            <a:off x="6446520" y="1691640"/>
            <a:ext cx="2340864" cy="2340863"/>
            <a:chOff x="6446520" y="1691640"/>
            <a:chExt cx="2340864" cy="2340863"/>
          </a:xfrm>
        </p:grpSpPr>
        <p:sp>
          <p:nvSpPr>
            <p:cNvPr id="114" name="Rectangle 113"/>
            <p:cNvSpPr/>
            <p:nvPr/>
          </p:nvSpPr>
          <p:spPr>
            <a:xfrm>
              <a:off x="6446520" y="1691640"/>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6684264" y="1691640"/>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6922008" y="1691640"/>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7159752" y="1691640"/>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7397496" y="1691640"/>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7635240" y="1691640"/>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7872983" y="1691640"/>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8110727" y="1691640"/>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8348471" y="1691640"/>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8586216" y="1691640"/>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6446520" y="1929384"/>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6684264" y="1929384"/>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6922008" y="1929384"/>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7159752" y="1929384"/>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7397496" y="1929384"/>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7635240" y="1929384"/>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7872983" y="1929384"/>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8110727" y="1929384"/>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8348471" y="1929384"/>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8586216" y="1929384"/>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6446520" y="2167128"/>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6684264" y="2167128"/>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6922008" y="2167128"/>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7159752" y="2167128"/>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7397496" y="2167128"/>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7635240" y="2167128"/>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7872983" y="2167128"/>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8110727" y="2167128"/>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8348471" y="2167128"/>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8586216" y="2167128"/>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6446520" y="2404872"/>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6684264" y="2404872"/>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6922008" y="2404872"/>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7159752" y="2404872"/>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7397496" y="2404872"/>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7635240" y="2404872"/>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7872983" y="2404872"/>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8110727" y="2404872"/>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8348471" y="2404872"/>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8586216" y="2404872"/>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6446520" y="2642616"/>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6684264" y="2642616"/>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6922008" y="2642616"/>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7159752" y="2642616"/>
              <a:ext cx="201168" cy="20116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7397496" y="2642616"/>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7635240" y="2642616"/>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7872983" y="2642616"/>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8110727" y="2642616"/>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8348471" y="2642616"/>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8586216" y="2642616"/>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6446520" y="2880360"/>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6684264" y="2880360"/>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6922008" y="2880360"/>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7159752" y="2880360"/>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7397496" y="2880360"/>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7635240" y="2880360"/>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7872983" y="2880360"/>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ctangle 170"/>
            <p:cNvSpPr/>
            <p:nvPr/>
          </p:nvSpPr>
          <p:spPr>
            <a:xfrm>
              <a:off x="8110727" y="2880360"/>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8348471" y="2880360"/>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8586216" y="2880360"/>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6446520" y="3118104"/>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6684264" y="3118104"/>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ctangle 175"/>
            <p:cNvSpPr/>
            <p:nvPr/>
          </p:nvSpPr>
          <p:spPr>
            <a:xfrm>
              <a:off x="6922008" y="3118104"/>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ctangle 176"/>
            <p:cNvSpPr/>
            <p:nvPr/>
          </p:nvSpPr>
          <p:spPr>
            <a:xfrm>
              <a:off x="7159752" y="3118104"/>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7397496" y="3118104"/>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7635240" y="3118104"/>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7872983" y="3118104"/>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8110727" y="3118104"/>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8348471" y="3118104"/>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8586216" y="3118104"/>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6446520" y="3355848"/>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6684264" y="3355848"/>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6922008" y="3355848"/>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Rectangle 186"/>
            <p:cNvSpPr/>
            <p:nvPr/>
          </p:nvSpPr>
          <p:spPr>
            <a:xfrm>
              <a:off x="7159752" y="3355848"/>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Rectangle 187"/>
            <p:cNvSpPr/>
            <p:nvPr/>
          </p:nvSpPr>
          <p:spPr>
            <a:xfrm>
              <a:off x="7397496" y="3355848"/>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7635240" y="3355848"/>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7872983" y="3355848"/>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8110727" y="3355848"/>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8348471" y="3355848"/>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8586216" y="3355848"/>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6446520" y="3593592"/>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6684264" y="3593592"/>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6922008" y="3593592"/>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7159752" y="3593592"/>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7397496" y="3593592"/>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7635240" y="3593592"/>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7872983" y="3593592"/>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8110727" y="3593592"/>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8348471" y="3593592"/>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8586216" y="3593592"/>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Rectangle 203"/>
            <p:cNvSpPr/>
            <p:nvPr/>
          </p:nvSpPr>
          <p:spPr>
            <a:xfrm>
              <a:off x="6446520" y="3831335"/>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6684264" y="3831335"/>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6922008" y="3831335"/>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7159752" y="3831335"/>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7397496" y="3831335"/>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7635240" y="3831335"/>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7872983" y="3831335"/>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8110727" y="3831335"/>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Rectangle 211"/>
            <p:cNvSpPr/>
            <p:nvPr/>
          </p:nvSpPr>
          <p:spPr>
            <a:xfrm>
              <a:off x="8348471" y="3831335"/>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ectangle 212"/>
            <p:cNvSpPr/>
            <p:nvPr/>
          </p:nvSpPr>
          <p:spPr>
            <a:xfrm>
              <a:off x="8586216" y="3831335"/>
              <a:ext cx="201168" cy="201168"/>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214" name="44%"/>
          <p:cNvSpPr txBox="1"/>
          <p:nvPr/>
        </p:nvSpPr>
        <p:spPr>
          <a:xfrm>
            <a:off x="9144000" y="1627632"/>
            <a:ext cx="2377440" cy="914400"/>
          </a:xfrm>
          <a:prstGeom prst="rect">
            <a:avLst/>
          </a:prstGeom>
          <a:noFill/>
        </p:spPr>
        <p:txBody>
          <a:bodyPr wrap="square" lIns="0" rIns="0" tIns="0" bIns="0">
            <a:spAutoFit/>
          </a:bodyPr>
          <a:lstStyle/>
          <a:p>
            <a:pPr>
              <a:lnSpc>
                <a:spcPct val="107000"/>
              </a:lnSpc>
              <a:spcAft>
                <a:spcPts val="500"/>
              </a:spcAft>
            </a:pPr>
            <a:r>
              <a:rPr sz="6000" b="1">
                <a:solidFill>
                  <a:srgbClr val="08872B"/>
                </a:solidFill>
                <a:latin typeface="Mona Sans"/>
              </a:rPr>
              <a:t>44%</a:t>
            </a:r>
          </a:p>
        </p:txBody>
      </p:sp>
      <p:sp>
        <p:nvSpPr>
          <p:cNvPr id="215" name="of mission-critical IT infrastructure"/>
          <p:cNvSpPr txBox="1"/>
          <p:nvPr/>
        </p:nvSpPr>
        <p:spPr>
          <a:xfrm>
            <a:off x="9144000" y="2697480"/>
            <a:ext cx="2377440" cy="914400"/>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of mission-critical IT infrastructure</a:t>
            </a:r>
          </a:p>
        </p:txBody>
      </p:sp>
      <p:sp>
        <p:nvSpPr>
          <p:cNvPr id="216" name="was approaching or at end-of-life."/>
          <p:cNvSpPr txBox="1"/>
          <p:nvPr/>
        </p:nvSpPr>
        <p:spPr>
          <a:xfrm>
            <a:off x="6446520" y="4315968"/>
            <a:ext cx="5120640" cy="731520"/>
          </a:xfrm>
          <a:prstGeom prst="rect">
            <a:avLst/>
          </a:prstGeom>
          <a:noFill/>
        </p:spPr>
        <p:txBody>
          <a:bodyPr wrap="square" lIns="0" rIns="0" tIns="0" bIns="0">
            <a:spAutoFit/>
          </a:bodyPr>
          <a:lstStyle/>
          <a:p>
            <a:pPr>
              <a:lnSpc>
                <a:spcPct val="107000"/>
              </a:lnSpc>
              <a:spcAft>
                <a:spcPts val="500"/>
              </a:spcAft>
            </a:pPr>
            <a:r>
              <a:rPr sz="2000" b="1">
                <a:solidFill>
                  <a:srgbClr val="101411"/>
                </a:solidFill>
                <a:latin typeface="Arial"/>
              </a:rPr>
              <a:t>was approaching or at end-of-life.</a:t>
            </a:r>
          </a:p>
        </p:txBody>
      </p:sp>
      <p:sp>
        <p:nvSpPr>
          <p:cNvPr id="217" name="2024 Kyndryl Bridge operational data. Infrastructure, not th"/>
          <p:cNvSpPr txBox="1"/>
          <p:nvPr/>
        </p:nvSpPr>
        <p:spPr>
          <a:xfrm>
            <a:off x="6446520" y="5120640"/>
            <a:ext cx="5120640" cy="640080"/>
          </a:xfrm>
          <a:prstGeom prst="rect">
            <a:avLst/>
          </a:prstGeom>
          <a:noFill/>
        </p:spPr>
        <p:txBody>
          <a:bodyPr wrap="square" lIns="0" rIns="0" tIns="0" bIns="0">
            <a:spAutoFit/>
          </a:bodyPr>
          <a:lstStyle/>
          <a:p>
            <a:pPr>
              <a:lnSpc>
                <a:spcPct val="107000"/>
              </a:lnSpc>
              <a:spcAft>
                <a:spcPts val="500"/>
              </a:spcAft>
            </a:pPr>
            <a:r>
              <a:rPr sz="1400" b="0">
                <a:solidFill>
                  <a:srgbClr val="232925"/>
                </a:solidFill>
                <a:latin typeface="Arial"/>
              </a:rPr>
              <a:t>2024 Kyndryl Bridge operational data. Infrastructure, not the share of old source code.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mall change. Unclear blast radius."/>
          <p:cNvSpPr txBox="1"/>
          <p:nvPr/>
        </p:nvSpPr>
        <p:spPr>
          <a:xfrm>
            <a:off x="594360" y="502920"/>
            <a:ext cx="10972800" cy="1005840"/>
          </a:xfrm>
          <a:prstGeom prst="rect">
            <a:avLst/>
          </a:prstGeom>
          <a:noFill/>
        </p:spPr>
        <p:txBody>
          <a:bodyPr wrap="square" lIns="0" rIns="0" tIns="0" bIns="0">
            <a:spAutoFit/>
          </a:bodyPr>
          <a:lstStyle/>
          <a:p>
            <a:pPr>
              <a:lnSpc>
                <a:spcPct val="107000"/>
              </a:lnSpc>
              <a:spcAft>
                <a:spcPts val="500"/>
              </a:spcAft>
            </a:pPr>
            <a:r>
              <a:rPr sz="3200" b="1">
                <a:solidFill>
                  <a:srgbClr val="101411"/>
                </a:solidFill>
                <a:latin typeface="Mona Sans"/>
              </a:rPr>
              <a:t>Small change. Unclear blast radius.</a:t>
            </a:r>
          </a:p>
        </p:txBody>
      </p:sp>
      <p:sp>
        <p:nvSpPr>
          <p:cNvPr id="3" name="Rectangle 2"/>
          <p:cNvSpPr/>
          <p:nvPr/>
        </p:nvSpPr>
        <p:spPr>
          <a:xfrm>
            <a:off x="594360" y="6327648"/>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itHub mark" descr="GitHub logo"/>
          <p:cNvSpPr/>
          <p:nvPr/>
        </p:nvSpPr>
        <p:spPr>
          <a:xfrm>
            <a:off x="594360" y="6419088"/>
            <a:ext cx="182880" cy="182880"/>
          </a:xfrm>
          <a:custGeom>
            <a:avLst/>
            <a:gdLst/>
            <a:ahLst/>
            <a:cxnLst/>
            <a:rect l="0" t="0" r="r" b="b"/>
            <a:pathLst>
              <a:path w="16000" h="16000">
                <a:moveTo>
                  <a:pt x="8000" y="0"/>
                </a:moveTo>
                <a:cubicBezTo>
                  <a:pt x="3580" y="0"/>
                  <a:pt x="0" y="3580"/>
                  <a:pt x="0" y="8000"/>
                </a:cubicBezTo>
                <a:cubicBezTo>
                  <a:pt x="0" y="11540"/>
                  <a:pt x="2290" y="14530"/>
                  <a:pt x="5470" y="15590"/>
                </a:cubicBezTo>
                <a:cubicBezTo>
                  <a:pt x="5870" y="15660"/>
                  <a:pt x="6020" y="15420"/>
                  <a:pt x="6020" y="15210"/>
                </a:cubicBezTo>
                <a:cubicBezTo>
                  <a:pt x="6020" y="15020"/>
                  <a:pt x="6010" y="14390"/>
                  <a:pt x="6010" y="13720"/>
                </a:cubicBezTo>
                <a:cubicBezTo>
                  <a:pt x="4000" y="14090"/>
                  <a:pt x="3480" y="13230"/>
                  <a:pt x="3320" y="12780"/>
                </a:cubicBezTo>
                <a:cubicBezTo>
                  <a:pt x="3230" y="12550"/>
                  <a:pt x="2840" y="11840"/>
                  <a:pt x="2500" y="11650"/>
                </a:cubicBezTo>
                <a:cubicBezTo>
                  <a:pt x="2220" y="11500"/>
                  <a:pt x="1820" y="11130"/>
                  <a:pt x="2490" y="11120"/>
                </a:cubicBezTo>
                <a:cubicBezTo>
                  <a:pt x="3120" y="11110"/>
                  <a:pt x="3570" y="11700"/>
                  <a:pt x="3720" y="11940"/>
                </a:cubicBezTo>
                <a:cubicBezTo>
                  <a:pt x="4440" y="13150"/>
                  <a:pt x="5590" y="12810"/>
                  <a:pt x="6050" y="12600"/>
                </a:cubicBezTo>
                <a:cubicBezTo>
                  <a:pt x="6120" y="12080"/>
                  <a:pt x="6330" y="11730"/>
                  <a:pt x="6560" y="11530"/>
                </a:cubicBezTo>
                <a:cubicBezTo>
                  <a:pt x="4780" y="11330"/>
                  <a:pt x="2920" y="10640"/>
                  <a:pt x="2920" y="7580"/>
                </a:cubicBezTo>
                <a:cubicBezTo>
                  <a:pt x="2920" y="6710"/>
                  <a:pt x="3230" y="5990"/>
                  <a:pt x="3740" y="5430"/>
                </a:cubicBezTo>
                <a:cubicBezTo>
                  <a:pt x="3660" y="5230"/>
                  <a:pt x="3380" y="4410"/>
                  <a:pt x="3820" y="3310"/>
                </a:cubicBezTo>
                <a:cubicBezTo>
                  <a:pt x="3820" y="3310"/>
                  <a:pt x="4490" y="3100"/>
                  <a:pt x="6020" y="4130"/>
                </a:cubicBezTo>
                <a:cubicBezTo>
                  <a:pt x="6660" y="3950"/>
                  <a:pt x="7340" y="3860"/>
                  <a:pt x="8020" y="3860"/>
                </a:cubicBezTo>
                <a:cubicBezTo>
                  <a:pt x="8700" y="3860"/>
                  <a:pt x="9380" y="3950"/>
                  <a:pt x="10020" y="4130"/>
                </a:cubicBezTo>
                <a:cubicBezTo>
                  <a:pt x="11550" y="3090"/>
                  <a:pt x="12220" y="3310"/>
                  <a:pt x="12220" y="3310"/>
                </a:cubicBezTo>
                <a:cubicBezTo>
                  <a:pt x="12660" y="4410"/>
                  <a:pt x="12380" y="5230"/>
                  <a:pt x="12300" y="5430"/>
                </a:cubicBezTo>
                <a:cubicBezTo>
                  <a:pt x="12810" y="5990"/>
                  <a:pt x="13120" y="6700"/>
                  <a:pt x="13120" y="7580"/>
                </a:cubicBezTo>
                <a:cubicBezTo>
                  <a:pt x="13120" y="10650"/>
                  <a:pt x="11250" y="11330"/>
                  <a:pt x="9470" y="11530"/>
                </a:cubicBezTo>
                <a:cubicBezTo>
                  <a:pt x="9760" y="11780"/>
                  <a:pt x="10010" y="12260"/>
                  <a:pt x="10010" y="13010"/>
                </a:cubicBezTo>
                <a:cubicBezTo>
                  <a:pt x="10010" y="14080"/>
                  <a:pt x="10000" y="14940"/>
                  <a:pt x="10000" y="15210"/>
                </a:cubicBezTo>
                <a:cubicBezTo>
                  <a:pt x="10000" y="15420"/>
                  <a:pt x="10150" y="15670"/>
                  <a:pt x="10550" y="15590"/>
                </a:cubicBezTo>
                <a:cubicBezTo>
                  <a:pt x="11604" y="15234"/>
                  <a:pt x="12572" y="14663"/>
                  <a:pt x="13394" y="13912"/>
                </a:cubicBezTo>
                <a:cubicBezTo>
                  <a:pt x="14215" y="13162"/>
                  <a:pt x="14870" y="12248"/>
                  <a:pt x="15319" y="11231"/>
                </a:cubicBezTo>
                <a:cubicBezTo>
                  <a:pt x="15768" y="10213"/>
                  <a:pt x="16000" y="9112"/>
                  <a:pt x="16000" y="8000"/>
                </a:cubicBezTo>
                <a:cubicBezTo>
                  <a:pt x="16000" y="3580"/>
                  <a:pt x="12420" y="0"/>
                  <a:pt x="8000" y="0"/>
                </a:cubicBezTo>
                <a:close/>
              </a:path>
            </a:pathLst>
          </a:custGeom>
          <a:solidFill>
            <a:srgbClr val="1014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earing  |  GitHub Copilot App workflow"/>
          <p:cNvSpPr txBox="1"/>
          <p:nvPr/>
        </p:nvSpPr>
        <p:spPr>
          <a:xfrm>
            <a:off x="914400" y="6428232"/>
            <a:ext cx="7726679" cy="201168"/>
          </a:xfrm>
          <a:prstGeom prst="rect">
            <a:avLst/>
          </a:prstGeom>
          <a:noFill/>
        </p:spPr>
        <p:txBody>
          <a:bodyPr wrap="square" lIns="0" rIns="0" tIns="0" bIns="0">
            <a:spAutoFit/>
          </a:bodyPr>
          <a:lstStyle/>
          <a:p>
            <a:pPr>
              <a:lnSpc>
                <a:spcPct val="107000"/>
              </a:lnSpc>
              <a:spcAft>
                <a:spcPts val="500"/>
              </a:spcAft>
            </a:pPr>
            <a:r>
              <a:rPr sz="1000" b="0">
                <a:solidFill>
                  <a:srgbClr val="232925"/>
                </a:solidFill>
                <a:latin typeface="Arial"/>
              </a:rPr>
              <a:t>Bearing  |  GitHub Copilot App workflow</a:t>
            </a:r>
          </a:p>
        </p:txBody>
      </p:sp>
      <p:sp>
        <p:nvSpPr>
          <p:cNvPr id="6" name="05 / 16"/>
          <p:cNvSpPr txBox="1"/>
          <p:nvPr/>
        </p:nvSpPr>
        <p:spPr>
          <a:xfrm>
            <a:off x="10744200" y="6428232"/>
            <a:ext cx="822960" cy="201168"/>
          </a:xfrm>
          <a:prstGeom prst="rect">
            <a:avLst/>
          </a:prstGeom>
          <a:noFill/>
        </p:spPr>
        <p:txBody>
          <a:bodyPr wrap="square" lIns="0" rIns="0" tIns="0" bIns="0">
            <a:spAutoFit/>
          </a:bodyPr>
          <a:lstStyle/>
          <a:p>
            <a:pPr>
              <a:lnSpc>
                <a:spcPct val="107000"/>
              </a:lnSpc>
              <a:spcAft>
                <a:spcPts val="500"/>
              </a:spcAft>
            </a:pPr>
            <a:r>
              <a:rPr sz="1000" b="0">
                <a:solidFill>
                  <a:srgbClr val="232925"/>
                </a:solidFill>
                <a:latin typeface="Arial"/>
              </a:rPr>
              <a:t>05 / 16</a:t>
            </a:r>
          </a:p>
        </p:txBody>
      </p:sp>
      <p:sp>
        <p:nvSpPr>
          <p:cNvPr id="7" name="An engineer inherits a working order-processing service."/>
          <p:cNvSpPr txBox="1"/>
          <p:nvPr/>
        </p:nvSpPr>
        <p:spPr>
          <a:xfrm>
            <a:off x="594360" y="1645920"/>
            <a:ext cx="10698480" cy="960120"/>
          </a:xfrm>
          <a:prstGeom prst="rect">
            <a:avLst/>
          </a:prstGeom>
          <a:noFill/>
        </p:spPr>
        <p:txBody>
          <a:bodyPr wrap="square" lIns="0" rIns="0" tIns="0" bIns="0">
            <a:spAutoFit/>
          </a:bodyPr>
          <a:lstStyle/>
          <a:p>
            <a:pPr>
              <a:lnSpc>
                <a:spcPct val="107000"/>
              </a:lnSpc>
              <a:spcAft>
                <a:spcPts val="500"/>
              </a:spcAft>
            </a:pPr>
            <a:r>
              <a:rPr sz="2700" b="0">
                <a:solidFill>
                  <a:srgbClr val="101411"/>
                </a:solidFill>
                <a:latin typeface="Arial"/>
              </a:rPr>
              <a:t>An engineer inherits a working order-processing service.</a:t>
            </a:r>
          </a:p>
          <a:p>
            <a:pPr>
              <a:lnSpc>
                <a:spcPct val="107000"/>
              </a:lnSpc>
              <a:spcAft>
                <a:spcPts val="500"/>
              </a:spcAft>
            </a:pPr>
            <a:r>
              <a:rPr sz="2700" b="0">
                <a:solidFill>
                  <a:srgbClr val="101411"/>
                </a:solidFill>
                <a:latin typeface="Arial"/>
              </a:rPr>
              <a:t>The business asks for one validation change.</a:t>
            </a:r>
          </a:p>
        </p:txBody>
      </p:sp>
      <p:sp>
        <p:nvSpPr>
          <p:cNvPr id="8" name="The service runs."/>
          <p:cNvSpPr txBox="1"/>
          <p:nvPr/>
        </p:nvSpPr>
        <p:spPr>
          <a:xfrm>
            <a:off x="594360" y="2971800"/>
            <a:ext cx="3337560" cy="777240"/>
          </a:xfrm>
          <a:prstGeom prst="rect">
            <a:avLst/>
          </a:prstGeom>
          <a:noFill/>
        </p:spPr>
        <p:txBody>
          <a:bodyPr wrap="square" lIns="0" rIns="0" tIns="0" bIns="0">
            <a:spAutoFit/>
          </a:bodyPr>
          <a:lstStyle/>
          <a:p>
            <a:pPr>
              <a:lnSpc>
                <a:spcPct val="107000"/>
              </a:lnSpc>
              <a:spcAft>
                <a:spcPts val="500"/>
              </a:spcAft>
            </a:pPr>
            <a:r>
              <a:rPr sz="2300" b="1">
                <a:solidFill>
                  <a:srgbClr val="08872B"/>
                </a:solidFill>
                <a:latin typeface="Mona Sans"/>
              </a:rPr>
              <a:t>The service runs.</a:t>
            </a:r>
          </a:p>
        </p:txBody>
      </p:sp>
      <p:sp>
        <p:nvSpPr>
          <p:cNvPr id="9" name="Orders still flow."/>
          <p:cNvSpPr txBox="1"/>
          <p:nvPr/>
        </p:nvSpPr>
        <p:spPr>
          <a:xfrm>
            <a:off x="594360" y="3840480"/>
            <a:ext cx="3337560" cy="1508760"/>
          </a:xfrm>
          <a:prstGeom prst="rect">
            <a:avLst/>
          </a:prstGeom>
          <a:noFill/>
        </p:spPr>
        <p:txBody>
          <a:bodyPr wrap="square" lIns="0" rIns="0" tIns="0" bIns="0">
            <a:spAutoFit/>
          </a:bodyPr>
          <a:lstStyle/>
          <a:p>
            <a:pPr>
              <a:lnSpc>
                <a:spcPct val="107000"/>
              </a:lnSpc>
              <a:spcAft>
                <a:spcPts val="500"/>
              </a:spcAft>
            </a:pPr>
            <a:r>
              <a:rPr sz="2000" b="0">
                <a:solidFill>
                  <a:srgbClr val="232925"/>
                </a:solidFill>
                <a:latin typeface="Arial"/>
              </a:rPr>
              <a:t>Orders still flow.</a:t>
            </a:r>
          </a:p>
          <a:p>
            <a:pPr>
              <a:lnSpc>
                <a:spcPct val="107000"/>
              </a:lnSpc>
              <a:spcAft>
                <a:spcPts val="500"/>
              </a:spcAft>
            </a:pPr>
            <a:r>
              <a:rPr sz="2000" b="0">
                <a:solidFill>
                  <a:srgbClr val="232925"/>
                </a:solidFill>
                <a:latin typeface="Arial"/>
              </a:rPr>
              <a:t>Age alone is not a reason</a:t>
            </a:r>
          </a:p>
          <a:p>
            <a:pPr>
              <a:lnSpc>
                <a:spcPct val="107000"/>
              </a:lnSpc>
              <a:spcAft>
                <a:spcPts val="500"/>
              </a:spcAft>
            </a:pPr>
            <a:r>
              <a:rPr sz="2000" b="0">
                <a:solidFill>
                  <a:srgbClr val="232925"/>
                </a:solidFill>
                <a:latin typeface="Arial"/>
              </a:rPr>
              <a:t>to replace the system.</a:t>
            </a:r>
          </a:p>
        </p:txBody>
      </p:sp>
      <p:sp>
        <p:nvSpPr>
          <p:cNvPr id="10" name="The evidence is scattered."/>
          <p:cNvSpPr txBox="1"/>
          <p:nvPr/>
        </p:nvSpPr>
        <p:spPr>
          <a:xfrm>
            <a:off x="4416552" y="2971800"/>
            <a:ext cx="3337560" cy="777240"/>
          </a:xfrm>
          <a:prstGeom prst="rect">
            <a:avLst/>
          </a:prstGeom>
          <a:noFill/>
        </p:spPr>
        <p:txBody>
          <a:bodyPr wrap="square" lIns="0" rIns="0" tIns="0" bIns="0">
            <a:spAutoFit/>
          </a:bodyPr>
          <a:lstStyle/>
          <a:p>
            <a:pPr>
              <a:lnSpc>
                <a:spcPct val="107000"/>
              </a:lnSpc>
              <a:spcAft>
                <a:spcPts val="500"/>
              </a:spcAft>
            </a:pPr>
            <a:r>
              <a:rPr sz="2300" b="1">
                <a:solidFill>
                  <a:srgbClr val="08872B"/>
                </a:solidFill>
                <a:latin typeface="Mona Sans"/>
              </a:rPr>
              <a:t>The evidence is scattered.</a:t>
            </a:r>
          </a:p>
        </p:txBody>
      </p:sp>
      <p:sp>
        <p:nvSpPr>
          <p:cNvPr id="11" name="Which callers rely on it?"/>
          <p:cNvSpPr txBox="1"/>
          <p:nvPr/>
        </p:nvSpPr>
        <p:spPr>
          <a:xfrm>
            <a:off x="4416552" y="3840480"/>
            <a:ext cx="3337560" cy="1508760"/>
          </a:xfrm>
          <a:prstGeom prst="rect">
            <a:avLst/>
          </a:prstGeom>
          <a:noFill/>
        </p:spPr>
        <p:txBody>
          <a:bodyPr wrap="square" lIns="0" rIns="0" tIns="0" bIns="0">
            <a:spAutoFit/>
          </a:bodyPr>
          <a:lstStyle/>
          <a:p>
            <a:pPr>
              <a:lnSpc>
                <a:spcPct val="107000"/>
              </a:lnSpc>
              <a:spcAft>
                <a:spcPts val="500"/>
              </a:spcAft>
            </a:pPr>
            <a:r>
              <a:rPr sz="2000" b="0">
                <a:solidFill>
                  <a:srgbClr val="232925"/>
                </a:solidFill>
                <a:latin typeface="Arial"/>
              </a:rPr>
              <a:t>Which callers rely on it?</a:t>
            </a:r>
          </a:p>
          <a:p>
            <a:pPr>
              <a:lnSpc>
                <a:spcPct val="107000"/>
              </a:lnSpc>
              <a:spcAft>
                <a:spcPts val="500"/>
              </a:spcAft>
            </a:pPr>
            <a:r>
              <a:rPr sz="2000" b="0">
                <a:solidFill>
                  <a:srgbClr val="232925"/>
                </a:solidFill>
                <a:latin typeface="Arial"/>
              </a:rPr>
              <a:t>Which tests catch regressions?</a:t>
            </a:r>
          </a:p>
          <a:p>
            <a:pPr>
              <a:lnSpc>
                <a:spcPct val="107000"/>
              </a:lnSpc>
              <a:spcAft>
                <a:spcPts val="500"/>
              </a:spcAft>
            </a:pPr>
            <a:r>
              <a:rPr sz="2000" b="0">
                <a:solidFill>
                  <a:srgbClr val="232925"/>
                </a:solidFill>
                <a:latin typeface="Arial"/>
              </a:rPr>
              <a:t>Which CI stage causes delay?</a:t>
            </a:r>
          </a:p>
        </p:txBody>
      </p:sp>
      <p:sp>
        <p:nvSpPr>
          <p:cNvPr id="12" name="The decision is blocked."/>
          <p:cNvSpPr txBox="1"/>
          <p:nvPr/>
        </p:nvSpPr>
        <p:spPr>
          <a:xfrm>
            <a:off x="8247888" y="2971800"/>
            <a:ext cx="3337560" cy="777240"/>
          </a:xfrm>
          <a:prstGeom prst="rect">
            <a:avLst/>
          </a:prstGeom>
          <a:noFill/>
        </p:spPr>
        <p:txBody>
          <a:bodyPr wrap="square" lIns="0" rIns="0" tIns="0" bIns="0">
            <a:spAutoFit/>
          </a:bodyPr>
          <a:lstStyle/>
          <a:p>
            <a:pPr>
              <a:lnSpc>
                <a:spcPct val="107000"/>
              </a:lnSpc>
              <a:spcAft>
                <a:spcPts val="500"/>
              </a:spcAft>
            </a:pPr>
            <a:r>
              <a:rPr sz="2300" b="1">
                <a:solidFill>
                  <a:srgbClr val="08872B"/>
                </a:solidFill>
                <a:latin typeface="Mona Sans"/>
              </a:rPr>
              <a:t>The decision is blocked.</a:t>
            </a:r>
          </a:p>
        </p:txBody>
      </p:sp>
      <p:sp>
        <p:nvSpPr>
          <p:cNvPr id="13" name="Ask the one expert,"/>
          <p:cNvSpPr txBox="1"/>
          <p:nvPr/>
        </p:nvSpPr>
        <p:spPr>
          <a:xfrm>
            <a:off x="8247888" y="3840480"/>
            <a:ext cx="3337560" cy="1508760"/>
          </a:xfrm>
          <a:prstGeom prst="rect">
            <a:avLst/>
          </a:prstGeom>
          <a:noFill/>
        </p:spPr>
        <p:txBody>
          <a:bodyPr wrap="square" lIns="0" rIns="0" tIns="0" bIns="0">
            <a:spAutoFit/>
          </a:bodyPr>
          <a:lstStyle/>
          <a:p>
            <a:pPr>
              <a:lnSpc>
                <a:spcPct val="107000"/>
              </a:lnSpc>
              <a:spcAft>
                <a:spcPts val="500"/>
              </a:spcAft>
            </a:pPr>
            <a:r>
              <a:rPr sz="2000" b="0">
                <a:solidFill>
                  <a:srgbClr val="232925"/>
                </a:solidFill>
                <a:latin typeface="Arial"/>
              </a:rPr>
              <a:t>Ask the one expert,</a:t>
            </a:r>
          </a:p>
          <a:p>
            <a:pPr>
              <a:lnSpc>
                <a:spcPct val="107000"/>
              </a:lnSpc>
              <a:spcAft>
                <a:spcPts val="500"/>
              </a:spcAft>
            </a:pPr>
            <a:r>
              <a:rPr sz="2000" b="0">
                <a:solidFill>
                  <a:srgbClr val="232925"/>
                </a:solidFill>
                <a:latin typeface="Arial"/>
              </a:rPr>
              <a:t>guess from an AI answer,</a:t>
            </a:r>
          </a:p>
          <a:p>
            <a:pPr>
              <a:lnSpc>
                <a:spcPct val="107000"/>
              </a:lnSpc>
              <a:spcAft>
                <a:spcPts val="500"/>
              </a:spcAft>
            </a:pPr>
            <a:r>
              <a:rPr sz="2000" b="0">
                <a:solidFill>
                  <a:srgbClr val="232925"/>
                </a:solidFill>
                <a:latin typeface="Arial"/>
              </a:rPr>
              <a:t>or establish the facts.</a:t>
            </a:r>
          </a:p>
        </p:txBody>
      </p:sp>
      <p:sp>
        <p:nvSpPr>
          <p:cNvPr id="14" name="The goal is change confidence—not a prettier repository summ"/>
          <p:cNvSpPr txBox="1"/>
          <p:nvPr/>
        </p:nvSpPr>
        <p:spPr>
          <a:xfrm>
            <a:off x="594360" y="5596128"/>
            <a:ext cx="10972800" cy="365760"/>
          </a:xfrm>
          <a:prstGeom prst="rect">
            <a:avLst/>
          </a:prstGeom>
          <a:noFill/>
        </p:spPr>
        <p:txBody>
          <a:bodyPr wrap="square" lIns="0" rIns="0" tIns="0" bIns="0">
            <a:spAutoFit/>
          </a:bodyPr>
          <a:lstStyle/>
          <a:p>
            <a:pPr>
              <a:lnSpc>
                <a:spcPct val="107000"/>
              </a:lnSpc>
              <a:spcAft>
                <a:spcPts val="500"/>
              </a:spcAft>
            </a:pPr>
            <a:r>
              <a:rPr sz="2200" b="1">
                <a:solidFill>
                  <a:srgbClr val="101411"/>
                </a:solidFill>
                <a:latin typeface="Mona Sans"/>
              </a:rPr>
              <a:t>The goal is change confidence—not a prettier repository summary.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Assess changeability, not age."/>
          <p:cNvSpPr txBox="1"/>
          <p:nvPr/>
        </p:nvSpPr>
        <p:spPr>
          <a:xfrm>
            <a:off x="594360" y="502920"/>
            <a:ext cx="10972800" cy="1005840"/>
          </a:xfrm>
          <a:prstGeom prst="rect">
            <a:avLst/>
          </a:prstGeom>
          <a:noFill/>
        </p:spPr>
        <p:txBody>
          <a:bodyPr wrap="square" lIns="0" rIns="0" tIns="0" bIns="0">
            <a:spAutoFit/>
          </a:bodyPr>
          <a:lstStyle/>
          <a:p>
            <a:pPr>
              <a:lnSpc>
                <a:spcPct val="107000"/>
              </a:lnSpc>
              <a:spcAft>
                <a:spcPts val="500"/>
              </a:spcAft>
            </a:pPr>
            <a:r>
              <a:rPr sz="3200" b="1">
                <a:solidFill>
                  <a:srgbClr val="101411"/>
                </a:solidFill>
                <a:latin typeface="Mona Sans"/>
              </a:rPr>
              <a:t>Assess changeability, not age.</a:t>
            </a:r>
          </a:p>
        </p:txBody>
      </p:sp>
      <p:sp>
        <p:nvSpPr>
          <p:cNvPr id="3" name="Rectangle 2"/>
          <p:cNvSpPr/>
          <p:nvPr/>
        </p:nvSpPr>
        <p:spPr>
          <a:xfrm>
            <a:off x="594360" y="6327648"/>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itHub mark" descr="GitHub logo"/>
          <p:cNvSpPr/>
          <p:nvPr/>
        </p:nvSpPr>
        <p:spPr>
          <a:xfrm>
            <a:off x="594360" y="6419088"/>
            <a:ext cx="182880" cy="182880"/>
          </a:xfrm>
          <a:custGeom>
            <a:avLst/>
            <a:gdLst/>
            <a:ahLst/>
            <a:cxnLst/>
            <a:rect l="0" t="0" r="r" b="b"/>
            <a:pathLst>
              <a:path w="16000" h="16000">
                <a:moveTo>
                  <a:pt x="8000" y="0"/>
                </a:moveTo>
                <a:cubicBezTo>
                  <a:pt x="3580" y="0"/>
                  <a:pt x="0" y="3580"/>
                  <a:pt x="0" y="8000"/>
                </a:cubicBezTo>
                <a:cubicBezTo>
                  <a:pt x="0" y="11540"/>
                  <a:pt x="2290" y="14530"/>
                  <a:pt x="5470" y="15590"/>
                </a:cubicBezTo>
                <a:cubicBezTo>
                  <a:pt x="5870" y="15660"/>
                  <a:pt x="6020" y="15420"/>
                  <a:pt x="6020" y="15210"/>
                </a:cubicBezTo>
                <a:cubicBezTo>
                  <a:pt x="6020" y="15020"/>
                  <a:pt x="6010" y="14390"/>
                  <a:pt x="6010" y="13720"/>
                </a:cubicBezTo>
                <a:cubicBezTo>
                  <a:pt x="4000" y="14090"/>
                  <a:pt x="3480" y="13230"/>
                  <a:pt x="3320" y="12780"/>
                </a:cubicBezTo>
                <a:cubicBezTo>
                  <a:pt x="3230" y="12550"/>
                  <a:pt x="2840" y="11840"/>
                  <a:pt x="2500" y="11650"/>
                </a:cubicBezTo>
                <a:cubicBezTo>
                  <a:pt x="2220" y="11500"/>
                  <a:pt x="1820" y="11130"/>
                  <a:pt x="2490" y="11120"/>
                </a:cubicBezTo>
                <a:cubicBezTo>
                  <a:pt x="3120" y="11110"/>
                  <a:pt x="3570" y="11700"/>
                  <a:pt x="3720" y="11940"/>
                </a:cubicBezTo>
                <a:cubicBezTo>
                  <a:pt x="4440" y="13150"/>
                  <a:pt x="5590" y="12810"/>
                  <a:pt x="6050" y="12600"/>
                </a:cubicBezTo>
                <a:cubicBezTo>
                  <a:pt x="6120" y="12080"/>
                  <a:pt x="6330" y="11730"/>
                  <a:pt x="6560" y="11530"/>
                </a:cubicBezTo>
                <a:cubicBezTo>
                  <a:pt x="4780" y="11330"/>
                  <a:pt x="2920" y="10640"/>
                  <a:pt x="2920" y="7580"/>
                </a:cubicBezTo>
                <a:cubicBezTo>
                  <a:pt x="2920" y="6710"/>
                  <a:pt x="3230" y="5990"/>
                  <a:pt x="3740" y="5430"/>
                </a:cubicBezTo>
                <a:cubicBezTo>
                  <a:pt x="3660" y="5230"/>
                  <a:pt x="3380" y="4410"/>
                  <a:pt x="3820" y="3310"/>
                </a:cubicBezTo>
                <a:cubicBezTo>
                  <a:pt x="3820" y="3310"/>
                  <a:pt x="4490" y="3100"/>
                  <a:pt x="6020" y="4130"/>
                </a:cubicBezTo>
                <a:cubicBezTo>
                  <a:pt x="6660" y="3950"/>
                  <a:pt x="7340" y="3860"/>
                  <a:pt x="8020" y="3860"/>
                </a:cubicBezTo>
                <a:cubicBezTo>
                  <a:pt x="8700" y="3860"/>
                  <a:pt x="9380" y="3950"/>
                  <a:pt x="10020" y="4130"/>
                </a:cubicBezTo>
                <a:cubicBezTo>
                  <a:pt x="11550" y="3090"/>
                  <a:pt x="12220" y="3310"/>
                  <a:pt x="12220" y="3310"/>
                </a:cubicBezTo>
                <a:cubicBezTo>
                  <a:pt x="12660" y="4410"/>
                  <a:pt x="12380" y="5230"/>
                  <a:pt x="12300" y="5430"/>
                </a:cubicBezTo>
                <a:cubicBezTo>
                  <a:pt x="12810" y="5990"/>
                  <a:pt x="13120" y="6700"/>
                  <a:pt x="13120" y="7580"/>
                </a:cubicBezTo>
                <a:cubicBezTo>
                  <a:pt x="13120" y="10650"/>
                  <a:pt x="11250" y="11330"/>
                  <a:pt x="9470" y="11530"/>
                </a:cubicBezTo>
                <a:cubicBezTo>
                  <a:pt x="9760" y="11780"/>
                  <a:pt x="10010" y="12260"/>
                  <a:pt x="10010" y="13010"/>
                </a:cubicBezTo>
                <a:cubicBezTo>
                  <a:pt x="10010" y="14080"/>
                  <a:pt x="10000" y="14940"/>
                  <a:pt x="10000" y="15210"/>
                </a:cubicBezTo>
                <a:cubicBezTo>
                  <a:pt x="10000" y="15420"/>
                  <a:pt x="10150" y="15670"/>
                  <a:pt x="10550" y="15590"/>
                </a:cubicBezTo>
                <a:cubicBezTo>
                  <a:pt x="11604" y="15234"/>
                  <a:pt x="12572" y="14663"/>
                  <a:pt x="13394" y="13912"/>
                </a:cubicBezTo>
                <a:cubicBezTo>
                  <a:pt x="14215" y="13162"/>
                  <a:pt x="14870" y="12248"/>
                  <a:pt x="15319" y="11231"/>
                </a:cubicBezTo>
                <a:cubicBezTo>
                  <a:pt x="15768" y="10213"/>
                  <a:pt x="16000" y="9112"/>
                  <a:pt x="16000" y="8000"/>
                </a:cubicBezTo>
                <a:cubicBezTo>
                  <a:pt x="16000" y="3580"/>
                  <a:pt x="12420" y="0"/>
                  <a:pt x="8000" y="0"/>
                </a:cubicBezTo>
                <a:close/>
              </a:path>
            </a:pathLst>
          </a:custGeom>
          <a:solidFill>
            <a:srgbClr val="1014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earing  |  GitHub Copilot App workflow"/>
          <p:cNvSpPr txBox="1"/>
          <p:nvPr/>
        </p:nvSpPr>
        <p:spPr>
          <a:xfrm>
            <a:off x="914400" y="6428232"/>
            <a:ext cx="7726679" cy="201168"/>
          </a:xfrm>
          <a:prstGeom prst="rect">
            <a:avLst/>
          </a:prstGeom>
          <a:noFill/>
        </p:spPr>
        <p:txBody>
          <a:bodyPr wrap="square" lIns="0" rIns="0" tIns="0" bIns="0">
            <a:spAutoFit/>
          </a:bodyPr>
          <a:lstStyle/>
          <a:p>
            <a:pPr>
              <a:lnSpc>
                <a:spcPct val="107000"/>
              </a:lnSpc>
              <a:spcAft>
                <a:spcPts val="500"/>
              </a:spcAft>
            </a:pPr>
            <a:r>
              <a:rPr sz="1000" b="0">
                <a:solidFill>
                  <a:srgbClr val="232925"/>
                </a:solidFill>
                <a:latin typeface="Arial"/>
              </a:rPr>
              <a:t>Bearing  |  GitHub Copilot App workflow</a:t>
            </a:r>
          </a:p>
        </p:txBody>
      </p:sp>
      <p:sp>
        <p:nvSpPr>
          <p:cNvPr id="6" name="06 / 16"/>
          <p:cNvSpPr txBox="1"/>
          <p:nvPr/>
        </p:nvSpPr>
        <p:spPr>
          <a:xfrm>
            <a:off x="10744200" y="6428232"/>
            <a:ext cx="822960" cy="201168"/>
          </a:xfrm>
          <a:prstGeom prst="rect">
            <a:avLst/>
          </a:prstGeom>
          <a:noFill/>
        </p:spPr>
        <p:txBody>
          <a:bodyPr wrap="square" lIns="0" rIns="0" tIns="0" bIns="0">
            <a:spAutoFit/>
          </a:bodyPr>
          <a:lstStyle/>
          <a:p>
            <a:pPr>
              <a:lnSpc>
                <a:spcPct val="107000"/>
              </a:lnSpc>
              <a:spcAft>
                <a:spcPts val="500"/>
              </a:spcAft>
            </a:pPr>
            <a:r>
              <a:rPr sz="1000" b="0">
                <a:solidFill>
                  <a:srgbClr val="232925"/>
                </a:solidFill>
                <a:latin typeface="Arial"/>
              </a:rPr>
              <a:t>06 / 16</a:t>
            </a:r>
          </a:p>
        </p:txBody>
      </p:sp>
      <p:sp>
        <p:nvSpPr>
          <p:cNvPr id="7" name="Rectangle 6"/>
          <p:cNvSpPr/>
          <p:nvPr/>
        </p:nvSpPr>
        <p:spPr>
          <a:xfrm>
            <a:off x="594360" y="1682496"/>
            <a:ext cx="10972800" cy="502920"/>
          </a:xfrm>
          <a:prstGeom prst="rect">
            <a:avLst/>
          </a:prstGeom>
          <a:solidFill>
            <a:srgbClr val="1014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vidence lane"/>
          <p:cNvSpPr txBox="1"/>
          <p:nvPr/>
        </p:nvSpPr>
        <p:spPr>
          <a:xfrm>
            <a:off x="704088" y="1792224"/>
            <a:ext cx="2112263" cy="356616"/>
          </a:xfrm>
          <a:prstGeom prst="rect">
            <a:avLst/>
          </a:prstGeom>
          <a:noFill/>
        </p:spPr>
        <p:txBody>
          <a:bodyPr wrap="square" lIns="0" rIns="0" tIns="0" bIns="0">
            <a:spAutoFit/>
          </a:bodyPr>
          <a:lstStyle/>
          <a:p>
            <a:pPr>
              <a:lnSpc>
                <a:spcPct val="107000"/>
              </a:lnSpc>
              <a:spcAft>
                <a:spcPts val="500"/>
              </a:spcAft>
            </a:pPr>
            <a:r>
              <a:rPr sz="1800" b="1">
                <a:solidFill>
                  <a:srgbClr val="FFFFFF"/>
                </a:solidFill>
                <a:latin typeface="Arial"/>
              </a:rPr>
              <a:t>Evidence lane</a:t>
            </a:r>
          </a:p>
        </p:txBody>
      </p:sp>
      <p:sp>
        <p:nvSpPr>
          <p:cNvPr id="9" name="What we inspect"/>
          <p:cNvSpPr txBox="1"/>
          <p:nvPr/>
        </p:nvSpPr>
        <p:spPr>
          <a:xfrm>
            <a:off x="3035808" y="1792224"/>
            <a:ext cx="4764024" cy="356616"/>
          </a:xfrm>
          <a:prstGeom prst="rect">
            <a:avLst/>
          </a:prstGeom>
          <a:noFill/>
        </p:spPr>
        <p:txBody>
          <a:bodyPr wrap="square" lIns="0" rIns="0" tIns="0" bIns="0">
            <a:spAutoFit/>
          </a:bodyPr>
          <a:lstStyle/>
          <a:p>
            <a:pPr>
              <a:lnSpc>
                <a:spcPct val="107000"/>
              </a:lnSpc>
              <a:spcAft>
                <a:spcPts val="500"/>
              </a:spcAft>
            </a:pPr>
            <a:r>
              <a:rPr sz="1800" b="1">
                <a:solidFill>
                  <a:srgbClr val="FFFFFF"/>
                </a:solidFill>
                <a:latin typeface="Arial"/>
              </a:rPr>
              <a:t>What we inspect</a:t>
            </a:r>
          </a:p>
        </p:txBody>
      </p:sp>
      <p:sp>
        <p:nvSpPr>
          <p:cNvPr id="10" name="Decision it enables"/>
          <p:cNvSpPr txBox="1"/>
          <p:nvPr/>
        </p:nvSpPr>
        <p:spPr>
          <a:xfrm>
            <a:off x="8019288" y="1792224"/>
            <a:ext cx="3438144" cy="356616"/>
          </a:xfrm>
          <a:prstGeom prst="rect">
            <a:avLst/>
          </a:prstGeom>
          <a:noFill/>
        </p:spPr>
        <p:txBody>
          <a:bodyPr wrap="square" lIns="0" rIns="0" tIns="0" bIns="0">
            <a:spAutoFit/>
          </a:bodyPr>
          <a:lstStyle/>
          <a:p>
            <a:pPr>
              <a:lnSpc>
                <a:spcPct val="107000"/>
              </a:lnSpc>
              <a:spcAft>
                <a:spcPts val="500"/>
              </a:spcAft>
            </a:pPr>
            <a:r>
              <a:rPr sz="1800" b="1">
                <a:solidFill>
                  <a:srgbClr val="FFFFFF"/>
                </a:solidFill>
                <a:latin typeface="Arial"/>
              </a:rPr>
              <a:t>Decision it enables</a:t>
            </a:r>
          </a:p>
        </p:txBody>
      </p:sp>
      <p:sp>
        <p:nvSpPr>
          <p:cNvPr id="11" name="Rectangle 10"/>
          <p:cNvSpPr/>
          <p:nvPr/>
        </p:nvSpPr>
        <p:spPr>
          <a:xfrm>
            <a:off x="594360" y="3107131"/>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ystem context"/>
          <p:cNvSpPr txBox="1"/>
          <p:nvPr/>
        </p:nvSpPr>
        <p:spPr>
          <a:xfrm>
            <a:off x="704088" y="2441448"/>
            <a:ext cx="2112263" cy="640080"/>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System context</a:t>
            </a:r>
          </a:p>
        </p:txBody>
      </p:sp>
      <p:sp>
        <p:nvSpPr>
          <p:cNvPr id="13" name="Entry points, critical journeys,"/>
          <p:cNvSpPr txBox="1"/>
          <p:nvPr/>
        </p:nvSpPr>
        <p:spPr>
          <a:xfrm>
            <a:off x="3035808" y="2441448"/>
            <a:ext cx="4764024" cy="640080"/>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Entry points, critical journeys,</a:t>
            </a:r>
          </a:p>
          <a:p>
            <a:pPr>
              <a:lnSpc>
                <a:spcPct val="107000"/>
              </a:lnSpc>
              <a:spcAft>
                <a:spcPts val="500"/>
              </a:spcAft>
            </a:pPr>
            <a:r>
              <a:rPr sz="1700" b="0">
                <a:solidFill>
                  <a:srgbClr val="232925"/>
                </a:solidFill>
                <a:latin typeface="Arial"/>
              </a:rPr>
              <a:t>PR history, dependencies and owner review</a:t>
            </a:r>
          </a:p>
        </p:txBody>
      </p:sp>
      <p:sp>
        <p:nvSpPr>
          <p:cNvPr id="14" name="Bound the change;"/>
          <p:cNvSpPr txBox="1"/>
          <p:nvPr/>
        </p:nvSpPr>
        <p:spPr>
          <a:xfrm>
            <a:off x="8019288" y="2441448"/>
            <a:ext cx="3438144" cy="640080"/>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Bound the change;</a:t>
            </a:r>
          </a:p>
          <a:p>
            <a:pPr>
              <a:lnSpc>
                <a:spcPct val="107000"/>
              </a:lnSpc>
              <a:spcAft>
                <a:spcPts val="500"/>
              </a:spcAft>
            </a:pPr>
            <a:r>
              <a:rPr sz="1700" b="0">
                <a:solidFill>
                  <a:srgbClr val="232925"/>
                </a:solidFill>
                <a:latin typeface="Arial"/>
              </a:rPr>
              <a:t>identify the reviewers</a:t>
            </a:r>
          </a:p>
        </p:txBody>
      </p:sp>
      <p:sp>
        <p:nvSpPr>
          <p:cNvPr id="15" name="Rectangle 14"/>
          <p:cNvSpPr/>
          <p:nvPr/>
        </p:nvSpPr>
        <p:spPr>
          <a:xfrm>
            <a:off x="594360" y="3975811"/>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st confidence"/>
          <p:cNvSpPr txBox="1"/>
          <p:nvPr/>
        </p:nvSpPr>
        <p:spPr>
          <a:xfrm>
            <a:off x="704088" y="3310128"/>
            <a:ext cx="2112263" cy="640080"/>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Test confidence</a:t>
            </a:r>
          </a:p>
        </p:txBody>
      </p:sp>
      <p:sp>
        <p:nvSpPr>
          <p:cNvPr id="17" name="Assertions, failure paths and dated"/>
          <p:cNvSpPr txBox="1"/>
          <p:nvPr/>
        </p:nvSpPr>
        <p:spPr>
          <a:xfrm>
            <a:off x="3035808" y="3310128"/>
            <a:ext cx="4764024" cy="640080"/>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Assertions, failure paths and dated</a:t>
            </a:r>
          </a:p>
          <a:p>
            <a:pPr>
              <a:lnSpc>
                <a:spcPct val="107000"/>
              </a:lnSpc>
              <a:spcAft>
                <a:spcPts val="500"/>
              </a:spcAft>
            </a:pPr>
            <a:r>
              <a:rPr sz="1700" b="0">
                <a:solidFill>
                  <a:srgbClr val="232925"/>
                </a:solidFill>
                <a:latin typeface="Arial"/>
              </a:rPr>
              <a:t>coverage reports at a pinned commit</a:t>
            </a:r>
          </a:p>
        </p:txBody>
      </p:sp>
      <p:sp>
        <p:nvSpPr>
          <p:cNvPr id="18" name="Characterize behavior;"/>
          <p:cNvSpPr txBox="1"/>
          <p:nvPr/>
        </p:nvSpPr>
        <p:spPr>
          <a:xfrm>
            <a:off x="8019288" y="3310128"/>
            <a:ext cx="3438144" cy="640080"/>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Characterize behavior;</a:t>
            </a:r>
          </a:p>
          <a:p>
            <a:pPr>
              <a:lnSpc>
                <a:spcPct val="107000"/>
              </a:lnSpc>
              <a:spcAft>
                <a:spcPts val="500"/>
              </a:spcAft>
            </a:pPr>
            <a:r>
              <a:rPr sz="1700" b="0">
                <a:solidFill>
                  <a:srgbClr val="232925"/>
                </a:solidFill>
                <a:latin typeface="Arial"/>
              </a:rPr>
              <a:t>close a justified test gap</a:t>
            </a:r>
          </a:p>
        </p:txBody>
      </p:sp>
      <p:sp>
        <p:nvSpPr>
          <p:cNvPr id="19" name="Rectangle 18"/>
          <p:cNvSpPr/>
          <p:nvPr/>
        </p:nvSpPr>
        <p:spPr>
          <a:xfrm>
            <a:off x="594360" y="4844491"/>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elivery friction"/>
          <p:cNvSpPr txBox="1"/>
          <p:nvPr/>
        </p:nvSpPr>
        <p:spPr>
          <a:xfrm>
            <a:off x="704088" y="4178808"/>
            <a:ext cx="2112263" cy="640080"/>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Delivery friction</a:t>
            </a:r>
          </a:p>
        </p:txBody>
      </p:sp>
      <p:sp>
        <p:nvSpPr>
          <p:cNvPr id="21" name="Queue and stage timings,"/>
          <p:cNvSpPr txBox="1"/>
          <p:nvPr/>
        </p:nvSpPr>
        <p:spPr>
          <a:xfrm>
            <a:off x="3035808" y="4178808"/>
            <a:ext cx="4764024" cy="640080"/>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Queue and stage timings,</a:t>
            </a:r>
          </a:p>
          <a:p>
            <a:pPr>
              <a:lnSpc>
                <a:spcPct val="107000"/>
              </a:lnSpc>
              <a:spcAft>
                <a:spcPts val="500"/>
              </a:spcAft>
            </a:pPr>
            <a:r>
              <a:rPr sz="1700" b="0">
                <a:solidFill>
                  <a:srgbClr val="232925"/>
                </a:solidFill>
                <a:latin typeface="Arial"/>
              </a:rPr>
              <a:t>runner class and cache conditions</a:t>
            </a:r>
          </a:p>
        </p:txBody>
      </p:sp>
      <p:sp>
        <p:nvSpPr>
          <p:cNvPr id="22" name="Fix the demonstrated"/>
          <p:cNvSpPr txBox="1"/>
          <p:nvPr/>
        </p:nvSpPr>
        <p:spPr>
          <a:xfrm>
            <a:off x="8019288" y="4178808"/>
            <a:ext cx="3438144" cy="640080"/>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Fix the demonstrated</a:t>
            </a:r>
          </a:p>
          <a:p>
            <a:pPr>
              <a:lnSpc>
                <a:spcPct val="107000"/>
              </a:lnSpc>
              <a:spcAft>
                <a:spcPts val="500"/>
              </a:spcAft>
            </a:pPr>
            <a:r>
              <a:rPr sz="1700" b="0">
                <a:solidFill>
                  <a:srgbClr val="232925"/>
                </a:solidFill>
                <a:latin typeface="Arial"/>
              </a:rPr>
              <a:t>bottleneck—not a guess</a:t>
            </a:r>
          </a:p>
        </p:txBody>
      </p:sp>
      <p:sp>
        <p:nvSpPr>
          <p:cNvPr id="23" name="Rectangle 22"/>
          <p:cNvSpPr/>
          <p:nvPr/>
        </p:nvSpPr>
        <p:spPr>
          <a:xfrm>
            <a:off x="594360" y="5713171"/>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upportability"/>
          <p:cNvSpPr txBox="1"/>
          <p:nvPr/>
        </p:nvSpPr>
        <p:spPr>
          <a:xfrm>
            <a:off x="704088" y="5047488"/>
            <a:ext cx="2112263" cy="640080"/>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Supportability</a:t>
            </a:r>
          </a:p>
        </p:txBody>
      </p:sp>
      <p:sp>
        <p:nvSpPr>
          <p:cNvPr id="25" name="Runtime/dependency versions,"/>
          <p:cNvSpPr txBox="1"/>
          <p:nvPr/>
        </p:nvSpPr>
        <p:spPr>
          <a:xfrm>
            <a:off x="3035808" y="5047488"/>
            <a:ext cx="4764024" cy="640080"/>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Runtime/dependency versions,</a:t>
            </a:r>
          </a:p>
          <a:p>
            <a:pPr>
              <a:lnSpc>
                <a:spcPct val="107000"/>
              </a:lnSpc>
              <a:spcAft>
                <a:spcPts val="500"/>
              </a:spcAft>
            </a:pPr>
            <a:r>
              <a:rPr sz="1700" b="0">
                <a:solidFill>
                  <a:srgbClr val="232925"/>
                </a:solidFill>
                <a:latin typeface="Arial"/>
              </a:rPr>
              <a:t>vendor support dates and constraints</a:t>
            </a:r>
          </a:p>
        </p:txBody>
      </p:sp>
      <p:sp>
        <p:nvSpPr>
          <p:cNvPr id="26" name="Retain, upgrade or isolate;"/>
          <p:cNvSpPr txBox="1"/>
          <p:nvPr/>
        </p:nvSpPr>
        <p:spPr>
          <a:xfrm>
            <a:off x="8019288" y="5047488"/>
            <a:ext cx="3438144" cy="640080"/>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Retain, upgrade or isolate;</a:t>
            </a:r>
          </a:p>
          <a:p>
            <a:pPr>
              <a:lnSpc>
                <a:spcPct val="107000"/>
              </a:lnSpc>
              <a:spcAft>
                <a:spcPts val="500"/>
              </a:spcAft>
            </a:pPr>
            <a:r>
              <a:rPr sz="1700" b="0">
                <a:solidFill>
                  <a:srgbClr val="232925"/>
                </a:solidFill>
                <a:latin typeface="Arial"/>
              </a:rPr>
              <a:t>record the rationale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easure confidence. Locate the actual delay."/>
          <p:cNvSpPr txBox="1"/>
          <p:nvPr/>
        </p:nvSpPr>
        <p:spPr>
          <a:xfrm>
            <a:off x="594360" y="502920"/>
            <a:ext cx="10972800" cy="1005840"/>
          </a:xfrm>
          <a:prstGeom prst="rect">
            <a:avLst/>
          </a:prstGeom>
          <a:noFill/>
        </p:spPr>
        <p:txBody>
          <a:bodyPr wrap="square" lIns="0" rIns="0" tIns="0" bIns="0">
            <a:spAutoFit/>
          </a:bodyPr>
          <a:lstStyle/>
          <a:p>
            <a:pPr>
              <a:lnSpc>
                <a:spcPct val="107000"/>
              </a:lnSpc>
              <a:spcAft>
                <a:spcPts val="500"/>
              </a:spcAft>
            </a:pPr>
            <a:r>
              <a:rPr sz="3200" b="1">
                <a:solidFill>
                  <a:srgbClr val="101411"/>
                </a:solidFill>
                <a:latin typeface="Mona Sans"/>
              </a:rPr>
              <a:t>Measure confidence. Locate the actual delay.</a:t>
            </a:r>
          </a:p>
        </p:txBody>
      </p:sp>
      <p:sp>
        <p:nvSpPr>
          <p:cNvPr id="3" name="Rectangle 2"/>
          <p:cNvSpPr/>
          <p:nvPr/>
        </p:nvSpPr>
        <p:spPr>
          <a:xfrm>
            <a:off x="594360" y="6327648"/>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itHub mark" descr="GitHub logo"/>
          <p:cNvSpPr/>
          <p:nvPr/>
        </p:nvSpPr>
        <p:spPr>
          <a:xfrm>
            <a:off x="594360" y="6419088"/>
            <a:ext cx="182880" cy="182880"/>
          </a:xfrm>
          <a:custGeom>
            <a:avLst/>
            <a:gdLst/>
            <a:ahLst/>
            <a:cxnLst/>
            <a:rect l="0" t="0" r="r" b="b"/>
            <a:pathLst>
              <a:path w="16000" h="16000">
                <a:moveTo>
                  <a:pt x="8000" y="0"/>
                </a:moveTo>
                <a:cubicBezTo>
                  <a:pt x="3580" y="0"/>
                  <a:pt x="0" y="3580"/>
                  <a:pt x="0" y="8000"/>
                </a:cubicBezTo>
                <a:cubicBezTo>
                  <a:pt x="0" y="11540"/>
                  <a:pt x="2290" y="14530"/>
                  <a:pt x="5470" y="15590"/>
                </a:cubicBezTo>
                <a:cubicBezTo>
                  <a:pt x="5870" y="15660"/>
                  <a:pt x="6020" y="15420"/>
                  <a:pt x="6020" y="15210"/>
                </a:cubicBezTo>
                <a:cubicBezTo>
                  <a:pt x="6020" y="15020"/>
                  <a:pt x="6010" y="14390"/>
                  <a:pt x="6010" y="13720"/>
                </a:cubicBezTo>
                <a:cubicBezTo>
                  <a:pt x="4000" y="14090"/>
                  <a:pt x="3480" y="13230"/>
                  <a:pt x="3320" y="12780"/>
                </a:cubicBezTo>
                <a:cubicBezTo>
                  <a:pt x="3230" y="12550"/>
                  <a:pt x="2840" y="11840"/>
                  <a:pt x="2500" y="11650"/>
                </a:cubicBezTo>
                <a:cubicBezTo>
                  <a:pt x="2220" y="11500"/>
                  <a:pt x="1820" y="11130"/>
                  <a:pt x="2490" y="11120"/>
                </a:cubicBezTo>
                <a:cubicBezTo>
                  <a:pt x="3120" y="11110"/>
                  <a:pt x="3570" y="11700"/>
                  <a:pt x="3720" y="11940"/>
                </a:cubicBezTo>
                <a:cubicBezTo>
                  <a:pt x="4440" y="13150"/>
                  <a:pt x="5590" y="12810"/>
                  <a:pt x="6050" y="12600"/>
                </a:cubicBezTo>
                <a:cubicBezTo>
                  <a:pt x="6120" y="12080"/>
                  <a:pt x="6330" y="11730"/>
                  <a:pt x="6560" y="11530"/>
                </a:cubicBezTo>
                <a:cubicBezTo>
                  <a:pt x="4780" y="11330"/>
                  <a:pt x="2920" y="10640"/>
                  <a:pt x="2920" y="7580"/>
                </a:cubicBezTo>
                <a:cubicBezTo>
                  <a:pt x="2920" y="6710"/>
                  <a:pt x="3230" y="5990"/>
                  <a:pt x="3740" y="5430"/>
                </a:cubicBezTo>
                <a:cubicBezTo>
                  <a:pt x="3660" y="5230"/>
                  <a:pt x="3380" y="4410"/>
                  <a:pt x="3820" y="3310"/>
                </a:cubicBezTo>
                <a:cubicBezTo>
                  <a:pt x="3820" y="3310"/>
                  <a:pt x="4490" y="3100"/>
                  <a:pt x="6020" y="4130"/>
                </a:cubicBezTo>
                <a:cubicBezTo>
                  <a:pt x="6660" y="3950"/>
                  <a:pt x="7340" y="3860"/>
                  <a:pt x="8020" y="3860"/>
                </a:cubicBezTo>
                <a:cubicBezTo>
                  <a:pt x="8700" y="3860"/>
                  <a:pt x="9380" y="3950"/>
                  <a:pt x="10020" y="4130"/>
                </a:cubicBezTo>
                <a:cubicBezTo>
                  <a:pt x="11550" y="3090"/>
                  <a:pt x="12220" y="3310"/>
                  <a:pt x="12220" y="3310"/>
                </a:cubicBezTo>
                <a:cubicBezTo>
                  <a:pt x="12660" y="4410"/>
                  <a:pt x="12380" y="5230"/>
                  <a:pt x="12300" y="5430"/>
                </a:cubicBezTo>
                <a:cubicBezTo>
                  <a:pt x="12810" y="5990"/>
                  <a:pt x="13120" y="6700"/>
                  <a:pt x="13120" y="7580"/>
                </a:cubicBezTo>
                <a:cubicBezTo>
                  <a:pt x="13120" y="10650"/>
                  <a:pt x="11250" y="11330"/>
                  <a:pt x="9470" y="11530"/>
                </a:cubicBezTo>
                <a:cubicBezTo>
                  <a:pt x="9760" y="11780"/>
                  <a:pt x="10010" y="12260"/>
                  <a:pt x="10010" y="13010"/>
                </a:cubicBezTo>
                <a:cubicBezTo>
                  <a:pt x="10010" y="14080"/>
                  <a:pt x="10000" y="14940"/>
                  <a:pt x="10000" y="15210"/>
                </a:cubicBezTo>
                <a:cubicBezTo>
                  <a:pt x="10000" y="15420"/>
                  <a:pt x="10150" y="15670"/>
                  <a:pt x="10550" y="15590"/>
                </a:cubicBezTo>
                <a:cubicBezTo>
                  <a:pt x="11604" y="15234"/>
                  <a:pt x="12572" y="14663"/>
                  <a:pt x="13394" y="13912"/>
                </a:cubicBezTo>
                <a:cubicBezTo>
                  <a:pt x="14215" y="13162"/>
                  <a:pt x="14870" y="12248"/>
                  <a:pt x="15319" y="11231"/>
                </a:cubicBezTo>
                <a:cubicBezTo>
                  <a:pt x="15768" y="10213"/>
                  <a:pt x="16000" y="9112"/>
                  <a:pt x="16000" y="8000"/>
                </a:cubicBezTo>
                <a:cubicBezTo>
                  <a:pt x="16000" y="3580"/>
                  <a:pt x="12420" y="0"/>
                  <a:pt x="8000" y="0"/>
                </a:cubicBezTo>
                <a:close/>
              </a:path>
            </a:pathLst>
          </a:custGeom>
          <a:solidFill>
            <a:srgbClr val="1014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earing  |  GitHub Copilot App workflow"/>
          <p:cNvSpPr txBox="1"/>
          <p:nvPr/>
        </p:nvSpPr>
        <p:spPr>
          <a:xfrm>
            <a:off x="914400" y="6428232"/>
            <a:ext cx="7726679" cy="201168"/>
          </a:xfrm>
          <a:prstGeom prst="rect">
            <a:avLst/>
          </a:prstGeom>
          <a:noFill/>
        </p:spPr>
        <p:txBody>
          <a:bodyPr wrap="square" lIns="0" rIns="0" tIns="0" bIns="0">
            <a:spAutoFit/>
          </a:bodyPr>
          <a:lstStyle/>
          <a:p>
            <a:pPr>
              <a:lnSpc>
                <a:spcPct val="107000"/>
              </a:lnSpc>
              <a:spcAft>
                <a:spcPts val="500"/>
              </a:spcAft>
            </a:pPr>
            <a:r>
              <a:rPr sz="1000" b="0">
                <a:solidFill>
                  <a:srgbClr val="232925"/>
                </a:solidFill>
                <a:latin typeface="Arial"/>
              </a:rPr>
              <a:t>Bearing  |  GitHub Copilot App workflow</a:t>
            </a:r>
          </a:p>
        </p:txBody>
      </p:sp>
      <p:sp>
        <p:nvSpPr>
          <p:cNvPr id="6" name="07 / 16"/>
          <p:cNvSpPr txBox="1"/>
          <p:nvPr/>
        </p:nvSpPr>
        <p:spPr>
          <a:xfrm>
            <a:off x="10744200" y="6428232"/>
            <a:ext cx="822960" cy="201168"/>
          </a:xfrm>
          <a:prstGeom prst="rect">
            <a:avLst/>
          </a:prstGeom>
          <a:noFill/>
        </p:spPr>
        <p:txBody>
          <a:bodyPr wrap="square" lIns="0" rIns="0" tIns="0" bIns="0">
            <a:spAutoFit/>
          </a:bodyPr>
          <a:lstStyle/>
          <a:p>
            <a:pPr>
              <a:lnSpc>
                <a:spcPct val="107000"/>
              </a:lnSpc>
              <a:spcAft>
                <a:spcPts val="500"/>
              </a:spcAft>
            </a:pPr>
            <a:r>
              <a:rPr sz="1000" b="0">
                <a:solidFill>
                  <a:srgbClr val="232925"/>
                </a:solidFill>
                <a:latin typeface="Arial"/>
              </a:rPr>
              <a:t>07 / 16</a:t>
            </a:r>
          </a:p>
        </p:txBody>
      </p:sp>
      <p:sp>
        <p:nvSpPr>
          <p:cNvPr id="7" name="Test confidence"/>
          <p:cNvSpPr txBox="1"/>
          <p:nvPr/>
        </p:nvSpPr>
        <p:spPr>
          <a:xfrm>
            <a:off x="594360" y="1627632"/>
            <a:ext cx="5029200" cy="457200"/>
          </a:xfrm>
          <a:prstGeom prst="rect">
            <a:avLst/>
          </a:prstGeom>
          <a:noFill/>
        </p:spPr>
        <p:txBody>
          <a:bodyPr wrap="square" lIns="0" rIns="0" tIns="0" bIns="0">
            <a:spAutoFit/>
          </a:bodyPr>
          <a:lstStyle/>
          <a:p>
            <a:pPr>
              <a:lnSpc>
                <a:spcPct val="107000"/>
              </a:lnSpc>
              <a:spcAft>
                <a:spcPts val="500"/>
              </a:spcAft>
            </a:pPr>
            <a:r>
              <a:rPr sz="2400" b="1">
                <a:solidFill>
                  <a:srgbClr val="08872B"/>
                </a:solidFill>
                <a:latin typeface="Mona Sans"/>
              </a:rPr>
              <a:t>Test confidence</a:t>
            </a:r>
          </a:p>
        </p:txBody>
      </p:sp>
      <p:sp>
        <p:nvSpPr>
          <p:cNvPr id="8" name="Build and test speed"/>
          <p:cNvSpPr txBox="1"/>
          <p:nvPr/>
        </p:nvSpPr>
        <p:spPr>
          <a:xfrm>
            <a:off x="6400800" y="1627632"/>
            <a:ext cx="5166360" cy="457200"/>
          </a:xfrm>
          <a:prstGeom prst="rect">
            <a:avLst/>
          </a:prstGeom>
          <a:noFill/>
        </p:spPr>
        <p:txBody>
          <a:bodyPr wrap="square" lIns="0" rIns="0" tIns="0" bIns="0">
            <a:spAutoFit/>
          </a:bodyPr>
          <a:lstStyle/>
          <a:p>
            <a:pPr>
              <a:lnSpc>
                <a:spcPct val="107000"/>
              </a:lnSpc>
              <a:spcAft>
                <a:spcPts val="500"/>
              </a:spcAft>
            </a:pPr>
            <a:r>
              <a:rPr sz="2400" b="1">
                <a:solidFill>
                  <a:srgbClr val="08872B"/>
                </a:solidFill>
                <a:latin typeface="Mona Sans"/>
              </a:rPr>
              <a:t>Build and test speed</a:t>
            </a:r>
          </a:p>
        </p:txBody>
      </p:sp>
      <p:sp>
        <p:nvSpPr>
          <p:cNvPr id="9" name="Rectangle 8"/>
          <p:cNvSpPr/>
          <p:nvPr/>
        </p:nvSpPr>
        <p:spPr>
          <a:xfrm>
            <a:off x="594360" y="2286000"/>
            <a:ext cx="1097280" cy="502920"/>
          </a:xfrm>
          <a:prstGeom prst="rect">
            <a:avLst/>
          </a:prstGeom>
          <a:solidFill>
            <a:srgbClr val="F2F5F3"/>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101411"/>
                </a:solidFill>
                <a:latin typeface="Arial"/>
              </a:rPr>
              <a:t>Receive</a:t>
            </a:r>
          </a:p>
        </p:txBody>
      </p:sp>
      <p:sp>
        <p:nvSpPr>
          <p:cNvPr id="10" name="Unknown"/>
          <p:cNvSpPr/>
          <p:nvPr/>
        </p:nvSpPr>
        <p:spPr>
          <a:xfrm>
            <a:off x="1051560" y="2898648"/>
            <a:ext cx="182880" cy="182880"/>
          </a:xfrm>
          <a:prstGeom prst="ellipse">
            <a:avLst/>
          </a:prstGeom>
          <a:solidFill>
            <a:srgbClr val="FFFFFF"/>
          </a:solidFill>
          <a:ln w="19050">
            <a:solidFill>
              <a:srgbClr val="2329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874519" y="2286000"/>
            <a:ext cx="1097280" cy="502920"/>
          </a:xfrm>
          <a:prstGeom prst="rect">
            <a:avLst/>
          </a:prstGeom>
          <a:solidFill>
            <a:srgbClr val="F2F5F3"/>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101411"/>
                </a:solidFill>
                <a:latin typeface="Arial"/>
              </a:rPr>
              <a:t>Validate</a:t>
            </a:r>
          </a:p>
        </p:txBody>
      </p:sp>
      <p:sp>
        <p:nvSpPr>
          <p:cNvPr id="12" name="Assertions inspected"/>
          <p:cNvSpPr/>
          <p:nvPr/>
        </p:nvSpPr>
        <p:spPr>
          <a:xfrm>
            <a:off x="2331720" y="2898648"/>
            <a:ext cx="182880" cy="182880"/>
          </a:xfrm>
          <a:prstGeom prst="ellipse">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154679" y="2286000"/>
            <a:ext cx="1097280" cy="502920"/>
          </a:xfrm>
          <a:prstGeom prst="rect">
            <a:avLst/>
          </a:prstGeom>
          <a:solidFill>
            <a:srgbClr val="F2F5F3"/>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101411"/>
                </a:solidFill>
                <a:latin typeface="Arial"/>
              </a:rPr>
              <a:t>Price</a:t>
            </a:r>
          </a:p>
        </p:txBody>
      </p:sp>
      <p:sp>
        <p:nvSpPr>
          <p:cNvPr id="14" name="Unknown"/>
          <p:cNvSpPr/>
          <p:nvPr/>
        </p:nvSpPr>
        <p:spPr>
          <a:xfrm>
            <a:off x="3611879" y="2898648"/>
            <a:ext cx="182880" cy="182880"/>
          </a:xfrm>
          <a:prstGeom prst="ellipse">
            <a:avLst/>
          </a:prstGeom>
          <a:solidFill>
            <a:srgbClr val="FFFFFF"/>
          </a:solidFill>
          <a:ln w="19050">
            <a:solidFill>
              <a:srgbClr val="2329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34840" y="2286000"/>
            <a:ext cx="1097280" cy="502920"/>
          </a:xfrm>
          <a:prstGeom prst="rect">
            <a:avLst/>
          </a:prstGeom>
          <a:solidFill>
            <a:srgbClr val="F2F5F3"/>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101411"/>
                </a:solidFill>
                <a:latin typeface="Arial"/>
              </a:rPr>
              <a:t>Persist</a:t>
            </a:r>
          </a:p>
        </p:txBody>
      </p:sp>
      <p:sp>
        <p:nvSpPr>
          <p:cNvPr id="16" name="Assertions inspected"/>
          <p:cNvSpPr/>
          <p:nvPr/>
        </p:nvSpPr>
        <p:spPr>
          <a:xfrm>
            <a:off x="4892040" y="2898648"/>
            <a:ext cx="182880" cy="182880"/>
          </a:xfrm>
          <a:prstGeom prst="ellipse">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94360" y="3273552"/>
            <a:ext cx="128016" cy="128016"/>
          </a:xfrm>
          <a:prstGeom prst="ellipse">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Assertions inspected"/>
          <p:cNvSpPr txBox="1"/>
          <p:nvPr/>
        </p:nvSpPr>
        <p:spPr>
          <a:xfrm>
            <a:off x="804672" y="3236976"/>
            <a:ext cx="1828800" cy="228600"/>
          </a:xfrm>
          <a:prstGeom prst="rect">
            <a:avLst/>
          </a:prstGeom>
          <a:noFill/>
        </p:spPr>
        <p:txBody>
          <a:bodyPr wrap="square" lIns="0" rIns="0" tIns="0" bIns="0">
            <a:spAutoFit/>
          </a:bodyPr>
          <a:lstStyle/>
          <a:p>
            <a:pPr>
              <a:lnSpc>
                <a:spcPct val="107000"/>
              </a:lnSpc>
              <a:spcAft>
                <a:spcPts val="500"/>
              </a:spcAft>
            </a:pPr>
            <a:r>
              <a:rPr sz="1200" b="0">
                <a:solidFill>
                  <a:srgbClr val="232925"/>
                </a:solidFill>
                <a:latin typeface="Arial"/>
              </a:rPr>
              <a:t>Assertions inspected</a:t>
            </a:r>
          </a:p>
        </p:txBody>
      </p:sp>
      <p:sp>
        <p:nvSpPr>
          <p:cNvPr id="19" name="Oval 18"/>
          <p:cNvSpPr/>
          <p:nvPr/>
        </p:nvSpPr>
        <p:spPr>
          <a:xfrm>
            <a:off x="2743200" y="3273552"/>
            <a:ext cx="128016" cy="128016"/>
          </a:xfrm>
          <a:prstGeom prst="ellipse">
            <a:avLst/>
          </a:prstGeom>
          <a:solidFill>
            <a:srgbClr val="FFFFFF"/>
          </a:solidFill>
          <a:ln w="15875">
            <a:solidFill>
              <a:srgbClr val="2329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Unknown"/>
          <p:cNvSpPr txBox="1"/>
          <p:nvPr/>
        </p:nvSpPr>
        <p:spPr>
          <a:xfrm>
            <a:off x="2953512" y="3236976"/>
            <a:ext cx="1371600" cy="228600"/>
          </a:xfrm>
          <a:prstGeom prst="rect">
            <a:avLst/>
          </a:prstGeom>
          <a:noFill/>
        </p:spPr>
        <p:txBody>
          <a:bodyPr wrap="square" lIns="0" rIns="0" tIns="0" bIns="0">
            <a:spAutoFit/>
          </a:bodyPr>
          <a:lstStyle/>
          <a:p>
            <a:pPr>
              <a:lnSpc>
                <a:spcPct val="107000"/>
              </a:lnSpc>
              <a:spcAft>
                <a:spcPts val="500"/>
              </a:spcAft>
            </a:pPr>
            <a:r>
              <a:rPr sz="1200" b="0">
                <a:solidFill>
                  <a:srgbClr val="232925"/>
                </a:solidFill>
                <a:latin typeface="Arial"/>
              </a:rPr>
              <a:t>Unknown</a:t>
            </a:r>
          </a:p>
        </p:txBody>
      </p:sp>
      <p:sp>
        <p:nvSpPr>
          <p:cNvPr id="21" name="Pentagon 20"/>
          <p:cNvSpPr/>
          <p:nvPr/>
        </p:nvSpPr>
        <p:spPr>
          <a:xfrm>
            <a:off x="6400800" y="2286000"/>
            <a:ext cx="1078992" cy="502920"/>
          </a:xfrm>
          <a:prstGeom prst="homePlate">
            <a:avLst/>
          </a:prstGeom>
          <a:solidFill>
            <a:srgbClr val="F2F5F3"/>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300" b="1">
                <a:solidFill>
                  <a:srgbClr val="101411"/>
                </a:solidFill>
                <a:latin typeface="Arial"/>
              </a:rPr>
              <a:t>Queue</a:t>
            </a:r>
          </a:p>
        </p:txBody>
      </p:sp>
      <p:sp>
        <p:nvSpPr>
          <p:cNvPr id="22" name="Pentagon 21"/>
          <p:cNvSpPr/>
          <p:nvPr/>
        </p:nvSpPr>
        <p:spPr>
          <a:xfrm>
            <a:off x="7415783" y="2286000"/>
            <a:ext cx="1078992" cy="502920"/>
          </a:xfrm>
          <a:prstGeom prst="homePlate">
            <a:avLst/>
          </a:prstGeom>
          <a:solidFill>
            <a:srgbClr val="F2F5F3"/>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300" b="1">
                <a:solidFill>
                  <a:srgbClr val="101411"/>
                </a:solidFill>
                <a:latin typeface="Arial"/>
              </a:rPr>
              <a:t>Setup</a:t>
            </a:r>
          </a:p>
        </p:txBody>
      </p:sp>
      <p:sp>
        <p:nvSpPr>
          <p:cNvPr id="23" name="Pentagon 22"/>
          <p:cNvSpPr/>
          <p:nvPr/>
        </p:nvSpPr>
        <p:spPr>
          <a:xfrm>
            <a:off x="8430768" y="2286000"/>
            <a:ext cx="1078992" cy="502920"/>
          </a:xfrm>
          <a:prstGeom prst="homePlate">
            <a:avLst/>
          </a:prstGeom>
          <a:solidFill>
            <a:srgbClr val="F2F5F3"/>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300" b="1">
                <a:solidFill>
                  <a:srgbClr val="101411"/>
                </a:solidFill>
                <a:latin typeface="Arial"/>
              </a:rPr>
              <a:t>Build</a:t>
            </a:r>
          </a:p>
        </p:txBody>
      </p:sp>
      <p:sp>
        <p:nvSpPr>
          <p:cNvPr id="24" name="Pentagon 23"/>
          <p:cNvSpPr/>
          <p:nvPr/>
        </p:nvSpPr>
        <p:spPr>
          <a:xfrm>
            <a:off x="9445752" y="2286000"/>
            <a:ext cx="1078992" cy="502920"/>
          </a:xfrm>
          <a:prstGeom prst="homePlate">
            <a:avLst/>
          </a:prstGeom>
          <a:solidFill>
            <a:srgbClr val="F2F5F3"/>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300" b="1">
                <a:solidFill>
                  <a:srgbClr val="101411"/>
                </a:solidFill>
                <a:latin typeface="Arial"/>
              </a:rPr>
              <a:t>Test</a:t>
            </a:r>
          </a:p>
        </p:txBody>
      </p:sp>
      <p:sp>
        <p:nvSpPr>
          <p:cNvPr id="25" name="Pentagon 24"/>
          <p:cNvSpPr/>
          <p:nvPr/>
        </p:nvSpPr>
        <p:spPr>
          <a:xfrm>
            <a:off x="10460736" y="2286000"/>
            <a:ext cx="1078992" cy="502920"/>
          </a:xfrm>
          <a:prstGeom prst="homePlate">
            <a:avLst/>
          </a:prstGeom>
          <a:solidFill>
            <a:srgbClr val="F2F5F3"/>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300" b="1">
                <a:solidFill>
                  <a:srgbClr val="101411"/>
                </a:solidFill>
                <a:latin typeface="Arial"/>
              </a:rPr>
              <a:t>Package</a:t>
            </a:r>
          </a:p>
        </p:txBody>
      </p:sp>
      <p:sp>
        <p:nvSpPr>
          <p:cNvPr id="26" name="Segments are not to scale. Timings appear only after measure"/>
          <p:cNvSpPr txBox="1"/>
          <p:nvPr/>
        </p:nvSpPr>
        <p:spPr>
          <a:xfrm>
            <a:off x="6400800" y="3236976"/>
            <a:ext cx="5166360" cy="228600"/>
          </a:xfrm>
          <a:prstGeom prst="rect">
            <a:avLst/>
          </a:prstGeom>
          <a:noFill/>
        </p:spPr>
        <p:txBody>
          <a:bodyPr wrap="square" lIns="0" rIns="0" tIns="0" bIns="0">
            <a:spAutoFit/>
          </a:bodyPr>
          <a:lstStyle/>
          <a:p>
            <a:pPr>
              <a:lnSpc>
                <a:spcPct val="107000"/>
              </a:lnSpc>
              <a:spcAft>
                <a:spcPts val="500"/>
              </a:spcAft>
            </a:pPr>
            <a:r>
              <a:rPr sz="1200" b="0">
                <a:solidFill>
                  <a:srgbClr val="232925"/>
                </a:solidFill>
                <a:latin typeface="Arial"/>
              </a:rPr>
              <a:t>Segments are not to scale. Timings appear only after measurement.</a:t>
            </a:r>
          </a:p>
        </p:txBody>
      </p:sp>
      <p:sp>
        <p:nvSpPr>
          <p:cNvPr id="27" name="Map tests to the critical journey."/>
          <p:cNvSpPr txBox="1"/>
          <p:nvPr/>
        </p:nvSpPr>
        <p:spPr>
          <a:xfrm>
            <a:off x="594360" y="3639312"/>
            <a:ext cx="5029200" cy="1371600"/>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Map tests to the critical journey.</a:t>
            </a:r>
          </a:p>
          <a:p>
            <a:pPr>
              <a:lnSpc>
                <a:spcPct val="107000"/>
              </a:lnSpc>
              <a:spcAft>
                <a:spcPts val="500"/>
              </a:spcAft>
            </a:pPr>
            <a:r>
              <a:rPr sz="1700" b="0">
                <a:solidFill>
                  <a:srgbClr val="232925"/>
                </a:solidFill>
                <a:latin typeface="Arial"/>
              </a:rPr>
              <a:t>Inspect assertions and failure paths.</a:t>
            </a:r>
          </a:p>
          <a:p>
            <a:pPr>
              <a:lnSpc>
                <a:spcPct val="107000"/>
              </a:lnSpc>
              <a:spcAft>
                <a:spcPts val="500"/>
              </a:spcAft>
            </a:pPr>
            <a:r>
              <a:rPr sz="1700" b="0">
                <a:solidFill>
                  <a:srgbClr val="232925"/>
                </a:solidFill>
                <a:latin typeface="Arial"/>
              </a:rPr>
              <a:t>Record report tool, commit and exclusions.</a:t>
            </a:r>
          </a:p>
          <a:p>
            <a:pPr>
              <a:lnSpc>
                <a:spcPct val="107000"/>
              </a:lnSpc>
              <a:spcAft>
                <a:spcPts val="500"/>
              </a:spcAft>
            </a:pPr>
            <a:r>
              <a:rPr sz="1700" b="0">
                <a:solidFill>
                  <a:srgbClr val="232925"/>
                </a:solidFill>
                <a:latin typeface="Arial"/>
              </a:rPr>
              <a:t>Treat missing coverage as unknown.</a:t>
            </a:r>
          </a:p>
        </p:txBody>
      </p:sp>
      <p:sp>
        <p:nvSpPr>
          <p:cNvPr id="28" name="Separate queue time from execution."/>
          <p:cNvSpPr txBox="1"/>
          <p:nvPr/>
        </p:nvSpPr>
        <p:spPr>
          <a:xfrm>
            <a:off x="6400800" y="3639312"/>
            <a:ext cx="5166360" cy="1371600"/>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Separate queue time from execution.</a:t>
            </a:r>
          </a:p>
          <a:p>
            <a:pPr>
              <a:lnSpc>
                <a:spcPct val="107000"/>
              </a:lnSpc>
              <a:spcAft>
                <a:spcPts val="500"/>
              </a:spcAft>
            </a:pPr>
            <a:r>
              <a:rPr sz="1700" b="0">
                <a:solidFill>
                  <a:srgbClr val="232925"/>
                </a:solidFill>
                <a:latin typeface="Arial"/>
              </a:rPr>
              <a:t>Break out setup, build, tests and packaging.</a:t>
            </a:r>
          </a:p>
          <a:p>
            <a:pPr>
              <a:lnSpc>
                <a:spcPct val="107000"/>
              </a:lnSpc>
              <a:spcAft>
                <a:spcPts val="500"/>
              </a:spcAft>
            </a:pPr>
            <a:r>
              <a:rPr sz="1700" b="0">
                <a:solidFill>
                  <a:srgbClr val="232925"/>
                </a:solidFill>
                <a:latin typeface="Arial"/>
              </a:rPr>
              <a:t>Compare like runners and cache conditions.</a:t>
            </a:r>
          </a:p>
          <a:p>
            <a:pPr>
              <a:lnSpc>
                <a:spcPct val="107000"/>
              </a:lnSpc>
              <a:spcAft>
                <a:spcPts val="500"/>
              </a:spcAft>
            </a:pPr>
            <a:r>
              <a:rPr sz="1700" b="0">
                <a:solidFill>
                  <a:srgbClr val="232925"/>
                </a:solidFill>
                <a:latin typeface="Arial"/>
              </a:rPr>
              <a:t>Record the sample count and uncertainty.</a:t>
            </a:r>
          </a:p>
        </p:txBody>
      </p:sp>
      <p:sp>
        <p:nvSpPr>
          <p:cNvPr id="29" name="Rectangle 28"/>
          <p:cNvSpPr/>
          <p:nvPr/>
        </p:nvSpPr>
        <p:spPr>
          <a:xfrm>
            <a:off x="594360" y="5029200"/>
            <a:ext cx="10972800" cy="658368"/>
          </a:xfrm>
          <a:prstGeom prst="rect">
            <a:avLst/>
          </a:prstGeom>
          <a:solidFill>
            <a:srgbClr val="F2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No universal build-time cutoff. No “safe” coverage percentag"/>
          <p:cNvSpPr txBox="1"/>
          <p:nvPr/>
        </p:nvSpPr>
        <p:spPr>
          <a:xfrm>
            <a:off x="795528" y="5202936"/>
            <a:ext cx="10515600" cy="365760"/>
          </a:xfrm>
          <a:prstGeom prst="rect">
            <a:avLst/>
          </a:prstGeom>
          <a:noFill/>
        </p:spPr>
        <p:txBody>
          <a:bodyPr wrap="square" lIns="0" rIns="0" tIns="0" bIns="0">
            <a:spAutoFit/>
          </a:bodyPr>
          <a:lstStyle/>
          <a:p>
            <a:pPr>
              <a:lnSpc>
                <a:spcPct val="107000"/>
              </a:lnSpc>
              <a:spcAft>
                <a:spcPts val="500"/>
              </a:spcAft>
            </a:pPr>
            <a:r>
              <a:rPr sz="2200" b="1">
                <a:solidFill>
                  <a:srgbClr val="101411"/>
                </a:solidFill>
                <a:latin typeface="Mona Sans"/>
              </a:rPr>
              <a:t>No universal build-time cutoff. No “safe” coverage percentage.</a:t>
            </a:r>
          </a:p>
        </p:txBody>
      </p:sp>
      <p:sp>
        <p:nvSpPr>
          <p:cNvPr id="31" name="Chip: Illustrative"/>
          <p:cNvSpPr/>
          <p:nvPr/>
        </p:nvSpPr>
        <p:spPr>
          <a:xfrm>
            <a:off x="594360" y="5870448"/>
            <a:ext cx="1005840" cy="274320"/>
          </a:xfrm>
          <a:prstGeom prst="roundRect">
            <a:avLst/>
          </a:prstGeom>
          <a:solidFill>
            <a:srgbClr val="8534F3"/>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200" b="1">
                <a:solidFill>
                  <a:srgbClr val="FFFFFF"/>
                </a:solidFill>
                <a:latin typeface="Arial"/>
              </a:rPr>
              <a:t>Illustrative</a:t>
            </a:r>
          </a:p>
        </p:txBody>
      </p:sp>
      <p:sp>
        <p:nvSpPr>
          <p:cNvPr id="32" name="A sample journey and generic pipeline stages. No coverage or"/>
          <p:cNvSpPr txBox="1"/>
          <p:nvPr/>
        </p:nvSpPr>
        <p:spPr>
          <a:xfrm>
            <a:off x="1783080" y="5897880"/>
            <a:ext cx="9784080" cy="274320"/>
          </a:xfrm>
          <a:prstGeom prst="rect">
            <a:avLst/>
          </a:prstGeom>
          <a:noFill/>
        </p:spPr>
        <p:txBody>
          <a:bodyPr wrap="square" lIns="0" rIns="0" tIns="0" bIns="0">
            <a:spAutoFit/>
          </a:bodyPr>
          <a:lstStyle/>
          <a:p>
            <a:pPr>
              <a:lnSpc>
                <a:spcPct val="107000"/>
              </a:lnSpc>
              <a:spcAft>
                <a:spcPts val="500"/>
              </a:spcAft>
            </a:pPr>
            <a:r>
              <a:rPr sz="1400" b="0">
                <a:solidFill>
                  <a:srgbClr val="232925"/>
                </a:solidFill>
                <a:latin typeface="Arial"/>
              </a:rPr>
              <a:t>A sample journey and generic pipeline stages. No coverage or timing values are shown.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A bounded pilot. Four explicit review gates."/>
          <p:cNvSpPr txBox="1"/>
          <p:nvPr/>
        </p:nvSpPr>
        <p:spPr>
          <a:xfrm>
            <a:off x="594360" y="502920"/>
            <a:ext cx="10972800" cy="1005840"/>
          </a:xfrm>
          <a:prstGeom prst="rect">
            <a:avLst/>
          </a:prstGeom>
          <a:noFill/>
        </p:spPr>
        <p:txBody>
          <a:bodyPr wrap="square" lIns="0" rIns="0" tIns="0" bIns="0">
            <a:spAutoFit/>
          </a:bodyPr>
          <a:lstStyle/>
          <a:p>
            <a:pPr>
              <a:lnSpc>
                <a:spcPct val="107000"/>
              </a:lnSpc>
              <a:spcAft>
                <a:spcPts val="500"/>
              </a:spcAft>
            </a:pPr>
            <a:r>
              <a:rPr sz="3200" b="1">
                <a:solidFill>
                  <a:srgbClr val="101411"/>
                </a:solidFill>
                <a:latin typeface="Mona Sans"/>
              </a:rPr>
              <a:t>A bounded pilot. Four explicit review gates.</a:t>
            </a:r>
          </a:p>
        </p:txBody>
      </p:sp>
      <p:sp>
        <p:nvSpPr>
          <p:cNvPr id="3" name="Rectangle 2"/>
          <p:cNvSpPr/>
          <p:nvPr/>
        </p:nvSpPr>
        <p:spPr>
          <a:xfrm>
            <a:off x="594360" y="6327648"/>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itHub mark" descr="GitHub logo"/>
          <p:cNvSpPr/>
          <p:nvPr/>
        </p:nvSpPr>
        <p:spPr>
          <a:xfrm>
            <a:off x="594360" y="6419088"/>
            <a:ext cx="182880" cy="182880"/>
          </a:xfrm>
          <a:custGeom>
            <a:avLst/>
            <a:gdLst/>
            <a:ahLst/>
            <a:cxnLst/>
            <a:rect l="0" t="0" r="r" b="b"/>
            <a:pathLst>
              <a:path w="16000" h="16000">
                <a:moveTo>
                  <a:pt x="8000" y="0"/>
                </a:moveTo>
                <a:cubicBezTo>
                  <a:pt x="3580" y="0"/>
                  <a:pt x="0" y="3580"/>
                  <a:pt x="0" y="8000"/>
                </a:cubicBezTo>
                <a:cubicBezTo>
                  <a:pt x="0" y="11540"/>
                  <a:pt x="2290" y="14530"/>
                  <a:pt x="5470" y="15590"/>
                </a:cubicBezTo>
                <a:cubicBezTo>
                  <a:pt x="5870" y="15660"/>
                  <a:pt x="6020" y="15420"/>
                  <a:pt x="6020" y="15210"/>
                </a:cubicBezTo>
                <a:cubicBezTo>
                  <a:pt x="6020" y="15020"/>
                  <a:pt x="6010" y="14390"/>
                  <a:pt x="6010" y="13720"/>
                </a:cubicBezTo>
                <a:cubicBezTo>
                  <a:pt x="4000" y="14090"/>
                  <a:pt x="3480" y="13230"/>
                  <a:pt x="3320" y="12780"/>
                </a:cubicBezTo>
                <a:cubicBezTo>
                  <a:pt x="3230" y="12550"/>
                  <a:pt x="2840" y="11840"/>
                  <a:pt x="2500" y="11650"/>
                </a:cubicBezTo>
                <a:cubicBezTo>
                  <a:pt x="2220" y="11500"/>
                  <a:pt x="1820" y="11130"/>
                  <a:pt x="2490" y="11120"/>
                </a:cubicBezTo>
                <a:cubicBezTo>
                  <a:pt x="3120" y="11110"/>
                  <a:pt x="3570" y="11700"/>
                  <a:pt x="3720" y="11940"/>
                </a:cubicBezTo>
                <a:cubicBezTo>
                  <a:pt x="4440" y="13150"/>
                  <a:pt x="5590" y="12810"/>
                  <a:pt x="6050" y="12600"/>
                </a:cubicBezTo>
                <a:cubicBezTo>
                  <a:pt x="6120" y="12080"/>
                  <a:pt x="6330" y="11730"/>
                  <a:pt x="6560" y="11530"/>
                </a:cubicBezTo>
                <a:cubicBezTo>
                  <a:pt x="4780" y="11330"/>
                  <a:pt x="2920" y="10640"/>
                  <a:pt x="2920" y="7580"/>
                </a:cubicBezTo>
                <a:cubicBezTo>
                  <a:pt x="2920" y="6710"/>
                  <a:pt x="3230" y="5990"/>
                  <a:pt x="3740" y="5430"/>
                </a:cubicBezTo>
                <a:cubicBezTo>
                  <a:pt x="3660" y="5230"/>
                  <a:pt x="3380" y="4410"/>
                  <a:pt x="3820" y="3310"/>
                </a:cubicBezTo>
                <a:cubicBezTo>
                  <a:pt x="3820" y="3310"/>
                  <a:pt x="4490" y="3100"/>
                  <a:pt x="6020" y="4130"/>
                </a:cubicBezTo>
                <a:cubicBezTo>
                  <a:pt x="6660" y="3950"/>
                  <a:pt x="7340" y="3860"/>
                  <a:pt x="8020" y="3860"/>
                </a:cubicBezTo>
                <a:cubicBezTo>
                  <a:pt x="8700" y="3860"/>
                  <a:pt x="9380" y="3950"/>
                  <a:pt x="10020" y="4130"/>
                </a:cubicBezTo>
                <a:cubicBezTo>
                  <a:pt x="11550" y="3090"/>
                  <a:pt x="12220" y="3310"/>
                  <a:pt x="12220" y="3310"/>
                </a:cubicBezTo>
                <a:cubicBezTo>
                  <a:pt x="12660" y="4410"/>
                  <a:pt x="12380" y="5230"/>
                  <a:pt x="12300" y="5430"/>
                </a:cubicBezTo>
                <a:cubicBezTo>
                  <a:pt x="12810" y="5990"/>
                  <a:pt x="13120" y="6700"/>
                  <a:pt x="13120" y="7580"/>
                </a:cubicBezTo>
                <a:cubicBezTo>
                  <a:pt x="13120" y="10650"/>
                  <a:pt x="11250" y="11330"/>
                  <a:pt x="9470" y="11530"/>
                </a:cubicBezTo>
                <a:cubicBezTo>
                  <a:pt x="9760" y="11780"/>
                  <a:pt x="10010" y="12260"/>
                  <a:pt x="10010" y="13010"/>
                </a:cubicBezTo>
                <a:cubicBezTo>
                  <a:pt x="10010" y="14080"/>
                  <a:pt x="10000" y="14940"/>
                  <a:pt x="10000" y="15210"/>
                </a:cubicBezTo>
                <a:cubicBezTo>
                  <a:pt x="10000" y="15420"/>
                  <a:pt x="10150" y="15670"/>
                  <a:pt x="10550" y="15590"/>
                </a:cubicBezTo>
                <a:cubicBezTo>
                  <a:pt x="11604" y="15234"/>
                  <a:pt x="12572" y="14663"/>
                  <a:pt x="13394" y="13912"/>
                </a:cubicBezTo>
                <a:cubicBezTo>
                  <a:pt x="14215" y="13162"/>
                  <a:pt x="14870" y="12248"/>
                  <a:pt x="15319" y="11231"/>
                </a:cubicBezTo>
                <a:cubicBezTo>
                  <a:pt x="15768" y="10213"/>
                  <a:pt x="16000" y="9112"/>
                  <a:pt x="16000" y="8000"/>
                </a:cubicBezTo>
                <a:cubicBezTo>
                  <a:pt x="16000" y="3580"/>
                  <a:pt x="12420" y="0"/>
                  <a:pt x="8000" y="0"/>
                </a:cubicBezTo>
                <a:close/>
              </a:path>
            </a:pathLst>
          </a:custGeom>
          <a:solidFill>
            <a:srgbClr val="1014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earing  |  GitHub Copilot App workflow"/>
          <p:cNvSpPr txBox="1"/>
          <p:nvPr/>
        </p:nvSpPr>
        <p:spPr>
          <a:xfrm>
            <a:off x="914400" y="6428232"/>
            <a:ext cx="7726679" cy="201168"/>
          </a:xfrm>
          <a:prstGeom prst="rect">
            <a:avLst/>
          </a:prstGeom>
          <a:noFill/>
        </p:spPr>
        <p:txBody>
          <a:bodyPr wrap="square" lIns="0" rIns="0" tIns="0" bIns="0">
            <a:spAutoFit/>
          </a:bodyPr>
          <a:lstStyle/>
          <a:p>
            <a:pPr>
              <a:lnSpc>
                <a:spcPct val="107000"/>
              </a:lnSpc>
              <a:spcAft>
                <a:spcPts val="500"/>
              </a:spcAft>
            </a:pPr>
            <a:r>
              <a:rPr sz="1000" b="0">
                <a:solidFill>
                  <a:srgbClr val="232925"/>
                </a:solidFill>
                <a:latin typeface="Arial"/>
              </a:rPr>
              <a:t>Bearing  |  GitHub Copilot App workflow</a:t>
            </a:r>
          </a:p>
        </p:txBody>
      </p:sp>
      <p:sp>
        <p:nvSpPr>
          <p:cNvPr id="6" name="08 / 16"/>
          <p:cNvSpPr txBox="1"/>
          <p:nvPr/>
        </p:nvSpPr>
        <p:spPr>
          <a:xfrm>
            <a:off x="10744200" y="6428232"/>
            <a:ext cx="822960" cy="201168"/>
          </a:xfrm>
          <a:prstGeom prst="rect">
            <a:avLst/>
          </a:prstGeom>
          <a:noFill/>
        </p:spPr>
        <p:txBody>
          <a:bodyPr wrap="square" lIns="0" rIns="0" tIns="0" bIns="0">
            <a:spAutoFit/>
          </a:bodyPr>
          <a:lstStyle/>
          <a:p>
            <a:pPr>
              <a:lnSpc>
                <a:spcPct val="107000"/>
              </a:lnSpc>
              <a:spcAft>
                <a:spcPts val="500"/>
              </a:spcAft>
            </a:pPr>
            <a:r>
              <a:rPr sz="1000" b="0">
                <a:solidFill>
                  <a:srgbClr val="232925"/>
                </a:solidFill>
                <a:latin typeface="Arial"/>
              </a:rPr>
              <a:t>08 / 16</a:t>
            </a:r>
          </a:p>
        </p:txBody>
      </p:sp>
      <p:sp>
        <p:nvSpPr>
          <p:cNvPr id="7" name="Rectangle 6"/>
          <p:cNvSpPr/>
          <p:nvPr/>
        </p:nvSpPr>
        <p:spPr>
          <a:xfrm>
            <a:off x="594360" y="1755648"/>
            <a:ext cx="2331720" cy="128016"/>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uman review gate"/>
          <p:cNvSpPr/>
          <p:nvPr/>
        </p:nvSpPr>
        <p:spPr>
          <a:xfrm>
            <a:off x="3017520" y="1682496"/>
            <a:ext cx="274320" cy="274320"/>
          </a:xfrm>
          <a:prstGeom prst="diamond">
            <a:avLst/>
          </a:prstGeom>
          <a:solidFill>
            <a:srgbClr val="1014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eek 1"/>
          <p:cNvSpPr txBox="1"/>
          <p:nvPr/>
        </p:nvSpPr>
        <p:spPr>
          <a:xfrm>
            <a:off x="594360" y="2176272"/>
            <a:ext cx="2286000" cy="868680"/>
          </a:xfrm>
          <a:prstGeom prst="rect">
            <a:avLst/>
          </a:prstGeom>
          <a:noFill/>
        </p:spPr>
        <p:txBody>
          <a:bodyPr wrap="square" lIns="0" rIns="0" tIns="0" bIns="0">
            <a:spAutoFit/>
          </a:bodyPr>
          <a:lstStyle/>
          <a:p>
            <a:pPr>
              <a:lnSpc>
                <a:spcPct val="107000"/>
              </a:lnSpc>
              <a:spcAft>
                <a:spcPts val="500"/>
              </a:spcAft>
            </a:pPr>
            <a:r>
              <a:rPr sz="2400" b="1">
                <a:solidFill>
                  <a:srgbClr val="08872B"/>
                </a:solidFill>
                <a:latin typeface="Mona Sans"/>
              </a:rPr>
              <a:t>Week 1</a:t>
            </a:r>
          </a:p>
          <a:p>
            <a:pPr>
              <a:lnSpc>
                <a:spcPct val="107000"/>
              </a:lnSpc>
              <a:spcAft>
                <a:spcPts val="500"/>
              </a:spcAft>
            </a:pPr>
            <a:r>
              <a:rPr sz="2400" b="1">
                <a:solidFill>
                  <a:srgbClr val="08872B"/>
                </a:solidFill>
                <a:latin typeface="Mona Sans"/>
              </a:rPr>
              <a:t>Discover</a:t>
            </a:r>
          </a:p>
        </p:txBody>
      </p:sp>
      <p:sp>
        <p:nvSpPr>
          <p:cNvPr id="10" name="Scope one journey."/>
          <p:cNvSpPr txBox="1"/>
          <p:nvPr/>
        </p:nvSpPr>
        <p:spPr>
          <a:xfrm>
            <a:off x="594360" y="3108960"/>
            <a:ext cx="2286000" cy="1097280"/>
          </a:xfrm>
          <a:prstGeom prst="rect">
            <a:avLst/>
          </a:prstGeom>
          <a:noFill/>
        </p:spPr>
        <p:txBody>
          <a:bodyPr wrap="square" lIns="0" rIns="0" tIns="0" bIns="0">
            <a:spAutoFit/>
          </a:bodyPr>
          <a:lstStyle/>
          <a:p>
            <a:pPr>
              <a:lnSpc>
                <a:spcPct val="107000"/>
              </a:lnSpc>
              <a:spcAft>
                <a:spcPts val="500"/>
              </a:spcAft>
            </a:pPr>
            <a:r>
              <a:rPr sz="1800" b="0">
                <a:solidFill>
                  <a:srgbClr val="232925"/>
                </a:solidFill>
                <a:latin typeface="Arial"/>
              </a:rPr>
              <a:t>Scope one journey.</a:t>
            </a:r>
          </a:p>
          <a:p>
            <a:pPr>
              <a:lnSpc>
                <a:spcPct val="107000"/>
              </a:lnSpc>
              <a:spcAft>
                <a:spcPts val="500"/>
              </a:spcAft>
            </a:pPr>
            <a:r>
              <a:rPr sz="1800" b="0">
                <a:solidFill>
                  <a:srgbClr val="232925"/>
                </a:solidFill>
                <a:latin typeface="Arial"/>
              </a:rPr>
              <a:t>Map the service.</a:t>
            </a:r>
          </a:p>
          <a:p>
            <a:pPr>
              <a:lnSpc>
                <a:spcPct val="107000"/>
              </a:lnSpc>
              <a:spcAft>
                <a:spcPts val="500"/>
              </a:spcAft>
            </a:pPr>
            <a:r>
              <a:rPr sz="1800" b="0">
                <a:solidFill>
                  <a:srgbClr val="232925"/>
                </a:solidFill>
                <a:latin typeface="Arial"/>
              </a:rPr>
              <a:t>Name the owner.</a:t>
            </a:r>
          </a:p>
        </p:txBody>
      </p:sp>
      <p:sp>
        <p:nvSpPr>
          <p:cNvPr id="11" name="Rectangle 10"/>
          <p:cNvSpPr/>
          <p:nvPr/>
        </p:nvSpPr>
        <p:spPr>
          <a:xfrm>
            <a:off x="594360" y="4370832"/>
            <a:ext cx="233172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uman review gate"/>
          <p:cNvSpPr/>
          <p:nvPr/>
        </p:nvSpPr>
        <p:spPr>
          <a:xfrm>
            <a:off x="594360" y="4590288"/>
            <a:ext cx="237744" cy="237744"/>
          </a:xfrm>
          <a:prstGeom prst="diamond">
            <a:avLst/>
          </a:prstGeom>
          <a:solidFill>
            <a:srgbClr val="1014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wner approves"/>
          <p:cNvSpPr txBox="1"/>
          <p:nvPr/>
        </p:nvSpPr>
        <p:spPr>
          <a:xfrm>
            <a:off x="960120" y="4553712"/>
            <a:ext cx="2011680" cy="822960"/>
          </a:xfrm>
          <a:prstGeom prst="rect">
            <a:avLst/>
          </a:prstGeom>
          <a:noFill/>
        </p:spPr>
        <p:txBody>
          <a:bodyPr wrap="square" lIns="0" rIns="0" tIns="0" bIns="0">
            <a:spAutoFit/>
          </a:bodyPr>
          <a:lstStyle/>
          <a:p>
            <a:pPr>
              <a:lnSpc>
                <a:spcPct val="107000"/>
              </a:lnSpc>
              <a:spcAft>
                <a:spcPts val="500"/>
              </a:spcAft>
            </a:pPr>
            <a:r>
              <a:rPr sz="1700" b="1">
                <a:solidFill>
                  <a:srgbClr val="101411"/>
                </a:solidFill>
                <a:latin typeface="Arial"/>
              </a:rPr>
              <a:t>Owner approves</a:t>
            </a:r>
          </a:p>
          <a:p>
            <a:pPr>
              <a:lnSpc>
                <a:spcPct val="107000"/>
              </a:lnSpc>
              <a:spcAft>
                <a:spcPts val="500"/>
              </a:spcAft>
            </a:pPr>
            <a:r>
              <a:rPr sz="1700" b="1">
                <a:solidFill>
                  <a:srgbClr val="101411"/>
                </a:solidFill>
                <a:latin typeface="Arial"/>
              </a:rPr>
              <a:t>scope + map.</a:t>
            </a:r>
          </a:p>
        </p:txBody>
      </p:sp>
      <p:sp>
        <p:nvSpPr>
          <p:cNvPr id="14" name="Rectangle 13"/>
          <p:cNvSpPr/>
          <p:nvPr/>
        </p:nvSpPr>
        <p:spPr>
          <a:xfrm>
            <a:off x="3337560" y="1755648"/>
            <a:ext cx="2331720" cy="128016"/>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Human review gate"/>
          <p:cNvSpPr/>
          <p:nvPr/>
        </p:nvSpPr>
        <p:spPr>
          <a:xfrm>
            <a:off x="5760719" y="1682496"/>
            <a:ext cx="274320" cy="274320"/>
          </a:xfrm>
          <a:prstGeom prst="diamond">
            <a:avLst/>
          </a:prstGeom>
          <a:solidFill>
            <a:srgbClr val="1014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eek 2"/>
          <p:cNvSpPr txBox="1"/>
          <p:nvPr/>
        </p:nvSpPr>
        <p:spPr>
          <a:xfrm>
            <a:off x="3337560" y="2176272"/>
            <a:ext cx="2286000" cy="868680"/>
          </a:xfrm>
          <a:prstGeom prst="rect">
            <a:avLst/>
          </a:prstGeom>
          <a:noFill/>
        </p:spPr>
        <p:txBody>
          <a:bodyPr wrap="square" lIns="0" rIns="0" tIns="0" bIns="0">
            <a:spAutoFit/>
          </a:bodyPr>
          <a:lstStyle/>
          <a:p>
            <a:pPr>
              <a:lnSpc>
                <a:spcPct val="107000"/>
              </a:lnSpc>
              <a:spcAft>
                <a:spcPts val="500"/>
              </a:spcAft>
            </a:pPr>
            <a:r>
              <a:rPr sz="2400" b="1">
                <a:solidFill>
                  <a:srgbClr val="08872B"/>
                </a:solidFill>
                <a:latin typeface="Mona Sans"/>
              </a:rPr>
              <a:t>Week 2</a:t>
            </a:r>
          </a:p>
          <a:p>
            <a:pPr>
              <a:lnSpc>
                <a:spcPct val="107000"/>
              </a:lnSpc>
              <a:spcAft>
                <a:spcPts val="500"/>
              </a:spcAft>
            </a:pPr>
            <a:r>
              <a:rPr sz="2400" b="1">
                <a:solidFill>
                  <a:srgbClr val="08872B"/>
                </a:solidFill>
                <a:latin typeface="Mona Sans"/>
              </a:rPr>
              <a:t>Baseline</a:t>
            </a:r>
          </a:p>
        </p:txBody>
      </p:sp>
      <p:sp>
        <p:nvSpPr>
          <p:cNvPr id="17" name="Inspect CI/test data."/>
          <p:cNvSpPr txBox="1"/>
          <p:nvPr/>
        </p:nvSpPr>
        <p:spPr>
          <a:xfrm>
            <a:off x="3337560" y="3108960"/>
            <a:ext cx="2286000" cy="1097280"/>
          </a:xfrm>
          <a:prstGeom prst="rect">
            <a:avLst/>
          </a:prstGeom>
          <a:noFill/>
        </p:spPr>
        <p:txBody>
          <a:bodyPr wrap="square" lIns="0" rIns="0" tIns="0" bIns="0">
            <a:spAutoFit/>
          </a:bodyPr>
          <a:lstStyle/>
          <a:p>
            <a:pPr>
              <a:lnSpc>
                <a:spcPct val="107000"/>
              </a:lnSpc>
              <a:spcAft>
                <a:spcPts val="500"/>
              </a:spcAft>
            </a:pPr>
            <a:r>
              <a:rPr sz="1800" b="0">
                <a:solidFill>
                  <a:srgbClr val="232925"/>
                </a:solidFill>
                <a:latin typeface="Arial"/>
              </a:rPr>
              <a:t>Inspect CI/test data.</a:t>
            </a:r>
          </a:p>
          <a:p>
            <a:pPr>
              <a:lnSpc>
                <a:spcPct val="107000"/>
              </a:lnSpc>
              <a:spcAft>
                <a:spcPts val="500"/>
              </a:spcAft>
            </a:pPr>
            <a:r>
              <a:rPr sz="1800" b="0">
                <a:solidFill>
                  <a:srgbClr val="232925"/>
                </a:solidFill>
                <a:latin typeface="Arial"/>
              </a:rPr>
              <a:t>Measure only with</a:t>
            </a:r>
          </a:p>
          <a:p>
            <a:pPr>
              <a:lnSpc>
                <a:spcPct val="107000"/>
              </a:lnSpc>
              <a:spcAft>
                <a:spcPts val="500"/>
              </a:spcAft>
            </a:pPr>
            <a:r>
              <a:rPr sz="1800" b="0">
                <a:solidFill>
                  <a:srgbClr val="232925"/>
                </a:solidFill>
                <a:latin typeface="Arial"/>
              </a:rPr>
              <a:t>separate approval.</a:t>
            </a:r>
          </a:p>
        </p:txBody>
      </p:sp>
      <p:sp>
        <p:nvSpPr>
          <p:cNvPr id="18" name="Rectangle 17"/>
          <p:cNvSpPr/>
          <p:nvPr/>
        </p:nvSpPr>
        <p:spPr>
          <a:xfrm>
            <a:off x="3337560" y="4370832"/>
            <a:ext cx="233172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uman review gate"/>
          <p:cNvSpPr/>
          <p:nvPr/>
        </p:nvSpPr>
        <p:spPr>
          <a:xfrm>
            <a:off x="3337560" y="4590288"/>
            <a:ext cx="237744" cy="237744"/>
          </a:xfrm>
          <a:prstGeom prst="diamond">
            <a:avLst/>
          </a:prstGeom>
          <a:solidFill>
            <a:srgbClr val="1014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wner + specialist"/>
          <p:cNvSpPr txBox="1"/>
          <p:nvPr/>
        </p:nvSpPr>
        <p:spPr>
          <a:xfrm>
            <a:off x="3703320" y="4553712"/>
            <a:ext cx="2011680" cy="822960"/>
          </a:xfrm>
          <a:prstGeom prst="rect">
            <a:avLst/>
          </a:prstGeom>
          <a:noFill/>
        </p:spPr>
        <p:txBody>
          <a:bodyPr wrap="square" lIns="0" rIns="0" tIns="0" bIns="0">
            <a:spAutoFit/>
          </a:bodyPr>
          <a:lstStyle/>
          <a:p>
            <a:pPr>
              <a:lnSpc>
                <a:spcPct val="107000"/>
              </a:lnSpc>
              <a:spcAft>
                <a:spcPts val="500"/>
              </a:spcAft>
            </a:pPr>
            <a:r>
              <a:rPr sz="1700" b="1">
                <a:solidFill>
                  <a:srgbClr val="101411"/>
                </a:solidFill>
                <a:latin typeface="Arial"/>
              </a:rPr>
              <a:t>Owner + specialist</a:t>
            </a:r>
          </a:p>
          <a:p>
            <a:pPr>
              <a:lnSpc>
                <a:spcPct val="107000"/>
              </a:lnSpc>
              <a:spcAft>
                <a:spcPts val="500"/>
              </a:spcAft>
            </a:pPr>
            <a:r>
              <a:rPr sz="1700" b="1">
                <a:solidFill>
                  <a:srgbClr val="101411"/>
                </a:solidFill>
                <a:latin typeface="Arial"/>
              </a:rPr>
              <a:t>accept the baseline.</a:t>
            </a:r>
          </a:p>
        </p:txBody>
      </p:sp>
      <p:sp>
        <p:nvSpPr>
          <p:cNvPr id="21" name="Rectangle 20"/>
          <p:cNvSpPr/>
          <p:nvPr/>
        </p:nvSpPr>
        <p:spPr>
          <a:xfrm>
            <a:off x="6080760" y="1755648"/>
            <a:ext cx="2331720" cy="128016"/>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uman review gate"/>
          <p:cNvSpPr/>
          <p:nvPr/>
        </p:nvSpPr>
        <p:spPr>
          <a:xfrm>
            <a:off x="8503919" y="1682496"/>
            <a:ext cx="274320" cy="274320"/>
          </a:xfrm>
          <a:prstGeom prst="diamond">
            <a:avLst/>
          </a:prstGeom>
          <a:solidFill>
            <a:srgbClr val="1014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Week 3"/>
          <p:cNvSpPr txBox="1"/>
          <p:nvPr/>
        </p:nvSpPr>
        <p:spPr>
          <a:xfrm>
            <a:off x="6080760" y="2176272"/>
            <a:ext cx="2286000" cy="868680"/>
          </a:xfrm>
          <a:prstGeom prst="rect">
            <a:avLst/>
          </a:prstGeom>
          <a:noFill/>
        </p:spPr>
        <p:txBody>
          <a:bodyPr wrap="square" lIns="0" rIns="0" tIns="0" bIns="0">
            <a:spAutoFit/>
          </a:bodyPr>
          <a:lstStyle/>
          <a:p>
            <a:pPr>
              <a:lnSpc>
                <a:spcPct val="107000"/>
              </a:lnSpc>
              <a:spcAft>
                <a:spcPts val="500"/>
              </a:spcAft>
            </a:pPr>
            <a:r>
              <a:rPr sz="2400" b="1">
                <a:solidFill>
                  <a:srgbClr val="08872B"/>
                </a:solidFill>
                <a:latin typeface="Mona Sans"/>
              </a:rPr>
              <a:t>Week 3</a:t>
            </a:r>
          </a:p>
          <a:p>
            <a:pPr>
              <a:lnSpc>
                <a:spcPct val="107000"/>
              </a:lnSpc>
              <a:spcAft>
                <a:spcPts val="500"/>
              </a:spcAft>
            </a:pPr>
            <a:r>
              <a:rPr sz="2400" b="1">
                <a:solidFill>
                  <a:srgbClr val="08872B"/>
                </a:solidFill>
                <a:latin typeface="Mona Sans"/>
              </a:rPr>
              <a:t>Decide</a:t>
            </a:r>
          </a:p>
        </p:txBody>
      </p:sp>
      <p:sp>
        <p:nvSpPr>
          <p:cNvPr id="24" name="Create candidate issues."/>
          <p:cNvSpPr txBox="1"/>
          <p:nvPr/>
        </p:nvSpPr>
        <p:spPr>
          <a:xfrm>
            <a:off x="6080760" y="3108960"/>
            <a:ext cx="2286000" cy="1097280"/>
          </a:xfrm>
          <a:prstGeom prst="rect">
            <a:avLst/>
          </a:prstGeom>
          <a:noFill/>
        </p:spPr>
        <p:txBody>
          <a:bodyPr wrap="square" lIns="0" rIns="0" tIns="0" bIns="0">
            <a:spAutoFit/>
          </a:bodyPr>
          <a:lstStyle/>
          <a:p>
            <a:pPr>
              <a:lnSpc>
                <a:spcPct val="107000"/>
              </a:lnSpc>
              <a:spcAft>
                <a:spcPts val="500"/>
              </a:spcAft>
            </a:pPr>
            <a:r>
              <a:rPr sz="1800" b="0">
                <a:solidFill>
                  <a:srgbClr val="232925"/>
                </a:solidFill>
                <a:latin typeface="Arial"/>
              </a:rPr>
              <a:t>Create candidate issues.</a:t>
            </a:r>
          </a:p>
          <a:p>
            <a:pPr>
              <a:lnSpc>
                <a:spcPct val="107000"/>
              </a:lnSpc>
              <a:spcAft>
                <a:spcPts val="500"/>
              </a:spcAft>
            </a:pPr>
            <a:r>
              <a:rPr sz="1800" b="0">
                <a:solidFill>
                  <a:srgbClr val="232925"/>
                </a:solidFill>
                <a:latin typeface="Arial"/>
              </a:rPr>
              <a:t>Compare value, risk</a:t>
            </a:r>
          </a:p>
          <a:p>
            <a:pPr>
              <a:lnSpc>
                <a:spcPct val="107000"/>
              </a:lnSpc>
              <a:spcAft>
                <a:spcPts val="500"/>
              </a:spcAft>
            </a:pPr>
            <a:r>
              <a:rPr sz="1800" b="0">
                <a:solidFill>
                  <a:srgbClr val="232925"/>
                </a:solidFill>
                <a:latin typeface="Arial"/>
              </a:rPr>
              <a:t>and confidence.</a:t>
            </a:r>
          </a:p>
        </p:txBody>
      </p:sp>
      <p:sp>
        <p:nvSpPr>
          <p:cNvPr id="25" name="Rectangle 24"/>
          <p:cNvSpPr/>
          <p:nvPr/>
        </p:nvSpPr>
        <p:spPr>
          <a:xfrm>
            <a:off x="6080760" y="4370832"/>
            <a:ext cx="233172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Human review gate"/>
          <p:cNvSpPr/>
          <p:nvPr/>
        </p:nvSpPr>
        <p:spPr>
          <a:xfrm>
            <a:off x="6080760" y="4590288"/>
            <a:ext cx="237744" cy="237744"/>
          </a:xfrm>
          <a:prstGeom prst="diamond">
            <a:avLst/>
          </a:prstGeom>
          <a:solidFill>
            <a:srgbClr val="1014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ponsor approves"/>
          <p:cNvSpPr txBox="1"/>
          <p:nvPr/>
        </p:nvSpPr>
        <p:spPr>
          <a:xfrm>
            <a:off x="6446520" y="4553712"/>
            <a:ext cx="2011680" cy="822960"/>
          </a:xfrm>
          <a:prstGeom prst="rect">
            <a:avLst/>
          </a:prstGeom>
          <a:noFill/>
        </p:spPr>
        <p:txBody>
          <a:bodyPr wrap="square" lIns="0" rIns="0" tIns="0" bIns="0">
            <a:spAutoFit/>
          </a:bodyPr>
          <a:lstStyle/>
          <a:p>
            <a:pPr>
              <a:lnSpc>
                <a:spcPct val="107000"/>
              </a:lnSpc>
              <a:spcAft>
                <a:spcPts val="500"/>
              </a:spcAft>
            </a:pPr>
            <a:r>
              <a:rPr sz="1700" b="1">
                <a:solidFill>
                  <a:srgbClr val="101411"/>
                </a:solidFill>
                <a:latin typeface="Arial"/>
              </a:rPr>
              <a:t>Sponsor approves</a:t>
            </a:r>
          </a:p>
          <a:p>
            <a:pPr>
              <a:lnSpc>
                <a:spcPct val="107000"/>
              </a:lnSpc>
              <a:spcAft>
                <a:spcPts val="500"/>
              </a:spcAft>
            </a:pPr>
            <a:r>
              <a:rPr sz="1700" b="1">
                <a:solidFill>
                  <a:srgbClr val="101411"/>
                </a:solidFill>
                <a:latin typeface="Arial"/>
              </a:rPr>
              <a:t>one bounded action.</a:t>
            </a:r>
          </a:p>
        </p:txBody>
      </p:sp>
      <p:sp>
        <p:nvSpPr>
          <p:cNvPr id="28" name="Rectangle 27"/>
          <p:cNvSpPr/>
          <p:nvPr/>
        </p:nvSpPr>
        <p:spPr>
          <a:xfrm>
            <a:off x="8823960" y="1755648"/>
            <a:ext cx="2331720" cy="128016"/>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Human review gate"/>
          <p:cNvSpPr/>
          <p:nvPr/>
        </p:nvSpPr>
        <p:spPr>
          <a:xfrm>
            <a:off x="11247119" y="1682496"/>
            <a:ext cx="274320" cy="274320"/>
          </a:xfrm>
          <a:prstGeom prst="diamond">
            <a:avLst/>
          </a:prstGeom>
          <a:solidFill>
            <a:srgbClr val="1014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Week 4"/>
          <p:cNvSpPr txBox="1"/>
          <p:nvPr/>
        </p:nvSpPr>
        <p:spPr>
          <a:xfrm>
            <a:off x="8823960" y="2176272"/>
            <a:ext cx="2286000" cy="868680"/>
          </a:xfrm>
          <a:prstGeom prst="rect">
            <a:avLst/>
          </a:prstGeom>
          <a:noFill/>
        </p:spPr>
        <p:txBody>
          <a:bodyPr wrap="square" lIns="0" rIns="0" tIns="0" bIns="0">
            <a:spAutoFit/>
          </a:bodyPr>
          <a:lstStyle/>
          <a:p>
            <a:pPr>
              <a:lnSpc>
                <a:spcPct val="107000"/>
              </a:lnSpc>
              <a:spcAft>
                <a:spcPts val="500"/>
              </a:spcAft>
            </a:pPr>
            <a:r>
              <a:rPr sz="2400" b="1">
                <a:solidFill>
                  <a:srgbClr val="08872B"/>
                </a:solidFill>
                <a:latin typeface="Mona Sans"/>
              </a:rPr>
              <a:t>Week 4</a:t>
            </a:r>
          </a:p>
          <a:p>
            <a:pPr>
              <a:lnSpc>
                <a:spcPct val="107000"/>
              </a:lnSpc>
              <a:spcAft>
                <a:spcPts val="500"/>
              </a:spcAft>
            </a:pPr>
            <a:r>
              <a:rPr sz="2400" b="1">
                <a:solidFill>
                  <a:srgbClr val="08872B"/>
                </a:solidFill>
                <a:latin typeface="Mona Sans"/>
              </a:rPr>
              <a:t>Prove</a:t>
            </a:r>
          </a:p>
        </p:txBody>
      </p:sp>
      <p:sp>
        <p:nvSpPr>
          <p:cNvPr id="31" name="Use a reviewed PR."/>
          <p:cNvSpPr txBox="1"/>
          <p:nvPr/>
        </p:nvSpPr>
        <p:spPr>
          <a:xfrm>
            <a:off x="8823960" y="3108960"/>
            <a:ext cx="2286000" cy="1097280"/>
          </a:xfrm>
          <a:prstGeom prst="rect">
            <a:avLst/>
          </a:prstGeom>
          <a:noFill/>
        </p:spPr>
        <p:txBody>
          <a:bodyPr wrap="square" lIns="0" rIns="0" tIns="0" bIns="0">
            <a:spAutoFit/>
          </a:bodyPr>
          <a:lstStyle/>
          <a:p>
            <a:pPr>
              <a:lnSpc>
                <a:spcPct val="107000"/>
              </a:lnSpc>
              <a:spcAft>
                <a:spcPts val="500"/>
              </a:spcAft>
            </a:pPr>
            <a:r>
              <a:rPr sz="1800" b="0">
                <a:solidFill>
                  <a:srgbClr val="232925"/>
                </a:solidFill>
                <a:latin typeface="Arial"/>
              </a:rPr>
              <a:t>Use a reviewed PR.</a:t>
            </a:r>
          </a:p>
          <a:p>
            <a:pPr>
              <a:lnSpc>
                <a:spcPct val="107000"/>
              </a:lnSpc>
              <a:spcAft>
                <a:spcPts val="500"/>
              </a:spcAft>
            </a:pPr>
            <a:r>
              <a:rPr sz="1800" b="0">
                <a:solidFill>
                  <a:srgbClr val="232925"/>
                </a:solidFill>
                <a:latin typeface="Arial"/>
              </a:rPr>
              <a:t>Remeasure comparably.</a:t>
            </a:r>
          </a:p>
          <a:p>
            <a:pPr>
              <a:lnSpc>
                <a:spcPct val="107000"/>
              </a:lnSpc>
              <a:spcAft>
                <a:spcPts val="500"/>
              </a:spcAft>
            </a:pPr>
            <a:r>
              <a:rPr sz="1800" b="0">
                <a:solidFill>
                  <a:srgbClr val="232925"/>
                </a:solidFill>
                <a:latin typeface="Arial"/>
              </a:rPr>
              <a:t>Document rollback.</a:t>
            </a:r>
          </a:p>
        </p:txBody>
      </p:sp>
      <p:sp>
        <p:nvSpPr>
          <p:cNvPr id="32" name="Rectangle 31"/>
          <p:cNvSpPr/>
          <p:nvPr/>
        </p:nvSpPr>
        <p:spPr>
          <a:xfrm>
            <a:off x="8823960" y="4370832"/>
            <a:ext cx="233172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Human review gate"/>
          <p:cNvSpPr/>
          <p:nvPr/>
        </p:nvSpPr>
        <p:spPr>
          <a:xfrm>
            <a:off x="8823960" y="4590288"/>
            <a:ext cx="237744" cy="237744"/>
          </a:xfrm>
          <a:prstGeom prst="diamond">
            <a:avLst/>
          </a:prstGeom>
          <a:solidFill>
            <a:srgbClr val="1014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wner accepts;"/>
          <p:cNvSpPr txBox="1"/>
          <p:nvPr/>
        </p:nvSpPr>
        <p:spPr>
          <a:xfrm>
            <a:off x="9189720" y="4553712"/>
            <a:ext cx="2011680" cy="822960"/>
          </a:xfrm>
          <a:prstGeom prst="rect">
            <a:avLst/>
          </a:prstGeom>
          <a:noFill/>
        </p:spPr>
        <p:txBody>
          <a:bodyPr wrap="square" lIns="0" rIns="0" tIns="0" bIns="0">
            <a:spAutoFit/>
          </a:bodyPr>
          <a:lstStyle/>
          <a:p>
            <a:pPr>
              <a:lnSpc>
                <a:spcPct val="107000"/>
              </a:lnSpc>
              <a:spcAft>
                <a:spcPts val="500"/>
              </a:spcAft>
            </a:pPr>
            <a:r>
              <a:rPr sz="1700" b="1">
                <a:solidFill>
                  <a:srgbClr val="101411"/>
                </a:solidFill>
                <a:latin typeface="Arial"/>
              </a:rPr>
              <a:t>Owner accepts;</a:t>
            </a:r>
          </a:p>
          <a:p>
            <a:pPr>
              <a:lnSpc>
                <a:spcPct val="107000"/>
              </a:lnSpc>
              <a:spcAft>
                <a:spcPts val="500"/>
              </a:spcAft>
            </a:pPr>
            <a:r>
              <a:rPr sz="1700" b="1">
                <a:solidFill>
                  <a:srgbClr val="101411"/>
                </a:solidFill>
                <a:latin typeface="Arial"/>
              </a:rPr>
              <a:t>sponsor decides scale.</a:t>
            </a:r>
          </a:p>
        </p:txBody>
      </p:sp>
      <p:sp>
        <p:nvSpPr>
          <p:cNvPr id="35" name="Chip: Illustrative"/>
          <p:cNvSpPr/>
          <p:nvPr/>
        </p:nvSpPr>
        <p:spPr>
          <a:xfrm>
            <a:off x="594360" y="5742432"/>
            <a:ext cx="1005840" cy="274320"/>
          </a:xfrm>
          <a:prstGeom prst="roundRect">
            <a:avLst/>
          </a:prstGeom>
          <a:solidFill>
            <a:srgbClr val="8534F3"/>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200" b="1">
                <a:solidFill>
                  <a:srgbClr val="FFFFFF"/>
                </a:solidFill>
                <a:latin typeface="Arial"/>
              </a:rPr>
              <a:t>Illustrative</a:t>
            </a:r>
          </a:p>
        </p:txBody>
      </p:sp>
      <p:sp>
        <p:nvSpPr>
          <p:cNvPr id="36" name="Planning assumption, one repository first. Diamonds mark hum"/>
          <p:cNvSpPr txBox="1"/>
          <p:nvPr/>
        </p:nvSpPr>
        <p:spPr>
          <a:xfrm>
            <a:off x="1783080" y="5769864"/>
            <a:ext cx="9784080" cy="274320"/>
          </a:xfrm>
          <a:prstGeom prst="rect">
            <a:avLst/>
          </a:prstGeom>
          <a:noFill/>
        </p:spPr>
        <p:txBody>
          <a:bodyPr wrap="square" lIns="0" rIns="0" tIns="0" bIns="0">
            <a:spAutoFit/>
          </a:bodyPr>
          <a:lstStyle/>
          <a:p>
            <a:pPr>
              <a:lnSpc>
                <a:spcPct val="107000"/>
              </a:lnSpc>
              <a:spcAft>
                <a:spcPts val="500"/>
              </a:spcAft>
            </a:pPr>
            <a:r>
              <a:rPr sz="1400" b="0">
                <a:solidFill>
                  <a:srgbClr val="232925"/>
                </a:solidFill>
                <a:latin typeface="Arial"/>
              </a:rPr>
              <a:t>Planning assumption, one repository first. Diamonds mark human review gates.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urn findings into an owned GitHub project."/>
          <p:cNvSpPr txBox="1"/>
          <p:nvPr/>
        </p:nvSpPr>
        <p:spPr>
          <a:xfrm>
            <a:off x="594360" y="502920"/>
            <a:ext cx="10972800" cy="1005840"/>
          </a:xfrm>
          <a:prstGeom prst="rect">
            <a:avLst/>
          </a:prstGeom>
          <a:noFill/>
        </p:spPr>
        <p:txBody>
          <a:bodyPr wrap="square" lIns="0" rIns="0" tIns="0" bIns="0">
            <a:spAutoFit/>
          </a:bodyPr>
          <a:lstStyle/>
          <a:p>
            <a:pPr>
              <a:lnSpc>
                <a:spcPct val="107000"/>
              </a:lnSpc>
              <a:spcAft>
                <a:spcPts val="500"/>
              </a:spcAft>
            </a:pPr>
            <a:r>
              <a:rPr sz="3200" b="1">
                <a:solidFill>
                  <a:srgbClr val="101411"/>
                </a:solidFill>
                <a:latin typeface="Mona Sans"/>
              </a:rPr>
              <a:t>Turn findings into an owned GitHub project.</a:t>
            </a:r>
          </a:p>
        </p:txBody>
      </p:sp>
      <p:sp>
        <p:nvSpPr>
          <p:cNvPr id="3" name="Rectangle 2"/>
          <p:cNvSpPr/>
          <p:nvPr/>
        </p:nvSpPr>
        <p:spPr>
          <a:xfrm>
            <a:off x="594360" y="6327648"/>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itHub mark" descr="GitHub logo"/>
          <p:cNvSpPr/>
          <p:nvPr/>
        </p:nvSpPr>
        <p:spPr>
          <a:xfrm>
            <a:off x="594360" y="6419088"/>
            <a:ext cx="182880" cy="182880"/>
          </a:xfrm>
          <a:custGeom>
            <a:avLst/>
            <a:gdLst/>
            <a:ahLst/>
            <a:cxnLst/>
            <a:rect l="0" t="0" r="r" b="b"/>
            <a:pathLst>
              <a:path w="16000" h="16000">
                <a:moveTo>
                  <a:pt x="8000" y="0"/>
                </a:moveTo>
                <a:cubicBezTo>
                  <a:pt x="3580" y="0"/>
                  <a:pt x="0" y="3580"/>
                  <a:pt x="0" y="8000"/>
                </a:cubicBezTo>
                <a:cubicBezTo>
                  <a:pt x="0" y="11540"/>
                  <a:pt x="2290" y="14530"/>
                  <a:pt x="5470" y="15590"/>
                </a:cubicBezTo>
                <a:cubicBezTo>
                  <a:pt x="5870" y="15660"/>
                  <a:pt x="6020" y="15420"/>
                  <a:pt x="6020" y="15210"/>
                </a:cubicBezTo>
                <a:cubicBezTo>
                  <a:pt x="6020" y="15020"/>
                  <a:pt x="6010" y="14390"/>
                  <a:pt x="6010" y="13720"/>
                </a:cubicBezTo>
                <a:cubicBezTo>
                  <a:pt x="4000" y="14090"/>
                  <a:pt x="3480" y="13230"/>
                  <a:pt x="3320" y="12780"/>
                </a:cubicBezTo>
                <a:cubicBezTo>
                  <a:pt x="3230" y="12550"/>
                  <a:pt x="2840" y="11840"/>
                  <a:pt x="2500" y="11650"/>
                </a:cubicBezTo>
                <a:cubicBezTo>
                  <a:pt x="2220" y="11500"/>
                  <a:pt x="1820" y="11130"/>
                  <a:pt x="2490" y="11120"/>
                </a:cubicBezTo>
                <a:cubicBezTo>
                  <a:pt x="3120" y="11110"/>
                  <a:pt x="3570" y="11700"/>
                  <a:pt x="3720" y="11940"/>
                </a:cubicBezTo>
                <a:cubicBezTo>
                  <a:pt x="4440" y="13150"/>
                  <a:pt x="5590" y="12810"/>
                  <a:pt x="6050" y="12600"/>
                </a:cubicBezTo>
                <a:cubicBezTo>
                  <a:pt x="6120" y="12080"/>
                  <a:pt x="6330" y="11730"/>
                  <a:pt x="6560" y="11530"/>
                </a:cubicBezTo>
                <a:cubicBezTo>
                  <a:pt x="4780" y="11330"/>
                  <a:pt x="2920" y="10640"/>
                  <a:pt x="2920" y="7580"/>
                </a:cubicBezTo>
                <a:cubicBezTo>
                  <a:pt x="2920" y="6710"/>
                  <a:pt x="3230" y="5990"/>
                  <a:pt x="3740" y="5430"/>
                </a:cubicBezTo>
                <a:cubicBezTo>
                  <a:pt x="3660" y="5230"/>
                  <a:pt x="3380" y="4410"/>
                  <a:pt x="3820" y="3310"/>
                </a:cubicBezTo>
                <a:cubicBezTo>
                  <a:pt x="3820" y="3310"/>
                  <a:pt x="4490" y="3100"/>
                  <a:pt x="6020" y="4130"/>
                </a:cubicBezTo>
                <a:cubicBezTo>
                  <a:pt x="6660" y="3950"/>
                  <a:pt x="7340" y="3860"/>
                  <a:pt x="8020" y="3860"/>
                </a:cubicBezTo>
                <a:cubicBezTo>
                  <a:pt x="8700" y="3860"/>
                  <a:pt x="9380" y="3950"/>
                  <a:pt x="10020" y="4130"/>
                </a:cubicBezTo>
                <a:cubicBezTo>
                  <a:pt x="11550" y="3090"/>
                  <a:pt x="12220" y="3310"/>
                  <a:pt x="12220" y="3310"/>
                </a:cubicBezTo>
                <a:cubicBezTo>
                  <a:pt x="12660" y="4410"/>
                  <a:pt x="12380" y="5230"/>
                  <a:pt x="12300" y="5430"/>
                </a:cubicBezTo>
                <a:cubicBezTo>
                  <a:pt x="12810" y="5990"/>
                  <a:pt x="13120" y="6700"/>
                  <a:pt x="13120" y="7580"/>
                </a:cubicBezTo>
                <a:cubicBezTo>
                  <a:pt x="13120" y="10650"/>
                  <a:pt x="11250" y="11330"/>
                  <a:pt x="9470" y="11530"/>
                </a:cubicBezTo>
                <a:cubicBezTo>
                  <a:pt x="9760" y="11780"/>
                  <a:pt x="10010" y="12260"/>
                  <a:pt x="10010" y="13010"/>
                </a:cubicBezTo>
                <a:cubicBezTo>
                  <a:pt x="10010" y="14080"/>
                  <a:pt x="10000" y="14940"/>
                  <a:pt x="10000" y="15210"/>
                </a:cubicBezTo>
                <a:cubicBezTo>
                  <a:pt x="10000" y="15420"/>
                  <a:pt x="10150" y="15670"/>
                  <a:pt x="10550" y="15590"/>
                </a:cubicBezTo>
                <a:cubicBezTo>
                  <a:pt x="11604" y="15234"/>
                  <a:pt x="12572" y="14663"/>
                  <a:pt x="13394" y="13912"/>
                </a:cubicBezTo>
                <a:cubicBezTo>
                  <a:pt x="14215" y="13162"/>
                  <a:pt x="14870" y="12248"/>
                  <a:pt x="15319" y="11231"/>
                </a:cubicBezTo>
                <a:cubicBezTo>
                  <a:pt x="15768" y="10213"/>
                  <a:pt x="16000" y="9112"/>
                  <a:pt x="16000" y="8000"/>
                </a:cubicBezTo>
                <a:cubicBezTo>
                  <a:pt x="16000" y="3580"/>
                  <a:pt x="12420" y="0"/>
                  <a:pt x="8000" y="0"/>
                </a:cubicBezTo>
                <a:close/>
              </a:path>
            </a:pathLst>
          </a:custGeom>
          <a:solidFill>
            <a:srgbClr val="1014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earing  |  GitHub Copilot App workflow"/>
          <p:cNvSpPr txBox="1"/>
          <p:nvPr/>
        </p:nvSpPr>
        <p:spPr>
          <a:xfrm>
            <a:off x="914400" y="6428232"/>
            <a:ext cx="7726679" cy="201168"/>
          </a:xfrm>
          <a:prstGeom prst="rect">
            <a:avLst/>
          </a:prstGeom>
          <a:noFill/>
        </p:spPr>
        <p:txBody>
          <a:bodyPr wrap="square" lIns="0" rIns="0" tIns="0" bIns="0">
            <a:spAutoFit/>
          </a:bodyPr>
          <a:lstStyle/>
          <a:p>
            <a:pPr>
              <a:lnSpc>
                <a:spcPct val="107000"/>
              </a:lnSpc>
              <a:spcAft>
                <a:spcPts val="500"/>
              </a:spcAft>
            </a:pPr>
            <a:r>
              <a:rPr sz="1000" b="0">
                <a:solidFill>
                  <a:srgbClr val="232925"/>
                </a:solidFill>
                <a:latin typeface="Arial"/>
              </a:rPr>
              <a:t>Bearing  |  GitHub Copilot App workflow</a:t>
            </a:r>
          </a:p>
        </p:txBody>
      </p:sp>
      <p:sp>
        <p:nvSpPr>
          <p:cNvPr id="6" name="09 / 16"/>
          <p:cNvSpPr txBox="1"/>
          <p:nvPr/>
        </p:nvSpPr>
        <p:spPr>
          <a:xfrm>
            <a:off x="10744200" y="6428232"/>
            <a:ext cx="822960" cy="201168"/>
          </a:xfrm>
          <a:prstGeom prst="rect">
            <a:avLst/>
          </a:prstGeom>
          <a:noFill/>
        </p:spPr>
        <p:txBody>
          <a:bodyPr wrap="square" lIns="0" rIns="0" tIns="0" bIns="0">
            <a:spAutoFit/>
          </a:bodyPr>
          <a:lstStyle/>
          <a:p>
            <a:pPr>
              <a:lnSpc>
                <a:spcPct val="107000"/>
              </a:lnSpc>
              <a:spcAft>
                <a:spcPts val="500"/>
              </a:spcAft>
            </a:pPr>
            <a:r>
              <a:rPr sz="1000" b="0">
                <a:solidFill>
                  <a:srgbClr val="232925"/>
                </a:solidFill>
                <a:latin typeface="Arial"/>
              </a:rPr>
              <a:t>09 / 16</a:t>
            </a:r>
          </a:p>
        </p:txBody>
      </p:sp>
      <p:sp>
        <p:nvSpPr>
          <p:cNvPr id="7" name="Changeability &amp; Modernization"/>
          <p:cNvSpPr txBox="1"/>
          <p:nvPr/>
        </p:nvSpPr>
        <p:spPr>
          <a:xfrm>
            <a:off x="594360" y="1627632"/>
            <a:ext cx="10789920" cy="502920"/>
          </a:xfrm>
          <a:prstGeom prst="rect">
            <a:avLst/>
          </a:prstGeom>
          <a:noFill/>
        </p:spPr>
        <p:txBody>
          <a:bodyPr wrap="square" lIns="0" rIns="0" tIns="0" bIns="0">
            <a:spAutoFit/>
          </a:bodyPr>
          <a:lstStyle/>
          <a:p>
            <a:pPr>
              <a:lnSpc>
                <a:spcPct val="107000"/>
              </a:lnSpc>
              <a:spcAft>
                <a:spcPts val="500"/>
              </a:spcAft>
            </a:pPr>
            <a:r>
              <a:rPr sz="2700" b="1">
                <a:solidFill>
                  <a:srgbClr val="08872B"/>
                </a:solidFill>
                <a:latin typeface="Mona Sans"/>
              </a:rPr>
              <a:t>Changeability &amp; Modernization</a:t>
            </a:r>
          </a:p>
        </p:txBody>
      </p:sp>
      <p:sp>
        <p:nvSpPr>
          <p:cNvPr id="8" name="Rectangle 7"/>
          <p:cNvSpPr/>
          <p:nvPr/>
        </p:nvSpPr>
        <p:spPr>
          <a:xfrm>
            <a:off x="594360" y="2432304"/>
            <a:ext cx="2514600" cy="2011680"/>
          </a:xfrm>
          <a:prstGeom prst="rect">
            <a:avLst/>
          </a:prstGeom>
          <a:solidFill>
            <a:srgbClr val="F2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iscovery"/>
          <p:cNvSpPr txBox="1"/>
          <p:nvPr/>
        </p:nvSpPr>
        <p:spPr>
          <a:xfrm>
            <a:off x="758952" y="2615184"/>
            <a:ext cx="2157984" cy="457200"/>
          </a:xfrm>
          <a:prstGeom prst="rect">
            <a:avLst/>
          </a:prstGeom>
          <a:noFill/>
        </p:spPr>
        <p:txBody>
          <a:bodyPr wrap="square" lIns="0" rIns="0" tIns="0" bIns="0">
            <a:spAutoFit/>
          </a:bodyPr>
          <a:lstStyle/>
          <a:p>
            <a:pPr>
              <a:lnSpc>
                <a:spcPct val="107000"/>
              </a:lnSpc>
              <a:spcAft>
                <a:spcPts val="500"/>
              </a:spcAft>
            </a:pPr>
            <a:r>
              <a:rPr sz="1900" b="1">
                <a:solidFill>
                  <a:srgbClr val="101411"/>
                </a:solidFill>
                <a:latin typeface="Arial"/>
              </a:rPr>
              <a:t>Discovery</a:t>
            </a:r>
          </a:p>
        </p:txBody>
      </p:sp>
      <p:sp>
        <p:nvSpPr>
          <p:cNvPr id="10" name="Rectangle 9"/>
          <p:cNvSpPr/>
          <p:nvPr/>
        </p:nvSpPr>
        <p:spPr>
          <a:xfrm>
            <a:off x="740664" y="3200400"/>
            <a:ext cx="2221992" cy="987552"/>
          </a:xfrm>
          <a:prstGeom prst="rect">
            <a:avLst/>
          </a:prstGeom>
          <a:solidFill>
            <a:srgbClr val="FFFFFF"/>
          </a:solidFill>
          <a:ln w="6350">
            <a:solidFill>
              <a:srgbClr val="E4E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ap validation callers"/>
          <p:cNvSpPr txBox="1"/>
          <p:nvPr/>
        </p:nvSpPr>
        <p:spPr>
          <a:xfrm>
            <a:off x="859536" y="3374136"/>
            <a:ext cx="1984248" cy="722376"/>
          </a:xfrm>
          <a:prstGeom prst="rect">
            <a:avLst/>
          </a:prstGeom>
          <a:noFill/>
        </p:spPr>
        <p:txBody>
          <a:bodyPr wrap="square" lIns="0" rIns="0" tIns="0" bIns="0">
            <a:spAutoFit/>
          </a:bodyPr>
          <a:lstStyle/>
          <a:p>
            <a:pPr>
              <a:lnSpc>
                <a:spcPct val="107000"/>
              </a:lnSpc>
              <a:spcAft>
                <a:spcPts val="500"/>
              </a:spcAft>
            </a:pPr>
            <a:r>
              <a:rPr sz="1800" b="0">
                <a:solidFill>
                  <a:srgbClr val="232925"/>
                </a:solidFill>
                <a:latin typeface="Arial"/>
              </a:rPr>
              <a:t>Map validation callers</a:t>
            </a:r>
          </a:p>
        </p:txBody>
      </p:sp>
      <p:sp>
        <p:nvSpPr>
          <p:cNvPr id="12" name="Rectangle 11"/>
          <p:cNvSpPr/>
          <p:nvPr/>
        </p:nvSpPr>
        <p:spPr>
          <a:xfrm>
            <a:off x="3401568" y="2432304"/>
            <a:ext cx="2514600" cy="2011680"/>
          </a:xfrm>
          <a:prstGeom prst="rect">
            <a:avLst/>
          </a:prstGeom>
          <a:solidFill>
            <a:srgbClr val="F2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Evidence review"/>
          <p:cNvSpPr txBox="1"/>
          <p:nvPr/>
        </p:nvSpPr>
        <p:spPr>
          <a:xfrm>
            <a:off x="3566160" y="2615184"/>
            <a:ext cx="2157984" cy="457200"/>
          </a:xfrm>
          <a:prstGeom prst="rect">
            <a:avLst/>
          </a:prstGeom>
          <a:noFill/>
        </p:spPr>
        <p:txBody>
          <a:bodyPr wrap="square" lIns="0" rIns="0" tIns="0" bIns="0">
            <a:spAutoFit/>
          </a:bodyPr>
          <a:lstStyle/>
          <a:p>
            <a:pPr>
              <a:lnSpc>
                <a:spcPct val="107000"/>
              </a:lnSpc>
              <a:spcAft>
                <a:spcPts val="500"/>
              </a:spcAft>
            </a:pPr>
            <a:r>
              <a:rPr sz="1900" b="1">
                <a:solidFill>
                  <a:srgbClr val="101411"/>
                </a:solidFill>
                <a:latin typeface="Arial"/>
              </a:rPr>
              <a:t>Evidence review</a:t>
            </a:r>
          </a:p>
        </p:txBody>
      </p:sp>
      <p:sp>
        <p:nvSpPr>
          <p:cNvPr id="14" name="Rectangle 13"/>
          <p:cNvSpPr/>
          <p:nvPr/>
        </p:nvSpPr>
        <p:spPr>
          <a:xfrm>
            <a:off x="3547872" y="3200400"/>
            <a:ext cx="2221992" cy="987552"/>
          </a:xfrm>
          <a:prstGeom prst="rect">
            <a:avLst/>
          </a:prstGeom>
          <a:solidFill>
            <a:srgbClr val="FFFFFF"/>
          </a:solidFill>
          <a:ln w="6350">
            <a:solidFill>
              <a:srgbClr val="E4E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nspect CI stage timings"/>
          <p:cNvSpPr txBox="1"/>
          <p:nvPr/>
        </p:nvSpPr>
        <p:spPr>
          <a:xfrm>
            <a:off x="3666744" y="3374136"/>
            <a:ext cx="1984248" cy="722376"/>
          </a:xfrm>
          <a:prstGeom prst="rect">
            <a:avLst/>
          </a:prstGeom>
          <a:noFill/>
        </p:spPr>
        <p:txBody>
          <a:bodyPr wrap="square" lIns="0" rIns="0" tIns="0" bIns="0">
            <a:spAutoFit/>
          </a:bodyPr>
          <a:lstStyle/>
          <a:p>
            <a:pPr>
              <a:lnSpc>
                <a:spcPct val="107000"/>
              </a:lnSpc>
              <a:spcAft>
                <a:spcPts val="500"/>
              </a:spcAft>
            </a:pPr>
            <a:r>
              <a:rPr sz="1800" b="0">
                <a:solidFill>
                  <a:srgbClr val="232925"/>
                </a:solidFill>
                <a:latin typeface="Arial"/>
              </a:rPr>
              <a:t>Inspect CI stage timings</a:t>
            </a:r>
          </a:p>
        </p:txBody>
      </p:sp>
      <p:sp>
        <p:nvSpPr>
          <p:cNvPr id="16" name="Rectangle 15"/>
          <p:cNvSpPr/>
          <p:nvPr/>
        </p:nvSpPr>
        <p:spPr>
          <a:xfrm>
            <a:off x="6208776" y="2432304"/>
            <a:ext cx="2514600" cy="2011680"/>
          </a:xfrm>
          <a:prstGeom prst="rect">
            <a:avLst/>
          </a:prstGeom>
          <a:solidFill>
            <a:srgbClr val="F2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pproved"/>
          <p:cNvSpPr txBox="1"/>
          <p:nvPr/>
        </p:nvSpPr>
        <p:spPr>
          <a:xfrm>
            <a:off x="6373368" y="2615184"/>
            <a:ext cx="2157984" cy="457200"/>
          </a:xfrm>
          <a:prstGeom prst="rect">
            <a:avLst/>
          </a:prstGeom>
          <a:noFill/>
        </p:spPr>
        <p:txBody>
          <a:bodyPr wrap="square" lIns="0" rIns="0" tIns="0" bIns="0">
            <a:spAutoFit/>
          </a:bodyPr>
          <a:lstStyle/>
          <a:p>
            <a:pPr>
              <a:lnSpc>
                <a:spcPct val="107000"/>
              </a:lnSpc>
              <a:spcAft>
                <a:spcPts val="500"/>
              </a:spcAft>
            </a:pPr>
            <a:r>
              <a:rPr sz="1900" b="1">
                <a:solidFill>
                  <a:srgbClr val="101411"/>
                </a:solidFill>
                <a:latin typeface="Arial"/>
              </a:rPr>
              <a:t>Approved</a:t>
            </a:r>
          </a:p>
        </p:txBody>
      </p:sp>
      <p:sp>
        <p:nvSpPr>
          <p:cNvPr id="18" name="Rectangle 17"/>
          <p:cNvSpPr/>
          <p:nvPr/>
        </p:nvSpPr>
        <p:spPr>
          <a:xfrm>
            <a:off x="6355080" y="3200400"/>
            <a:ext cx="2221992" cy="987552"/>
          </a:xfrm>
          <a:prstGeom prst="rect">
            <a:avLst/>
          </a:prstGeom>
          <a:solidFill>
            <a:srgbClr val="FFFFFF"/>
          </a:solidFill>
          <a:ln w="6350">
            <a:solidFill>
              <a:srgbClr val="E4E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dd agreed behavior tests"/>
          <p:cNvSpPr txBox="1"/>
          <p:nvPr/>
        </p:nvSpPr>
        <p:spPr>
          <a:xfrm>
            <a:off x="6473952" y="3374136"/>
            <a:ext cx="1984248" cy="722376"/>
          </a:xfrm>
          <a:prstGeom prst="rect">
            <a:avLst/>
          </a:prstGeom>
          <a:noFill/>
        </p:spPr>
        <p:txBody>
          <a:bodyPr wrap="square" lIns="0" rIns="0" tIns="0" bIns="0">
            <a:spAutoFit/>
          </a:bodyPr>
          <a:lstStyle/>
          <a:p>
            <a:pPr>
              <a:lnSpc>
                <a:spcPct val="107000"/>
              </a:lnSpc>
              <a:spcAft>
                <a:spcPts val="500"/>
              </a:spcAft>
            </a:pPr>
            <a:r>
              <a:rPr sz="1800" b="0">
                <a:solidFill>
                  <a:srgbClr val="232925"/>
                </a:solidFill>
                <a:latin typeface="Arial"/>
              </a:rPr>
              <a:t>Add agreed behavior tests</a:t>
            </a:r>
          </a:p>
        </p:txBody>
      </p:sp>
      <p:sp>
        <p:nvSpPr>
          <p:cNvPr id="20" name="Rectangle 19"/>
          <p:cNvSpPr/>
          <p:nvPr/>
        </p:nvSpPr>
        <p:spPr>
          <a:xfrm>
            <a:off x="9015984" y="2432304"/>
            <a:ext cx="2514600" cy="2011680"/>
          </a:xfrm>
          <a:prstGeom prst="rect">
            <a:avLst/>
          </a:prstGeom>
          <a:solidFill>
            <a:srgbClr val="F2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Validating"/>
          <p:cNvSpPr txBox="1"/>
          <p:nvPr/>
        </p:nvSpPr>
        <p:spPr>
          <a:xfrm>
            <a:off x="9180576" y="2615184"/>
            <a:ext cx="2157984" cy="457200"/>
          </a:xfrm>
          <a:prstGeom prst="rect">
            <a:avLst/>
          </a:prstGeom>
          <a:noFill/>
        </p:spPr>
        <p:txBody>
          <a:bodyPr wrap="square" lIns="0" rIns="0" tIns="0" bIns="0">
            <a:spAutoFit/>
          </a:bodyPr>
          <a:lstStyle/>
          <a:p>
            <a:pPr>
              <a:lnSpc>
                <a:spcPct val="107000"/>
              </a:lnSpc>
              <a:spcAft>
                <a:spcPts val="500"/>
              </a:spcAft>
            </a:pPr>
            <a:r>
              <a:rPr sz="1900" b="1">
                <a:solidFill>
                  <a:srgbClr val="101411"/>
                </a:solidFill>
                <a:latin typeface="Arial"/>
              </a:rPr>
              <a:t>Validating</a:t>
            </a:r>
          </a:p>
        </p:txBody>
      </p:sp>
      <p:sp>
        <p:nvSpPr>
          <p:cNvPr id="22" name="Rectangle 21"/>
          <p:cNvSpPr/>
          <p:nvPr/>
        </p:nvSpPr>
        <p:spPr>
          <a:xfrm>
            <a:off x="9162288" y="3200400"/>
            <a:ext cx="2221992" cy="987552"/>
          </a:xfrm>
          <a:prstGeom prst="rect">
            <a:avLst/>
          </a:prstGeom>
          <a:solidFill>
            <a:srgbClr val="FFFFFF"/>
          </a:solidFill>
          <a:ln w="6350">
            <a:solidFill>
              <a:srgbClr val="E4E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ompare baseline + PR"/>
          <p:cNvSpPr txBox="1"/>
          <p:nvPr/>
        </p:nvSpPr>
        <p:spPr>
          <a:xfrm>
            <a:off x="9281159" y="3374136"/>
            <a:ext cx="1984248" cy="722376"/>
          </a:xfrm>
          <a:prstGeom prst="rect">
            <a:avLst/>
          </a:prstGeom>
          <a:noFill/>
        </p:spPr>
        <p:txBody>
          <a:bodyPr wrap="square" lIns="0" rIns="0" tIns="0" bIns="0">
            <a:spAutoFit/>
          </a:bodyPr>
          <a:lstStyle/>
          <a:p>
            <a:pPr>
              <a:lnSpc>
                <a:spcPct val="107000"/>
              </a:lnSpc>
              <a:spcAft>
                <a:spcPts val="500"/>
              </a:spcAft>
            </a:pPr>
            <a:r>
              <a:rPr sz="1800" b="0">
                <a:solidFill>
                  <a:srgbClr val="232925"/>
                </a:solidFill>
                <a:latin typeface="Arial"/>
              </a:rPr>
              <a:t>Compare baseline + PR</a:t>
            </a:r>
          </a:p>
        </p:txBody>
      </p:sp>
      <p:sp>
        <p:nvSpPr>
          <p:cNvPr id="24" name="Each issue carries evidence, baseline, owner, reviewer,"/>
          <p:cNvSpPr txBox="1"/>
          <p:nvPr/>
        </p:nvSpPr>
        <p:spPr>
          <a:xfrm>
            <a:off x="594360" y="4773168"/>
            <a:ext cx="10927080" cy="822960"/>
          </a:xfrm>
          <a:prstGeom prst="rect">
            <a:avLst/>
          </a:prstGeom>
          <a:noFill/>
        </p:spPr>
        <p:txBody>
          <a:bodyPr wrap="square" lIns="0" rIns="0" tIns="0" bIns="0">
            <a:spAutoFit/>
          </a:bodyPr>
          <a:lstStyle/>
          <a:p>
            <a:pPr>
              <a:lnSpc>
                <a:spcPct val="107000"/>
              </a:lnSpc>
              <a:spcAft>
                <a:spcPts val="500"/>
              </a:spcAft>
            </a:pPr>
            <a:r>
              <a:rPr sz="2400" b="1">
                <a:solidFill>
                  <a:srgbClr val="101411"/>
                </a:solidFill>
                <a:latin typeface="Mona Sans"/>
              </a:rPr>
              <a:t>Each issue carries evidence, baseline, owner, reviewer,</a:t>
            </a:r>
          </a:p>
          <a:p>
            <a:pPr>
              <a:lnSpc>
                <a:spcPct val="107000"/>
              </a:lnSpc>
              <a:spcAft>
                <a:spcPts val="500"/>
              </a:spcAft>
            </a:pPr>
            <a:r>
              <a:rPr sz="2400" b="1">
                <a:solidFill>
                  <a:srgbClr val="101411"/>
                </a:solidFill>
                <a:latin typeface="Mona Sans"/>
              </a:rPr>
              <a:t>acceptance criteria, dependencies, risk and rollback.</a:t>
            </a:r>
          </a:p>
        </p:txBody>
      </p:sp>
      <p:sp>
        <p:nvSpPr>
          <p:cNvPr id="25" name="Chip: Illustrative"/>
          <p:cNvSpPr/>
          <p:nvPr/>
        </p:nvSpPr>
        <p:spPr>
          <a:xfrm>
            <a:off x="594360" y="5760720"/>
            <a:ext cx="1005840" cy="274320"/>
          </a:xfrm>
          <a:prstGeom prst="roundRect">
            <a:avLst/>
          </a:prstGeom>
          <a:solidFill>
            <a:srgbClr val="8534F3"/>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200" b="1">
                <a:solidFill>
                  <a:srgbClr val="FFFFFF"/>
                </a:solidFill>
                <a:latin typeface="Arial"/>
              </a:rPr>
              <a:t>Illustrative</a:t>
            </a:r>
          </a:p>
        </p:txBody>
      </p:sp>
      <p:sp>
        <p:nvSpPr>
          <p:cNvPr id="26" name="Project design, not a live board. Status values do not enfor"/>
          <p:cNvSpPr txBox="1"/>
          <p:nvPr/>
        </p:nvSpPr>
        <p:spPr>
          <a:xfrm>
            <a:off x="1783080" y="5788152"/>
            <a:ext cx="9784080" cy="274320"/>
          </a:xfrm>
          <a:prstGeom prst="rect">
            <a:avLst/>
          </a:prstGeom>
          <a:noFill/>
        </p:spPr>
        <p:txBody>
          <a:bodyPr wrap="square" lIns="0" rIns="0" tIns="0" bIns="0">
            <a:spAutoFit/>
          </a:bodyPr>
          <a:lstStyle/>
          <a:p>
            <a:pPr>
              <a:lnSpc>
                <a:spcPct val="107000"/>
              </a:lnSpc>
              <a:spcAft>
                <a:spcPts val="500"/>
              </a:spcAft>
            </a:pPr>
            <a:r>
              <a:rPr sz="1400" b="0">
                <a:solidFill>
                  <a:srgbClr val="232925"/>
                </a:solidFill>
                <a:latin typeface="Arial"/>
              </a:rPr>
              <a:t>Project design, not a live board. Status values do not enforce approvals.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A backlog of hypotheses—not a list of rewrites."/>
          <p:cNvSpPr txBox="1"/>
          <p:nvPr/>
        </p:nvSpPr>
        <p:spPr>
          <a:xfrm>
            <a:off x="594360" y="502920"/>
            <a:ext cx="10972800" cy="1005840"/>
          </a:xfrm>
          <a:prstGeom prst="rect">
            <a:avLst/>
          </a:prstGeom>
          <a:noFill/>
        </p:spPr>
        <p:txBody>
          <a:bodyPr wrap="square" lIns="0" rIns="0" tIns="0" bIns="0">
            <a:spAutoFit/>
          </a:bodyPr>
          <a:lstStyle/>
          <a:p>
            <a:pPr>
              <a:lnSpc>
                <a:spcPct val="107000"/>
              </a:lnSpc>
              <a:spcAft>
                <a:spcPts val="500"/>
              </a:spcAft>
            </a:pPr>
            <a:r>
              <a:rPr sz="3200" b="1">
                <a:solidFill>
                  <a:srgbClr val="101411"/>
                </a:solidFill>
                <a:latin typeface="Mona Sans"/>
              </a:rPr>
              <a:t>A backlog of hypotheses—not a list of rewrites.</a:t>
            </a:r>
          </a:p>
        </p:txBody>
      </p:sp>
      <p:sp>
        <p:nvSpPr>
          <p:cNvPr id="3" name="Rectangle 2"/>
          <p:cNvSpPr/>
          <p:nvPr/>
        </p:nvSpPr>
        <p:spPr>
          <a:xfrm>
            <a:off x="594360" y="6327648"/>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itHub mark" descr="GitHub logo"/>
          <p:cNvSpPr/>
          <p:nvPr/>
        </p:nvSpPr>
        <p:spPr>
          <a:xfrm>
            <a:off x="594360" y="6419088"/>
            <a:ext cx="182880" cy="182880"/>
          </a:xfrm>
          <a:custGeom>
            <a:avLst/>
            <a:gdLst/>
            <a:ahLst/>
            <a:cxnLst/>
            <a:rect l="0" t="0" r="r" b="b"/>
            <a:pathLst>
              <a:path w="16000" h="16000">
                <a:moveTo>
                  <a:pt x="8000" y="0"/>
                </a:moveTo>
                <a:cubicBezTo>
                  <a:pt x="3580" y="0"/>
                  <a:pt x="0" y="3580"/>
                  <a:pt x="0" y="8000"/>
                </a:cubicBezTo>
                <a:cubicBezTo>
                  <a:pt x="0" y="11540"/>
                  <a:pt x="2290" y="14530"/>
                  <a:pt x="5470" y="15590"/>
                </a:cubicBezTo>
                <a:cubicBezTo>
                  <a:pt x="5870" y="15660"/>
                  <a:pt x="6020" y="15420"/>
                  <a:pt x="6020" y="15210"/>
                </a:cubicBezTo>
                <a:cubicBezTo>
                  <a:pt x="6020" y="15020"/>
                  <a:pt x="6010" y="14390"/>
                  <a:pt x="6010" y="13720"/>
                </a:cubicBezTo>
                <a:cubicBezTo>
                  <a:pt x="4000" y="14090"/>
                  <a:pt x="3480" y="13230"/>
                  <a:pt x="3320" y="12780"/>
                </a:cubicBezTo>
                <a:cubicBezTo>
                  <a:pt x="3230" y="12550"/>
                  <a:pt x="2840" y="11840"/>
                  <a:pt x="2500" y="11650"/>
                </a:cubicBezTo>
                <a:cubicBezTo>
                  <a:pt x="2220" y="11500"/>
                  <a:pt x="1820" y="11130"/>
                  <a:pt x="2490" y="11120"/>
                </a:cubicBezTo>
                <a:cubicBezTo>
                  <a:pt x="3120" y="11110"/>
                  <a:pt x="3570" y="11700"/>
                  <a:pt x="3720" y="11940"/>
                </a:cubicBezTo>
                <a:cubicBezTo>
                  <a:pt x="4440" y="13150"/>
                  <a:pt x="5590" y="12810"/>
                  <a:pt x="6050" y="12600"/>
                </a:cubicBezTo>
                <a:cubicBezTo>
                  <a:pt x="6120" y="12080"/>
                  <a:pt x="6330" y="11730"/>
                  <a:pt x="6560" y="11530"/>
                </a:cubicBezTo>
                <a:cubicBezTo>
                  <a:pt x="4780" y="11330"/>
                  <a:pt x="2920" y="10640"/>
                  <a:pt x="2920" y="7580"/>
                </a:cubicBezTo>
                <a:cubicBezTo>
                  <a:pt x="2920" y="6710"/>
                  <a:pt x="3230" y="5990"/>
                  <a:pt x="3740" y="5430"/>
                </a:cubicBezTo>
                <a:cubicBezTo>
                  <a:pt x="3660" y="5230"/>
                  <a:pt x="3380" y="4410"/>
                  <a:pt x="3820" y="3310"/>
                </a:cubicBezTo>
                <a:cubicBezTo>
                  <a:pt x="3820" y="3310"/>
                  <a:pt x="4490" y="3100"/>
                  <a:pt x="6020" y="4130"/>
                </a:cubicBezTo>
                <a:cubicBezTo>
                  <a:pt x="6660" y="3950"/>
                  <a:pt x="7340" y="3860"/>
                  <a:pt x="8020" y="3860"/>
                </a:cubicBezTo>
                <a:cubicBezTo>
                  <a:pt x="8700" y="3860"/>
                  <a:pt x="9380" y="3950"/>
                  <a:pt x="10020" y="4130"/>
                </a:cubicBezTo>
                <a:cubicBezTo>
                  <a:pt x="11550" y="3090"/>
                  <a:pt x="12220" y="3310"/>
                  <a:pt x="12220" y="3310"/>
                </a:cubicBezTo>
                <a:cubicBezTo>
                  <a:pt x="12660" y="4410"/>
                  <a:pt x="12380" y="5230"/>
                  <a:pt x="12300" y="5430"/>
                </a:cubicBezTo>
                <a:cubicBezTo>
                  <a:pt x="12810" y="5990"/>
                  <a:pt x="13120" y="6700"/>
                  <a:pt x="13120" y="7580"/>
                </a:cubicBezTo>
                <a:cubicBezTo>
                  <a:pt x="13120" y="10650"/>
                  <a:pt x="11250" y="11330"/>
                  <a:pt x="9470" y="11530"/>
                </a:cubicBezTo>
                <a:cubicBezTo>
                  <a:pt x="9760" y="11780"/>
                  <a:pt x="10010" y="12260"/>
                  <a:pt x="10010" y="13010"/>
                </a:cubicBezTo>
                <a:cubicBezTo>
                  <a:pt x="10010" y="14080"/>
                  <a:pt x="10000" y="14940"/>
                  <a:pt x="10000" y="15210"/>
                </a:cubicBezTo>
                <a:cubicBezTo>
                  <a:pt x="10000" y="15420"/>
                  <a:pt x="10150" y="15670"/>
                  <a:pt x="10550" y="15590"/>
                </a:cubicBezTo>
                <a:cubicBezTo>
                  <a:pt x="11604" y="15234"/>
                  <a:pt x="12572" y="14663"/>
                  <a:pt x="13394" y="13912"/>
                </a:cubicBezTo>
                <a:cubicBezTo>
                  <a:pt x="14215" y="13162"/>
                  <a:pt x="14870" y="12248"/>
                  <a:pt x="15319" y="11231"/>
                </a:cubicBezTo>
                <a:cubicBezTo>
                  <a:pt x="15768" y="10213"/>
                  <a:pt x="16000" y="9112"/>
                  <a:pt x="16000" y="8000"/>
                </a:cubicBezTo>
                <a:cubicBezTo>
                  <a:pt x="16000" y="3580"/>
                  <a:pt x="12420" y="0"/>
                  <a:pt x="8000" y="0"/>
                </a:cubicBezTo>
                <a:close/>
              </a:path>
            </a:pathLst>
          </a:custGeom>
          <a:solidFill>
            <a:srgbClr val="1014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earing  |  GitHub Copilot App workflow"/>
          <p:cNvSpPr txBox="1"/>
          <p:nvPr/>
        </p:nvSpPr>
        <p:spPr>
          <a:xfrm>
            <a:off x="914400" y="6428232"/>
            <a:ext cx="7726679" cy="201168"/>
          </a:xfrm>
          <a:prstGeom prst="rect">
            <a:avLst/>
          </a:prstGeom>
          <a:noFill/>
        </p:spPr>
        <p:txBody>
          <a:bodyPr wrap="square" lIns="0" rIns="0" tIns="0" bIns="0">
            <a:spAutoFit/>
          </a:bodyPr>
          <a:lstStyle/>
          <a:p>
            <a:pPr>
              <a:lnSpc>
                <a:spcPct val="107000"/>
              </a:lnSpc>
              <a:spcAft>
                <a:spcPts val="500"/>
              </a:spcAft>
            </a:pPr>
            <a:r>
              <a:rPr sz="1000" b="0">
                <a:solidFill>
                  <a:srgbClr val="232925"/>
                </a:solidFill>
                <a:latin typeface="Arial"/>
              </a:rPr>
              <a:t>Bearing  |  GitHub Copilot App workflow</a:t>
            </a:r>
          </a:p>
        </p:txBody>
      </p:sp>
      <p:sp>
        <p:nvSpPr>
          <p:cNvPr id="6" name="10 / 16"/>
          <p:cNvSpPr txBox="1"/>
          <p:nvPr/>
        </p:nvSpPr>
        <p:spPr>
          <a:xfrm>
            <a:off x="10744200" y="6428232"/>
            <a:ext cx="822960" cy="201168"/>
          </a:xfrm>
          <a:prstGeom prst="rect">
            <a:avLst/>
          </a:prstGeom>
          <a:noFill/>
        </p:spPr>
        <p:txBody>
          <a:bodyPr wrap="square" lIns="0" rIns="0" tIns="0" bIns="0">
            <a:spAutoFit/>
          </a:bodyPr>
          <a:lstStyle/>
          <a:p>
            <a:pPr>
              <a:lnSpc>
                <a:spcPct val="107000"/>
              </a:lnSpc>
              <a:spcAft>
                <a:spcPts val="500"/>
              </a:spcAft>
            </a:pPr>
            <a:r>
              <a:rPr sz="1000" b="0">
                <a:solidFill>
                  <a:srgbClr val="232925"/>
                </a:solidFill>
                <a:latin typeface="Arial"/>
              </a:rPr>
              <a:t>10 / 16</a:t>
            </a:r>
          </a:p>
        </p:txBody>
      </p:sp>
      <p:sp>
        <p:nvSpPr>
          <p:cNvPr id="7" name="Rectangle 6"/>
          <p:cNvSpPr/>
          <p:nvPr/>
        </p:nvSpPr>
        <p:spPr>
          <a:xfrm>
            <a:off x="594360" y="1664208"/>
            <a:ext cx="10972800" cy="548640"/>
          </a:xfrm>
          <a:prstGeom prst="rect">
            <a:avLst/>
          </a:prstGeom>
          <a:solidFill>
            <a:srgbClr val="1014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ndidate work"/>
          <p:cNvSpPr txBox="1"/>
          <p:nvPr/>
        </p:nvSpPr>
        <p:spPr>
          <a:xfrm>
            <a:off x="704088" y="1773936"/>
            <a:ext cx="2889504" cy="402335"/>
          </a:xfrm>
          <a:prstGeom prst="rect">
            <a:avLst/>
          </a:prstGeom>
          <a:noFill/>
        </p:spPr>
        <p:txBody>
          <a:bodyPr wrap="square" lIns="0" rIns="0" tIns="0" bIns="0">
            <a:spAutoFit/>
          </a:bodyPr>
          <a:lstStyle/>
          <a:p>
            <a:pPr>
              <a:lnSpc>
                <a:spcPct val="107000"/>
              </a:lnSpc>
              <a:spcAft>
                <a:spcPts val="500"/>
              </a:spcAft>
            </a:pPr>
            <a:r>
              <a:rPr sz="1700" b="1">
                <a:solidFill>
                  <a:srgbClr val="FFFFFF"/>
                </a:solidFill>
                <a:latin typeface="Arial"/>
              </a:rPr>
              <a:t>Candidate work</a:t>
            </a:r>
          </a:p>
        </p:txBody>
      </p:sp>
      <p:sp>
        <p:nvSpPr>
          <p:cNvPr id="9" name="Evidence before approval"/>
          <p:cNvSpPr txBox="1"/>
          <p:nvPr/>
        </p:nvSpPr>
        <p:spPr>
          <a:xfrm>
            <a:off x="3813048" y="1773936"/>
            <a:ext cx="4581144" cy="402335"/>
          </a:xfrm>
          <a:prstGeom prst="rect">
            <a:avLst/>
          </a:prstGeom>
          <a:noFill/>
        </p:spPr>
        <p:txBody>
          <a:bodyPr wrap="square" lIns="0" rIns="0" tIns="0" bIns="0">
            <a:spAutoFit/>
          </a:bodyPr>
          <a:lstStyle/>
          <a:p>
            <a:pPr>
              <a:lnSpc>
                <a:spcPct val="107000"/>
              </a:lnSpc>
              <a:spcAft>
                <a:spcPts val="500"/>
              </a:spcAft>
            </a:pPr>
            <a:r>
              <a:rPr sz="1700" b="1">
                <a:solidFill>
                  <a:srgbClr val="FFFFFF"/>
                </a:solidFill>
                <a:latin typeface="Arial"/>
              </a:rPr>
              <a:t>Evidence before approval</a:t>
            </a:r>
          </a:p>
        </p:txBody>
      </p:sp>
      <p:sp>
        <p:nvSpPr>
          <p:cNvPr id="10" name="Smallest next step"/>
          <p:cNvSpPr txBox="1"/>
          <p:nvPr/>
        </p:nvSpPr>
        <p:spPr>
          <a:xfrm>
            <a:off x="8613648" y="1773936"/>
            <a:ext cx="2843784" cy="402335"/>
          </a:xfrm>
          <a:prstGeom prst="rect">
            <a:avLst/>
          </a:prstGeom>
          <a:noFill/>
        </p:spPr>
        <p:txBody>
          <a:bodyPr wrap="square" lIns="0" rIns="0" tIns="0" bIns="0">
            <a:spAutoFit/>
          </a:bodyPr>
          <a:lstStyle/>
          <a:p>
            <a:pPr>
              <a:lnSpc>
                <a:spcPct val="107000"/>
              </a:lnSpc>
              <a:spcAft>
                <a:spcPts val="500"/>
              </a:spcAft>
            </a:pPr>
            <a:r>
              <a:rPr sz="1700" b="1">
                <a:solidFill>
                  <a:srgbClr val="FFFFFF"/>
                </a:solidFill>
                <a:latin typeface="Arial"/>
              </a:rPr>
              <a:t>Smallest next step</a:t>
            </a:r>
          </a:p>
        </p:txBody>
      </p:sp>
      <p:sp>
        <p:nvSpPr>
          <p:cNvPr id="11" name="Rectangle 10"/>
          <p:cNvSpPr/>
          <p:nvPr/>
        </p:nvSpPr>
        <p:spPr>
          <a:xfrm>
            <a:off x="594360" y="3070555"/>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rotect the critical path"/>
          <p:cNvSpPr txBox="1"/>
          <p:nvPr/>
        </p:nvSpPr>
        <p:spPr>
          <a:xfrm>
            <a:off x="704088" y="2459736"/>
            <a:ext cx="2889504" cy="585216"/>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Protect the critical path</a:t>
            </a:r>
          </a:p>
        </p:txBody>
      </p:sp>
      <p:sp>
        <p:nvSpPr>
          <p:cNvPr id="13" name="Owner-confirmed behavior"/>
          <p:cNvSpPr txBox="1"/>
          <p:nvPr/>
        </p:nvSpPr>
        <p:spPr>
          <a:xfrm>
            <a:off x="3813048" y="2459736"/>
            <a:ext cx="4581144" cy="585216"/>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Owner-confirmed behavior</a:t>
            </a:r>
          </a:p>
          <a:p>
            <a:pPr>
              <a:lnSpc>
                <a:spcPct val="107000"/>
              </a:lnSpc>
              <a:spcAft>
                <a:spcPts val="500"/>
              </a:spcAft>
            </a:pPr>
            <a:r>
              <a:rPr sz="1700" b="0">
                <a:solidFill>
                  <a:srgbClr val="232925"/>
                </a:solidFill>
                <a:latin typeface="Arial"/>
              </a:rPr>
              <a:t>and a demonstrable test gap</a:t>
            </a:r>
          </a:p>
        </p:txBody>
      </p:sp>
      <p:sp>
        <p:nvSpPr>
          <p:cNvPr id="14" name="Characterization tests"/>
          <p:cNvSpPr txBox="1"/>
          <p:nvPr/>
        </p:nvSpPr>
        <p:spPr>
          <a:xfrm>
            <a:off x="8613648" y="2459736"/>
            <a:ext cx="2843784" cy="585216"/>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Characterization tests</a:t>
            </a:r>
          </a:p>
        </p:txBody>
      </p:sp>
      <p:sp>
        <p:nvSpPr>
          <p:cNvPr id="15" name="Rectangle 14"/>
          <p:cNvSpPr/>
          <p:nvPr/>
        </p:nvSpPr>
        <p:spPr>
          <a:xfrm>
            <a:off x="594360" y="3902659"/>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nvestigate slow CI setup"/>
          <p:cNvSpPr txBox="1"/>
          <p:nvPr/>
        </p:nvSpPr>
        <p:spPr>
          <a:xfrm>
            <a:off x="704088" y="3291840"/>
            <a:ext cx="2889504" cy="585216"/>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Investigate slow CI setup</a:t>
            </a:r>
          </a:p>
        </p:txBody>
      </p:sp>
      <p:sp>
        <p:nvSpPr>
          <p:cNvPr id="17" name="Comparable step timings"/>
          <p:cNvSpPr txBox="1"/>
          <p:nvPr/>
        </p:nvSpPr>
        <p:spPr>
          <a:xfrm>
            <a:off x="3813048" y="3291840"/>
            <a:ext cx="4581144" cy="585216"/>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Comparable step timings</a:t>
            </a:r>
          </a:p>
          <a:p>
            <a:pPr>
              <a:lnSpc>
                <a:spcPct val="107000"/>
              </a:lnSpc>
              <a:spcAft>
                <a:spcPts val="500"/>
              </a:spcAft>
            </a:pPr>
            <a:r>
              <a:rPr sz="1700" b="0">
                <a:solidFill>
                  <a:srgbClr val="232925"/>
                </a:solidFill>
                <a:latin typeface="Arial"/>
              </a:rPr>
              <a:t>and observed cache behavior</a:t>
            </a:r>
          </a:p>
        </p:txBody>
      </p:sp>
      <p:sp>
        <p:nvSpPr>
          <p:cNvPr id="18" name="Trace the delay first"/>
          <p:cNvSpPr txBox="1"/>
          <p:nvPr/>
        </p:nvSpPr>
        <p:spPr>
          <a:xfrm>
            <a:off x="8613648" y="3291840"/>
            <a:ext cx="2843784" cy="585216"/>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Trace the delay first</a:t>
            </a:r>
          </a:p>
        </p:txBody>
      </p:sp>
      <p:sp>
        <p:nvSpPr>
          <p:cNvPr id="19" name="Rectangle 18"/>
          <p:cNvSpPr/>
          <p:nvPr/>
        </p:nvSpPr>
        <p:spPr>
          <a:xfrm>
            <a:off x="594360" y="4734763"/>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ssess runtime support"/>
          <p:cNvSpPr txBox="1"/>
          <p:nvPr/>
        </p:nvSpPr>
        <p:spPr>
          <a:xfrm>
            <a:off x="704088" y="4123944"/>
            <a:ext cx="2889504" cy="585216"/>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Assess runtime support</a:t>
            </a:r>
          </a:p>
        </p:txBody>
      </p:sp>
      <p:sp>
        <p:nvSpPr>
          <p:cNvPr id="21" name="Installed version and current"/>
          <p:cNvSpPr txBox="1"/>
          <p:nvPr/>
        </p:nvSpPr>
        <p:spPr>
          <a:xfrm>
            <a:off x="3813048" y="4123944"/>
            <a:ext cx="4581144" cy="585216"/>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Installed version and current</a:t>
            </a:r>
          </a:p>
          <a:p>
            <a:pPr>
              <a:lnSpc>
                <a:spcPct val="107000"/>
              </a:lnSpc>
              <a:spcAft>
                <a:spcPts val="500"/>
              </a:spcAft>
            </a:pPr>
            <a:r>
              <a:rPr sz="1700" b="0">
                <a:solidFill>
                  <a:srgbClr val="232925"/>
                </a:solidFill>
                <a:latin typeface="Arial"/>
              </a:rPr>
              <a:t>vendor support policy</a:t>
            </a:r>
          </a:p>
        </p:txBody>
      </p:sp>
      <p:sp>
        <p:nvSpPr>
          <p:cNvPr id="22" name="Retain / upgrade / isolate"/>
          <p:cNvSpPr txBox="1"/>
          <p:nvPr/>
        </p:nvSpPr>
        <p:spPr>
          <a:xfrm>
            <a:off x="8613648" y="4123944"/>
            <a:ext cx="2843784" cy="585216"/>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Retain / upgrade / isolate</a:t>
            </a:r>
          </a:p>
        </p:txBody>
      </p:sp>
      <p:sp>
        <p:nvSpPr>
          <p:cNvPr id="23" name="Rectangle 22"/>
          <p:cNvSpPr/>
          <p:nvPr/>
        </p:nvSpPr>
        <p:spPr>
          <a:xfrm>
            <a:off x="594360" y="5566867"/>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duce ownership risk"/>
          <p:cNvSpPr txBox="1"/>
          <p:nvPr/>
        </p:nvSpPr>
        <p:spPr>
          <a:xfrm>
            <a:off x="704088" y="4956048"/>
            <a:ext cx="2889504" cy="585216"/>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Reduce ownership risk</a:t>
            </a:r>
          </a:p>
        </p:txBody>
      </p:sp>
      <p:sp>
        <p:nvSpPr>
          <p:cNvPr id="25" name="A verified ownership or"/>
          <p:cNvSpPr txBox="1"/>
          <p:nvPr/>
        </p:nvSpPr>
        <p:spPr>
          <a:xfrm>
            <a:off x="3813048" y="4956048"/>
            <a:ext cx="4581144" cy="585216"/>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A verified ownership or</a:t>
            </a:r>
          </a:p>
          <a:p>
            <a:pPr>
              <a:lnSpc>
                <a:spcPct val="107000"/>
              </a:lnSpc>
              <a:spcAft>
                <a:spcPts val="500"/>
              </a:spcAft>
            </a:pPr>
            <a:r>
              <a:rPr sz="1700" b="0">
                <a:solidFill>
                  <a:srgbClr val="232925"/>
                </a:solidFill>
                <a:latin typeface="Arial"/>
              </a:rPr>
              <a:t>release-recovery documentation gap</a:t>
            </a:r>
          </a:p>
        </p:txBody>
      </p:sp>
      <p:sp>
        <p:nvSpPr>
          <p:cNvPr id="26" name="Review a reusable runbook"/>
          <p:cNvSpPr txBox="1"/>
          <p:nvPr/>
        </p:nvSpPr>
        <p:spPr>
          <a:xfrm>
            <a:off x="8613648" y="4956048"/>
            <a:ext cx="2843784" cy="585216"/>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Review a reusable runbook</a:t>
            </a:r>
          </a:p>
        </p:txBody>
      </p:sp>
      <p:sp>
        <p:nvSpPr>
          <p:cNvPr id="27" name="Chip: Illustrative"/>
          <p:cNvSpPr/>
          <p:nvPr/>
        </p:nvSpPr>
        <p:spPr>
          <a:xfrm>
            <a:off x="594360" y="5797296"/>
            <a:ext cx="1005840" cy="274320"/>
          </a:xfrm>
          <a:prstGeom prst="roundRect">
            <a:avLst/>
          </a:prstGeom>
          <a:solidFill>
            <a:srgbClr val="8534F3"/>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200" b="1">
                <a:solidFill>
                  <a:srgbClr val="FFFFFF"/>
                </a:solidFill>
                <a:latin typeface="Arial"/>
              </a:rPr>
              <a:t>Illustrative</a:t>
            </a:r>
          </a:p>
        </p:txBody>
      </p:sp>
      <p:sp>
        <p:nvSpPr>
          <p:cNvPr id="28" name="Candidates, not findings about this repository."/>
          <p:cNvSpPr txBox="1"/>
          <p:nvPr/>
        </p:nvSpPr>
        <p:spPr>
          <a:xfrm>
            <a:off x="1783080" y="5824728"/>
            <a:ext cx="9784080" cy="274320"/>
          </a:xfrm>
          <a:prstGeom prst="rect">
            <a:avLst/>
          </a:prstGeom>
          <a:noFill/>
        </p:spPr>
        <p:txBody>
          <a:bodyPr wrap="square" lIns="0" rIns="0" tIns="0" bIns="0">
            <a:spAutoFit/>
          </a:bodyPr>
          <a:lstStyle/>
          <a:p>
            <a:pPr>
              <a:lnSpc>
                <a:spcPct val="107000"/>
              </a:lnSpc>
              <a:spcAft>
                <a:spcPts val="500"/>
              </a:spcAft>
            </a:pPr>
            <a:r>
              <a:rPr sz="1400" b="0">
                <a:solidFill>
                  <a:srgbClr val="232925"/>
                </a:solidFill>
                <a:latin typeface="Arial"/>
              </a:rPr>
              <a:t>Candidates, not findings about this repository.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rioritize business value and change confidence."/>
          <p:cNvSpPr txBox="1"/>
          <p:nvPr/>
        </p:nvSpPr>
        <p:spPr>
          <a:xfrm>
            <a:off x="594360" y="502920"/>
            <a:ext cx="10972800" cy="1005840"/>
          </a:xfrm>
          <a:prstGeom prst="rect">
            <a:avLst/>
          </a:prstGeom>
          <a:noFill/>
        </p:spPr>
        <p:txBody>
          <a:bodyPr wrap="square" lIns="0" rIns="0" tIns="0" bIns="0">
            <a:spAutoFit/>
          </a:bodyPr>
          <a:lstStyle/>
          <a:p>
            <a:pPr>
              <a:lnSpc>
                <a:spcPct val="107000"/>
              </a:lnSpc>
              <a:spcAft>
                <a:spcPts val="500"/>
              </a:spcAft>
            </a:pPr>
            <a:r>
              <a:rPr sz="3200" b="1">
                <a:solidFill>
                  <a:srgbClr val="101411"/>
                </a:solidFill>
                <a:latin typeface="Mona Sans"/>
              </a:rPr>
              <a:t>Prioritize business value and change confidence.</a:t>
            </a:r>
          </a:p>
        </p:txBody>
      </p:sp>
      <p:sp>
        <p:nvSpPr>
          <p:cNvPr id="3" name="Rectangle 2"/>
          <p:cNvSpPr/>
          <p:nvPr/>
        </p:nvSpPr>
        <p:spPr>
          <a:xfrm>
            <a:off x="594360" y="6327648"/>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itHub mark" descr="GitHub logo"/>
          <p:cNvSpPr/>
          <p:nvPr/>
        </p:nvSpPr>
        <p:spPr>
          <a:xfrm>
            <a:off x="594360" y="6419088"/>
            <a:ext cx="182880" cy="182880"/>
          </a:xfrm>
          <a:custGeom>
            <a:avLst/>
            <a:gdLst/>
            <a:ahLst/>
            <a:cxnLst/>
            <a:rect l="0" t="0" r="r" b="b"/>
            <a:pathLst>
              <a:path w="16000" h="16000">
                <a:moveTo>
                  <a:pt x="8000" y="0"/>
                </a:moveTo>
                <a:cubicBezTo>
                  <a:pt x="3580" y="0"/>
                  <a:pt x="0" y="3580"/>
                  <a:pt x="0" y="8000"/>
                </a:cubicBezTo>
                <a:cubicBezTo>
                  <a:pt x="0" y="11540"/>
                  <a:pt x="2290" y="14530"/>
                  <a:pt x="5470" y="15590"/>
                </a:cubicBezTo>
                <a:cubicBezTo>
                  <a:pt x="5870" y="15660"/>
                  <a:pt x="6020" y="15420"/>
                  <a:pt x="6020" y="15210"/>
                </a:cubicBezTo>
                <a:cubicBezTo>
                  <a:pt x="6020" y="15020"/>
                  <a:pt x="6010" y="14390"/>
                  <a:pt x="6010" y="13720"/>
                </a:cubicBezTo>
                <a:cubicBezTo>
                  <a:pt x="4000" y="14090"/>
                  <a:pt x="3480" y="13230"/>
                  <a:pt x="3320" y="12780"/>
                </a:cubicBezTo>
                <a:cubicBezTo>
                  <a:pt x="3230" y="12550"/>
                  <a:pt x="2840" y="11840"/>
                  <a:pt x="2500" y="11650"/>
                </a:cubicBezTo>
                <a:cubicBezTo>
                  <a:pt x="2220" y="11500"/>
                  <a:pt x="1820" y="11130"/>
                  <a:pt x="2490" y="11120"/>
                </a:cubicBezTo>
                <a:cubicBezTo>
                  <a:pt x="3120" y="11110"/>
                  <a:pt x="3570" y="11700"/>
                  <a:pt x="3720" y="11940"/>
                </a:cubicBezTo>
                <a:cubicBezTo>
                  <a:pt x="4440" y="13150"/>
                  <a:pt x="5590" y="12810"/>
                  <a:pt x="6050" y="12600"/>
                </a:cubicBezTo>
                <a:cubicBezTo>
                  <a:pt x="6120" y="12080"/>
                  <a:pt x="6330" y="11730"/>
                  <a:pt x="6560" y="11530"/>
                </a:cubicBezTo>
                <a:cubicBezTo>
                  <a:pt x="4780" y="11330"/>
                  <a:pt x="2920" y="10640"/>
                  <a:pt x="2920" y="7580"/>
                </a:cubicBezTo>
                <a:cubicBezTo>
                  <a:pt x="2920" y="6710"/>
                  <a:pt x="3230" y="5990"/>
                  <a:pt x="3740" y="5430"/>
                </a:cubicBezTo>
                <a:cubicBezTo>
                  <a:pt x="3660" y="5230"/>
                  <a:pt x="3380" y="4410"/>
                  <a:pt x="3820" y="3310"/>
                </a:cubicBezTo>
                <a:cubicBezTo>
                  <a:pt x="3820" y="3310"/>
                  <a:pt x="4490" y="3100"/>
                  <a:pt x="6020" y="4130"/>
                </a:cubicBezTo>
                <a:cubicBezTo>
                  <a:pt x="6660" y="3950"/>
                  <a:pt x="7340" y="3860"/>
                  <a:pt x="8020" y="3860"/>
                </a:cubicBezTo>
                <a:cubicBezTo>
                  <a:pt x="8700" y="3860"/>
                  <a:pt x="9380" y="3950"/>
                  <a:pt x="10020" y="4130"/>
                </a:cubicBezTo>
                <a:cubicBezTo>
                  <a:pt x="11550" y="3090"/>
                  <a:pt x="12220" y="3310"/>
                  <a:pt x="12220" y="3310"/>
                </a:cubicBezTo>
                <a:cubicBezTo>
                  <a:pt x="12660" y="4410"/>
                  <a:pt x="12380" y="5230"/>
                  <a:pt x="12300" y="5430"/>
                </a:cubicBezTo>
                <a:cubicBezTo>
                  <a:pt x="12810" y="5990"/>
                  <a:pt x="13120" y="6700"/>
                  <a:pt x="13120" y="7580"/>
                </a:cubicBezTo>
                <a:cubicBezTo>
                  <a:pt x="13120" y="10650"/>
                  <a:pt x="11250" y="11330"/>
                  <a:pt x="9470" y="11530"/>
                </a:cubicBezTo>
                <a:cubicBezTo>
                  <a:pt x="9760" y="11780"/>
                  <a:pt x="10010" y="12260"/>
                  <a:pt x="10010" y="13010"/>
                </a:cubicBezTo>
                <a:cubicBezTo>
                  <a:pt x="10010" y="14080"/>
                  <a:pt x="10000" y="14940"/>
                  <a:pt x="10000" y="15210"/>
                </a:cubicBezTo>
                <a:cubicBezTo>
                  <a:pt x="10000" y="15420"/>
                  <a:pt x="10150" y="15670"/>
                  <a:pt x="10550" y="15590"/>
                </a:cubicBezTo>
                <a:cubicBezTo>
                  <a:pt x="11604" y="15234"/>
                  <a:pt x="12572" y="14663"/>
                  <a:pt x="13394" y="13912"/>
                </a:cubicBezTo>
                <a:cubicBezTo>
                  <a:pt x="14215" y="13162"/>
                  <a:pt x="14870" y="12248"/>
                  <a:pt x="15319" y="11231"/>
                </a:cubicBezTo>
                <a:cubicBezTo>
                  <a:pt x="15768" y="10213"/>
                  <a:pt x="16000" y="9112"/>
                  <a:pt x="16000" y="8000"/>
                </a:cubicBezTo>
                <a:cubicBezTo>
                  <a:pt x="16000" y="3580"/>
                  <a:pt x="12420" y="0"/>
                  <a:pt x="8000" y="0"/>
                </a:cubicBezTo>
                <a:close/>
              </a:path>
            </a:pathLst>
          </a:custGeom>
          <a:solidFill>
            <a:srgbClr val="1014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earing  |  GitHub Copilot App workflow"/>
          <p:cNvSpPr txBox="1"/>
          <p:nvPr/>
        </p:nvSpPr>
        <p:spPr>
          <a:xfrm>
            <a:off x="914400" y="6428232"/>
            <a:ext cx="7726679" cy="201168"/>
          </a:xfrm>
          <a:prstGeom prst="rect">
            <a:avLst/>
          </a:prstGeom>
          <a:noFill/>
        </p:spPr>
        <p:txBody>
          <a:bodyPr wrap="square" lIns="0" rIns="0" tIns="0" bIns="0">
            <a:spAutoFit/>
          </a:bodyPr>
          <a:lstStyle/>
          <a:p>
            <a:pPr>
              <a:lnSpc>
                <a:spcPct val="107000"/>
              </a:lnSpc>
              <a:spcAft>
                <a:spcPts val="500"/>
              </a:spcAft>
            </a:pPr>
            <a:r>
              <a:rPr sz="1000" b="0">
                <a:solidFill>
                  <a:srgbClr val="232925"/>
                </a:solidFill>
                <a:latin typeface="Arial"/>
              </a:rPr>
              <a:t>Bearing  |  GitHub Copilot App workflow</a:t>
            </a:r>
          </a:p>
        </p:txBody>
      </p:sp>
      <p:sp>
        <p:nvSpPr>
          <p:cNvPr id="6" name="11 / 16"/>
          <p:cNvSpPr txBox="1"/>
          <p:nvPr/>
        </p:nvSpPr>
        <p:spPr>
          <a:xfrm>
            <a:off x="10744200" y="6428232"/>
            <a:ext cx="822960" cy="201168"/>
          </a:xfrm>
          <a:prstGeom prst="rect">
            <a:avLst/>
          </a:prstGeom>
          <a:noFill/>
        </p:spPr>
        <p:txBody>
          <a:bodyPr wrap="square" lIns="0" rIns="0" tIns="0" bIns="0">
            <a:spAutoFit/>
          </a:bodyPr>
          <a:lstStyle/>
          <a:p>
            <a:pPr>
              <a:lnSpc>
                <a:spcPct val="107000"/>
              </a:lnSpc>
              <a:spcAft>
                <a:spcPts val="500"/>
              </a:spcAft>
            </a:pPr>
            <a:r>
              <a:rPr sz="1000" b="0">
                <a:solidFill>
                  <a:srgbClr val="232925"/>
                </a:solidFill>
                <a:latin typeface="Arial"/>
              </a:rPr>
              <a:t>11 / 16</a:t>
            </a:r>
          </a:p>
        </p:txBody>
      </p:sp>
      <p:sp>
        <p:nvSpPr>
          <p:cNvPr id="7" name="Low"/>
          <p:cNvSpPr txBox="1"/>
          <p:nvPr/>
        </p:nvSpPr>
        <p:spPr>
          <a:xfrm rot="16200000">
            <a:off x="-708659" y="3049524"/>
            <a:ext cx="3337560" cy="256032"/>
          </a:xfrm>
          <a:prstGeom prst="rect">
            <a:avLst/>
          </a:prstGeom>
          <a:noFill/>
        </p:spPr>
        <p:txBody>
          <a:bodyPr wrap="square" lIns="0" rIns="0" tIns="0" bIns="0">
            <a:spAutoFit/>
          </a:bodyPr>
          <a:lstStyle/>
          <a:p>
            <a:pPr algn="l">
              <a:lnSpc>
                <a:spcPct val="107000"/>
              </a:lnSpc>
              <a:spcAft>
                <a:spcPts val="500"/>
              </a:spcAft>
            </a:pPr>
            <a:r>
              <a:rPr sz="1400" b="1">
                <a:solidFill>
                  <a:srgbClr val="232925"/>
                </a:solidFill>
                <a:latin typeface="Arial"/>
              </a:rPr>
              <a:t>Low</a:t>
            </a:r>
          </a:p>
        </p:txBody>
      </p:sp>
      <p:sp>
        <p:nvSpPr>
          <p:cNvPr id="8" name="Business criticality  →"/>
          <p:cNvSpPr txBox="1"/>
          <p:nvPr/>
        </p:nvSpPr>
        <p:spPr>
          <a:xfrm rot="16200000">
            <a:off x="-708659" y="3049524"/>
            <a:ext cx="3337560" cy="256032"/>
          </a:xfrm>
          <a:prstGeom prst="rect">
            <a:avLst/>
          </a:prstGeom>
          <a:noFill/>
        </p:spPr>
        <p:txBody>
          <a:bodyPr wrap="square" lIns="0" rIns="0" tIns="0" bIns="0">
            <a:spAutoFit/>
          </a:bodyPr>
          <a:lstStyle/>
          <a:p>
            <a:pPr algn="ctr">
              <a:lnSpc>
                <a:spcPct val="107000"/>
              </a:lnSpc>
              <a:spcAft>
                <a:spcPts val="500"/>
              </a:spcAft>
            </a:pPr>
            <a:r>
              <a:rPr sz="1400" b="1">
                <a:solidFill>
                  <a:srgbClr val="232925"/>
                </a:solidFill>
                <a:latin typeface="Arial"/>
              </a:rPr>
              <a:t>Business criticality  →</a:t>
            </a:r>
          </a:p>
        </p:txBody>
      </p:sp>
      <p:sp>
        <p:nvSpPr>
          <p:cNvPr id="9" name="High"/>
          <p:cNvSpPr txBox="1"/>
          <p:nvPr/>
        </p:nvSpPr>
        <p:spPr>
          <a:xfrm rot="16200000">
            <a:off x="-708659" y="3049524"/>
            <a:ext cx="3337560" cy="256032"/>
          </a:xfrm>
          <a:prstGeom prst="rect">
            <a:avLst/>
          </a:prstGeom>
          <a:noFill/>
        </p:spPr>
        <p:txBody>
          <a:bodyPr wrap="square" lIns="0" rIns="0" tIns="0" bIns="0">
            <a:spAutoFit/>
          </a:bodyPr>
          <a:lstStyle/>
          <a:p>
            <a:pPr algn="r">
              <a:lnSpc>
                <a:spcPct val="107000"/>
              </a:lnSpc>
              <a:spcAft>
                <a:spcPts val="500"/>
              </a:spcAft>
            </a:pPr>
            <a:r>
              <a:rPr sz="1400" b="1">
                <a:solidFill>
                  <a:srgbClr val="232925"/>
                </a:solidFill>
                <a:latin typeface="Arial"/>
              </a:rPr>
              <a:t>High</a:t>
            </a:r>
          </a:p>
        </p:txBody>
      </p:sp>
      <p:sp>
        <p:nvSpPr>
          <p:cNvPr id="10" name="Rectangle 9"/>
          <p:cNvSpPr/>
          <p:nvPr/>
        </p:nvSpPr>
        <p:spPr>
          <a:xfrm>
            <a:off x="1371600" y="1508760"/>
            <a:ext cx="5029200" cy="1600200"/>
          </a:xfrm>
          <a:prstGeom prst="rect">
            <a:avLst/>
          </a:prstGeom>
          <a:solidFill>
            <a:srgbClr val="1014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Investigate and protect first"/>
          <p:cNvSpPr txBox="1"/>
          <p:nvPr/>
        </p:nvSpPr>
        <p:spPr>
          <a:xfrm>
            <a:off x="1600200" y="1783080"/>
            <a:ext cx="4572000" cy="457200"/>
          </a:xfrm>
          <a:prstGeom prst="rect">
            <a:avLst/>
          </a:prstGeom>
          <a:noFill/>
        </p:spPr>
        <p:txBody>
          <a:bodyPr wrap="square" lIns="0" rIns="0" tIns="0" bIns="0">
            <a:spAutoFit/>
          </a:bodyPr>
          <a:lstStyle/>
          <a:p>
            <a:pPr>
              <a:lnSpc>
                <a:spcPct val="107000"/>
              </a:lnSpc>
              <a:spcAft>
                <a:spcPts val="500"/>
              </a:spcAft>
            </a:pPr>
            <a:r>
              <a:rPr sz="2200" b="1">
                <a:solidFill>
                  <a:srgbClr val="FFFFFF"/>
                </a:solidFill>
                <a:latin typeface="Mona Sans"/>
              </a:rPr>
              <a:t>Investigate and protect first</a:t>
            </a:r>
          </a:p>
        </p:txBody>
      </p:sp>
      <p:sp>
        <p:nvSpPr>
          <p:cNvPr id="12" name="High criticality · Low confidence"/>
          <p:cNvSpPr txBox="1"/>
          <p:nvPr/>
        </p:nvSpPr>
        <p:spPr>
          <a:xfrm>
            <a:off x="1600200" y="2468880"/>
            <a:ext cx="4572000" cy="320040"/>
          </a:xfrm>
          <a:prstGeom prst="rect">
            <a:avLst/>
          </a:prstGeom>
          <a:noFill/>
        </p:spPr>
        <p:txBody>
          <a:bodyPr wrap="square" lIns="0" rIns="0" tIns="0" bIns="0">
            <a:spAutoFit/>
          </a:bodyPr>
          <a:lstStyle/>
          <a:p>
            <a:pPr>
              <a:lnSpc>
                <a:spcPct val="107000"/>
              </a:lnSpc>
              <a:spcAft>
                <a:spcPts val="500"/>
              </a:spcAft>
            </a:pPr>
            <a:r>
              <a:rPr sz="1500" b="0">
                <a:solidFill>
                  <a:srgbClr val="B6BFB8"/>
                </a:solidFill>
                <a:latin typeface="Arial"/>
              </a:rPr>
              <a:t>High criticality · Low confidence</a:t>
            </a:r>
          </a:p>
        </p:txBody>
      </p:sp>
      <p:sp>
        <p:nvSpPr>
          <p:cNvPr id="13" name="Rectangle 12"/>
          <p:cNvSpPr/>
          <p:nvPr/>
        </p:nvSpPr>
        <p:spPr>
          <a:xfrm>
            <a:off x="6537960" y="1508760"/>
            <a:ext cx="5029200" cy="1600200"/>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rget a measured constraint"/>
          <p:cNvSpPr txBox="1"/>
          <p:nvPr/>
        </p:nvSpPr>
        <p:spPr>
          <a:xfrm>
            <a:off x="6766560" y="1783080"/>
            <a:ext cx="4572000" cy="457200"/>
          </a:xfrm>
          <a:prstGeom prst="rect">
            <a:avLst/>
          </a:prstGeom>
          <a:noFill/>
        </p:spPr>
        <p:txBody>
          <a:bodyPr wrap="square" lIns="0" rIns="0" tIns="0" bIns="0">
            <a:spAutoFit/>
          </a:bodyPr>
          <a:lstStyle/>
          <a:p>
            <a:pPr>
              <a:lnSpc>
                <a:spcPct val="107000"/>
              </a:lnSpc>
              <a:spcAft>
                <a:spcPts val="500"/>
              </a:spcAft>
            </a:pPr>
            <a:r>
              <a:rPr sz="2200" b="1">
                <a:solidFill>
                  <a:srgbClr val="101411"/>
                </a:solidFill>
                <a:latin typeface="Mona Sans"/>
              </a:rPr>
              <a:t>Target a measured constraint</a:t>
            </a:r>
          </a:p>
        </p:txBody>
      </p:sp>
      <p:sp>
        <p:nvSpPr>
          <p:cNvPr id="15" name="High criticality · High confidence"/>
          <p:cNvSpPr txBox="1"/>
          <p:nvPr/>
        </p:nvSpPr>
        <p:spPr>
          <a:xfrm>
            <a:off x="6766560" y="2468880"/>
            <a:ext cx="4572000" cy="320040"/>
          </a:xfrm>
          <a:prstGeom prst="rect">
            <a:avLst/>
          </a:prstGeom>
          <a:noFill/>
        </p:spPr>
        <p:txBody>
          <a:bodyPr wrap="square" lIns="0" rIns="0" tIns="0" bIns="0">
            <a:spAutoFit/>
          </a:bodyPr>
          <a:lstStyle/>
          <a:p>
            <a:pPr>
              <a:lnSpc>
                <a:spcPct val="107000"/>
              </a:lnSpc>
              <a:spcAft>
                <a:spcPts val="500"/>
              </a:spcAft>
            </a:pPr>
            <a:r>
              <a:rPr sz="1500" b="0">
                <a:solidFill>
                  <a:srgbClr val="232925"/>
                </a:solidFill>
                <a:latin typeface="Arial"/>
              </a:rPr>
              <a:t>High criticality · High confidence</a:t>
            </a:r>
          </a:p>
        </p:txBody>
      </p:sp>
      <p:sp>
        <p:nvSpPr>
          <p:cNvPr id="16" name="Rectangle 15"/>
          <p:cNvSpPr/>
          <p:nvPr/>
        </p:nvSpPr>
        <p:spPr>
          <a:xfrm>
            <a:off x="1371600" y="3246120"/>
            <a:ext cx="5029200" cy="1600200"/>
          </a:xfrm>
          <a:prstGeom prst="rect">
            <a:avLst/>
          </a:prstGeom>
          <a:solidFill>
            <a:srgbClr val="F2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onfirm value and dependencies"/>
          <p:cNvSpPr txBox="1"/>
          <p:nvPr/>
        </p:nvSpPr>
        <p:spPr>
          <a:xfrm>
            <a:off x="1600200" y="3520439"/>
            <a:ext cx="4572000" cy="457200"/>
          </a:xfrm>
          <a:prstGeom prst="rect">
            <a:avLst/>
          </a:prstGeom>
          <a:noFill/>
        </p:spPr>
        <p:txBody>
          <a:bodyPr wrap="square" lIns="0" rIns="0" tIns="0" bIns="0">
            <a:spAutoFit/>
          </a:bodyPr>
          <a:lstStyle/>
          <a:p>
            <a:pPr>
              <a:lnSpc>
                <a:spcPct val="107000"/>
              </a:lnSpc>
              <a:spcAft>
                <a:spcPts val="500"/>
              </a:spcAft>
            </a:pPr>
            <a:r>
              <a:rPr sz="2200" b="1">
                <a:solidFill>
                  <a:srgbClr val="101411"/>
                </a:solidFill>
                <a:latin typeface="Mona Sans"/>
              </a:rPr>
              <a:t>Confirm value and dependencies</a:t>
            </a:r>
          </a:p>
        </p:txBody>
      </p:sp>
      <p:sp>
        <p:nvSpPr>
          <p:cNvPr id="18" name="Low criticality · Low confidence"/>
          <p:cNvSpPr txBox="1"/>
          <p:nvPr/>
        </p:nvSpPr>
        <p:spPr>
          <a:xfrm>
            <a:off x="1600200" y="4206240"/>
            <a:ext cx="4572000" cy="320040"/>
          </a:xfrm>
          <a:prstGeom prst="rect">
            <a:avLst/>
          </a:prstGeom>
          <a:noFill/>
        </p:spPr>
        <p:txBody>
          <a:bodyPr wrap="square" lIns="0" rIns="0" tIns="0" bIns="0">
            <a:spAutoFit/>
          </a:bodyPr>
          <a:lstStyle/>
          <a:p>
            <a:pPr>
              <a:lnSpc>
                <a:spcPct val="107000"/>
              </a:lnSpc>
              <a:spcAft>
                <a:spcPts val="500"/>
              </a:spcAft>
            </a:pPr>
            <a:r>
              <a:rPr sz="1500" b="0">
                <a:solidFill>
                  <a:srgbClr val="232925"/>
                </a:solidFill>
                <a:latin typeface="Arial"/>
              </a:rPr>
              <a:t>Low criticality · Low confidence</a:t>
            </a:r>
          </a:p>
        </p:txBody>
      </p:sp>
      <p:sp>
        <p:nvSpPr>
          <p:cNvPr id="19" name="Rectangle 18"/>
          <p:cNvSpPr/>
          <p:nvPr/>
        </p:nvSpPr>
        <p:spPr>
          <a:xfrm>
            <a:off x="6537960" y="3246120"/>
            <a:ext cx="5029200" cy="1600200"/>
          </a:xfrm>
          <a:prstGeom prst="rect">
            <a:avLst/>
          </a:prstGeom>
          <a:solidFill>
            <a:srgbClr val="F2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tain or improve selectively"/>
          <p:cNvSpPr txBox="1"/>
          <p:nvPr/>
        </p:nvSpPr>
        <p:spPr>
          <a:xfrm>
            <a:off x="6766560" y="3520439"/>
            <a:ext cx="4572000" cy="457200"/>
          </a:xfrm>
          <a:prstGeom prst="rect">
            <a:avLst/>
          </a:prstGeom>
          <a:noFill/>
        </p:spPr>
        <p:txBody>
          <a:bodyPr wrap="square" lIns="0" rIns="0" tIns="0" bIns="0">
            <a:spAutoFit/>
          </a:bodyPr>
          <a:lstStyle/>
          <a:p>
            <a:pPr>
              <a:lnSpc>
                <a:spcPct val="107000"/>
              </a:lnSpc>
              <a:spcAft>
                <a:spcPts val="500"/>
              </a:spcAft>
            </a:pPr>
            <a:r>
              <a:rPr sz="2200" b="1">
                <a:solidFill>
                  <a:srgbClr val="101411"/>
                </a:solidFill>
                <a:latin typeface="Mona Sans"/>
              </a:rPr>
              <a:t>Retain or improve selectively</a:t>
            </a:r>
          </a:p>
        </p:txBody>
      </p:sp>
      <p:sp>
        <p:nvSpPr>
          <p:cNvPr id="21" name="Low criticality · High confidence"/>
          <p:cNvSpPr txBox="1"/>
          <p:nvPr/>
        </p:nvSpPr>
        <p:spPr>
          <a:xfrm>
            <a:off x="6766560" y="4206240"/>
            <a:ext cx="4572000" cy="320040"/>
          </a:xfrm>
          <a:prstGeom prst="rect">
            <a:avLst/>
          </a:prstGeom>
          <a:noFill/>
        </p:spPr>
        <p:txBody>
          <a:bodyPr wrap="square" lIns="0" rIns="0" tIns="0" bIns="0">
            <a:spAutoFit/>
          </a:bodyPr>
          <a:lstStyle/>
          <a:p>
            <a:pPr>
              <a:lnSpc>
                <a:spcPct val="107000"/>
              </a:lnSpc>
              <a:spcAft>
                <a:spcPts val="500"/>
              </a:spcAft>
            </a:pPr>
            <a:r>
              <a:rPr sz="1500" b="0">
                <a:solidFill>
                  <a:srgbClr val="232925"/>
                </a:solidFill>
                <a:latin typeface="Arial"/>
              </a:rPr>
              <a:t>Low criticality · High confidence</a:t>
            </a:r>
          </a:p>
        </p:txBody>
      </p:sp>
      <p:sp>
        <p:nvSpPr>
          <p:cNvPr id="22" name="Low"/>
          <p:cNvSpPr txBox="1"/>
          <p:nvPr/>
        </p:nvSpPr>
        <p:spPr>
          <a:xfrm>
            <a:off x="1371600" y="5029200"/>
            <a:ext cx="10195560" cy="256032"/>
          </a:xfrm>
          <a:prstGeom prst="rect">
            <a:avLst/>
          </a:prstGeom>
          <a:noFill/>
        </p:spPr>
        <p:txBody>
          <a:bodyPr wrap="square" lIns="0" rIns="0" tIns="0" bIns="0">
            <a:spAutoFit/>
          </a:bodyPr>
          <a:lstStyle/>
          <a:p>
            <a:pPr algn="l">
              <a:lnSpc>
                <a:spcPct val="107000"/>
              </a:lnSpc>
              <a:spcAft>
                <a:spcPts val="500"/>
              </a:spcAft>
            </a:pPr>
            <a:r>
              <a:rPr sz="1400" b="1">
                <a:solidFill>
                  <a:srgbClr val="232925"/>
                </a:solidFill>
                <a:latin typeface="Arial"/>
              </a:rPr>
              <a:t>Low</a:t>
            </a:r>
          </a:p>
        </p:txBody>
      </p:sp>
      <p:sp>
        <p:nvSpPr>
          <p:cNvPr id="23" name="Change confidence  →"/>
          <p:cNvSpPr txBox="1"/>
          <p:nvPr/>
        </p:nvSpPr>
        <p:spPr>
          <a:xfrm>
            <a:off x="1371600" y="5029200"/>
            <a:ext cx="10195560" cy="256032"/>
          </a:xfrm>
          <a:prstGeom prst="rect">
            <a:avLst/>
          </a:prstGeom>
          <a:noFill/>
        </p:spPr>
        <p:txBody>
          <a:bodyPr wrap="square" lIns="0" rIns="0" tIns="0" bIns="0">
            <a:spAutoFit/>
          </a:bodyPr>
          <a:lstStyle/>
          <a:p>
            <a:pPr algn="ctr">
              <a:lnSpc>
                <a:spcPct val="107000"/>
              </a:lnSpc>
              <a:spcAft>
                <a:spcPts val="500"/>
              </a:spcAft>
            </a:pPr>
            <a:r>
              <a:rPr sz="1400" b="1">
                <a:solidFill>
                  <a:srgbClr val="232925"/>
                </a:solidFill>
                <a:latin typeface="Arial"/>
              </a:rPr>
              <a:t>Change confidence  →</a:t>
            </a:r>
          </a:p>
        </p:txBody>
      </p:sp>
      <p:sp>
        <p:nvSpPr>
          <p:cNvPr id="24" name="High"/>
          <p:cNvSpPr txBox="1"/>
          <p:nvPr/>
        </p:nvSpPr>
        <p:spPr>
          <a:xfrm>
            <a:off x="1371600" y="5029200"/>
            <a:ext cx="10195560" cy="256032"/>
          </a:xfrm>
          <a:prstGeom prst="rect">
            <a:avLst/>
          </a:prstGeom>
          <a:noFill/>
        </p:spPr>
        <p:txBody>
          <a:bodyPr wrap="square" lIns="0" rIns="0" tIns="0" bIns="0">
            <a:spAutoFit/>
          </a:bodyPr>
          <a:lstStyle/>
          <a:p>
            <a:pPr algn="r">
              <a:lnSpc>
                <a:spcPct val="107000"/>
              </a:lnSpc>
              <a:spcAft>
                <a:spcPts val="500"/>
              </a:spcAft>
            </a:pPr>
            <a:r>
              <a:rPr sz="1400" b="1">
                <a:solidFill>
                  <a:srgbClr val="232925"/>
                </a:solidFill>
                <a:latin typeface="Arial"/>
              </a:rPr>
              <a:t>High</a:t>
            </a:r>
          </a:p>
        </p:txBody>
      </p:sp>
      <p:sp>
        <p:nvSpPr>
          <p:cNvPr id="25" name="Unknown ≠ low risk. Old ≠ obsolete. “Do not change” is a val"/>
          <p:cNvSpPr txBox="1"/>
          <p:nvPr/>
        </p:nvSpPr>
        <p:spPr>
          <a:xfrm>
            <a:off x="594360" y="5577840"/>
            <a:ext cx="10972800" cy="411480"/>
          </a:xfrm>
          <a:prstGeom prst="rect">
            <a:avLst/>
          </a:prstGeom>
          <a:noFill/>
        </p:spPr>
        <p:txBody>
          <a:bodyPr wrap="square" lIns="0" rIns="0" tIns="0" bIns="0">
            <a:spAutoFit/>
          </a:bodyPr>
          <a:lstStyle/>
          <a:p>
            <a:pPr>
              <a:lnSpc>
                <a:spcPct val="107000"/>
              </a:lnSpc>
              <a:spcAft>
                <a:spcPts val="500"/>
              </a:spcAft>
            </a:pPr>
            <a:r>
              <a:rPr sz="2200" b="1">
                <a:solidFill>
                  <a:srgbClr val="101411"/>
                </a:solidFill>
                <a:latin typeface="Mona Sans"/>
              </a:rPr>
              <a:t>Unknown ≠ low risk. Old ≠ obsolete. “Do not change” is a valid decision.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earing starts discovery. It does not certify change."/>
          <p:cNvSpPr txBox="1"/>
          <p:nvPr/>
        </p:nvSpPr>
        <p:spPr>
          <a:xfrm>
            <a:off x="594360" y="502920"/>
            <a:ext cx="10972800" cy="1005840"/>
          </a:xfrm>
          <a:prstGeom prst="rect">
            <a:avLst/>
          </a:prstGeom>
          <a:noFill/>
        </p:spPr>
        <p:txBody>
          <a:bodyPr wrap="square" lIns="0" rIns="0" tIns="0" bIns="0">
            <a:spAutoFit/>
          </a:bodyPr>
          <a:lstStyle/>
          <a:p>
            <a:pPr>
              <a:lnSpc>
                <a:spcPct val="107000"/>
              </a:lnSpc>
              <a:spcAft>
                <a:spcPts val="500"/>
              </a:spcAft>
            </a:pPr>
            <a:r>
              <a:rPr sz="3200" b="1">
                <a:solidFill>
                  <a:srgbClr val="101411"/>
                </a:solidFill>
                <a:latin typeface="Mona Sans"/>
              </a:rPr>
              <a:t>Bearing starts discovery. It does not certify change.</a:t>
            </a:r>
          </a:p>
        </p:txBody>
      </p:sp>
      <p:sp>
        <p:nvSpPr>
          <p:cNvPr id="3" name="Rectangle 2"/>
          <p:cNvSpPr/>
          <p:nvPr/>
        </p:nvSpPr>
        <p:spPr>
          <a:xfrm>
            <a:off x="594360" y="6327648"/>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itHub mark" descr="GitHub logo"/>
          <p:cNvSpPr/>
          <p:nvPr/>
        </p:nvSpPr>
        <p:spPr>
          <a:xfrm>
            <a:off x="594360" y="6419088"/>
            <a:ext cx="182880" cy="182880"/>
          </a:xfrm>
          <a:custGeom>
            <a:avLst/>
            <a:gdLst/>
            <a:ahLst/>
            <a:cxnLst/>
            <a:rect l="0" t="0" r="r" b="b"/>
            <a:pathLst>
              <a:path w="16000" h="16000">
                <a:moveTo>
                  <a:pt x="8000" y="0"/>
                </a:moveTo>
                <a:cubicBezTo>
                  <a:pt x="3580" y="0"/>
                  <a:pt x="0" y="3580"/>
                  <a:pt x="0" y="8000"/>
                </a:cubicBezTo>
                <a:cubicBezTo>
                  <a:pt x="0" y="11540"/>
                  <a:pt x="2290" y="14530"/>
                  <a:pt x="5470" y="15590"/>
                </a:cubicBezTo>
                <a:cubicBezTo>
                  <a:pt x="5870" y="15660"/>
                  <a:pt x="6020" y="15420"/>
                  <a:pt x="6020" y="15210"/>
                </a:cubicBezTo>
                <a:cubicBezTo>
                  <a:pt x="6020" y="15020"/>
                  <a:pt x="6010" y="14390"/>
                  <a:pt x="6010" y="13720"/>
                </a:cubicBezTo>
                <a:cubicBezTo>
                  <a:pt x="4000" y="14090"/>
                  <a:pt x="3480" y="13230"/>
                  <a:pt x="3320" y="12780"/>
                </a:cubicBezTo>
                <a:cubicBezTo>
                  <a:pt x="3230" y="12550"/>
                  <a:pt x="2840" y="11840"/>
                  <a:pt x="2500" y="11650"/>
                </a:cubicBezTo>
                <a:cubicBezTo>
                  <a:pt x="2220" y="11500"/>
                  <a:pt x="1820" y="11130"/>
                  <a:pt x="2490" y="11120"/>
                </a:cubicBezTo>
                <a:cubicBezTo>
                  <a:pt x="3120" y="11110"/>
                  <a:pt x="3570" y="11700"/>
                  <a:pt x="3720" y="11940"/>
                </a:cubicBezTo>
                <a:cubicBezTo>
                  <a:pt x="4440" y="13150"/>
                  <a:pt x="5590" y="12810"/>
                  <a:pt x="6050" y="12600"/>
                </a:cubicBezTo>
                <a:cubicBezTo>
                  <a:pt x="6120" y="12080"/>
                  <a:pt x="6330" y="11730"/>
                  <a:pt x="6560" y="11530"/>
                </a:cubicBezTo>
                <a:cubicBezTo>
                  <a:pt x="4780" y="11330"/>
                  <a:pt x="2920" y="10640"/>
                  <a:pt x="2920" y="7580"/>
                </a:cubicBezTo>
                <a:cubicBezTo>
                  <a:pt x="2920" y="6710"/>
                  <a:pt x="3230" y="5990"/>
                  <a:pt x="3740" y="5430"/>
                </a:cubicBezTo>
                <a:cubicBezTo>
                  <a:pt x="3660" y="5230"/>
                  <a:pt x="3380" y="4410"/>
                  <a:pt x="3820" y="3310"/>
                </a:cubicBezTo>
                <a:cubicBezTo>
                  <a:pt x="3820" y="3310"/>
                  <a:pt x="4490" y="3100"/>
                  <a:pt x="6020" y="4130"/>
                </a:cubicBezTo>
                <a:cubicBezTo>
                  <a:pt x="6660" y="3950"/>
                  <a:pt x="7340" y="3860"/>
                  <a:pt x="8020" y="3860"/>
                </a:cubicBezTo>
                <a:cubicBezTo>
                  <a:pt x="8700" y="3860"/>
                  <a:pt x="9380" y="3950"/>
                  <a:pt x="10020" y="4130"/>
                </a:cubicBezTo>
                <a:cubicBezTo>
                  <a:pt x="11550" y="3090"/>
                  <a:pt x="12220" y="3310"/>
                  <a:pt x="12220" y="3310"/>
                </a:cubicBezTo>
                <a:cubicBezTo>
                  <a:pt x="12660" y="4410"/>
                  <a:pt x="12380" y="5230"/>
                  <a:pt x="12300" y="5430"/>
                </a:cubicBezTo>
                <a:cubicBezTo>
                  <a:pt x="12810" y="5990"/>
                  <a:pt x="13120" y="6700"/>
                  <a:pt x="13120" y="7580"/>
                </a:cubicBezTo>
                <a:cubicBezTo>
                  <a:pt x="13120" y="10650"/>
                  <a:pt x="11250" y="11330"/>
                  <a:pt x="9470" y="11530"/>
                </a:cubicBezTo>
                <a:cubicBezTo>
                  <a:pt x="9760" y="11780"/>
                  <a:pt x="10010" y="12260"/>
                  <a:pt x="10010" y="13010"/>
                </a:cubicBezTo>
                <a:cubicBezTo>
                  <a:pt x="10010" y="14080"/>
                  <a:pt x="10000" y="14940"/>
                  <a:pt x="10000" y="15210"/>
                </a:cubicBezTo>
                <a:cubicBezTo>
                  <a:pt x="10000" y="15420"/>
                  <a:pt x="10150" y="15670"/>
                  <a:pt x="10550" y="15590"/>
                </a:cubicBezTo>
                <a:cubicBezTo>
                  <a:pt x="11604" y="15234"/>
                  <a:pt x="12572" y="14663"/>
                  <a:pt x="13394" y="13912"/>
                </a:cubicBezTo>
                <a:cubicBezTo>
                  <a:pt x="14215" y="13162"/>
                  <a:pt x="14870" y="12248"/>
                  <a:pt x="15319" y="11231"/>
                </a:cubicBezTo>
                <a:cubicBezTo>
                  <a:pt x="15768" y="10213"/>
                  <a:pt x="16000" y="9112"/>
                  <a:pt x="16000" y="8000"/>
                </a:cubicBezTo>
                <a:cubicBezTo>
                  <a:pt x="16000" y="3580"/>
                  <a:pt x="12420" y="0"/>
                  <a:pt x="8000" y="0"/>
                </a:cubicBezTo>
                <a:close/>
              </a:path>
            </a:pathLst>
          </a:custGeom>
          <a:solidFill>
            <a:srgbClr val="1014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earing  |  GitHub Copilot App workflow"/>
          <p:cNvSpPr txBox="1"/>
          <p:nvPr/>
        </p:nvSpPr>
        <p:spPr>
          <a:xfrm>
            <a:off x="914400" y="6428232"/>
            <a:ext cx="7726679" cy="201168"/>
          </a:xfrm>
          <a:prstGeom prst="rect">
            <a:avLst/>
          </a:prstGeom>
          <a:noFill/>
        </p:spPr>
        <p:txBody>
          <a:bodyPr wrap="square" lIns="0" rIns="0" tIns="0" bIns="0">
            <a:spAutoFit/>
          </a:bodyPr>
          <a:lstStyle/>
          <a:p>
            <a:pPr>
              <a:lnSpc>
                <a:spcPct val="107000"/>
              </a:lnSpc>
              <a:spcAft>
                <a:spcPts val="500"/>
              </a:spcAft>
            </a:pPr>
            <a:r>
              <a:rPr sz="1000" b="0">
                <a:solidFill>
                  <a:srgbClr val="232925"/>
                </a:solidFill>
                <a:latin typeface="Arial"/>
              </a:rPr>
              <a:t>Bearing  |  GitHub Copilot App workflow</a:t>
            </a:r>
          </a:p>
        </p:txBody>
      </p:sp>
      <p:sp>
        <p:nvSpPr>
          <p:cNvPr id="6" name="12 / 16"/>
          <p:cNvSpPr txBox="1"/>
          <p:nvPr/>
        </p:nvSpPr>
        <p:spPr>
          <a:xfrm>
            <a:off x="10744200" y="6428232"/>
            <a:ext cx="822960" cy="201168"/>
          </a:xfrm>
          <a:prstGeom prst="rect">
            <a:avLst/>
          </a:prstGeom>
          <a:noFill/>
        </p:spPr>
        <p:txBody>
          <a:bodyPr wrap="square" lIns="0" rIns="0" tIns="0" bIns="0">
            <a:spAutoFit/>
          </a:bodyPr>
          <a:lstStyle/>
          <a:p>
            <a:pPr>
              <a:lnSpc>
                <a:spcPct val="107000"/>
              </a:lnSpc>
              <a:spcAft>
                <a:spcPts val="500"/>
              </a:spcAft>
            </a:pPr>
            <a:r>
              <a:rPr sz="1000" b="0">
                <a:solidFill>
                  <a:srgbClr val="232925"/>
                </a:solidFill>
                <a:latin typeface="Arial"/>
              </a:rPr>
              <a:t>12 / 16</a:t>
            </a:r>
          </a:p>
        </p:txBody>
      </p:sp>
      <p:sp>
        <p:nvSpPr>
          <p:cNvPr id="7" name="Available in Bearing today"/>
          <p:cNvSpPr txBox="1"/>
          <p:nvPr/>
        </p:nvSpPr>
        <p:spPr>
          <a:xfrm>
            <a:off x="594360" y="2057400"/>
            <a:ext cx="5166360" cy="457200"/>
          </a:xfrm>
          <a:prstGeom prst="rect">
            <a:avLst/>
          </a:prstGeom>
          <a:noFill/>
        </p:spPr>
        <p:txBody>
          <a:bodyPr wrap="square" lIns="0" rIns="0" tIns="0" bIns="0">
            <a:spAutoFit/>
          </a:bodyPr>
          <a:lstStyle/>
          <a:p>
            <a:pPr>
              <a:lnSpc>
                <a:spcPct val="107000"/>
              </a:lnSpc>
              <a:spcAft>
                <a:spcPts val="500"/>
              </a:spcAft>
            </a:pPr>
            <a:r>
              <a:rPr sz="2400" b="1">
                <a:solidFill>
                  <a:srgbClr val="08872B"/>
                </a:solidFill>
                <a:latin typeface="Mona Sans"/>
              </a:rPr>
              <a:t>Available in Bearing today</a:t>
            </a:r>
          </a:p>
        </p:txBody>
      </p:sp>
      <p:sp>
        <p:nvSpPr>
          <p:cNvPr id="8" name="Read-only repository orientation."/>
          <p:cNvSpPr txBox="1"/>
          <p:nvPr/>
        </p:nvSpPr>
        <p:spPr>
          <a:xfrm>
            <a:off x="594360" y="2670048"/>
            <a:ext cx="5166360" cy="2651760"/>
          </a:xfrm>
          <a:prstGeom prst="rect">
            <a:avLst/>
          </a:prstGeom>
          <a:noFill/>
        </p:spPr>
        <p:txBody>
          <a:bodyPr wrap="square" lIns="0" rIns="0" tIns="0" bIns="0">
            <a:spAutoFit/>
          </a:bodyPr>
          <a:lstStyle/>
          <a:p>
            <a:pPr>
              <a:lnSpc>
                <a:spcPct val="107000"/>
              </a:lnSpc>
              <a:spcAft>
                <a:spcPts val="500"/>
              </a:spcAft>
            </a:pPr>
            <a:r>
              <a:rPr sz="2000" b="0">
                <a:solidFill>
                  <a:srgbClr val="232925"/>
                </a:solidFill>
                <a:latin typeface="Arial"/>
              </a:rPr>
              <a:t>Read-only repository orientation.</a:t>
            </a:r>
          </a:p>
          <a:p>
            <a:pPr>
              <a:lnSpc>
                <a:spcPct val="107000"/>
              </a:lnSpc>
              <a:spcAft>
                <a:spcPts val="500"/>
              </a:spcAft>
            </a:pPr>
            <a:r>
              <a:rPr sz="2000" b="0">
                <a:solidFill>
                  <a:srgbClr val="232925"/>
                </a:solidFill>
                <a:latin typeface="Arial"/>
              </a:rPr>
              <a:t>Parallel map + merged-PR research.</a:t>
            </a:r>
          </a:p>
          <a:p>
            <a:pPr>
              <a:lnSpc>
                <a:spcPct val="107000"/>
              </a:lnSpc>
              <a:spcAft>
                <a:spcPts val="500"/>
              </a:spcAft>
            </a:pPr>
            <a:r>
              <a:rPr sz="2000" b="0">
                <a:solidFill>
                  <a:srgbClr val="232925"/>
                </a:solidFill>
                <a:latin typeface="Arial"/>
              </a:rPr>
              <a:t>Incremental seven-section canvas.</a:t>
            </a:r>
          </a:p>
          <a:p>
            <a:pPr>
              <a:lnSpc>
                <a:spcPct val="107000"/>
              </a:lnSpc>
              <a:spcAft>
                <a:spcPts val="500"/>
              </a:spcAft>
            </a:pPr>
            <a:r>
              <a:rPr sz="2000" b="0">
                <a:solidFill>
                  <a:srgbClr val="232925"/>
                </a:solidFill>
                <a:latin typeface="Arial"/>
              </a:rPr>
              <a:t>File evidence and explicit unavailable sections.</a:t>
            </a:r>
          </a:p>
          <a:p>
            <a:pPr>
              <a:lnSpc>
                <a:spcPct val="107000"/>
              </a:lnSpc>
              <a:spcAft>
                <a:spcPts val="500"/>
              </a:spcAft>
            </a:pPr>
            <a:r>
              <a:rPr sz="2000" b="0">
                <a:solidFill>
                  <a:srgbClr val="232925"/>
                </a:solidFill>
                <a:latin typeface="Arial"/>
              </a:rPr>
              <a:t>Persistent first-steps checklist.</a:t>
            </a:r>
          </a:p>
        </p:txBody>
      </p:sp>
      <p:sp>
        <p:nvSpPr>
          <p:cNvPr id="9" name="Separate proposed assessment"/>
          <p:cNvSpPr txBox="1"/>
          <p:nvPr/>
        </p:nvSpPr>
        <p:spPr>
          <a:xfrm>
            <a:off x="6400800" y="2057400"/>
            <a:ext cx="5166360" cy="457200"/>
          </a:xfrm>
          <a:prstGeom prst="rect">
            <a:avLst/>
          </a:prstGeom>
          <a:noFill/>
        </p:spPr>
        <p:txBody>
          <a:bodyPr wrap="square" lIns="0" rIns="0" tIns="0" bIns="0">
            <a:spAutoFit/>
          </a:bodyPr>
          <a:lstStyle/>
          <a:p>
            <a:pPr>
              <a:lnSpc>
                <a:spcPct val="107000"/>
              </a:lnSpc>
              <a:spcAft>
                <a:spcPts val="500"/>
              </a:spcAft>
            </a:pPr>
            <a:r>
              <a:rPr sz="2400" b="1">
                <a:solidFill>
                  <a:srgbClr val="8534F3"/>
                </a:solidFill>
                <a:latin typeface="Mona Sans"/>
              </a:rPr>
              <a:t>Separate proposed assessment</a:t>
            </a:r>
          </a:p>
        </p:txBody>
      </p:sp>
      <p:sp>
        <p:nvSpPr>
          <p:cNvPr id="10" name="Critical-journey and owner review."/>
          <p:cNvSpPr txBox="1"/>
          <p:nvPr/>
        </p:nvSpPr>
        <p:spPr>
          <a:xfrm>
            <a:off x="6400800" y="2670048"/>
            <a:ext cx="5166360" cy="2651760"/>
          </a:xfrm>
          <a:prstGeom prst="rect">
            <a:avLst/>
          </a:prstGeom>
          <a:noFill/>
        </p:spPr>
        <p:txBody>
          <a:bodyPr wrap="square" lIns="0" rIns="0" tIns="0" bIns="0">
            <a:spAutoFit/>
          </a:bodyPr>
          <a:lstStyle/>
          <a:p>
            <a:pPr>
              <a:lnSpc>
                <a:spcPct val="107000"/>
              </a:lnSpc>
              <a:spcAft>
                <a:spcPts val="500"/>
              </a:spcAft>
            </a:pPr>
            <a:r>
              <a:rPr sz="2000" b="0">
                <a:solidFill>
                  <a:srgbClr val="232925"/>
                </a:solidFill>
                <a:latin typeface="Arial"/>
              </a:rPr>
              <a:t>Critical-journey and owner review.</a:t>
            </a:r>
          </a:p>
          <a:p>
            <a:pPr>
              <a:lnSpc>
                <a:spcPct val="107000"/>
              </a:lnSpc>
              <a:spcAft>
                <a:spcPts val="500"/>
              </a:spcAft>
            </a:pPr>
            <a:r>
              <a:rPr sz="2000" b="0">
                <a:solidFill>
                  <a:srgbClr val="232925"/>
                </a:solidFill>
                <a:latin typeface="Arial"/>
              </a:rPr>
              <a:t>Coverage and CI data collection.</a:t>
            </a:r>
          </a:p>
          <a:p>
            <a:pPr>
              <a:lnSpc>
                <a:spcPct val="107000"/>
              </a:lnSpc>
              <a:spcAft>
                <a:spcPts val="500"/>
              </a:spcAft>
            </a:pPr>
            <a:r>
              <a:rPr sz="2000" b="0">
                <a:solidFill>
                  <a:srgbClr val="232925"/>
                </a:solidFill>
                <a:latin typeface="Arial"/>
              </a:rPr>
              <a:t>Comparable runtime measurements.</a:t>
            </a:r>
          </a:p>
          <a:p>
            <a:pPr>
              <a:lnSpc>
                <a:spcPct val="107000"/>
              </a:lnSpc>
              <a:spcAft>
                <a:spcPts val="500"/>
              </a:spcAft>
            </a:pPr>
            <a:r>
              <a:rPr sz="2000" b="0">
                <a:solidFill>
                  <a:srgbClr val="232925"/>
                </a:solidFill>
                <a:latin typeface="Arial"/>
              </a:rPr>
              <a:t>Support-lifecycle assessment.</a:t>
            </a:r>
          </a:p>
          <a:p>
            <a:pPr>
              <a:lnSpc>
                <a:spcPct val="107000"/>
              </a:lnSpc>
              <a:spcAft>
                <a:spcPts val="500"/>
              </a:spcAft>
            </a:pPr>
            <a:r>
              <a:rPr sz="2000" b="0">
                <a:solidFill>
                  <a:srgbClr val="232925"/>
                </a:solidFill>
                <a:latin typeface="Arial"/>
              </a:rPr>
              <a:t>Prioritization and GitHub project setup.</a:t>
            </a:r>
          </a:p>
        </p:txBody>
      </p:sp>
      <p:sp>
        <p:nvSpPr>
          <p:cNvPr id="11" name="Rectangle 10"/>
          <p:cNvSpPr/>
          <p:nvPr/>
        </p:nvSpPr>
        <p:spPr>
          <a:xfrm>
            <a:off x="594360" y="1783080"/>
            <a:ext cx="5166360" cy="64008"/>
          </a:xfrm>
          <a:prstGeom prst="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0" y="1783080"/>
            <a:ext cx="5166360" cy="64008"/>
          </a:xfrm>
          <a:prstGeom prst="rect">
            <a:avLst/>
          </a:prstGeom>
          <a:solidFill>
            <a:srgbClr val="8534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5404104"/>
            <a:ext cx="10972800" cy="502920"/>
          </a:xfrm>
          <a:prstGeom prst="rect">
            <a:avLst/>
          </a:prstGeom>
          <a:solidFill>
            <a:srgbClr val="F2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earing does not run builds/tests, measure coverage or autom"/>
          <p:cNvSpPr txBox="1"/>
          <p:nvPr/>
        </p:nvSpPr>
        <p:spPr>
          <a:xfrm>
            <a:off x="768096" y="5522976"/>
            <a:ext cx="10607040" cy="274320"/>
          </a:xfrm>
          <a:prstGeom prst="rect">
            <a:avLst/>
          </a:prstGeom>
          <a:noFill/>
        </p:spPr>
        <p:txBody>
          <a:bodyPr wrap="square" lIns="0" rIns="0" tIns="0" bIns="0">
            <a:spAutoFit/>
          </a:bodyPr>
          <a:lstStyle/>
          <a:p>
            <a:pPr>
              <a:lnSpc>
                <a:spcPct val="107000"/>
              </a:lnSpc>
              <a:spcAft>
                <a:spcPts val="500"/>
              </a:spcAft>
            </a:pPr>
            <a:r>
              <a:rPr sz="1700" b="1">
                <a:solidFill>
                  <a:srgbClr val="101411"/>
                </a:solidFill>
                <a:latin typeface="Arial"/>
              </a:rPr>
              <a:t>Bearing does not run builds/tests, measure coverage or automatically create this project.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Where Bearing fits, and where it doesn’t yet."/>
          <p:cNvSpPr txBox="1"/>
          <p:nvPr/>
        </p:nvSpPr>
        <p:spPr>
          <a:xfrm>
            <a:off x="594360" y="502920"/>
            <a:ext cx="10972800" cy="1005840"/>
          </a:xfrm>
          <a:prstGeom prst="rect">
            <a:avLst/>
          </a:prstGeom>
          <a:noFill/>
        </p:spPr>
        <p:txBody>
          <a:bodyPr wrap="square" lIns="0" rIns="0" tIns="0" bIns="0">
            <a:spAutoFit/>
          </a:bodyPr>
          <a:lstStyle/>
          <a:p>
            <a:pPr>
              <a:lnSpc>
                <a:spcPct val="107000"/>
              </a:lnSpc>
              <a:spcAft>
                <a:spcPts val="500"/>
              </a:spcAft>
            </a:pPr>
            <a:r>
              <a:rPr sz="3200" b="1">
                <a:solidFill>
                  <a:srgbClr val="101411"/>
                </a:solidFill>
                <a:latin typeface="Mona Sans"/>
              </a:rPr>
              <a:t>Where Bearing fits, and where it doesn’t yet.</a:t>
            </a:r>
          </a:p>
        </p:txBody>
      </p:sp>
      <p:sp>
        <p:nvSpPr>
          <p:cNvPr id="3" name="Rectangle 2"/>
          <p:cNvSpPr/>
          <p:nvPr/>
        </p:nvSpPr>
        <p:spPr>
          <a:xfrm>
            <a:off x="594360" y="6327648"/>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itHub mark" descr="GitHub logo"/>
          <p:cNvSpPr/>
          <p:nvPr/>
        </p:nvSpPr>
        <p:spPr>
          <a:xfrm>
            <a:off x="594360" y="6419088"/>
            <a:ext cx="182880" cy="182880"/>
          </a:xfrm>
          <a:custGeom>
            <a:avLst/>
            <a:gdLst/>
            <a:ahLst/>
            <a:cxnLst/>
            <a:rect l="0" t="0" r="r" b="b"/>
            <a:pathLst>
              <a:path w="16000" h="16000">
                <a:moveTo>
                  <a:pt x="8000" y="0"/>
                </a:moveTo>
                <a:cubicBezTo>
                  <a:pt x="3580" y="0"/>
                  <a:pt x="0" y="3580"/>
                  <a:pt x="0" y="8000"/>
                </a:cubicBezTo>
                <a:cubicBezTo>
                  <a:pt x="0" y="11540"/>
                  <a:pt x="2290" y="14530"/>
                  <a:pt x="5470" y="15590"/>
                </a:cubicBezTo>
                <a:cubicBezTo>
                  <a:pt x="5870" y="15660"/>
                  <a:pt x="6020" y="15420"/>
                  <a:pt x="6020" y="15210"/>
                </a:cubicBezTo>
                <a:cubicBezTo>
                  <a:pt x="6020" y="15020"/>
                  <a:pt x="6010" y="14390"/>
                  <a:pt x="6010" y="13720"/>
                </a:cubicBezTo>
                <a:cubicBezTo>
                  <a:pt x="4000" y="14090"/>
                  <a:pt x="3480" y="13230"/>
                  <a:pt x="3320" y="12780"/>
                </a:cubicBezTo>
                <a:cubicBezTo>
                  <a:pt x="3230" y="12550"/>
                  <a:pt x="2840" y="11840"/>
                  <a:pt x="2500" y="11650"/>
                </a:cubicBezTo>
                <a:cubicBezTo>
                  <a:pt x="2220" y="11500"/>
                  <a:pt x="1820" y="11130"/>
                  <a:pt x="2490" y="11120"/>
                </a:cubicBezTo>
                <a:cubicBezTo>
                  <a:pt x="3120" y="11110"/>
                  <a:pt x="3570" y="11700"/>
                  <a:pt x="3720" y="11940"/>
                </a:cubicBezTo>
                <a:cubicBezTo>
                  <a:pt x="4440" y="13150"/>
                  <a:pt x="5590" y="12810"/>
                  <a:pt x="6050" y="12600"/>
                </a:cubicBezTo>
                <a:cubicBezTo>
                  <a:pt x="6120" y="12080"/>
                  <a:pt x="6330" y="11730"/>
                  <a:pt x="6560" y="11530"/>
                </a:cubicBezTo>
                <a:cubicBezTo>
                  <a:pt x="4780" y="11330"/>
                  <a:pt x="2920" y="10640"/>
                  <a:pt x="2920" y="7580"/>
                </a:cubicBezTo>
                <a:cubicBezTo>
                  <a:pt x="2920" y="6710"/>
                  <a:pt x="3230" y="5990"/>
                  <a:pt x="3740" y="5430"/>
                </a:cubicBezTo>
                <a:cubicBezTo>
                  <a:pt x="3660" y="5230"/>
                  <a:pt x="3380" y="4410"/>
                  <a:pt x="3820" y="3310"/>
                </a:cubicBezTo>
                <a:cubicBezTo>
                  <a:pt x="3820" y="3310"/>
                  <a:pt x="4490" y="3100"/>
                  <a:pt x="6020" y="4130"/>
                </a:cubicBezTo>
                <a:cubicBezTo>
                  <a:pt x="6660" y="3950"/>
                  <a:pt x="7340" y="3860"/>
                  <a:pt x="8020" y="3860"/>
                </a:cubicBezTo>
                <a:cubicBezTo>
                  <a:pt x="8700" y="3860"/>
                  <a:pt x="9380" y="3950"/>
                  <a:pt x="10020" y="4130"/>
                </a:cubicBezTo>
                <a:cubicBezTo>
                  <a:pt x="11550" y="3090"/>
                  <a:pt x="12220" y="3310"/>
                  <a:pt x="12220" y="3310"/>
                </a:cubicBezTo>
                <a:cubicBezTo>
                  <a:pt x="12660" y="4410"/>
                  <a:pt x="12380" y="5230"/>
                  <a:pt x="12300" y="5430"/>
                </a:cubicBezTo>
                <a:cubicBezTo>
                  <a:pt x="12810" y="5990"/>
                  <a:pt x="13120" y="6700"/>
                  <a:pt x="13120" y="7580"/>
                </a:cubicBezTo>
                <a:cubicBezTo>
                  <a:pt x="13120" y="10650"/>
                  <a:pt x="11250" y="11330"/>
                  <a:pt x="9470" y="11530"/>
                </a:cubicBezTo>
                <a:cubicBezTo>
                  <a:pt x="9760" y="11780"/>
                  <a:pt x="10010" y="12260"/>
                  <a:pt x="10010" y="13010"/>
                </a:cubicBezTo>
                <a:cubicBezTo>
                  <a:pt x="10010" y="14080"/>
                  <a:pt x="10000" y="14940"/>
                  <a:pt x="10000" y="15210"/>
                </a:cubicBezTo>
                <a:cubicBezTo>
                  <a:pt x="10000" y="15420"/>
                  <a:pt x="10150" y="15670"/>
                  <a:pt x="10550" y="15590"/>
                </a:cubicBezTo>
                <a:cubicBezTo>
                  <a:pt x="11604" y="15234"/>
                  <a:pt x="12572" y="14663"/>
                  <a:pt x="13394" y="13912"/>
                </a:cubicBezTo>
                <a:cubicBezTo>
                  <a:pt x="14215" y="13162"/>
                  <a:pt x="14870" y="12248"/>
                  <a:pt x="15319" y="11231"/>
                </a:cubicBezTo>
                <a:cubicBezTo>
                  <a:pt x="15768" y="10213"/>
                  <a:pt x="16000" y="9112"/>
                  <a:pt x="16000" y="8000"/>
                </a:cubicBezTo>
                <a:cubicBezTo>
                  <a:pt x="16000" y="3580"/>
                  <a:pt x="12420" y="0"/>
                  <a:pt x="8000" y="0"/>
                </a:cubicBezTo>
                <a:close/>
              </a:path>
            </a:pathLst>
          </a:custGeom>
          <a:solidFill>
            <a:srgbClr val="1014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earing  |  GitHub Copilot App workflow"/>
          <p:cNvSpPr txBox="1"/>
          <p:nvPr/>
        </p:nvSpPr>
        <p:spPr>
          <a:xfrm>
            <a:off x="914400" y="6428232"/>
            <a:ext cx="7726679" cy="201168"/>
          </a:xfrm>
          <a:prstGeom prst="rect">
            <a:avLst/>
          </a:prstGeom>
          <a:noFill/>
        </p:spPr>
        <p:txBody>
          <a:bodyPr wrap="square" lIns="0" rIns="0" tIns="0" bIns="0">
            <a:spAutoFit/>
          </a:bodyPr>
          <a:lstStyle/>
          <a:p>
            <a:pPr>
              <a:lnSpc>
                <a:spcPct val="107000"/>
              </a:lnSpc>
              <a:spcAft>
                <a:spcPts val="500"/>
              </a:spcAft>
            </a:pPr>
            <a:r>
              <a:rPr sz="1000" b="0">
                <a:solidFill>
                  <a:srgbClr val="232925"/>
                </a:solidFill>
                <a:latin typeface="Arial"/>
              </a:rPr>
              <a:t>Bearing  |  GitHub Copilot App workflow</a:t>
            </a:r>
          </a:p>
        </p:txBody>
      </p:sp>
      <p:sp>
        <p:nvSpPr>
          <p:cNvPr id="6" name="13 / 16"/>
          <p:cNvSpPr txBox="1"/>
          <p:nvPr/>
        </p:nvSpPr>
        <p:spPr>
          <a:xfrm>
            <a:off x="10744200" y="6428232"/>
            <a:ext cx="822960" cy="201168"/>
          </a:xfrm>
          <a:prstGeom prst="rect">
            <a:avLst/>
          </a:prstGeom>
          <a:noFill/>
        </p:spPr>
        <p:txBody>
          <a:bodyPr wrap="square" lIns="0" rIns="0" tIns="0" bIns="0">
            <a:spAutoFit/>
          </a:bodyPr>
          <a:lstStyle/>
          <a:p>
            <a:pPr>
              <a:lnSpc>
                <a:spcPct val="107000"/>
              </a:lnSpc>
              <a:spcAft>
                <a:spcPts val="500"/>
              </a:spcAft>
            </a:pPr>
            <a:r>
              <a:rPr sz="1000" b="0">
                <a:solidFill>
                  <a:srgbClr val="232925"/>
                </a:solidFill>
                <a:latin typeface="Arial"/>
              </a:rPr>
              <a:t>13 / 16</a:t>
            </a:r>
          </a:p>
        </p:txBody>
      </p:sp>
      <p:sp>
        <p:nvSpPr>
          <p:cNvPr id="7" name="Rectangle 6"/>
          <p:cNvSpPr/>
          <p:nvPr/>
        </p:nvSpPr>
        <p:spPr>
          <a:xfrm>
            <a:off x="594360" y="1664208"/>
            <a:ext cx="10972800" cy="548640"/>
          </a:xfrm>
          <a:prstGeom prst="rect">
            <a:avLst/>
          </a:prstGeom>
          <a:solidFill>
            <a:srgbClr val="1014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riterion"/>
          <p:cNvSpPr txBox="1"/>
          <p:nvPr/>
        </p:nvSpPr>
        <p:spPr>
          <a:xfrm>
            <a:off x="704088" y="1792224"/>
            <a:ext cx="2798063" cy="320040"/>
          </a:xfrm>
          <a:prstGeom prst="rect">
            <a:avLst/>
          </a:prstGeom>
          <a:noFill/>
        </p:spPr>
        <p:txBody>
          <a:bodyPr wrap="square" lIns="0" rIns="0" tIns="0" bIns="0">
            <a:spAutoFit/>
          </a:bodyPr>
          <a:lstStyle/>
          <a:p>
            <a:pPr>
              <a:lnSpc>
                <a:spcPct val="107000"/>
              </a:lnSpc>
              <a:spcAft>
                <a:spcPts val="500"/>
              </a:spcAft>
            </a:pPr>
            <a:r>
              <a:rPr sz="1700" b="1">
                <a:solidFill>
                  <a:srgbClr val="FFFFFF"/>
                </a:solidFill>
                <a:latin typeface="Arial"/>
              </a:rPr>
              <a:t>Criterion</a:t>
            </a:r>
          </a:p>
        </p:txBody>
      </p:sp>
      <p:sp>
        <p:nvSpPr>
          <p:cNvPr id="9" name="Status"/>
          <p:cNvSpPr txBox="1"/>
          <p:nvPr/>
        </p:nvSpPr>
        <p:spPr>
          <a:xfrm>
            <a:off x="3721607" y="1792224"/>
            <a:ext cx="1517904" cy="320040"/>
          </a:xfrm>
          <a:prstGeom prst="rect">
            <a:avLst/>
          </a:prstGeom>
          <a:noFill/>
        </p:spPr>
        <p:txBody>
          <a:bodyPr wrap="square" lIns="0" rIns="0" tIns="0" bIns="0">
            <a:spAutoFit/>
          </a:bodyPr>
          <a:lstStyle/>
          <a:p>
            <a:pPr>
              <a:lnSpc>
                <a:spcPct val="107000"/>
              </a:lnSpc>
              <a:spcAft>
                <a:spcPts val="500"/>
              </a:spcAft>
            </a:pPr>
            <a:r>
              <a:rPr sz="1700" b="1">
                <a:solidFill>
                  <a:srgbClr val="FFFFFF"/>
                </a:solidFill>
                <a:latin typeface="Arial"/>
              </a:rPr>
              <a:t>Status</a:t>
            </a:r>
          </a:p>
        </p:txBody>
      </p:sp>
      <p:sp>
        <p:nvSpPr>
          <p:cNvPr id="10" name="Evidence in this repository"/>
          <p:cNvSpPr txBox="1"/>
          <p:nvPr/>
        </p:nvSpPr>
        <p:spPr>
          <a:xfrm>
            <a:off x="5458968" y="1792224"/>
            <a:ext cx="5998464" cy="320040"/>
          </a:xfrm>
          <a:prstGeom prst="rect">
            <a:avLst/>
          </a:prstGeom>
          <a:noFill/>
        </p:spPr>
        <p:txBody>
          <a:bodyPr wrap="square" lIns="0" rIns="0" tIns="0" bIns="0">
            <a:spAutoFit/>
          </a:bodyPr>
          <a:lstStyle/>
          <a:p>
            <a:pPr>
              <a:lnSpc>
                <a:spcPct val="107000"/>
              </a:lnSpc>
              <a:spcAft>
                <a:spcPts val="500"/>
              </a:spcAft>
            </a:pPr>
            <a:r>
              <a:rPr sz="1700" b="1">
                <a:solidFill>
                  <a:srgbClr val="FFFFFF"/>
                </a:solidFill>
                <a:latin typeface="Arial"/>
              </a:rPr>
              <a:t>Evidence in this repository</a:t>
            </a:r>
          </a:p>
        </p:txBody>
      </p:sp>
      <p:sp>
        <p:nvSpPr>
          <p:cNvPr id="11" name="Rectangle 10"/>
          <p:cNvSpPr/>
          <p:nvPr/>
        </p:nvSpPr>
        <p:spPr>
          <a:xfrm>
            <a:off x="594360" y="2951683"/>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peatable"/>
          <p:cNvSpPr txBox="1"/>
          <p:nvPr/>
        </p:nvSpPr>
        <p:spPr>
          <a:xfrm>
            <a:off x="704088" y="2322576"/>
            <a:ext cx="2798063" cy="603503"/>
          </a:xfrm>
          <a:prstGeom prst="rect">
            <a:avLst/>
          </a:prstGeom>
          <a:noFill/>
        </p:spPr>
        <p:txBody>
          <a:bodyPr wrap="square" lIns="0" rIns="0" tIns="0" bIns="0">
            <a:spAutoFit/>
          </a:bodyPr>
          <a:lstStyle/>
          <a:p>
            <a:pPr>
              <a:lnSpc>
                <a:spcPct val="107000"/>
              </a:lnSpc>
              <a:spcAft>
                <a:spcPts val="500"/>
              </a:spcAft>
            </a:pPr>
            <a:r>
              <a:rPr sz="1600" b="1">
                <a:solidFill>
                  <a:srgbClr val="101411"/>
                </a:solidFill>
                <a:latin typeface="Arial"/>
              </a:rPr>
              <a:t>Repeatable</a:t>
            </a:r>
          </a:p>
        </p:txBody>
      </p:sp>
      <p:sp>
        <p:nvSpPr>
          <p:cNvPr id="13" name="Chip: Prototype"/>
          <p:cNvSpPr/>
          <p:nvPr/>
        </p:nvSpPr>
        <p:spPr>
          <a:xfrm>
            <a:off x="3721607" y="2450591"/>
            <a:ext cx="1463039" cy="274320"/>
          </a:xfrm>
          <a:prstGeom prst="round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200" b="1">
                <a:solidFill>
                  <a:srgbClr val="FFFFFF"/>
                </a:solidFill>
                <a:latin typeface="Arial"/>
              </a:rPr>
              <a:t>Prototype</a:t>
            </a:r>
          </a:p>
        </p:txBody>
      </p:sp>
      <p:sp>
        <p:nvSpPr>
          <p:cNvPr id="14" name="One /onboard-repo command and an installable plugin: skill, "/>
          <p:cNvSpPr txBox="1"/>
          <p:nvPr/>
        </p:nvSpPr>
        <p:spPr>
          <a:xfrm>
            <a:off x="5458968" y="2322576"/>
            <a:ext cx="5998464" cy="603503"/>
          </a:xfrm>
          <a:prstGeom prst="rect">
            <a:avLst/>
          </a:prstGeom>
          <a:noFill/>
        </p:spPr>
        <p:txBody>
          <a:bodyPr wrap="square" lIns="0" rIns="0" tIns="0" bIns="0">
            <a:spAutoFit/>
          </a:bodyPr>
          <a:lstStyle/>
          <a:p>
            <a:pPr>
              <a:lnSpc>
                <a:spcPct val="107000"/>
              </a:lnSpc>
              <a:spcAft>
                <a:spcPts val="500"/>
              </a:spcAft>
            </a:pPr>
            <a:r>
              <a:rPr sz="1600" b="0">
                <a:solidFill>
                  <a:srgbClr val="232925"/>
                </a:solidFill>
                <a:latin typeface="Arial"/>
              </a:rPr>
              <a:t>One /onboard-repo command and an installable plugin: skill, agents, tools, canvas and tests.</a:t>
            </a:r>
          </a:p>
        </p:txBody>
      </p:sp>
      <p:sp>
        <p:nvSpPr>
          <p:cNvPr id="15" name="Rectangle 14"/>
          <p:cNvSpPr/>
          <p:nvPr/>
        </p:nvSpPr>
        <p:spPr>
          <a:xfrm>
            <a:off x="594360" y="3701491"/>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Governed"/>
          <p:cNvSpPr txBox="1"/>
          <p:nvPr/>
        </p:nvSpPr>
        <p:spPr>
          <a:xfrm>
            <a:off x="704088" y="3072384"/>
            <a:ext cx="2798063" cy="603503"/>
          </a:xfrm>
          <a:prstGeom prst="rect">
            <a:avLst/>
          </a:prstGeom>
          <a:noFill/>
        </p:spPr>
        <p:txBody>
          <a:bodyPr wrap="square" lIns="0" rIns="0" tIns="0" bIns="0">
            <a:spAutoFit/>
          </a:bodyPr>
          <a:lstStyle/>
          <a:p>
            <a:pPr>
              <a:lnSpc>
                <a:spcPct val="107000"/>
              </a:lnSpc>
              <a:spcAft>
                <a:spcPts val="500"/>
              </a:spcAft>
            </a:pPr>
            <a:r>
              <a:rPr sz="1600" b="1">
                <a:solidFill>
                  <a:srgbClr val="101411"/>
                </a:solidFill>
                <a:latin typeface="Arial"/>
              </a:rPr>
              <a:t>Governed</a:t>
            </a:r>
          </a:p>
        </p:txBody>
      </p:sp>
      <p:sp>
        <p:nvSpPr>
          <p:cNvPr id="17" name="Chip: Prototype"/>
          <p:cNvSpPr/>
          <p:nvPr/>
        </p:nvSpPr>
        <p:spPr>
          <a:xfrm>
            <a:off x="3721607" y="3200400"/>
            <a:ext cx="1463039" cy="274320"/>
          </a:xfrm>
          <a:prstGeom prst="round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200" b="1">
                <a:solidFill>
                  <a:srgbClr val="FFFFFF"/>
                </a:solidFill>
                <a:latin typeface="Arial"/>
              </a:rPr>
              <a:t>Prototype</a:t>
            </a:r>
          </a:p>
        </p:txBody>
      </p:sp>
      <p:sp>
        <p:nvSpPr>
          <p:cNvPr id="18" name="Read-only, role-scoped tools; loopback canvas with a per-ins"/>
          <p:cNvSpPr txBox="1"/>
          <p:nvPr/>
        </p:nvSpPr>
        <p:spPr>
          <a:xfrm>
            <a:off x="5458968" y="3072384"/>
            <a:ext cx="5998464" cy="603503"/>
          </a:xfrm>
          <a:prstGeom prst="rect">
            <a:avLst/>
          </a:prstGeom>
          <a:noFill/>
        </p:spPr>
        <p:txBody>
          <a:bodyPr wrap="square" lIns="0" rIns="0" tIns="0" bIns="0">
            <a:spAutoFit/>
          </a:bodyPr>
          <a:lstStyle/>
          <a:p>
            <a:pPr>
              <a:lnSpc>
                <a:spcPct val="107000"/>
              </a:lnSpc>
              <a:spcAft>
                <a:spcPts val="500"/>
              </a:spcAft>
            </a:pPr>
            <a:r>
              <a:rPr sz="1600" b="0">
                <a:solidFill>
                  <a:srgbClr val="232925"/>
                </a:solidFill>
                <a:latin typeface="Arial"/>
              </a:rPr>
              <a:t>Read-only, role-scoped tools; loopback canvas with a per-instance token. Production controls remain a separate decision.</a:t>
            </a:r>
          </a:p>
        </p:txBody>
      </p:sp>
      <p:sp>
        <p:nvSpPr>
          <p:cNvPr id="19" name="Rectangle 18"/>
          <p:cNvSpPr/>
          <p:nvPr/>
        </p:nvSpPr>
        <p:spPr>
          <a:xfrm>
            <a:off x="594360" y="4451299"/>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Native to the Copilot App"/>
          <p:cNvSpPr txBox="1"/>
          <p:nvPr/>
        </p:nvSpPr>
        <p:spPr>
          <a:xfrm>
            <a:off x="704088" y="3822191"/>
            <a:ext cx="2798063" cy="603503"/>
          </a:xfrm>
          <a:prstGeom prst="rect">
            <a:avLst/>
          </a:prstGeom>
          <a:noFill/>
        </p:spPr>
        <p:txBody>
          <a:bodyPr wrap="square" lIns="0" rIns="0" tIns="0" bIns="0">
            <a:spAutoFit/>
          </a:bodyPr>
          <a:lstStyle/>
          <a:p>
            <a:pPr>
              <a:lnSpc>
                <a:spcPct val="107000"/>
              </a:lnSpc>
              <a:spcAft>
                <a:spcPts val="500"/>
              </a:spcAft>
            </a:pPr>
            <a:r>
              <a:rPr sz="1600" b="1">
                <a:solidFill>
                  <a:srgbClr val="101411"/>
                </a:solidFill>
                <a:latin typeface="Arial"/>
              </a:rPr>
              <a:t>Native to the Copilot App</a:t>
            </a:r>
          </a:p>
        </p:txBody>
      </p:sp>
      <p:sp>
        <p:nvSpPr>
          <p:cNvPr id="21" name="Chip: Prototype"/>
          <p:cNvSpPr/>
          <p:nvPr/>
        </p:nvSpPr>
        <p:spPr>
          <a:xfrm>
            <a:off x="3721607" y="3950207"/>
            <a:ext cx="1463039" cy="274320"/>
          </a:xfrm>
          <a:prstGeom prst="round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200" b="1">
                <a:solidFill>
                  <a:srgbClr val="FFFFFF"/>
                </a:solidFill>
                <a:latin typeface="Arial"/>
              </a:rPr>
              <a:t>Prototype</a:t>
            </a:r>
          </a:p>
        </p:txBody>
      </p:sp>
      <p:sp>
        <p:nvSpPr>
          <p:cNvPr id="22" name="A skill, two parallel agents, extension tools and a live can"/>
          <p:cNvSpPr txBox="1"/>
          <p:nvPr/>
        </p:nvSpPr>
        <p:spPr>
          <a:xfrm>
            <a:off x="5458968" y="3822191"/>
            <a:ext cx="5998464" cy="603503"/>
          </a:xfrm>
          <a:prstGeom prst="rect">
            <a:avLst/>
          </a:prstGeom>
          <a:noFill/>
        </p:spPr>
        <p:txBody>
          <a:bodyPr wrap="square" lIns="0" rIns="0" tIns="0" bIns="0">
            <a:spAutoFit/>
          </a:bodyPr>
          <a:lstStyle/>
          <a:p>
            <a:pPr>
              <a:lnSpc>
                <a:spcPct val="107000"/>
              </a:lnSpc>
              <a:spcAft>
                <a:spcPts val="500"/>
              </a:spcAft>
            </a:pPr>
            <a:r>
              <a:rPr sz="1600" b="0">
                <a:solidFill>
                  <a:srgbClr val="232925"/>
                </a:solidFill>
                <a:latin typeface="Arial"/>
              </a:rPr>
              <a:t>A skill, two parallel agents, extension tools and a live canvas inside the app.</a:t>
            </a:r>
          </a:p>
        </p:txBody>
      </p:sp>
      <p:sp>
        <p:nvSpPr>
          <p:cNvPr id="23" name="Rectangle 22"/>
          <p:cNvSpPr/>
          <p:nvPr/>
        </p:nvSpPr>
        <p:spPr>
          <a:xfrm>
            <a:off x="594360" y="5201107"/>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Useful beyond developers"/>
          <p:cNvSpPr txBox="1"/>
          <p:nvPr/>
        </p:nvSpPr>
        <p:spPr>
          <a:xfrm>
            <a:off x="704088" y="4572000"/>
            <a:ext cx="2798063" cy="603503"/>
          </a:xfrm>
          <a:prstGeom prst="rect">
            <a:avLst/>
          </a:prstGeom>
          <a:noFill/>
        </p:spPr>
        <p:txBody>
          <a:bodyPr wrap="square" lIns="0" rIns="0" tIns="0" bIns="0">
            <a:spAutoFit/>
          </a:bodyPr>
          <a:lstStyle/>
          <a:p>
            <a:pPr>
              <a:lnSpc>
                <a:spcPct val="107000"/>
              </a:lnSpc>
              <a:spcAft>
                <a:spcPts val="500"/>
              </a:spcAft>
            </a:pPr>
            <a:r>
              <a:rPr sz="1600" b="1">
                <a:solidFill>
                  <a:srgbClr val="101411"/>
                </a:solidFill>
                <a:latin typeface="Arial"/>
              </a:rPr>
              <a:t>Useful beyond developers</a:t>
            </a:r>
          </a:p>
        </p:txBody>
      </p:sp>
      <p:sp>
        <p:nvSpPr>
          <p:cNvPr id="25" name="Chip: Emerging"/>
          <p:cNvSpPr/>
          <p:nvPr/>
        </p:nvSpPr>
        <p:spPr>
          <a:xfrm>
            <a:off x="3721607" y="4700016"/>
            <a:ext cx="1463039" cy="274320"/>
          </a:xfrm>
          <a:prstGeom prst="roundRect">
            <a:avLst/>
          </a:prstGeom>
          <a:solidFill>
            <a:srgbClr val="101411"/>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200" b="1">
                <a:solidFill>
                  <a:srgbClr val="FFFFFF"/>
                </a:solidFill>
                <a:latin typeface="Arial"/>
              </a:rPr>
              <a:t>Emerging</a:t>
            </a:r>
          </a:p>
        </p:txBody>
      </p:sp>
      <p:sp>
        <p:nvSpPr>
          <p:cNvPr id="26" name="Enablement teams can reuse one guide format. Not yet validat"/>
          <p:cNvSpPr txBox="1"/>
          <p:nvPr/>
        </p:nvSpPr>
        <p:spPr>
          <a:xfrm>
            <a:off x="5458968" y="4572000"/>
            <a:ext cx="5998464" cy="603503"/>
          </a:xfrm>
          <a:prstGeom prst="rect">
            <a:avLst/>
          </a:prstGeom>
          <a:noFill/>
        </p:spPr>
        <p:txBody>
          <a:bodyPr wrap="square" lIns="0" rIns="0" tIns="0" bIns="0">
            <a:spAutoFit/>
          </a:bodyPr>
          <a:lstStyle/>
          <a:p>
            <a:pPr>
              <a:lnSpc>
                <a:spcPct val="107000"/>
              </a:lnSpc>
              <a:spcAft>
                <a:spcPts val="500"/>
              </a:spcAft>
            </a:pPr>
            <a:r>
              <a:rPr sz="1600" b="0">
                <a:solidFill>
                  <a:srgbClr val="232925"/>
                </a:solidFill>
                <a:latin typeface="Arial"/>
              </a:rPr>
              <a:t>Enablement teams can reuse one guide format. Not yet validated with non-developer users.</a:t>
            </a:r>
          </a:p>
        </p:txBody>
      </p:sp>
      <p:sp>
        <p:nvSpPr>
          <p:cNvPr id="27" name="Rectangle 26"/>
          <p:cNvSpPr/>
          <p:nvPr/>
        </p:nvSpPr>
        <p:spPr>
          <a:xfrm>
            <a:off x="594360" y="5950915"/>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aches beyond onboarding"/>
          <p:cNvSpPr txBox="1"/>
          <p:nvPr/>
        </p:nvSpPr>
        <p:spPr>
          <a:xfrm>
            <a:off x="704088" y="5321808"/>
            <a:ext cx="2798063" cy="603503"/>
          </a:xfrm>
          <a:prstGeom prst="rect">
            <a:avLst/>
          </a:prstGeom>
          <a:noFill/>
        </p:spPr>
        <p:txBody>
          <a:bodyPr wrap="square" lIns="0" rIns="0" tIns="0" bIns="0">
            <a:spAutoFit/>
          </a:bodyPr>
          <a:lstStyle/>
          <a:p>
            <a:pPr>
              <a:lnSpc>
                <a:spcPct val="107000"/>
              </a:lnSpc>
              <a:spcAft>
                <a:spcPts val="500"/>
              </a:spcAft>
            </a:pPr>
            <a:r>
              <a:rPr sz="1600" b="1">
                <a:solidFill>
                  <a:srgbClr val="101411"/>
                </a:solidFill>
                <a:latin typeface="Arial"/>
              </a:rPr>
              <a:t>Reaches beyond onboarding</a:t>
            </a:r>
          </a:p>
        </p:txBody>
      </p:sp>
      <p:sp>
        <p:nvSpPr>
          <p:cNvPr id="29" name="Chip: Proposed"/>
          <p:cNvSpPr/>
          <p:nvPr/>
        </p:nvSpPr>
        <p:spPr>
          <a:xfrm>
            <a:off x="3721607" y="5449824"/>
            <a:ext cx="1463039" cy="274320"/>
          </a:xfrm>
          <a:prstGeom prst="roundRect">
            <a:avLst/>
          </a:prstGeom>
          <a:solidFill>
            <a:srgbClr val="8534F3"/>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200" b="1">
                <a:solidFill>
                  <a:srgbClr val="FFFFFF"/>
                </a:solidFill>
                <a:latin typeface="Arial"/>
              </a:rPr>
              <a:t>Proposed</a:t>
            </a:r>
          </a:p>
        </p:txBody>
      </p:sp>
      <p:sp>
        <p:nvSpPr>
          <p:cNvPr id="30" name="The legacy modernization assessment in this deck. No such wo"/>
          <p:cNvSpPr txBox="1"/>
          <p:nvPr/>
        </p:nvSpPr>
        <p:spPr>
          <a:xfrm>
            <a:off x="5458968" y="5321808"/>
            <a:ext cx="5998464" cy="603503"/>
          </a:xfrm>
          <a:prstGeom prst="rect">
            <a:avLst/>
          </a:prstGeom>
          <a:noFill/>
        </p:spPr>
        <p:txBody>
          <a:bodyPr wrap="square" lIns="0" rIns="0" tIns="0" bIns="0">
            <a:spAutoFit/>
          </a:bodyPr>
          <a:lstStyle/>
          <a:p>
            <a:pPr>
              <a:lnSpc>
                <a:spcPct val="107000"/>
              </a:lnSpc>
              <a:spcAft>
                <a:spcPts val="500"/>
              </a:spcAft>
            </a:pPr>
            <a:r>
              <a:rPr sz="1600" b="0">
                <a:solidFill>
                  <a:srgbClr val="232925"/>
                </a:solidFill>
                <a:latin typeface="Arial"/>
              </a:rPr>
              <a:t>The legacy modernization assessment in this deck. No such workflow is implemented.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ne review discipline, several workflows."/>
          <p:cNvSpPr txBox="1"/>
          <p:nvPr/>
        </p:nvSpPr>
        <p:spPr>
          <a:xfrm>
            <a:off x="594360" y="502920"/>
            <a:ext cx="10972800" cy="1005840"/>
          </a:xfrm>
          <a:prstGeom prst="rect">
            <a:avLst/>
          </a:prstGeom>
          <a:noFill/>
        </p:spPr>
        <p:txBody>
          <a:bodyPr wrap="square" lIns="0" rIns="0" tIns="0" bIns="0">
            <a:spAutoFit/>
          </a:bodyPr>
          <a:lstStyle/>
          <a:p>
            <a:pPr>
              <a:lnSpc>
                <a:spcPct val="107000"/>
              </a:lnSpc>
              <a:spcAft>
                <a:spcPts val="500"/>
              </a:spcAft>
            </a:pPr>
            <a:r>
              <a:rPr sz="3200" b="1">
                <a:solidFill>
                  <a:srgbClr val="101411"/>
                </a:solidFill>
                <a:latin typeface="Mona Sans"/>
              </a:rPr>
              <a:t>One review discipline, several workflows.</a:t>
            </a:r>
          </a:p>
        </p:txBody>
      </p:sp>
      <p:sp>
        <p:nvSpPr>
          <p:cNvPr id="3" name="Rectangle 2"/>
          <p:cNvSpPr/>
          <p:nvPr/>
        </p:nvSpPr>
        <p:spPr>
          <a:xfrm>
            <a:off x="594360" y="6327648"/>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itHub mark" descr="GitHub logo"/>
          <p:cNvSpPr/>
          <p:nvPr/>
        </p:nvSpPr>
        <p:spPr>
          <a:xfrm>
            <a:off x="594360" y="6419088"/>
            <a:ext cx="182880" cy="182880"/>
          </a:xfrm>
          <a:custGeom>
            <a:avLst/>
            <a:gdLst/>
            <a:ahLst/>
            <a:cxnLst/>
            <a:rect l="0" t="0" r="r" b="b"/>
            <a:pathLst>
              <a:path w="16000" h="16000">
                <a:moveTo>
                  <a:pt x="8000" y="0"/>
                </a:moveTo>
                <a:cubicBezTo>
                  <a:pt x="3580" y="0"/>
                  <a:pt x="0" y="3580"/>
                  <a:pt x="0" y="8000"/>
                </a:cubicBezTo>
                <a:cubicBezTo>
                  <a:pt x="0" y="11540"/>
                  <a:pt x="2290" y="14530"/>
                  <a:pt x="5470" y="15590"/>
                </a:cubicBezTo>
                <a:cubicBezTo>
                  <a:pt x="5870" y="15660"/>
                  <a:pt x="6020" y="15420"/>
                  <a:pt x="6020" y="15210"/>
                </a:cubicBezTo>
                <a:cubicBezTo>
                  <a:pt x="6020" y="15020"/>
                  <a:pt x="6010" y="14390"/>
                  <a:pt x="6010" y="13720"/>
                </a:cubicBezTo>
                <a:cubicBezTo>
                  <a:pt x="4000" y="14090"/>
                  <a:pt x="3480" y="13230"/>
                  <a:pt x="3320" y="12780"/>
                </a:cubicBezTo>
                <a:cubicBezTo>
                  <a:pt x="3230" y="12550"/>
                  <a:pt x="2840" y="11840"/>
                  <a:pt x="2500" y="11650"/>
                </a:cubicBezTo>
                <a:cubicBezTo>
                  <a:pt x="2220" y="11500"/>
                  <a:pt x="1820" y="11130"/>
                  <a:pt x="2490" y="11120"/>
                </a:cubicBezTo>
                <a:cubicBezTo>
                  <a:pt x="3120" y="11110"/>
                  <a:pt x="3570" y="11700"/>
                  <a:pt x="3720" y="11940"/>
                </a:cubicBezTo>
                <a:cubicBezTo>
                  <a:pt x="4440" y="13150"/>
                  <a:pt x="5590" y="12810"/>
                  <a:pt x="6050" y="12600"/>
                </a:cubicBezTo>
                <a:cubicBezTo>
                  <a:pt x="6120" y="12080"/>
                  <a:pt x="6330" y="11730"/>
                  <a:pt x="6560" y="11530"/>
                </a:cubicBezTo>
                <a:cubicBezTo>
                  <a:pt x="4780" y="11330"/>
                  <a:pt x="2920" y="10640"/>
                  <a:pt x="2920" y="7580"/>
                </a:cubicBezTo>
                <a:cubicBezTo>
                  <a:pt x="2920" y="6710"/>
                  <a:pt x="3230" y="5990"/>
                  <a:pt x="3740" y="5430"/>
                </a:cubicBezTo>
                <a:cubicBezTo>
                  <a:pt x="3660" y="5230"/>
                  <a:pt x="3380" y="4410"/>
                  <a:pt x="3820" y="3310"/>
                </a:cubicBezTo>
                <a:cubicBezTo>
                  <a:pt x="3820" y="3310"/>
                  <a:pt x="4490" y="3100"/>
                  <a:pt x="6020" y="4130"/>
                </a:cubicBezTo>
                <a:cubicBezTo>
                  <a:pt x="6660" y="3950"/>
                  <a:pt x="7340" y="3860"/>
                  <a:pt x="8020" y="3860"/>
                </a:cubicBezTo>
                <a:cubicBezTo>
                  <a:pt x="8700" y="3860"/>
                  <a:pt x="9380" y="3950"/>
                  <a:pt x="10020" y="4130"/>
                </a:cubicBezTo>
                <a:cubicBezTo>
                  <a:pt x="11550" y="3090"/>
                  <a:pt x="12220" y="3310"/>
                  <a:pt x="12220" y="3310"/>
                </a:cubicBezTo>
                <a:cubicBezTo>
                  <a:pt x="12660" y="4410"/>
                  <a:pt x="12380" y="5230"/>
                  <a:pt x="12300" y="5430"/>
                </a:cubicBezTo>
                <a:cubicBezTo>
                  <a:pt x="12810" y="5990"/>
                  <a:pt x="13120" y="6700"/>
                  <a:pt x="13120" y="7580"/>
                </a:cubicBezTo>
                <a:cubicBezTo>
                  <a:pt x="13120" y="10650"/>
                  <a:pt x="11250" y="11330"/>
                  <a:pt x="9470" y="11530"/>
                </a:cubicBezTo>
                <a:cubicBezTo>
                  <a:pt x="9760" y="11780"/>
                  <a:pt x="10010" y="12260"/>
                  <a:pt x="10010" y="13010"/>
                </a:cubicBezTo>
                <a:cubicBezTo>
                  <a:pt x="10010" y="14080"/>
                  <a:pt x="10000" y="14940"/>
                  <a:pt x="10000" y="15210"/>
                </a:cubicBezTo>
                <a:cubicBezTo>
                  <a:pt x="10000" y="15420"/>
                  <a:pt x="10150" y="15670"/>
                  <a:pt x="10550" y="15590"/>
                </a:cubicBezTo>
                <a:cubicBezTo>
                  <a:pt x="11604" y="15234"/>
                  <a:pt x="12572" y="14663"/>
                  <a:pt x="13394" y="13912"/>
                </a:cubicBezTo>
                <a:cubicBezTo>
                  <a:pt x="14215" y="13162"/>
                  <a:pt x="14870" y="12248"/>
                  <a:pt x="15319" y="11231"/>
                </a:cubicBezTo>
                <a:cubicBezTo>
                  <a:pt x="15768" y="10213"/>
                  <a:pt x="16000" y="9112"/>
                  <a:pt x="16000" y="8000"/>
                </a:cubicBezTo>
                <a:cubicBezTo>
                  <a:pt x="16000" y="3580"/>
                  <a:pt x="12420" y="0"/>
                  <a:pt x="8000" y="0"/>
                </a:cubicBezTo>
                <a:close/>
              </a:path>
            </a:pathLst>
          </a:custGeom>
          <a:solidFill>
            <a:srgbClr val="1014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earing  |  GitHub Copilot App workflow"/>
          <p:cNvSpPr txBox="1"/>
          <p:nvPr/>
        </p:nvSpPr>
        <p:spPr>
          <a:xfrm>
            <a:off x="914400" y="6428232"/>
            <a:ext cx="7726679" cy="201168"/>
          </a:xfrm>
          <a:prstGeom prst="rect">
            <a:avLst/>
          </a:prstGeom>
          <a:noFill/>
        </p:spPr>
        <p:txBody>
          <a:bodyPr wrap="square" lIns="0" rIns="0" tIns="0" bIns="0">
            <a:spAutoFit/>
          </a:bodyPr>
          <a:lstStyle/>
          <a:p>
            <a:pPr>
              <a:lnSpc>
                <a:spcPct val="107000"/>
              </a:lnSpc>
              <a:spcAft>
                <a:spcPts val="500"/>
              </a:spcAft>
            </a:pPr>
            <a:r>
              <a:rPr sz="1000" b="0">
                <a:solidFill>
                  <a:srgbClr val="232925"/>
                </a:solidFill>
                <a:latin typeface="Arial"/>
              </a:rPr>
              <a:t>Bearing  |  GitHub Copilot App workflow</a:t>
            </a:r>
          </a:p>
        </p:txBody>
      </p:sp>
      <p:sp>
        <p:nvSpPr>
          <p:cNvPr id="6" name="14 / 16"/>
          <p:cNvSpPr txBox="1"/>
          <p:nvPr/>
        </p:nvSpPr>
        <p:spPr>
          <a:xfrm>
            <a:off x="10744200" y="6428232"/>
            <a:ext cx="822960" cy="201168"/>
          </a:xfrm>
          <a:prstGeom prst="rect">
            <a:avLst/>
          </a:prstGeom>
          <a:noFill/>
        </p:spPr>
        <p:txBody>
          <a:bodyPr wrap="square" lIns="0" rIns="0" tIns="0" bIns="0">
            <a:spAutoFit/>
          </a:bodyPr>
          <a:lstStyle/>
          <a:p>
            <a:pPr>
              <a:lnSpc>
                <a:spcPct val="107000"/>
              </a:lnSpc>
              <a:spcAft>
                <a:spcPts val="500"/>
              </a:spcAft>
            </a:pPr>
            <a:r>
              <a:rPr sz="1000" b="0">
                <a:solidFill>
                  <a:srgbClr val="232925"/>
                </a:solidFill>
                <a:latin typeface="Arial"/>
              </a:rPr>
              <a:t>14 / 16</a:t>
            </a:r>
          </a:p>
        </p:txBody>
      </p:sp>
      <p:sp>
        <p:nvSpPr>
          <p:cNvPr id="7" name="Rectangle 6"/>
          <p:cNvSpPr/>
          <p:nvPr/>
        </p:nvSpPr>
        <p:spPr>
          <a:xfrm>
            <a:off x="594360" y="1627632"/>
            <a:ext cx="10972800" cy="548640"/>
          </a:xfrm>
          <a:prstGeom prst="rect">
            <a:avLst/>
          </a:prstGeom>
          <a:solidFill>
            <a:srgbClr val="1014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Workflow"/>
          <p:cNvSpPr txBox="1"/>
          <p:nvPr/>
        </p:nvSpPr>
        <p:spPr>
          <a:xfrm>
            <a:off x="704088" y="1755648"/>
            <a:ext cx="2706624" cy="320040"/>
          </a:xfrm>
          <a:prstGeom prst="rect">
            <a:avLst/>
          </a:prstGeom>
          <a:noFill/>
        </p:spPr>
        <p:txBody>
          <a:bodyPr wrap="square" lIns="0" rIns="0" tIns="0" bIns="0">
            <a:spAutoFit/>
          </a:bodyPr>
          <a:lstStyle/>
          <a:p>
            <a:pPr>
              <a:lnSpc>
                <a:spcPct val="107000"/>
              </a:lnSpc>
              <a:spcAft>
                <a:spcPts val="500"/>
              </a:spcAft>
            </a:pPr>
            <a:r>
              <a:rPr sz="1700" b="1">
                <a:solidFill>
                  <a:srgbClr val="FFFFFF"/>
                </a:solidFill>
                <a:latin typeface="Arial"/>
              </a:rPr>
              <a:t>Workflow</a:t>
            </a:r>
          </a:p>
        </p:txBody>
      </p:sp>
      <p:sp>
        <p:nvSpPr>
          <p:cNvPr id="9" name="Audience"/>
          <p:cNvSpPr txBox="1"/>
          <p:nvPr/>
        </p:nvSpPr>
        <p:spPr>
          <a:xfrm>
            <a:off x="3630168" y="1755648"/>
            <a:ext cx="2432304" cy="320040"/>
          </a:xfrm>
          <a:prstGeom prst="rect">
            <a:avLst/>
          </a:prstGeom>
          <a:noFill/>
        </p:spPr>
        <p:txBody>
          <a:bodyPr wrap="square" lIns="0" rIns="0" tIns="0" bIns="0">
            <a:spAutoFit/>
          </a:bodyPr>
          <a:lstStyle/>
          <a:p>
            <a:pPr>
              <a:lnSpc>
                <a:spcPct val="107000"/>
              </a:lnSpc>
              <a:spcAft>
                <a:spcPts val="500"/>
              </a:spcAft>
            </a:pPr>
            <a:r>
              <a:rPr sz="1700" b="1">
                <a:solidFill>
                  <a:srgbClr val="FFFFFF"/>
                </a:solidFill>
                <a:latin typeface="Arial"/>
              </a:rPr>
              <a:t>Audience</a:t>
            </a:r>
          </a:p>
        </p:txBody>
      </p:sp>
      <p:sp>
        <p:nvSpPr>
          <p:cNvPr id="10" name="Value"/>
          <p:cNvSpPr txBox="1"/>
          <p:nvPr/>
        </p:nvSpPr>
        <p:spPr>
          <a:xfrm>
            <a:off x="6281928" y="1755648"/>
            <a:ext cx="4078224" cy="320040"/>
          </a:xfrm>
          <a:prstGeom prst="rect">
            <a:avLst/>
          </a:prstGeom>
          <a:noFill/>
        </p:spPr>
        <p:txBody>
          <a:bodyPr wrap="square" lIns="0" rIns="0" tIns="0" bIns="0">
            <a:spAutoFit/>
          </a:bodyPr>
          <a:lstStyle/>
          <a:p>
            <a:pPr>
              <a:lnSpc>
                <a:spcPct val="107000"/>
              </a:lnSpc>
              <a:spcAft>
                <a:spcPts val="500"/>
              </a:spcAft>
            </a:pPr>
            <a:r>
              <a:rPr sz="1700" b="1">
                <a:solidFill>
                  <a:srgbClr val="FFFFFF"/>
                </a:solidFill>
                <a:latin typeface="Arial"/>
              </a:rPr>
              <a:t>Value</a:t>
            </a:r>
          </a:p>
        </p:txBody>
      </p:sp>
      <p:sp>
        <p:nvSpPr>
          <p:cNvPr id="11" name="Status"/>
          <p:cNvSpPr txBox="1"/>
          <p:nvPr/>
        </p:nvSpPr>
        <p:spPr>
          <a:xfrm>
            <a:off x="10579607" y="1755648"/>
            <a:ext cx="877824" cy="320040"/>
          </a:xfrm>
          <a:prstGeom prst="rect">
            <a:avLst/>
          </a:prstGeom>
          <a:noFill/>
        </p:spPr>
        <p:txBody>
          <a:bodyPr wrap="square" lIns="0" rIns="0" tIns="0" bIns="0">
            <a:spAutoFit/>
          </a:bodyPr>
          <a:lstStyle/>
          <a:p>
            <a:pPr>
              <a:lnSpc>
                <a:spcPct val="107000"/>
              </a:lnSpc>
              <a:spcAft>
                <a:spcPts val="500"/>
              </a:spcAft>
            </a:pPr>
            <a:r>
              <a:rPr sz="1700" b="1">
                <a:solidFill>
                  <a:srgbClr val="FFFFFF"/>
                </a:solidFill>
                <a:latin typeface="Arial"/>
              </a:rPr>
              <a:t>Status</a:t>
            </a:r>
          </a:p>
        </p:txBody>
      </p:sp>
      <p:sp>
        <p:nvSpPr>
          <p:cNvPr id="12" name="Rectangle 11"/>
          <p:cNvSpPr/>
          <p:nvPr/>
        </p:nvSpPr>
        <p:spPr>
          <a:xfrm>
            <a:off x="594360" y="2851099"/>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pository onboarding"/>
          <p:cNvSpPr txBox="1"/>
          <p:nvPr/>
        </p:nvSpPr>
        <p:spPr>
          <a:xfrm>
            <a:off x="704088" y="2286000"/>
            <a:ext cx="2706624" cy="539496"/>
          </a:xfrm>
          <a:prstGeom prst="rect">
            <a:avLst/>
          </a:prstGeom>
          <a:noFill/>
        </p:spPr>
        <p:txBody>
          <a:bodyPr wrap="square" lIns="0" rIns="0" tIns="0" bIns="0">
            <a:spAutoFit/>
          </a:bodyPr>
          <a:lstStyle/>
          <a:p>
            <a:pPr>
              <a:lnSpc>
                <a:spcPct val="107000"/>
              </a:lnSpc>
              <a:spcAft>
                <a:spcPts val="500"/>
              </a:spcAft>
            </a:pPr>
            <a:r>
              <a:rPr sz="1500" b="1">
                <a:solidFill>
                  <a:srgbClr val="101411"/>
                </a:solidFill>
                <a:latin typeface="Arial"/>
              </a:rPr>
              <a:t>Repository onboarding</a:t>
            </a:r>
          </a:p>
        </p:txBody>
      </p:sp>
      <p:sp>
        <p:nvSpPr>
          <p:cNvPr id="14" name="New or rotating developers"/>
          <p:cNvSpPr txBox="1"/>
          <p:nvPr/>
        </p:nvSpPr>
        <p:spPr>
          <a:xfrm>
            <a:off x="3630168" y="2286000"/>
            <a:ext cx="2432304" cy="539496"/>
          </a:xfrm>
          <a:prstGeom prst="rect">
            <a:avLst/>
          </a:prstGeom>
          <a:noFill/>
        </p:spPr>
        <p:txBody>
          <a:bodyPr wrap="square" lIns="0" rIns="0" tIns="0" bIns="0">
            <a:spAutoFit/>
          </a:bodyPr>
          <a:lstStyle/>
          <a:p>
            <a:pPr>
              <a:lnSpc>
                <a:spcPct val="107000"/>
              </a:lnSpc>
              <a:spcAft>
                <a:spcPts val="500"/>
              </a:spcAft>
            </a:pPr>
            <a:r>
              <a:rPr sz="1500" b="0">
                <a:solidFill>
                  <a:srgbClr val="232925"/>
                </a:solidFill>
                <a:latin typeface="Arial"/>
              </a:rPr>
              <a:t>New or rotating developers</a:t>
            </a:r>
          </a:p>
        </p:txBody>
      </p:sp>
      <p:sp>
        <p:nvSpPr>
          <p:cNvPr id="15" name="An evidence-backed guide inside the Copilot App."/>
          <p:cNvSpPr txBox="1"/>
          <p:nvPr/>
        </p:nvSpPr>
        <p:spPr>
          <a:xfrm>
            <a:off x="6281928" y="2286000"/>
            <a:ext cx="4078224" cy="539496"/>
          </a:xfrm>
          <a:prstGeom prst="rect">
            <a:avLst/>
          </a:prstGeom>
          <a:noFill/>
        </p:spPr>
        <p:txBody>
          <a:bodyPr wrap="square" lIns="0" rIns="0" tIns="0" bIns="0">
            <a:spAutoFit/>
          </a:bodyPr>
          <a:lstStyle/>
          <a:p>
            <a:pPr>
              <a:lnSpc>
                <a:spcPct val="107000"/>
              </a:lnSpc>
              <a:spcAft>
                <a:spcPts val="500"/>
              </a:spcAft>
            </a:pPr>
            <a:r>
              <a:rPr sz="1500" b="0">
                <a:solidFill>
                  <a:srgbClr val="232925"/>
                </a:solidFill>
                <a:latin typeface="Arial"/>
              </a:rPr>
              <a:t>An evidence-backed guide inside the Copilot App.</a:t>
            </a:r>
          </a:p>
        </p:txBody>
      </p:sp>
      <p:sp>
        <p:nvSpPr>
          <p:cNvPr id="16" name="Chip: Prototype"/>
          <p:cNvSpPr/>
          <p:nvPr/>
        </p:nvSpPr>
        <p:spPr>
          <a:xfrm>
            <a:off x="10579607" y="2382012"/>
            <a:ext cx="822959" cy="274320"/>
          </a:xfrm>
          <a:prstGeom prst="roundRect">
            <a:avLst/>
          </a:prstGeom>
          <a:solidFill>
            <a:srgbClr val="08872B"/>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200" b="1">
                <a:solidFill>
                  <a:srgbClr val="FFFFFF"/>
                </a:solidFill>
                <a:latin typeface="Arial"/>
              </a:rPr>
              <a:t>Prototype</a:t>
            </a:r>
          </a:p>
        </p:txBody>
      </p:sp>
      <p:sp>
        <p:nvSpPr>
          <p:cNvPr id="17" name="Rectangle 16"/>
          <p:cNvSpPr/>
          <p:nvPr/>
        </p:nvSpPr>
        <p:spPr>
          <a:xfrm>
            <a:off x="594360" y="3536899"/>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egacy modernization assessment"/>
          <p:cNvSpPr txBox="1"/>
          <p:nvPr/>
        </p:nvSpPr>
        <p:spPr>
          <a:xfrm>
            <a:off x="704088" y="2971800"/>
            <a:ext cx="2706624" cy="539496"/>
          </a:xfrm>
          <a:prstGeom prst="rect">
            <a:avLst/>
          </a:prstGeom>
          <a:noFill/>
        </p:spPr>
        <p:txBody>
          <a:bodyPr wrap="square" lIns="0" rIns="0" tIns="0" bIns="0">
            <a:spAutoFit/>
          </a:bodyPr>
          <a:lstStyle/>
          <a:p>
            <a:pPr>
              <a:lnSpc>
                <a:spcPct val="107000"/>
              </a:lnSpc>
              <a:spcAft>
                <a:spcPts val="500"/>
              </a:spcAft>
            </a:pPr>
            <a:r>
              <a:rPr sz="1500" b="1">
                <a:solidFill>
                  <a:srgbClr val="101411"/>
                </a:solidFill>
                <a:latin typeface="Arial"/>
              </a:rPr>
              <a:t>Legacy modernization assessment</a:t>
            </a:r>
          </a:p>
        </p:txBody>
      </p:sp>
      <p:sp>
        <p:nvSpPr>
          <p:cNvPr id="19" name="Engineering and platform owners"/>
          <p:cNvSpPr txBox="1"/>
          <p:nvPr/>
        </p:nvSpPr>
        <p:spPr>
          <a:xfrm>
            <a:off x="3630168" y="2971800"/>
            <a:ext cx="2432304" cy="539496"/>
          </a:xfrm>
          <a:prstGeom prst="rect">
            <a:avLst/>
          </a:prstGeom>
          <a:noFill/>
        </p:spPr>
        <p:txBody>
          <a:bodyPr wrap="square" lIns="0" rIns="0" tIns="0" bIns="0">
            <a:spAutoFit/>
          </a:bodyPr>
          <a:lstStyle/>
          <a:p>
            <a:pPr>
              <a:lnSpc>
                <a:spcPct val="107000"/>
              </a:lnSpc>
              <a:spcAft>
                <a:spcPts val="500"/>
              </a:spcAft>
            </a:pPr>
            <a:r>
              <a:rPr sz="1500" b="0">
                <a:solidFill>
                  <a:srgbClr val="232925"/>
                </a:solidFill>
                <a:latin typeface="Arial"/>
              </a:rPr>
              <a:t>Engineering and platform owners</a:t>
            </a:r>
          </a:p>
        </p:txBody>
      </p:sp>
      <p:sp>
        <p:nvSpPr>
          <p:cNvPr id="20" name="Locate the real constraint. Build a backlog of hypotheses."/>
          <p:cNvSpPr txBox="1"/>
          <p:nvPr/>
        </p:nvSpPr>
        <p:spPr>
          <a:xfrm>
            <a:off x="6281928" y="2971800"/>
            <a:ext cx="4078224" cy="539496"/>
          </a:xfrm>
          <a:prstGeom prst="rect">
            <a:avLst/>
          </a:prstGeom>
          <a:noFill/>
        </p:spPr>
        <p:txBody>
          <a:bodyPr wrap="square" lIns="0" rIns="0" tIns="0" bIns="0">
            <a:spAutoFit/>
          </a:bodyPr>
          <a:lstStyle/>
          <a:p>
            <a:pPr>
              <a:lnSpc>
                <a:spcPct val="107000"/>
              </a:lnSpc>
              <a:spcAft>
                <a:spcPts val="500"/>
              </a:spcAft>
            </a:pPr>
            <a:r>
              <a:rPr sz="1500" b="0">
                <a:solidFill>
                  <a:srgbClr val="232925"/>
                </a:solidFill>
                <a:latin typeface="Arial"/>
              </a:rPr>
              <a:t>Locate the real constraint. Build a backlog of hypotheses.</a:t>
            </a:r>
          </a:p>
        </p:txBody>
      </p:sp>
      <p:sp>
        <p:nvSpPr>
          <p:cNvPr id="21" name="Chip: Proposed"/>
          <p:cNvSpPr/>
          <p:nvPr/>
        </p:nvSpPr>
        <p:spPr>
          <a:xfrm>
            <a:off x="10579607" y="3067812"/>
            <a:ext cx="822959" cy="274320"/>
          </a:xfrm>
          <a:prstGeom prst="roundRect">
            <a:avLst/>
          </a:prstGeom>
          <a:solidFill>
            <a:srgbClr val="8534F3"/>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200" b="1">
                <a:solidFill>
                  <a:srgbClr val="FFFFFF"/>
                </a:solidFill>
                <a:latin typeface="Arial"/>
              </a:rPr>
              <a:t>Proposed</a:t>
            </a:r>
          </a:p>
        </p:txBody>
      </p:sp>
      <p:sp>
        <p:nvSpPr>
          <p:cNvPr id="22" name="Rectangle 21"/>
          <p:cNvSpPr/>
          <p:nvPr/>
        </p:nvSpPr>
        <p:spPr>
          <a:xfrm>
            <a:off x="594360" y="4222699"/>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ustomer codebase brief"/>
          <p:cNvSpPr txBox="1"/>
          <p:nvPr/>
        </p:nvSpPr>
        <p:spPr>
          <a:xfrm>
            <a:off x="704088" y="3657600"/>
            <a:ext cx="2706624" cy="539496"/>
          </a:xfrm>
          <a:prstGeom prst="rect">
            <a:avLst/>
          </a:prstGeom>
          <a:noFill/>
        </p:spPr>
        <p:txBody>
          <a:bodyPr wrap="square" lIns="0" rIns="0" tIns="0" bIns="0">
            <a:spAutoFit/>
          </a:bodyPr>
          <a:lstStyle/>
          <a:p>
            <a:pPr>
              <a:lnSpc>
                <a:spcPct val="107000"/>
              </a:lnSpc>
              <a:spcAft>
                <a:spcPts val="500"/>
              </a:spcAft>
            </a:pPr>
            <a:r>
              <a:rPr sz="1500" b="1">
                <a:solidFill>
                  <a:srgbClr val="101411"/>
                </a:solidFill>
                <a:latin typeface="Arial"/>
              </a:rPr>
              <a:t>Customer codebase brief</a:t>
            </a:r>
          </a:p>
        </p:txBody>
      </p:sp>
      <p:sp>
        <p:nvSpPr>
          <p:cNvPr id="24" name="Solution architects"/>
          <p:cNvSpPr txBox="1"/>
          <p:nvPr/>
        </p:nvSpPr>
        <p:spPr>
          <a:xfrm>
            <a:off x="3630168" y="3657600"/>
            <a:ext cx="2432304" cy="539496"/>
          </a:xfrm>
          <a:prstGeom prst="rect">
            <a:avLst/>
          </a:prstGeom>
          <a:noFill/>
        </p:spPr>
        <p:txBody>
          <a:bodyPr wrap="square" lIns="0" rIns="0" tIns="0" bIns="0">
            <a:spAutoFit/>
          </a:bodyPr>
          <a:lstStyle/>
          <a:p>
            <a:pPr>
              <a:lnSpc>
                <a:spcPct val="107000"/>
              </a:lnSpc>
              <a:spcAft>
                <a:spcPts val="500"/>
              </a:spcAft>
            </a:pPr>
            <a:r>
              <a:rPr sz="1500" b="0">
                <a:solidFill>
                  <a:srgbClr val="232925"/>
                </a:solidFill>
                <a:latin typeface="Arial"/>
              </a:rPr>
              <a:t>Solution architects</a:t>
            </a:r>
          </a:p>
        </p:txBody>
      </p:sp>
      <p:sp>
        <p:nvSpPr>
          <p:cNvPr id="25" name="Enter a deep-dive with a cited map instead of discovery ques"/>
          <p:cNvSpPr txBox="1"/>
          <p:nvPr/>
        </p:nvSpPr>
        <p:spPr>
          <a:xfrm>
            <a:off x="6281928" y="3657600"/>
            <a:ext cx="4078224" cy="539496"/>
          </a:xfrm>
          <a:prstGeom prst="rect">
            <a:avLst/>
          </a:prstGeom>
          <a:noFill/>
        </p:spPr>
        <p:txBody>
          <a:bodyPr wrap="square" lIns="0" rIns="0" tIns="0" bIns="0">
            <a:spAutoFit/>
          </a:bodyPr>
          <a:lstStyle/>
          <a:p>
            <a:pPr>
              <a:lnSpc>
                <a:spcPct val="107000"/>
              </a:lnSpc>
              <a:spcAft>
                <a:spcPts val="500"/>
              </a:spcAft>
            </a:pPr>
            <a:r>
              <a:rPr sz="1500" b="0">
                <a:solidFill>
                  <a:srgbClr val="232925"/>
                </a:solidFill>
                <a:latin typeface="Arial"/>
              </a:rPr>
              <a:t>Enter a deep-dive with a cited map instead of discovery questions.</a:t>
            </a:r>
          </a:p>
        </p:txBody>
      </p:sp>
      <p:sp>
        <p:nvSpPr>
          <p:cNvPr id="26" name="Chip: Proposed"/>
          <p:cNvSpPr/>
          <p:nvPr/>
        </p:nvSpPr>
        <p:spPr>
          <a:xfrm>
            <a:off x="10579607" y="3753611"/>
            <a:ext cx="822959" cy="274320"/>
          </a:xfrm>
          <a:prstGeom prst="roundRect">
            <a:avLst/>
          </a:prstGeom>
          <a:solidFill>
            <a:srgbClr val="8534F3"/>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200" b="1">
                <a:solidFill>
                  <a:srgbClr val="FFFFFF"/>
                </a:solidFill>
                <a:latin typeface="Arial"/>
              </a:rPr>
              <a:t>Proposed</a:t>
            </a:r>
          </a:p>
        </p:txBody>
      </p:sp>
      <p:sp>
        <p:nvSpPr>
          <p:cNvPr id="27" name="Rectangle 26"/>
          <p:cNvSpPr/>
          <p:nvPr/>
        </p:nvSpPr>
        <p:spPr>
          <a:xfrm>
            <a:off x="594360" y="4908499"/>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Migration readiness review"/>
          <p:cNvSpPr txBox="1"/>
          <p:nvPr/>
        </p:nvSpPr>
        <p:spPr>
          <a:xfrm>
            <a:off x="704088" y="4343400"/>
            <a:ext cx="2706624" cy="539496"/>
          </a:xfrm>
          <a:prstGeom prst="rect">
            <a:avLst/>
          </a:prstGeom>
          <a:noFill/>
        </p:spPr>
        <p:txBody>
          <a:bodyPr wrap="square" lIns="0" rIns="0" tIns="0" bIns="0">
            <a:spAutoFit/>
          </a:bodyPr>
          <a:lstStyle/>
          <a:p>
            <a:pPr>
              <a:lnSpc>
                <a:spcPct val="107000"/>
              </a:lnSpc>
              <a:spcAft>
                <a:spcPts val="500"/>
              </a:spcAft>
            </a:pPr>
            <a:r>
              <a:rPr sz="1500" b="1">
                <a:solidFill>
                  <a:srgbClr val="101411"/>
                </a:solidFill>
                <a:latin typeface="Arial"/>
              </a:rPr>
              <a:t>Migration readiness review</a:t>
            </a:r>
          </a:p>
        </p:txBody>
      </p:sp>
      <p:sp>
        <p:nvSpPr>
          <p:cNvPr id="29" name="Customer success"/>
          <p:cNvSpPr txBox="1"/>
          <p:nvPr/>
        </p:nvSpPr>
        <p:spPr>
          <a:xfrm>
            <a:off x="3630168" y="4343400"/>
            <a:ext cx="2432304" cy="539496"/>
          </a:xfrm>
          <a:prstGeom prst="rect">
            <a:avLst/>
          </a:prstGeom>
          <a:noFill/>
        </p:spPr>
        <p:txBody>
          <a:bodyPr wrap="square" lIns="0" rIns="0" tIns="0" bIns="0">
            <a:spAutoFit/>
          </a:bodyPr>
          <a:lstStyle/>
          <a:p>
            <a:pPr>
              <a:lnSpc>
                <a:spcPct val="107000"/>
              </a:lnSpc>
              <a:spcAft>
                <a:spcPts val="500"/>
              </a:spcAft>
            </a:pPr>
            <a:r>
              <a:rPr sz="1500" b="0">
                <a:solidFill>
                  <a:srgbClr val="232925"/>
                </a:solidFill>
                <a:latin typeface="Arial"/>
              </a:rPr>
              <a:t>Customer success</a:t>
            </a:r>
          </a:p>
        </p:txBody>
      </p:sp>
      <p:sp>
        <p:nvSpPr>
          <p:cNvPr id="30" name="Findings cited to file and line, so customers verify rather "/>
          <p:cNvSpPr txBox="1"/>
          <p:nvPr/>
        </p:nvSpPr>
        <p:spPr>
          <a:xfrm>
            <a:off x="6281928" y="4343400"/>
            <a:ext cx="4078224" cy="539496"/>
          </a:xfrm>
          <a:prstGeom prst="rect">
            <a:avLst/>
          </a:prstGeom>
          <a:noFill/>
        </p:spPr>
        <p:txBody>
          <a:bodyPr wrap="square" lIns="0" rIns="0" tIns="0" bIns="0">
            <a:spAutoFit/>
          </a:bodyPr>
          <a:lstStyle/>
          <a:p>
            <a:pPr>
              <a:lnSpc>
                <a:spcPct val="107000"/>
              </a:lnSpc>
              <a:spcAft>
                <a:spcPts val="500"/>
              </a:spcAft>
            </a:pPr>
            <a:r>
              <a:rPr sz="1500" b="0">
                <a:solidFill>
                  <a:srgbClr val="232925"/>
                </a:solidFill>
                <a:latin typeface="Arial"/>
              </a:rPr>
              <a:t>Findings cited to file and line, so customers verify rather than trust.</a:t>
            </a:r>
          </a:p>
        </p:txBody>
      </p:sp>
      <p:sp>
        <p:nvSpPr>
          <p:cNvPr id="31" name="Chip: Proposed"/>
          <p:cNvSpPr/>
          <p:nvPr/>
        </p:nvSpPr>
        <p:spPr>
          <a:xfrm>
            <a:off x="10579607" y="4439412"/>
            <a:ext cx="822959" cy="274320"/>
          </a:xfrm>
          <a:prstGeom prst="roundRect">
            <a:avLst/>
          </a:prstGeom>
          <a:solidFill>
            <a:srgbClr val="8534F3"/>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200" b="1">
                <a:solidFill>
                  <a:srgbClr val="FFFFFF"/>
                </a:solidFill>
                <a:latin typeface="Arial"/>
              </a:rPr>
              <a:t>Proposed</a:t>
            </a:r>
          </a:p>
        </p:txBody>
      </p:sp>
      <p:sp>
        <p:nvSpPr>
          <p:cNvPr id="32" name="Rectangle 31"/>
          <p:cNvSpPr/>
          <p:nvPr/>
        </p:nvSpPr>
        <p:spPr>
          <a:xfrm>
            <a:off x="594360" y="5594299"/>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Enablement packs"/>
          <p:cNvSpPr txBox="1"/>
          <p:nvPr/>
        </p:nvSpPr>
        <p:spPr>
          <a:xfrm>
            <a:off x="704088" y="5029200"/>
            <a:ext cx="2706624" cy="539496"/>
          </a:xfrm>
          <a:prstGeom prst="rect">
            <a:avLst/>
          </a:prstGeom>
          <a:noFill/>
        </p:spPr>
        <p:txBody>
          <a:bodyPr wrap="square" lIns="0" rIns="0" tIns="0" bIns="0">
            <a:spAutoFit/>
          </a:bodyPr>
          <a:lstStyle/>
          <a:p>
            <a:pPr>
              <a:lnSpc>
                <a:spcPct val="107000"/>
              </a:lnSpc>
              <a:spcAft>
                <a:spcPts val="500"/>
              </a:spcAft>
            </a:pPr>
            <a:r>
              <a:rPr sz="1500" b="1">
                <a:solidFill>
                  <a:srgbClr val="101411"/>
                </a:solidFill>
                <a:latin typeface="Arial"/>
              </a:rPr>
              <a:t>Enablement packs</a:t>
            </a:r>
          </a:p>
        </p:txBody>
      </p:sp>
      <p:sp>
        <p:nvSpPr>
          <p:cNvPr id="34" name="Partner and customer enablement"/>
          <p:cNvSpPr txBox="1"/>
          <p:nvPr/>
        </p:nvSpPr>
        <p:spPr>
          <a:xfrm>
            <a:off x="3630168" y="5029200"/>
            <a:ext cx="2432304" cy="539496"/>
          </a:xfrm>
          <a:prstGeom prst="rect">
            <a:avLst/>
          </a:prstGeom>
          <a:noFill/>
        </p:spPr>
        <p:txBody>
          <a:bodyPr wrap="square" lIns="0" rIns="0" tIns="0" bIns="0">
            <a:spAutoFit/>
          </a:bodyPr>
          <a:lstStyle/>
          <a:p>
            <a:pPr>
              <a:lnSpc>
                <a:spcPct val="107000"/>
              </a:lnSpc>
              <a:spcAft>
                <a:spcPts val="500"/>
              </a:spcAft>
            </a:pPr>
            <a:r>
              <a:rPr sz="1500" b="0">
                <a:solidFill>
                  <a:srgbClr val="232925"/>
                </a:solidFill>
                <a:latin typeface="Arial"/>
              </a:rPr>
              <a:t>Partner and customer enablement</a:t>
            </a:r>
          </a:p>
        </p:txBody>
      </p:sp>
      <p:sp>
        <p:nvSpPr>
          <p:cNvPr id="35" name="Onboarding material grounded in the customer’s own code."/>
          <p:cNvSpPr txBox="1"/>
          <p:nvPr/>
        </p:nvSpPr>
        <p:spPr>
          <a:xfrm>
            <a:off x="6281928" y="5029200"/>
            <a:ext cx="4078224" cy="539496"/>
          </a:xfrm>
          <a:prstGeom prst="rect">
            <a:avLst/>
          </a:prstGeom>
          <a:noFill/>
        </p:spPr>
        <p:txBody>
          <a:bodyPr wrap="square" lIns="0" rIns="0" tIns="0" bIns="0">
            <a:spAutoFit/>
          </a:bodyPr>
          <a:lstStyle/>
          <a:p>
            <a:pPr>
              <a:lnSpc>
                <a:spcPct val="107000"/>
              </a:lnSpc>
              <a:spcAft>
                <a:spcPts val="500"/>
              </a:spcAft>
            </a:pPr>
            <a:r>
              <a:rPr sz="1500" b="0">
                <a:solidFill>
                  <a:srgbClr val="232925"/>
                </a:solidFill>
                <a:latin typeface="Arial"/>
              </a:rPr>
              <a:t>Onboarding material grounded in the customer’s own code.</a:t>
            </a:r>
          </a:p>
        </p:txBody>
      </p:sp>
      <p:sp>
        <p:nvSpPr>
          <p:cNvPr id="36" name="Chip: Proposed"/>
          <p:cNvSpPr/>
          <p:nvPr/>
        </p:nvSpPr>
        <p:spPr>
          <a:xfrm>
            <a:off x="10579607" y="5125212"/>
            <a:ext cx="822959" cy="274320"/>
          </a:xfrm>
          <a:prstGeom prst="roundRect">
            <a:avLst/>
          </a:prstGeom>
          <a:solidFill>
            <a:srgbClr val="8534F3"/>
          </a:solidFill>
          <a:ln>
            <a:noFill/>
          </a:ln>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200" b="1">
                <a:solidFill>
                  <a:srgbClr val="FFFFFF"/>
                </a:solidFill>
                <a:latin typeface="Arial"/>
              </a:rPr>
              <a:t>Proposed</a:t>
            </a:r>
          </a:p>
        </p:txBody>
      </p:sp>
      <p:sp>
        <p:nvSpPr>
          <p:cNvPr id="37" name="Prototype: implemented in this repository. Proposed: not bui"/>
          <p:cNvSpPr txBox="1"/>
          <p:nvPr/>
        </p:nvSpPr>
        <p:spPr>
          <a:xfrm>
            <a:off x="594360" y="5733288"/>
            <a:ext cx="10972800" cy="457200"/>
          </a:xfrm>
          <a:prstGeom prst="rect">
            <a:avLst/>
          </a:prstGeom>
          <a:noFill/>
        </p:spPr>
        <p:txBody>
          <a:bodyPr wrap="square" lIns="0" rIns="0" tIns="0" bIns="0">
            <a:spAutoFit/>
          </a:bodyPr>
          <a:lstStyle/>
          <a:p>
            <a:pPr>
              <a:lnSpc>
                <a:spcPct val="107000"/>
              </a:lnSpc>
              <a:spcAft>
                <a:spcPts val="500"/>
              </a:spcAft>
            </a:pPr>
            <a:r>
              <a:rPr sz="1400" b="0">
                <a:solidFill>
                  <a:srgbClr val="232925"/>
                </a:solidFill>
                <a:latin typeface="Arial"/>
              </a:rPr>
              <a:t>Prototype: implemented in this repository. Proposed: not built. Shared pattern: cite sources, keep unknowns visible, stop at a human decision.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1411"/>
        </a:solidFill>
        <a:effectLst/>
      </p:bgPr>
    </p:bg>
    <p:spTree>
      <p:nvGrpSpPr>
        <p:cNvPr id="1" name=""/>
        <p:cNvGrpSpPr/>
        <p:nvPr/>
      </p:nvGrpSpPr>
      <p:grpSpPr/>
      <p:sp>
        <p:nvSpPr>
          <p:cNvPr id="2" name="Start with one service."/>
          <p:cNvSpPr txBox="1"/>
          <p:nvPr/>
        </p:nvSpPr>
        <p:spPr>
          <a:xfrm>
            <a:off x="594360" y="502920"/>
            <a:ext cx="10972800" cy="1005840"/>
          </a:xfrm>
          <a:prstGeom prst="rect">
            <a:avLst/>
          </a:prstGeom>
          <a:noFill/>
        </p:spPr>
        <p:txBody>
          <a:bodyPr wrap="square" lIns="0" rIns="0" tIns="0" bIns="0">
            <a:spAutoFit/>
          </a:bodyPr>
          <a:lstStyle/>
          <a:p>
            <a:pPr>
              <a:lnSpc>
                <a:spcPct val="107000"/>
              </a:lnSpc>
              <a:spcAft>
                <a:spcPts val="500"/>
              </a:spcAft>
            </a:pPr>
            <a:r>
              <a:rPr sz="3200" b="1">
                <a:solidFill>
                  <a:srgbClr val="FFFFFF"/>
                </a:solidFill>
                <a:latin typeface="Mona Sans"/>
              </a:rPr>
              <a:t>Start with one service.</a:t>
            </a:r>
          </a:p>
        </p:txBody>
      </p:sp>
      <p:sp>
        <p:nvSpPr>
          <p:cNvPr id="3" name="Rectangle 2"/>
          <p:cNvSpPr/>
          <p:nvPr/>
        </p:nvSpPr>
        <p:spPr>
          <a:xfrm>
            <a:off x="594360" y="6327648"/>
            <a:ext cx="10972800" cy="10972"/>
          </a:xfrm>
          <a:prstGeom prst="rect">
            <a:avLst/>
          </a:prstGeom>
          <a:solidFill>
            <a:srgbClr val="2329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itHub mark" descr="GitHub logo"/>
          <p:cNvSpPr/>
          <p:nvPr/>
        </p:nvSpPr>
        <p:spPr>
          <a:xfrm>
            <a:off x="594360" y="6419088"/>
            <a:ext cx="182880" cy="182880"/>
          </a:xfrm>
          <a:custGeom>
            <a:avLst/>
            <a:gdLst/>
            <a:ahLst/>
            <a:cxnLst/>
            <a:rect l="0" t="0" r="r" b="b"/>
            <a:pathLst>
              <a:path w="16000" h="16000">
                <a:moveTo>
                  <a:pt x="8000" y="0"/>
                </a:moveTo>
                <a:cubicBezTo>
                  <a:pt x="3580" y="0"/>
                  <a:pt x="0" y="3580"/>
                  <a:pt x="0" y="8000"/>
                </a:cubicBezTo>
                <a:cubicBezTo>
                  <a:pt x="0" y="11540"/>
                  <a:pt x="2290" y="14530"/>
                  <a:pt x="5470" y="15590"/>
                </a:cubicBezTo>
                <a:cubicBezTo>
                  <a:pt x="5870" y="15660"/>
                  <a:pt x="6020" y="15420"/>
                  <a:pt x="6020" y="15210"/>
                </a:cubicBezTo>
                <a:cubicBezTo>
                  <a:pt x="6020" y="15020"/>
                  <a:pt x="6010" y="14390"/>
                  <a:pt x="6010" y="13720"/>
                </a:cubicBezTo>
                <a:cubicBezTo>
                  <a:pt x="4000" y="14090"/>
                  <a:pt x="3480" y="13230"/>
                  <a:pt x="3320" y="12780"/>
                </a:cubicBezTo>
                <a:cubicBezTo>
                  <a:pt x="3230" y="12550"/>
                  <a:pt x="2840" y="11840"/>
                  <a:pt x="2500" y="11650"/>
                </a:cubicBezTo>
                <a:cubicBezTo>
                  <a:pt x="2220" y="11500"/>
                  <a:pt x="1820" y="11130"/>
                  <a:pt x="2490" y="11120"/>
                </a:cubicBezTo>
                <a:cubicBezTo>
                  <a:pt x="3120" y="11110"/>
                  <a:pt x="3570" y="11700"/>
                  <a:pt x="3720" y="11940"/>
                </a:cubicBezTo>
                <a:cubicBezTo>
                  <a:pt x="4440" y="13150"/>
                  <a:pt x="5590" y="12810"/>
                  <a:pt x="6050" y="12600"/>
                </a:cubicBezTo>
                <a:cubicBezTo>
                  <a:pt x="6120" y="12080"/>
                  <a:pt x="6330" y="11730"/>
                  <a:pt x="6560" y="11530"/>
                </a:cubicBezTo>
                <a:cubicBezTo>
                  <a:pt x="4780" y="11330"/>
                  <a:pt x="2920" y="10640"/>
                  <a:pt x="2920" y="7580"/>
                </a:cubicBezTo>
                <a:cubicBezTo>
                  <a:pt x="2920" y="6710"/>
                  <a:pt x="3230" y="5990"/>
                  <a:pt x="3740" y="5430"/>
                </a:cubicBezTo>
                <a:cubicBezTo>
                  <a:pt x="3660" y="5230"/>
                  <a:pt x="3380" y="4410"/>
                  <a:pt x="3820" y="3310"/>
                </a:cubicBezTo>
                <a:cubicBezTo>
                  <a:pt x="3820" y="3310"/>
                  <a:pt x="4490" y="3100"/>
                  <a:pt x="6020" y="4130"/>
                </a:cubicBezTo>
                <a:cubicBezTo>
                  <a:pt x="6660" y="3950"/>
                  <a:pt x="7340" y="3860"/>
                  <a:pt x="8020" y="3860"/>
                </a:cubicBezTo>
                <a:cubicBezTo>
                  <a:pt x="8700" y="3860"/>
                  <a:pt x="9380" y="3950"/>
                  <a:pt x="10020" y="4130"/>
                </a:cubicBezTo>
                <a:cubicBezTo>
                  <a:pt x="11550" y="3090"/>
                  <a:pt x="12220" y="3310"/>
                  <a:pt x="12220" y="3310"/>
                </a:cubicBezTo>
                <a:cubicBezTo>
                  <a:pt x="12660" y="4410"/>
                  <a:pt x="12380" y="5230"/>
                  <a:pt x="12300" y="5430"/>
                </a:cubicBezTo>
                <a:cubicBezTo>
                  <a:pt x="12810" y="5990"/>
                  <a:pt x="13120" y="6700"/>
                  <a:pt x="13120" y="7580"/>
                </a:cubicBezTo>
                <a:cubicBezTo>
                  <a:pt x="13120" y="10650"/>
                  <a:pt x="11250" y="11330"/>
                  <a:pt x="9470" y="11530"/>
                </a:cubicBezTo>
                <a:cubicBezTo>
                  <a:pt x="9760" y="11780"/>
                  <a:pt x="10010" y="12260"/>
                  <a:pt x="10010" y="13010"/>
                </a:cubicBezTo>
                <a:cubicBezTo>
                  <a:pt x="10010" y="14080"/>
                  <a:pt x="10000" y="14940"/>
                  <a:pt x="10000" y="15210"/>
                </a:cubicBezTo>
                <a:cubicBezTo>
                  <a:pt x="10000" y="15420"/>
                  <a:pt x="10150" y="15670"/>
                  <a:pt x="10550" y="15590"/>
                </a:cubicBezTo>
                <a:cubicBezTo>
                  <a:pt x="11604" y="15234"/>
                  <a:pt x="12572" y="14663"/>
                  <a:pt x="13394" y="13912"/>
                </a:cubicBezTo>
                <a:cubicBezTo>
                  <a:pt x="14215" y="13162"/>
                  <a:pt x="14870" y="12248"/>
                  <a:pt x="15319" y="11231"/>
                </a:cubicBezTo>
                <a:cubicBezTo>
                  <a:pt x="15768" y="10213"/>
                  <a:pt x="16000" y="9112"/>
                  <a:pt x="16000" y="8000"/>
                </a:cubicBezTo>
                <a:cubicBezTo>
                  <a:pt x="16000" y="3580"/>
                  <a:pt x="12420" y="0"/>
                  <a:pt x="8000" y="0"/>
                </a:cubicBez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earing  |  GitHub Copilot App workflow"/>
          <p:cNvSpPr txBox="1"/>
          <p:nvPr/>
        </p:nvSpPr>
        <p:spPr>
          <a:xfrm>
            <a:off x="914400" y="6428232"/>
            <a:ext cx="7726679" cy="201168"/>
          </a:xfrm>
          <a:prstGeom prst="rect">
            <a:avLst/>
          </a:prstGeom>
          <a:noFill/>
        </p:spPr>
        <p:txBody>
          <a:bodyPr wrap="square" lIns="0" rIns="0" tIns="0" bIns="0">
            <a:spAutoFit/>
          </a:bodyPr>
          <a:lstStyle/>
          <a:p>
            <a:pPr>
              <a:lnSpc>
                <a:spcPct val="107000"/>
              </a:lnSpc>
              <a:spcAft>
                <a:spcPts val="500"/>
              </a:spcAft>
            </a:pPr>
            <a:r>
              <a:rPr sz="1000" b="0">
                <a:solidFill>
                  <a:srgbClr val="B6BFB8"/>
                </a:solidFill>
                <a:latin typeface="Arial"/>
              </a:rPr>
              <a:t>Bearing  |  GitHub Copilot App workflow</a:t>
            </a:r>
          </a:p>
        </p:txBody>
      </p:sp>
      <p:sp>
        <p:nvSpPr>
          <p:cNvPr id="6" name="15 / 16"/>
          <p:cNvSpPr txBox="1"/>
          <p:nvPr/>
        </p:nvSpPr>
        <p:spPr>
          <a:xfrm>
            <a:off x="10744200" y="6428232"/>
            <a:ext cx="822960" cy="201168"/>
          </a:xfrm>
          <a:prstGeom prst="rect">
            <a:avLst/>
          </a:prstGeom>
          <a:noFill/>
        </p:spPr>
        <p:txBody>
          <a:bodyPr wrap="square" lIns="0" rIns="0" tIns="0" bIns="0">
            <a:spAutoFit/>
          </a:bodyPr>
          <a:lstStyle/>
          <a:p>
            <a:pPr>
              <a:lnSpc>
                <a:spcPct val="107000"/>
              </a:lnSpc>
              <a:spcAft>
                <a:spcPts val="500"/>
              </a:spcAft>
            </a:pPr>
            <a:r>
              <a:rPr sz="1000" b="0">
                <a:solidFill>
                  <a:srgbClr val="B6BFB8"/>
                </a:solidFill>
                <a:latin typeface="Arial"/>
              </a:rPr>
              <a:t>15 / 16</a:t>
            </a:r>
          </a:p>
        </p:txBody>
      </p:sp>
      <p:sp>
        <p:nvSpPr>
          <p:cNvPr id="7" name="Prove one justified improvement."/>
          <p:cNvSpPr txBox="1"/>
          <p:nvPr/>
        </p:nvSpPr>
        <p:spPr>
          <a:xfrm>
            <a:off x="594360" y="1554480"/>
            <a:ext cx="10972800" cy="713232"/>
          </a:xfrm>
          <a:prstGeom prst="rect">
            <a:avLst/>
          </a:prstGeom>
          <a:noFill/>
        </p:spPr>
        <p:txBody>
          <a:bodyPr wrap="square" lIns="0" rIns="0" tIns="0" bIns="0">
            <a:spAutoFit/>
          </a:bodyPr>
          <a:lstStyle/>
          <a:p>
            <a:pPr>
              <a:lnSpc>
                <a:spcPct val="107000"/>
              </a:lnSpc>
              <a:spcAft>
                <a:spcPts val="500"/>
              </a:spcAft>
            </a:pPr>
            <a:r>
              <a:rPr sz="3700" b="1">
                <a:solidFill>
                  <a:srgbClr val="0FBF3E"/>
                </a:solidFill>
                <a:latin typeface="Mona Sans"/>
              </a:rPr>
              <a:t>Prove one justified improvement.</a:t>
            </a:r>
          </a:p>
        </p:txBody>
      </p:sp>
      <p:sp>
        <p:nvSpPr>
          <p:cNvPr id="8" name="One journey"/>
          <p:cNvSpPr txBox="1"/>
          <p:nvPr/>
        </p:nvSpPr>
        <p:spPr>
          <a:xfrm>
            <a:off x="594360" y="2843784"/>
            <a:ext cx="3337560" cy="502920"/>
          </a:xfrm>
          <a:prstGeom prst="rect">
            <a:avLst/>
          </a:prstGeom>
          <a:noFill/>
        </p:spPr>
        <p:txBody>
          <a:bodyPr wrap="square" lIns="0" rIns="0" tIns="0" bIns="0">
            <a:spAutoFit/>
          </a:bodyPr>
          <a:lstStyle/>
          <a:p>
            <a:pPr>
              <a:lnSpc>
                <a:spcPct val="107000"/>
              </a:lnSpc>
              <a:spcAft>
                <a:spcPts val="500"/>
              </a:spcAft>
            </a:pPr>
            <a:r>
              <a:rPr sz="2700" b="1">
                <a:solidFill>
                  <a:srgbClr val="FFFFFF"/>
                </a:solidFill>
                <a:latin typeface="Mona Sans"/>
              </a:rPr>
              <a:t>One journey</a:t>
            </a:r>
          </a:p>
        </p:txBody>
      </p:sp>
      <p:sp>
        <p:nvSpPr>
          <p:cNvPr id="9" name="A business-critical flow"/>
          <p:cNvSpPr txBox="1"/>
          <p:nvPr/>
        </p:nvSpPr>
        <p:spPr>
          <a:xfrm>
            <a:off x="594360" y="3639312"/>
            <a:ext cx="3337560" cy="1097280"/>
          </a:xfrm>
          <a:prstGeom prst="rect">
            <a:avLst/>
          </a:prstGeom>
          <a:noFill/>
        </p:spPr>
        <p:txBody>
          <a:bodyPr wrap="square" lIns="0" rIns="0" tIns="0" bIns="0">
            <a:spAutoFit/>
          </a:bodyPr>
          <a:lstStyle/>
          <a:p>
            <a:pPr>
              <a:lnSpc>
                <a:spcPct val="107000"/>
              </a:lnSpc>
              <a:spcAft>
                <a:spcPts val="500"/>
              </a:spcAft>
            </a:pPr>
            <a:r>
              <a:rPr sz="2100" b="0">
                <a:solidFill>
                  <a:srgbClr val="B6BFB8"/>
                </a:solidFill>
                <a:latin typeface="Arial"/>
              </a:rPr>
              <a:t>A business-critical flow</a:t>
            </a:r>
          </a:p>
          <a:p>
            <a:pPr>
              <a:lnSpc>
                <a:spcPct val="107000"/>
              </a:lnSpc>
              <a:spcAft>
                <a:spcPts val="500"/>
              </a:spcAft>
            </a:pPr>
            <a:r>
              <a:rPr sz="2100" b="0">
                <a:solidFill>
                  <a:srgbClr val="B6BFB8"/>
                </a:solidFill>
                <a:latin typeface="Arial"/>
              </a:rPr>
              <a:t>whose behavior must stay intact.</a:t>
            </a:r>
          </a:p>
        </p:txBody>
      </p:sp>
      <p:sp>
        <p:nvSpPr>
          <p:cNvPr id="10" name="One owner"/>
          <p:cNvSpPr txBox="1"/>
          <p:nvPr/>
        </p:nvSpPr>
        <p:spPr>
          <a:xfrm>
            <a:off x="4425696" y="2843784"/>
            <a:ext cx="3337560" cy="502920"/>
          </a:xfrm>
          <a:prstGeom prst="rect">
            <a:avLst/>
          </a:prstGeom>
          <a:noFill/>
        </p:spPr>
        <p:txBody>
          <a:bodyPr wrap="square" lIns="0" rIns="0" tIns="0" bIns="0">
            <a:spAutoFit/>
          </a:bodyPr>
          <a:lstStyle/>
          <a:p>
            <a:pPr>
              <a:lnSpc>
                <a:spcPct val="107000"/>
              </a:lnSpc>
              <a:spcAft>
                <a:spcPts val="500"/>
              </a:spcAft>
            </a:pPr>
            <a:r>
              <a:rPr sz="2700" b="1">
                <a:solidFill>
                  <a:srgbClr val="FFFFFF"/>
                </a:solidFill>
                <a:latin typeface="Mona Sans"/>
              </a:rPr>
              <a:t>One owner</a:t>
            </a:r>
          </a:p>
        </p:txBody>
      </p:sp>
      <p:sp>
        <p:nvSpPr>
          <p:cNvPr id="11" name="Someone who can validate"/>
          <p:cNvSpPr txBox="1"/>
          <p:nvPr/>
        </p:nvSpPr>
        <p:spPr>
          <a:xfrm>
            <a:off x="4425696" y="3639312"/>
            <a:ext cx="3337560" cy="1097280"/>
          </a:xfrm>
          <a:prstGeom prst="rect">
            <a:avLst/>
          </a:prstGeom>
          <a:noFill/>
        </p:spPr>
        <p:txBody>
          <a:bodyPr wrap="square" lIns="0" rIns="0" tIns="0" bIns="0">
            <a:spAutoFit/>
          </a:bodyPr>
          <a:lstStyle/>
          <a:p>
            <a:pPr>
              <a:lnSpc>
                <a:spcPct val="107000"/>
              </a:lnSpc>
              <a:spcAft>
                <a:spcPts val="500"/>
              </a:spcAft>
            </a:pPr>
            <a:r>
              <a:rPr sz="2100" b="0">
                <a:solidFill>
                  <a:srgbClr val="B6BFB8"/>
                </a:solidFill>
                <a:latin typeface="Arial"/>
              </a:rPr>
              <a:t>Someone who can validate</a:t>
            </a:r>
          </a:p>
          <a:p>
            <a:pPr>
              <a:lnSpc>
                <a:spcPct val="107000"/>
              </a:lnSpc>
              <a:spcAft>
                <a:spcPts val="500"/>
              </a:spcAft>
            </a:pPr>
            <a:r>
              <a:rPr sz="2100" b="0">
                <a:solidFill>
                  <a:srgbClr val="B6BFB8"/>
                </a:solidFill>
                <a:latin typeface="Arial"/>
              </a:rPr>
              <a:t>context and approve the change.</a:t>
            </a:r>
          </a:p>
        </p:txBody>
      </p:sp>
      <p:sp>
        <p:nvSpPr>
          <p:cNvPr id="12" name="One baseline"/>
          <p:cNvSpPr txBox="1"/>
          <p:nvPr/>
        </p:nvSpPr>
        <p:spPr>
          <a:xfrm>
            <a:off x="8257031" y="2843784"/>
            <a:ext cx="3337560" cy="502920"/>
          </a:xfrm>
          <a:prstGeom prst="rect">
            <a:avLst/>
          </a:prstGeom>
          <a:noFill/>
        </p:spPr>
        <p:txBody>
          <a:bodyPr wrap="square" lIns="0" rIns="0" tIns="0" bIns="0">
            <a:spAutoFit/>
          </a:bodyPr>
          <a:lstStyle/>
          <a:p>
            <a:pPr>
              <a:lnSpc>
                <a:spcPct val="107000"/>
              </a:lnSpc>
              <a:spcAft>
                <a:spcPts val="500"/>
              </a:spcAft>
            </a:pPr>
            <a:r>
              <a:rPr sz="2700" b="1">
                <a:solidFill>
                  <a:srgbClr val="FFFFFF"/>
                </a:solidFill>
                <a:latin typeface="Mona Sans"/>
              </a:rPr>
              <a:t>One baseline</a:t>
            </a:r>
          </a:p>
        </p:txBody>
      </p:sp>
      <p:sp>
        <p:nvSpPr>
          <p:cNvPr id="13" name="A measured constraint,"/>
          <p:cNvSpPr txBox="1"/>
          <p:nvPr/>
        </p:nvSpPr>
        <p:spPr>
          <a:xfrm>
            <a:off x="8257031" y="3639312"/>
            <a:ext cx="3337560" cy="1097280"/>
          </a:xfrm>
          <a:prstGeom prst="rect">
            <a:avLst/>
          </a:prstGeom>
          <a:noFill/>
        </p:spPr>
        <p:txBody>
          <a:bodyPr wrap="square" lIns="0" rIns="0" tIns="0" bIns="0">
            <a:spAutoFit/>
          </a:bodyPr>
          <a:lstStyle/>
          <a:p>
            <a:pPr>
              <a:lnSpc>
                <a:spcPct val="107000"/>
              </a:lnSpc>
              <a:spcAft>
                <a:spcPts val="500"/>
              </a:spcAft>
            </a:pPr>
            <a:r>
              <a:rPr sz="2100" b="0">
                <a:solidFill>
                  <a:srgbClr val="B6BFB8"/>
                </a:solidFill>
                <a:latin typeface="Arial"/>
              </a:rPr>
              <a:t>A measured constraint,</a:t>
            </a:r>
          </a:p>
          <a:p>
            <a:pPr>
              <a:lnSpc>
                <a:spcPct val="107000"/>
              </a:lnSpc>
              <a:spcAft>
                <a:spcPts val="500"/>
              </a:spcAft>
            </a:pPr>
            <a:r>
              <a:rPr sz="2100" b="0">
                <a:solidFill>
                  <a:srgbClr val="B6BFB8"/>
                </a:solidFill>
                <a:latin typeface="Arial"/>
              </a:rPr>
              <a:t>not an arbitrary target.</a:t>
            </a:r>
          </a:p>
        </p:txBody>
      </p:sp>
      <p:sp>
        <p:nvSpPr>
          <p:cNvPr id="14" name="Success = accepted evidence + reviewed outcome."/>
          <p:cNvSpPr txBox="1"/>
          <p:nvPr/>
        </p:nvSpPr>
        <p:spPr>
          <a:xfrm>
            <a:off x="594360" y="5276088"/>
            <a:ext cx="10972800" cy="758952"/>
          </a:xfrm>
          <a:prstGeom prst="rect">
            <a:avLst/>
          </a:prstGeom>
          <a:noFill/>
        </p:spPr>
        <p:txBody>
          <a:bodyPr wrap="square" lIns="0" rIns="0" tIns="0" bIns="0">
            <a:spAutoFit/>
          </a:bodyPr>
          <a:lstStyle/>
          <a:p>
            <a:pPr>
              <a:lnSpc>
                <a:spcPct val="107000"/>
              </a:lnSpc>
              <a:spcAft>
                <a:spcPts val="500"/>
              </a:spcAft>
            </a:pPr>
            <a:r>
              <a:rPr sz="2400" b="1">
                <a:solidFill>
                  <a:srgbClr val="FFFFFF"/>
                </a:solidFill>
                <a:latin typeface="Mona Sans"/>
              </a:rPr>
              <a:t>Success = accepted evidence + reviewed outcome.</a:t>
            </a:r>
          </a:p>
          <a:p>
            <a:pPr>
              <a:lnSpc>
                <a:spcPct val="107000"/>
              </a:lnSpc>
              <a:spcAft>
                <a:spcPts val="500"/>
              </a:spcAft>
            </a:pPr>
            <a:r>
              <a:rPr sz="2400" b="1">
                <a:solidFill>
                  <a:srgbClr val="FFFFFF"/>
                </a:solidFill>
                <a:latin typeface="Mona Sans"/>
              </a:rPr>
              <a:t>Retain as-is when the evidence says not to change.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search, definitions and honest limits."/>
          <p:cNvSpPr txBox="1"/>
          <p:nvPr/>
        </p:nvSpPr>
        <p:spPr>
          <a:xfrm>
            <a:off x="594360" y="502920"/>
            <a:ext cx="10972800" cy="1005840"/>
          </a:xfrm>
          <a:prstGeom prst="rect">
            <a:avLst/>
          </a:prstGeom>
          <a:noFill/>
        </p:spPr>
        <p:txBody>
          <a:bodyPr wrap="square" lIns="0" rIns="0" tIns="0" bIns="0">
            <a:spAutoFit/>
          </a:bodyPr>
          <a:lstStyle/>
          <a:p>
            <a:pPr>
              <a:lnSpc>
                <a:spcPct val="107000"/>
              </a:lnSpc>
              <a:spcAft>
                <a:spcPts val="500"/>
              </a:spcAft>
            </a:pPr>
            <a:r>
              <a:rPr sz="3200" b="1">
                <a:solidFill>
                  <a:srgbClr val="101411"/>
                </a:solidFill>
                <a:latin typeface="Mona Sans"/>
              </a:rPr>
              <a:t>Research, definitions and honest limits.</a:t>
            </a:r>
          </a:p>
        </p:txBody>
      </p:sp>
      <p:sp>
        <p:nvSpPr>
          <p:cNvPr id="3" name="Rectangle 2"/>
          <p:cNvSpPr/>
          <p:nvPr/>
        </p:nvSpPr>
        <p:spPr>
          <a:xfrm>
            <a:off x="594360" y="6327648"/>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itHub mark" descr="GitHub logo"/>
          <p:cNvSpPr/>
          <p:nvPr/>
        </p:nvSpPr>
        <p:spPr>
          <a:xfrm>
            <a:off x="594360" y="6419088"/>
            <a:ext cx="182880" cy="182880"/>
          </a:xfrm>
          <a:custGeom>
            <a:avLst/>
            <a:gdLst/>
            <a:ahLst/>
            <a:cxnLst/>
            <a:rect l="0" t="0" r="r" b="b"/>
            <a:pathLst>
              <a:path w="16000" h="16000">
                <a:moveTo>
                  <a:pt x="8000" y="0"/>
                </a:moveTo>
                <a:cubicBezTo>
                  <a:pt x="3580" y="0"/>
                  <a:pt x="0" y="3580"/>
                  <a:pt x="0" y="8000"/>
                </a:cubicBezTo>
                <a:cubicBezTo>
                  <a:pt x="0" y="11540"/>
                  <a:pt x="2290" y="14530"/>
                  <a:pt x="5470" y="15590"/>
                </a:cubicBezTo>
                <a:cubicBezTo>
                  <a:pt x="5870" y="15660"/>
                  <a:pt x="6020" y="15420"/>
                  <a:pt x="6020" y="15210"/>
                </a:cubicBezTo>
                <a:cubicBezTo>
                  <a:pt x="6020" y="15020"/>
                  <a:pt x="6010" y="14390"/>
                  <a:pt x="6010" y="13720"/>
                </a:cubicBezTo>
                <a:cubicBezTo>
                  <a:pt x="4000" y="14090"/>
                  <a:pt x="3480" y="13230"/>
                  <a:pt x="3320" y="12780"/>
                </a:cubicBezTo>
                <a:cubicBezTo>
                  <a:pt x="3230" y="12550"/>
                  <a:pt x="2840" y="11840"/>
                  <a:pt x="2500" y="11650"/>
                </a:cubicBezTo>
                <a:cubicBezTo>
                  <a:pt x="2220" y="11500"/>
                  <a:pt x="1820" y="11130"/>
                  <a:pt x="2490" y="11120"/>
                </a:cubicBezTo>
                <a:cubicBezTo>
                  <a:pt x="3120" y="11110"/>
                  <a:pt x="3570" y="11700"/>
                  <a:pt x="3720" y="11940"/>
                </a:cubicBezTo>
                <a:cubicBezTo>
                  <a:pt x="4440" y="13150"/>
                  <a:pt x="5590" y="12810"/>
                  <a:pt x="6050" y="12600"/>
                </a:cubicBezTo>
                <a:cubicBezTo>
                  <a:pt x="6120" y="12080"/>
                  <a:pt x="6330" y="11730"/>
                  <a:pt x="6560" y="11530"/>
                </a:cubicBezTo>
                <a:cubicBezTo>
                  <a:pt x="4780" y="11330"/>
                  <a:pt x="2920" y="10640"/>
                  <a:pt x="2920" y="7580"/>
                </a:cubicBezTo>
                <a:cubicBezTo>
                  <a:pt x="2920" y="6710"/>
                  <a:pt x="3230" y="5990"/>
                  <a:pt x="3740" y="5430"/>
                </a:cubicBezTo>
                <a:cubicBezTo>
                  <a:pt x="3660" y="5230"/>
                  <a:pt x="3380" y="4410"/>
                  <a:pt x="3820" y="3310"/>
                </a:cubicBezTo>
                <a:cubicBezTo>
                  <a:pt x="3820" y="3310"/>
                  <a:pt x="4490" y="3100"/>
                  <a:pt x="6020" y="4130"/>
                </a:cubicBezTo>
                <a:cubicBezTo>
                  <a:pt x="6660" y="3950"/>
                  <a:pt x="7340" y="3860"/>
                  <a:pt x="8020" y="3860"/>
                </a:cubicBezTo>
                <a:cubicBezTo>
                  <a:pt x="8700" y="3860"/>
                  <a:pt x="9380" y="3950"/>
                  <a:pt x="10020" y="4130"/>
                </a:cubicBezTo>
                <a:cubicBezTo>
                  <a:pt x="11550" y="3090"/>
                  <a:pt x="12220" y="3310"/>
                  <a:pt x="12220" y="3310"/>
                </a:cubicBezTo>
                <a:cubicBezTo>
                  <a:pt x="12660" y="4410"/>
                  <a:pt x="12380" y="5230"/>
                  <a:pt x="12300" y="5430"/>
                </a:cubicBezTo>
                <a:cubicBezTo>
                  <a:pt x="12810" y="5990"/>
                  <a:pt x="13120" y="6700"/>
                  <a:pt x="13120" y="7580"/>
                </a:cubicBezTo>
                <a:cubicBezTo>
                  <a:pt x="13120" y="10650"/>
                  <a:pt x="11250" y="11330"/>
                  <a:pt x="9470" y="11530"/>
                </a:cubicBezTo>
                <a:cubicBezTo>
                  <a:pt x="9760" y="11780"/>
                  <a:pt x="10010" y="12260"/>
                  <a:pt x="10010" y="13010"/>
                </a:cubicBezTo>
                <a:cubicBezTo>
                  <a:pt x="10010" y="14080"/>
                  <a:pt x="10000" y="14940"/>
                  <a:pt x="10000" y="15210"/>
                </a:cubicBezTo>
                <a:cubicBezTo>
                  <a:pt x="10000" y="15420"/>
                  <a:pt x="10150" y="15670"/>
                  <a:pt x="10550" y="15590"/>
                </a:cubicBezTo>
                <a:cubicBezTo>
                  <a:pt x="11604" y="15234"/>
                  <a:pt x="12572" y="14663"/>
                  <a:pt x="13394" y="13912"/>
                </a:cubicBezTo>
                <a:cubicBezTo>
                  <a:pt x="14215" y="13162"/>
                  <a:pt x="14870" y="12248"/>
                  <a:pt x="15319" y="11231"/>
                </a:cubicBezTo>
                <a:cubicBezTo>
                  <a:pt x="15768" y="10213"/>
                  <a:pt x="16000" y="9112"/>
                  <a:pt x="16000" y="8000"/>
                </a:cubicBezTo>
                <a:cubicBezTo>
                  <a:pt x="16000" y="3580"/>
                  <a:pt x="12420" y="0"/>
                  <a:pt x="8000" y="0"/>
                </a:cubicBezTo>
                <a:close/>
              </a:path>
            </a:pathLst>
          </a:custGeom>
          <a:solidFill>
            <a:srgbClr val="1014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earing  |  GitHub Copilot App workflow"/>
          <p:cNvSpPr txBox="1"/>
          <p:nvPr/>
        </p:nvSpPr>
        <p:spPr>
          <a:xfrm>
            <a:off x="914400" y="6428232"/>
            <a:ext cx="7726679" cy="201168"/>
          </a:xfrm>
          <a:prstGeom prst="rect">
            <a:avLst/>
          </a:prstGeom>
          <a:noFill/>
        </p:spPr>
        <p:txBody>
          <a:bodyPr wrap="square" lIns="0" rIns="0" tIns="0" bIns="0">
            <a:spAutoFit/>
          </a:bodyPr>
          <a:lstStyle/>
          <a:p>
            <a:pPr>
              <a:lnSpc>
                <a:spcPct val="107000"/>
              </a:lnSpc>
              <a:spcAft>
                <a:spcPts val="500"/>
              </a:spcAft>
            </a:pPr>
            <a:r>
              <a:rPr sz="1000" b="0">
                <a:solidFill>
                  <a:srgbClr val="232925"/>
                </a:solidFill>
                <a:latin typeface="Arial"/>
              </a:rPr>
              <a:t>Bearing  |  GitHub Copilot App workflow</a:t>
            </a:r>
          </a:p>
        </p:txBody>
      </p:sp>
      <p:sp>
        <p:nvSpPr>
          <p:cNvPr id="6" name="16 / 16"/>
          <p:cNvSpPr txBox="1"/>
          <p:nvPr/>
        </p:nvSpPr>
        <p:spPr>
          <a:xfrm>
            <a:off x="10744200" y="6428232"/>
            <a:ext cx="822960" cy="201168"/>
          </a:xfrm>
          <a:prstGeom prst="rect">
            <a:avLst/>
          </a:prstGeom>
          <a:noFill/>
        </p:spPr>
        <p:txBody>
          <a:bodyPr wrap="square" lIns="0" rIns="0" tIns="0" bIns="0">
            <a:spAutoFit/>
          </a:bodyPr>
          <a:lstStyle/>
          <a:p>
            <a:pPr>
              <a:lnSpc>
                <a:spcPct val="107000"/>
              </a:lnSpc>
              <a:spcAft>
                <a:spcPts val="500"/>
              </a:spcAft>
            </a:pPr>
            <a:r>
              <a:rPr sz="1000" b="0">
                <a:solidFill>
                  <a:srgbClr val="232925"/>
                </a:solidFill>
                <a:latin typeface="Arial"/>
              </a:rPr>
              <a:t>16 / 16</a:t>
            </a:r>
          </a:p>
        </p:txBody>
      </p:sp>
      <p:sp>
        <p:nvSpPr>
          <p:cNvPr id="7" name="Stack Overflow Developer Survey 2025"/>
          <p:cNvSpPr txBox="1"/>
          <p:nvPr/>
        </p:nvSpPr>
        <p:spPr>
          <a:xfrm>
            <a:off x="594360" y="1463040"/>
            <a:ext cx="10881360" cy="347472"/>
          </a:xfrm>
          <a:prstGeom prst="rect">
            <a:avLst/>
          </a:prstGeom>
          <a:noFill/>
        </p:spPr>
        <p:txBody>
          <a:bodyPr wrap="square" lIns="0" rIns="0" tIns="0" bIns="0">
            <a:spAutoFit/>
          </a:bodyPr>
          <a:lstStyle/>
          <a:p>
            <a:pPr>
              <a:lnSpc>
                <a:spcPct val="107000"/>
              </a:lnSpc>
              <a:spcAft>
                <a:spcPts val="500"/>
              </a:spcAft>
            </a:pPr>
            <a:r>
              <a:rPr sz="1900" b="1">
                <a:solidFill>
                  <a:srgbClr val="08872B"/>
                </a:solidFill>
                <a:latin typeface="Arial"/>
                <a:hlinkClick r:id="rId2"/>
              </a:rPr>
              <a:t>Stack Overflow Developer Survey 2025</a:t>
            </a:r>
          </a:p>
        </p:txBody>
      </p:sp>
      <p:sp>
        <p:nvSpPr>
          <p:cNvPr id="8" name="84% use or plan to use AI tools (76% in 2024); 46% don’t tru"/>
          <p:cNvSpPr txBox="1"/>
          <p:nvPr/>
        </p:nvSpPr>
        <p:spPr>
          <a:xfrm>
            <a:off x="594360" y="1856232"/>
            <a:ext cx="10881360" cy="548640"/>
          </a:xfrm>
          <a:prstGeom prst="rect">
            <a:avLst/>
          </a:prstGeom>
          <a:noFill/>
        </p:spPr>
        <p:txBody>
          <a:bodyPr wrap="square" lIns="0" rIns="0" tIns="0" bIns="0">
            <a:spAutoFit/>
          </a:bodyPr>
          <a:lstStyle/>
          <a:p>
            <a:pPr>
              <a:lnSpc>
                <a:spcPct val="107000"/>
              </a:lnSpc>
              <a:spcAft>
                <a:spcPts val="500"/>
              </a:spcAft>
            </a:pPr>
            <a:r>
              <a:rPr sz="1500" b="0">
                <a:solidFill>
                  <a:srgbClr val="232925"/>
                </a:solidFill>
                <a:latin typeface="Arial"/>
              </a:rPr>
              <a:t>84% use or plan to use AI tools (76% in 2024); 46% don’t trust AI accuracy (31% in 2024).</a:t>
            </a:r>
          </a:p>
          <a:p>
            <a:pPr>
              <a:lnSpc>
                <a:spcPct val="107000"/>
              </a:lnSpc>
              <a:spcAft>
                <a:spcPts val="500"/>
              </a:spcAft>
            </a:pPr>
            <a:r>
              <a:rPr sz="1500" b="0">
                <a:solidFill>
                  <a:srgbClr val="232925"/>
                </a:solidFill>
                <a:latin typeface="Arial"/>
              </a:rPr>
              <a:t>49,000+ respondents; 177 countries; self-reported.</a:t>
            </a:r>
          </a:p>
        </p:txBody>
      </p:sp>
      <p:sp>
        <p:nvSpPr>
          <p:cNvPr id="9" name="Kyndryl Readiness Report 2025"/>
          <p:cNvSpPr txBox="1"/>
          <p:nvPr/>
        </p:nvSpPr>
        <p:spPr>
          <a:xfrm>
            <a:off x="594360" y="2450592"/>
            <a:ext cx="10881360" cy="347472"/>
          </a:xfrm>
          <a:prstGeom prst="rect">
            <a:avLst/>
          </a:prstGeom>
          <a:noFill/>
        </p:spPr>
        <p:txBody>
          <a:bodyPr wrap="square" lIns="0" rIns="0" tIns="0" bIns="0">
            <a:spAutoFit/>
          </a:bodyPr>
          <a:lstStyle/>
          <a:p>
            <a:pPr>
              <a:lnSpc>
                <a:spcPct val="107000"/>
              </a:lnSpc>
              <a:spcAft>
                <a:spcPts val="500"/>
              </a:spcAft>
            </a:pPr>
            <a:r>
              <a:rPr sz="1900" b="1">
                <a:solidFill>
                  <a:srgbClr val="08872B"/>
                </a:solidFill>
                <a:latin typeface="Arial"/>
                <a:hlinkClick r:id="rId3"/>
              </a:rPr>
              <a:t>Kyndryl Readiness Report 2025</a:t>
            </a:r>
          </a:p>
        </p:txBody>
      </p:sp>
      <p:sp>
        <p:nvSpPr>
          <p:cNvPr id="10" name="57%: surveyed leaders report innovation delayed by technolog"/>
          <p:cNvSpPr txBox="1"/>
          <p:nvPr/>
        </p:nvSpPr>
        <p:spPr>
          <a:xfrm>
            <a:off x="594360" y="2843784"/>
            <a:ext cx="10881360" cy="548640"/>
          </a:xfrm>
          <a:prstGeom prst="rect">
            <a:avLst/>
          </a:prstGeom>
          <a:noFill/>
        </p:spPr>
        <p:txBody>
          <a:bodyPr wrap="square" lIns="0" rIns="0" tIns="0" bIns="0">
            <a:spAutoFit/>
          </a:bodyPr>
          <a:lstStyle/>
          <a:p>
            <a:pPr>
              <a:lnSpc>
                <a:spcPct val="107000"/>
              </a:lnSpc>
              <a:spcAft>
                <a:spcPts val="500"/>
              </a:spcAft>
            </a:pPr>
            <a:r>
              <a:rPr sz="1500" b="0">
                <a:solidFill>
                  <a:srgbClr val="232925"/>
                </a:solidFill>
                <a:latin typeface="Arial"/>
              </a:rPr>
              <a:t>57%: surveyed leaders report innovation delayed by technology-stack issues.</a:t>
            </a:r>
          </a:p>
          <a:p>
            <a:pPr>
              <a:lnSpc>
                <a:spcPct val="107000"/>
              </a:lnSpc>
              <a:spcAft>
                <a:spcPts val="500"/>
              </a:spcAft>
            </a:pPr>
            <a:r>
              <a:rPr sz="1500" b="0">
                <a:solidFill>
                  <a:srgbClr val="232925"/>
                </a:solidFill>
                <a:latin typeface="Arial"/>
              </a:rPr>
              <a:t>3,700 leaders; 21 countries; vendor-commissioned survey.</a:t>
            </a:r>
          </a:p>
        </p:txBody>
      </p:sp>
      <p:sp>
        <p:nvSpPr>
          <p:cNvPr id="11" name="Kyndryl Readiness Report 2024"/>
          <p:cNvSpPr txBox="1"/>
          <p:nvPr/>
        </p:nvSpPr>
        <p:spPr>
          <a:xfrm>
            <a:off x="594360" y="3438144"/>
            <a:ext cx="10881360" cy="347472"/>
          </a:xfrm>
          <a:prstGeom prst="rect">
            <a:avLst/>
          </a:prstGeom>
          <a:noFill/>
        </p:spPr>
        <p:txBody>
          <a:bodyPr wrap="square" lIns="0" rIns="0" tIns="0" bIns="0">
            <a:spAutoFit/>
          </a:bodyPr>
          <a:lstStyle/>
          <a:p>
            <a:pPr>
              <a:lnSpc>
                <a:spcPct val="107000"/>
              </a:lnSpc>
              <a:spcAft>
                <a:spcPts val="500"/>
              </a:spcAft>
            </a:pPr>
            <a:r>
              <a:rPr sz="1900" b="1">
                <a:solidFill>
                  <a:srgbClr val="08872B"/>
                </a:solidFill>
                <a:latin typeface="Arial"/>
                <a:hlinkClick r:id="rId4"/>
              </a:rPr>
              <a:t>Kyndryl Readiness Report 2024</a:t>
            </a:r>
          </a:p>
        </p:txBody>
      </p:sp>
      <p:sp>
        <p:nvSpPr>
          <p:cNvPr id="12" name="44%: observed mission-critical infrastructure approaching/at"/>
          <p:cNvSpPr txBox="1"/>
          <p:nvPr/>
        </p:nvSpPr>
        <p:spPr>
          <a:xfrm>
            <a:off x="594360" y="3831335"/>
            <a:ext cx="10881360" cy="548640"/>
          </a:xfrm>
          <a:prstGeom prst="rect">
            <a:avLst/>
          </a:prstGeom>
          <a:noFill/>
        </p:spPr>
        <p:txBody>
          <a:bodyPr wrap="square" lIns="0" rIns="0" tIns="0" bIns="0">
            <a:spAutoFit/>
          </a:bodyPr>
          <a:lstStyle/>
          <a:p>
            <a:pPr>
              <a:lnSpc>
                <a:spcPct val="107000"/>
              </a:lnSpc>
              <a:spcAft>
                <a:spcPts val="500"/>
              </a:spcAft>
            </a:pPr>
            <a:r>
              <a:rPr sz="1500" b="0">
                <a:solidFill>
                  <a:srgbClr val="232925"/>
                </a:solidFill>
                <a:latin typeface="Arial"/>
              </a:rPr>
              <a:t>44%: observed mission-critical infrastructure approaching/at end-of-life.</a:t>
            </a:r>
          </a:p>
          <a:p>
            <a:pPr>
              <a:lnSpc>
                <a:spcPct val="107000"/>
              </a:lnSpc>
              <a:spcAft>
                <a:spcPts val="500"/>
              </a:spcAft>
            </a:pPr>
            <a:r>
              <a:rPr sz="1500" b="0">
                <a:solidFill>
                  <a:srgbClr val="232925"/>
                </a:solidFill>
                <a:latin typeface="Arial"/>
              </a:rPr>
              <a:t>Kyndryl Bridge data—not a percentage of legacy source code.</a:t>
            </a:r>
          </a:p>
        </p:txBody>
      </p:sp>
      <p:sp>
        <p:nvSpPr>
          <p:cNvPr id="13" name="GitHub / Microsoft / DX, DevEx research (2024)"/>
          <p:cNvSpPr txBox="1"/>
          <p:nvPr/>
        </p:nvSpPr>
        <p:spPr>
          <a:xfrm>
            <a:off x="594360" y="4425696"/>
            <a:ext cx="10881360" cy="347472"/>
          </a:xfrm>
          <a:prstGeom prst="rect">
            <a:avLst/>
          </a:prstGeom>
          <a:noFill/>
        </p:spPr>
        <p:txBody>
          <a:bodyPr wrap="square" lIns="0" rIns="0" tIns="0" bIns="0">
            <a:spAutoFit/>
          </a:bodyPr>
          <a:lstStyle/>
          <a:p>
            <a:pPr>
              <a:lnSpc>
                <a:spcPct val="107000"/>
              </a:lnSpc>
              <a:spcAft>
                <a:spcPts val="500"/>
              </a:spcAft>
            </a:pPr>
            <a:r>
              <a:rPr sz="1900" b="1">
                <a:solidFill>
                  <a:srgbClr val="08872B"/>
                </a:solidFill>
                <a:latin typeface="Arial"/>
                <a:hlinkClick r:id="rId5"/>
              </a:rPr>
              <a:t>GitHub / Microsoft / DX, DevEx research (2024)</a:t>
            </a:r>
          </a:p>
        </p:txBody>
      </p:sp>
      <p:sp>
        <p:nvSpPr>
          <p:cNvPr id="14" name="42%: developers with high code understanding feel more produ"/>
          <p:cNvSpPr txBox="1"/>
          <p:nvPr/>
        </p:nvSpPr>
        <p:spPr>
          <a:xfrm>
            <a:off x="594360" y="4818888"/>
            <a:ext cx="10881360" cy="548640"/>
          </a:xfrm>
          <a:prstGeom prst="rect">
            <a:avLst/>
          </a:prstGeom>
          <a:noFill/>
        </p:spPr>
        <p:txBody>
          <a:bodyPr wrap="square" lIns="0" rIns="0" tIns="0" bIns="0">
            <a:spAutoFit/>
          </a:bodyPr>
          <a:lstStyle/>
          <a:p>
            <a:pPr>
              <a:lnSpc>
                <a:spcPct val="107000"/>
              </a:lnSpc>
              <a:spcAft>
                <a:spcPts val="500"/>
              </a:spcAft>
            </a:pPr>
            <a:r>
              <a:rPr sz="1500" b="0">
                <a:solidFill>
                  <a:srgbClr val="232925"/>
                </a:solidFill>
                <a:latin typeface="Arial"/>
              </a:rPr>
              <a:t>42%: developers with high code understanding feel more productive.</a:t>
            </a:r>
          </a:p>
          <a:p>
            <a:pPr>
              <a:lnSpc>
                <a:spcPct val="107000"/>
              </a:lnSpc>
              <a:spcAft>
                <a:spcPts val="500"/>
              </a:spcAft>
            </a:pPr>
            <a:r>
              <a:rPr sz="1500" b="0">
                <a:solidFill>
                  <a:srgbClr val="232925"/>
                </a:solidFill>
                <a:latin typeface="Arial"/>
              </a:rPr>
              <a:t>Self-reported association—not proof of a causal modernization benefit.</a:t>
            </a:r>
          </a:p>
        </p:txBody>
      </p:sp>
      <p:sp>
        <p:nvSpPr>
          <p:cNvPr id="15" name="Source titles are clickable. Full links and methods are in t"/>
          <p:cNvSpPr txBox="1"/>
          <p:nvPr/>
        </p:nvSpPr>
        <p:spPr>
          <a:xfrm>
            <a:off x="594360" y="5522976"/>
            <a:ext cx="10972800" cy="530352"/>
          </a:xfrm>
          <a:prstGeom prst="rect">
            <a:avLst/>
          </a:prstGeom>
          <a:noFill/>
        </p:spPr>
        <p:txBody>
          <a:bodyPr wrap="square" lIns="0" rIns="0" tIns="0" bIns="0">
            <a:spAutoFit/>
          </a:bodyPr>
          <a:lstStyle/>
          <a:p>
            <a:pPr>
              <a:lnSpc>
                <a:spcPct val="107000"/>
              </a:lnSpc>
              <a:spcAft>
                <a:spcPts val="500"/>
              </a:spcAft>
            </a:pPr>
            <a:r>
              <a:rPr sz="1400" b="0">
                <a:solidFill>
                  <a:srgbClr val="232925"/>
                </a:solidFill>
                <a:latin typeface="Arial"/>
              </a:rPr>
              <a:t>Source titles are clickable. Full links and methods are in the companion brief.</a:t>
            </a:r>
          </a:p>
          <a:p>
            <a:pPr>
              <a:lnSpc>
                <a:spcPct val="107000"/>
              </a:lnSpc>
              <a:spcAft>
                <a:spcPts val="500"/>
              </a:spcAft>
            </a:pPr>
            <a:r>
              <a:rPr sz="1400" b="0">
                <a:solidFill>
                  <a:srgbClr val="232925"/>
                </a:solidFill>
                <a:latin typeface="Arial"/>
              </a:rPr>
              <a:t>Checked October 5, 2026. No customer ROI or shipped modernization capability is claimed.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Bearing: agents you can check</dc:title>
  <dc:subject>Evidence-first agent workflows: repository onboarding today, legacy modernization proposed</dc:subject>
  <dc:creator>Bearing</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