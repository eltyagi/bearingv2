
<file path=[Content_Types].xml><?xml version="1.0" encoding="utf-8"?>
<Types xmlns="http://schemas.openxmlformats.org/package/2006/content-types">
  <Default Extension="bin" ContentType="application/vnd.openxmlformats-officedocument.presentationml.printerSetting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Only repository discovery (/onboard-repo, the Bearing plugin in this repo) is built (Prototype). Guided stakeholder discovery, generated surveys, survey synthesis and automated workshop assembly are Proposed and are not built. The workshop building blocks exist as a document (submission/workshop-building-blocks.md).</a:t>
            </a:r>
          </a:p>
          <a:p>
            <a:r>
              <a:rPr lang="en-US" dirty="0"/>
              <a:t>“Light” means a first pass assisted by Copilot with humans reviewing at every gate. It does not replace forward-deployed engineers, service owners or facilitators.</a:t>
            </a:r>
          </a:p>
          <a:p>
            <a:r>
              <a:rPr lang="en-US" dirty="0"/>
              <a:t>Sources: none on this slide. Industry evidence is on slides 2 to 4 and 15, with the full reference list in submission/fde-evidence.md.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Industry signals, not findings about our customers. Nothing here says our customers changed what they ask; that is why slide 3 is labelled a hypothesis.</a:t>
            </a:r>
          </a:p>
          <a:p>
            <a:r>
              <a:rPr lang="en-US" dirty="0"/>
              <a:t>Built vs proposed: not applicable. This slide is external context only.</a:t>
            </a:r>
          </a:p>
          <a:p>
            <a:r>
              <a:rPr lang="en-US" dirty="0"/>
              <a:t>Sources (full method, strength and limits in submission/fde-evidence.md; all accessed 2026-10-07):</a:t>
            </a:r>
          </a:p>
          <a:p>
            <a:r>
              <a:rPr lang="en-US" dirty="0"/>
              <a:t>S1 BCG, The Widening AI Value Gap, Oct 2025: survey of 1,250 CxOs and senior executives; 60% of companies report hardly any material value; 5% get value at scale, 35% are scaling. Large survey with stated n, consultancy-published.</a:t>
            </a:r>
          </a:p>
          <a:p>
            <a:r>
              <a:rPr lang="en-US" dirty="0"/>
              <a:t>S2 IBM Institute for Business Value CEO study, news release 6 May 2025: 2,000 CEOs, 33 countries; only 25% of AI initiatives delivered expected ROI and only 16% have scaled enterprise wide. Large survey with stated n, vendor-published.</a:t>
            </a:r>
          </a:p>
          <a:p>
            <a:r>
              <a:rPr lang="en-US" dirty="0"/>
              <a:t>S3 Gartner press release 25 June 2025: over 40% of agentic AI projects will be canceled by end of 2027 due to escalating costs, unclear business value or inadequate risk controls. This is a forecast; its poll was 3,412 webinar attendees, a self-selected sample.</a:t>
            </a:r>
          </a:p>
          <a:p>
            <a:r>
              <a:rPr lang="en-US" dirty="0"/>
              <a:t>S5 Stack Overflow Developer Survey 2025, published 29 July 2025: 84% use or plan to use AI tools (76% in 2024); 46% distrust and 33% trust the accuracy of AI output (33,244 answered that question). Self-selected developer community.</a:t>
            </a:r>
          </a:p>
          <a:p>
            <a:r>
              <a:rPr lang="en-US" dirty="0"/>
              <a:t>The four figures measure different things (value, ROI, project cancellation, developer trust) and are not additive.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This slide is a hypothesis, not a finding. We have no data from our own customers or field teams that these three things are true; the pilot on slide 13 is how to find out.</a:t>
            </a:r>
          </a:p>
          <a:p>
            <a:r>
              <a:rPr lang="en-US" dirty="0"/>
              <a:t>Built vs proposed: the repeated-discovery problem is what the built /onboard-repo prototype targets for repositories; the rest of the proposal (surveys, workshops) is Proposed and not built.</a:t>
            </a:r>
          </a:p>
          <a:p>
            <a:r>
              <a:rPr lang="en-US" dirty="0"/>
              <a:t>Sources: the only external statement on this slide is the analyst remark in card 3, from Gartner analyst Mukul Saha as reported by Channel Dive on 2026-09-29 (S10): about 2,000 active FDEs, demand “probably quadruple that”. It is an analyst’s estimate in an interview, not a measurement. Industry context for the outcome question is on slide 2 (S1 to S5).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Honest evidence slide. The FDE model is real, popular and argued for by credible people, but we found no controlled or peer-reviewed study that FDEs cause better customer outcomes. Everything below is hiring data, investor or practitioner commentary, vendor description or an analyst forecast. So Bearing’s value is a hypothesis to pilot, not a finding.</a:t>
            </a:r>
          </a:p>
          <a:p>
            <a:r>
              <a:rPr lang="en-US" dirty="0"/>
              <a:t>Built vs proposed: not applicable. This is external context. “Light” FDE here means a first pass assisted by Copilot with human gates; it does not embed anyone and does not replace FDEs.</a:t>
            </a:r>
          </a:p>
          <a:p>
            <a:r>
              <a:rPr lang="en-US" dirty="0"/>
              <a:t>Sources (details in submission/fde-evidence.md; accessed 2026-10-07):</a:t>
            </a:r>
          </a:p>
          <a:p>
            <a:r>
              <a:rPr lang="en-US" dirty="0"/>
              <a:t>S6 Palantir Form S-1/A, September 2020: “Our forward deployed engineers (FDEs) have travelled to bases in Afghanistan and factories in the industrial Midwest to deploy our platforms.” Vendor filing, no effectiveness data. The definition band paraphrases the role as SVPG describes it (S9: send engineers to spend intense time embedded with customers to learn the problem and solution space).</a:t>
            </a:r>
          </a:p>
          <a:p>
            <a:r>
              <a:rPr lang="en-US" dirty="0"/>
              <a:t>S7 Business Insider (16 May 2026), Indeed data: FDE postings 5,230% above January 2025 levels by April 2026, roughly 729% year over year. The article’s correction says these are indexed values relative to a January 2025 baseline, not post counts. Demand, not effectiveness.</a:t>
            </a:r>
          </a:p>
          <a:p>
            <a:r>
              <a:rPr lang="en-US" dirty="0"/>
              <a:t>S8 a16z, Joe Schmidt, 4 June 2025: services-heavy motions trade margin for moat. Investor commentary.</a:t>
            </a:r>
          </a:p>
          <a:p>
            <a:r>
              <a:rPr lang="en-US" dirty="0"/>
              <a:t>S9 SVPG, Marty Cagan, September 2025: the model works with a platform product organization that generalizes field learnings; otherwise “thousands of large, bespoke solutions”. Practitioner commentary.</a:t>
            </a:r>
          </a:p>
          <a:p>
            <a:r>
              <a:rPr lang="en-US" dirty="0"/>
              <a:t>S10 Gartner press release 29 September 2026 as reported by Channel Dive: roughly 70% of vendor-led engagements abandoned by 2028; “forward deployed” is often a label for implementation or consulting. A forecast, not an observed outcome.</a:t>
            </a:r>
          </a:p>
          <a:p>
            <a:r>
              <a:rPr lang="en-US" dirty="0"/>
              <a:t>Adjacent only (S4, MIT NANDA 2025, preliminary, not peer reviewed): external partnerships reached deployment about 67% of the time vs about 33% for internal builds in its sample. It does not mention FDEs.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Step 1 is partly built. /onboard-repo (Prototype) explores a repository. Stakeholder discovery beyond the repository, the survey (step 2), survey synthesis and automated workshop assembly (step 3) are Proposed and not built.</a:t>
            </a:r>
          </a:p>
          <a:p>
            <a:r>
              <a:rPr lang="en-US" dirty="0"/>
              <a:t>The workflow framing (plan, delegate, validate, review, ship) is how the built Bearing workflow already runs: the skill scans and plans, delegates to two specialist agents in parallel, specialists verify claims against files, the developer reviews the live canvas, and the first-steps checklist is handed over before Bearing stops. See plugins/bearing/README.md and plugins/bearing/skills/onboard-repo/SKILL.md.</a:t>
            </a:r>
          </a:p>
          <a:p>
            <a:r>
              <a:rPr lang="en-US" dirty="0"/>
              <a:t>Sources: this slide describes the design, not an external finding. The idea is a hypothesis to pilot (slide 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The left card is built (Prototype). /onboard-repo scans the repository, opens the bearing-guide canvas, and runs two read-only specialist agents in parallel: repo-cartographer (overview, map, architecture, conventions, workflow) and pr-historian (walkthroughs of the five latest merged pull requests, GitHub repositories only). The coordinating agent writes the first-steps checklist. Claims must be read from files; invalid paths and line ranges are removed; missing evidence is shown as unavailable. Path and line checks validate references, not semantic correctness. Bearing does not edit files or run setup, build or test commands. A guide takes roughly 10 to 15 minutes for a small repository (README), for repositories of about 2,000 tracked files or fewer on github.com.</a:t>
            </a:r>
          </a:p>
          <a:p>
            <a:r>
              <a:rPr lang="en-US" dirty="0"/>
              <a:t>The right card is Proposed and not built: no stakeholder interview flow exists in this repository.</a:t>
            </a:r>
          </a:p>
          <a:p>
            <a:r>
              <a:rPr lang="en-US" dirty="0"/>
              <a:t>Sources: plugins/bearing/README.md, plugins/bearing/skills/onboard-repo/SKILL.md, plugins/bearing/agents/*.agent.md.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Everything on this slide is Proposed. No survey generation, delivery or response synthesis exists in this repository. The categories are examples of what a survey could cover, not a validated instrument.</a:t>
            </a:r>
          </a:p>
          <a:p>
            <a:r>
              <a:rPr lang="en-US" dirty="0"/>
              <a:t>What carries over from the built prototype: claims cite sources, unknowns stay explicit rather than being filled in, repository text is treated as data and not instructions, and a person approves before anything is acted on.</a:t>
            </a:r>
          </a:p>
          <a:p>
            <a:r>
              <a:rPr lang="en-US" dirty="0"/>
              <a:t>Gates: the survey is approved by the account owner before it is sent; the synthesized requirements are confirmed by the customer. Dark numbered markers are human gates.</a:t>
            </a:r>
          </a:p>
          <a:p>
            <a:r>
              <a:rPr lang="en-US" dirty="0"/>
              <a:t>Sources: none external. Design hypothesis to pilot (slide 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The knowledge base exists today as a document (submission/workshop-building-blocks.md): eight reusable blocks B1 to B8, four composable recipes and a selection table by customer maturity. It is tagged Emerging: it exists, but it has not been validated with customers and nothing assembles from it automatically. The document itself says the blocks are recommended designs, not packaged offerings and not proven outcomes. Assembling a workshop plan from confirmed requirements is Proposed and not built.</a:t>
            </a:r>
          </a:p>
          <a:p>
            <a:r>
              <a:rPr lang="en-US" dirty="0"/>
              <a:t>Only B2 (establish repository bearings) and B3 (explain a change and choose a first task) are backed by implemented Bearing behavior (green markers). The other blocks draw on GitHub Skills courses and facilitator material and are designs.</a:t>
            </a:r>
          </a:p>
          <a:p>
            <a:r>
              <a:rPr lang="en-US" dirty="0"/>
              <a:t>Recipes: Bearing onboarding and workflow discovery (75 min), Business idea to reviewed prototype (90 min), Context-aware team review (90 min), Workflow design lab (half-day, 240 min). The selection table on the right is the document’s maturity table, shortened.</a:t>
            </a:r>
          </a:p>
          <a:p>
            <a:r>
              <a:rPr lang="en-US" dirty="0"/>
              <a:t>Sources: submission/workshop-building-blocks.md (access date 2026-10-05 for its linked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Illustrative, not a real customer: the platform team, the billing service, the question and the artifacts are invented to show the flow. No customer was involved and no result is claimed.</a:t>
            </a:r>
          </a:p>
          <a:p>
            <a:r>
              <a:rPr lang="en-US" dirty="0"/>
              <a:t>Built vs proposed: the discovery column is the built part (Prototype), limited to repository exploration. The survey is Proposed and not built. The recipe and exit artifact come from the knowledge-base document (Emerging): the recipe is “Bearing onboarding and workflow discovery: 75 minutes” (B1 10, B2 25, B3 20, B8 15, owner review 5) and the exit artifact is the one listed in the document. Choosing the recipe follows the selection table row “Engineering team with an onboarding bottleneck: B1, B2, B3, B8”. Doing this selection automatically is Proposed.</a:t>
            </a:r>
          </a:p>
          <a:p>
            <a:r>
              <a:rPr lang="en-US" dirty="0"/>
              <a:t>Sources: submission/workshop-building-blocks.md (recipes and selection table); plugins/bearing/README.md.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Only the first stage is partly built. /onboard-repo runs repository discovery (Prototype); its review gate in the built workflow is the developer verifying evidence, asking follow-ups and deciding any next step, because Bearing stops before implementation. Drafting discovery questions, the survey, requirements synthesis, workshop plan selection and the follow-through brief are Proposed and not built.</a:t>
            </a:r>
          </a:p>
          <a:p>
            <a:r>
              <a:rPr lang="en-US" dirty="0"/>
              <a:t>The five gates are the design: scope approved by the account owner, survey approved before sending, requirements confirmed by the customer, workshop plan approved by the facilitator, actions owned by the customer. They keep the review-gate idea from the earlier Bearing workflow: delegate repeated first-pass work, keep humans on the decisions.</a:t>
            </a:r>
          </a:p>
          <a:p>
            <a:r>
              <a:rPr lang="en-US" dirty="0"/>
              <a:t>Sources: plugins/bearing/README.md (what the built workflow does and does not do); submission/README.md (workflow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Developer stakeholders running /onboard-repo is the only role-use that is built today (Prototype). Workshop facilitators picking blocks from the knowledge-base document is tagged Emerging: the document exists but is unvalidated and the selection is manual. The account team, solution sales and engineering, and customer success rows describe intended use of the Proposed survey and workshop steps; none of that is built.</a:t>
            </a:r>
          </a:p>
          <a:p>
            <a:r>
              <a:rPr lang="en-US" dirty="0"/>
              <a:t>Service surface (Proposed): a private GitHub Pages workspace per customer, so different people see different customers. GitHub documents that a privately published Pages site is open only to people with read access to the repository it is published from, and that private publishing needs an organization on GitHub Enterprise Cloud with a private or internal repository (docs.github.com, Changing the visibility of your GitHub Pages site, checked 2026-10-07). Access is therefore per site, not per page or per person, so the design is one repository and one private site per customer, with read access granted by team. The repository holds only a static template (docs/index.html, docs/customer-template.html) with a fictional customer. It is not published, has no access control configured, and runs no workflow. Publishing and visibility are set by the repository owner.</a:t>
            </a:r>
          </a:p>
          <a:p>
            <a:r>
              <a:rPr lang="en-US" dirty="0"/>
              <a:t>These roles come from the brief: account teams, solution sales and engineers, customer success, developer stakeholders and workshop facilitators. No usage by any of them is claimed.</a:t>
            </a:r>
          </a:p>
          <a:p>
            <a:r>
              <a:rPr lang="en-US" dirty="0"/>
              <a:t>Sources: plugins/bearing/README.md; submission/workshop-building-blocks.md; docs/ (static template); GitHub Docs page above (listed in submission/fde-evidence.md).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This is the honesty slide. Prototype = built and runnable in this repo (the Bearing plugin: /onboard-repo skill, two read-only specialist agents, extension tools, seven-section live canvas, persistent first-steps checklist, Ask buttons). Emerging = exists as a document, not validated: the workshop building blocks and a static GitHub Pages template (docs/) that is unpublished with no access control. Proposed = not built: guided stakeholder discovery, generated surveys, survey synthesis, workshop assembly, a private Pages workspace per customer with per-person access, any hosted as-a-service intake.</a:t>
            </a:r>
          </a:p>
          <a:p>
            <a:r>
              <a:rPr lang="en-US" dirty="0"/>
              <a:t>Governance of the built part: specialists are read-only and have no shell; GitHub CLI calls are read-only; repository and pull request text is treated as data not instructions; guides are stored locally under the Copilot extensions folder; the canvas server listens on 127.0.0.1 with a per-canvas token; Bearing does not store a GitHub token. Path and line checks validate that references exist, not that the claim is correct, so a person still checks important facts. It is a prototype for small github.com repositories; GitHub Enterprise Server is not supported.</a:t>
            </a:r>
          </a:p>
          <a:p>
            <a:r>
              <a:rPr lang="en-US" dirty="0"/>
              <a:t>Sources: plugins/bearing/README.md (Data and privacy, Limits); plugins/bearing/agents/*.agent.md (tool lists); submission/workshop-building-blocks.md.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All of this is Proposed. No pilot has been run, no baseline exists, and no result, time saving, ROI or customer validation is claimed anywhere in this deck.</a:t>
            </a:r>
          </a:p>
          <a:p>
            <a:r>
              <a:rPr lang="en-US" dirty="0"/>
              <a:t>Measures are proposals, taken from the brief: time to qualified requirements, requirement completeness as judged by the account owner, workshop-to-owned-action conversion, and rework or corrections found at review. Capture the baseline before the pilot. Collect only agreed, non-sensitive measurements; Bearing collects no adoption telemetry.</a:t>
            </a:r>
          </a:p>
          <a:p>
            <a:r>
              <a:rPr lang="en-US" dirty="0"/>
              <a:t>Why a pilot: the evidence that forward-deployed engineering works is mostly practitioner, investor and vendor commentary (slides 4 and 15; submission/fde-evidence.md), so Bearing’s value is a hypothesis to test, not a finding.</a:t>
            </a:r>
          </a:p>
          <a:p>
            <a:r>
              <a:rPr lang="en-US" dirty="0"/>
              <a:t>Sources: submission/workshop-building-blocks.md (facilitator checklist: baseline, owner, measures); submission/fde-evidence.md.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Step 2 uses the built Prototype (/onboard-repo, small github.com repository, an owner to review the guide). Step 3 deliberately does the Proposed parts by hand, the survey and workshop selection, using the Emerging knowledge-base document, so that the pilot can show what is worth building. Nothing in step 3 is automated today.</a:t>
            </a:r>
          </a:p>
          <a:p>
            <a:r>
              <a:rPr lang="en-US" dirty="0"/>
              <a:t>The pilot measures are on slide 13 and are proposals; no results are claimed.</a:t>
            </a:r>
          </a:p>
          <a:p>
            <a:r>
              <a:rPr lang="en-US" dirty="0"/>
              <a:t>Sources: plugins/bearing/README.md (install, requirements); submission/workshop-building-blocks.md (recipes, facilitator checklist).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Built vs proposed: see slide 12 for the full status. Definitions used across the deck: Prototype = built and runnable in this repository; Emerging = exists as a document or design, not validated or automated; Proposed = not built; Illustrative = an invented example, not a real customer.</a:t>
            </a:r>
          </a:p>
          <a:p>
            <a:r>
              <a:rPr lang="en-US" dirty="0"/>
              <a:t>Sources and strength (full detail, methods, dates and what each does not show are in submission/fde-evidence.md): S1 BCG (large survey, n=1,250); S2 IBM CEO study (large survey, n=2,000); S5 Stack Overflow 2025 (large survey, n=33,244 on the trust question); S3 and S10 Gartner (analyst forecasts); S4 MIT NANDA (preliminary, not peer reviewed, 52 organizations and 153 leaders); S6 Palantir S-1, S8 a16z, S9 SVPG (filing and commentary); S7 Indeed data via Business Insider (index, not counts); S12 GitHub Docs on private Pages access.</a:t>
            </a:r>
          </a:p>
          <a:p>
            <a:r>
              <a:rPr lang="en-US" dirty="0"/>
              <a:t>Honest limits: no controlled or peer-reviewed study of FDE effectiveness was found; industry research describes the market, not our customers; no measured results are claimed; and Bearing’s path and line checks validate that references exist, not that a claim is correct.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232925"/>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B6BFB8"/>
                </a:solidFill>
                <a:latin typeface="Arial"/>
                <a:cs typeface="Arial"/>
              </a:rPr>
              <a:t>Bearing  |  GitHub Copilot App workflow</a:t>
            </a:r>
          </a:p>
        </p:txBody>
      </p:sp>
      <p:sp>
        <p:nvSpPr>
          <p:cNvPr id="29"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B6BFB8"/>
                </a:solidFill>
                <a:latin typeface="Arial"/>
                <a:cs typeface="Arial"/>
              </a:rPr>
              <a:t>01 / 15</a:t>
            </a:r>
          </a:p>
        </p:txBody>
      </p:sp>
      <p:sp>
        <p:nvSpPr>
          <p:cNvPr id="6" name="GitHub mark" descr="GitHub logo"/>
          <p:cNvSpPr/>
          <p:nvPr/>
        </p:nvSpPr>
        <p:spPr>
          <a:xfrm>
            <a:off x="7863840" y="457200"/>
            <a:ext cx="640080" cy="6400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txBody>
          <a:bodyPr rtlCol="0" anchor="ctr"/>
          <a:lstStyle/>
          <a:p>
            <a:endParaRPr lang="en-US"/>
          </a:p>
        </p:txBody>
      </p:sp>
      <p:sp>
        <p:nvSpPr>
          <p:cNvPr id="7" name="Divider"/>
          <p:cNvSpPr/>
          <p:nvPr/>
        </p:nvSpPr>
        <p:spPr>
          <a:xfrm>
            <a:off x="8686800" y="457200"/>
            <a:ext cx="10922" cy="640080"/>
          </a:xfrm>
          <a:prstGeom prst="rect">
            <a:avLst/>
          </a:prstGeom>
          <a:solidFill>
            <a:srgbClr val="B6BFB8"/>
          </a:solidFill>
          <a:ln>
            <a:noFill/>
          </a:ln>
        </p:spPr>
        <p:txBody>
          <a:bodyPr rtlCol="0" anchor="ctr"/>
          <a:lstStyle/>
          <a:p>
            <a:endParaRPr lang="en-US"/>
          </a:p>
        </p:txBody>
      </p:sp>
      <p:sp>
        <p:nvSpPr>
          <p:cNvPr id="8" name="Brand"/>
          <p:cNvSpPr txBox="1"/>
          <p:nvPr/>
        </p:nvSpPr>
        <p:spPr>
          <a:xfrm>
            <a:off x="8887968" y="502920"/>
            <a:ext cx="2743200" cy="2921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700" b="1" i="0" dirty="0">
                <a:solidFill>
                  <a:srgbClr val="FFFFFF"/>
                </a:solidFill>
                <a:latin typeface="Arial"/>
                <a:cs typeface="Arial"/>
              </a:rPr>
              <a:t>GitHub Copilot App</a:t>
            </a:r>
          </a:p>
        </p:txBody>
      </p:sp>
      <p:sp>
        <p:nvSpPr>
          <p:cNvPr id="9" name="Challenge"/>
          <p:cNvSpPr txBox="1"/>
          <p:nvPr/>
        </p:nvSpPr>
        <p:spPr>
          <a:xfrm>
            <a:off x="8887968" y="850900"/>
            <a:ext cx="27432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B6BFB8"/>
                </a:solidFill>
                <a:latin typeface="Arial"/>
                <a:cs typeface="Arial"/>
              </a:rPr>
              <a:t>Enterprise workflow challenge</a:t>
            </a:r>
          </a:p>
        </p:txBody>
      </p:sp>
      <p:sp>
        <p:nvSpPr>
          <p:cNvPr id="10" name="Wordmark"/>
          <p:cNvSpPr txBox="1"/>
          <p:nvPr/>
        </p:nvSpPr>
        <p:spPr>
          <a:xfrm>
            <a:off x="594360" y="660400"/>
            <a:ext cx="6350000" cy="355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2200" b="1" i="0" dirty="0">
                <a:solidFill>
                  <a:srgbClr val="FFFFFF"/>
                </a:solidFill>
                <a:latin typeface="Mona Sans"/>
                <a:cs typeface="Mona Sans"/>
              </a:rPr>
              <a:t>Bearing</a:t>
            </a:r>
          </a:p>
        </p:txBody>
      </p:sp>
      <p:sp>
        <p:nvSpPr>
          <p:cNvPr id="11" name="Title"/>
          <p:cNvSpPr txBox="1"/>
          <p:nvPr/>
        </p:nvSpPr>
        <p:spPr>
          <a:xfrm>
            <a:off x="594360" y="1422400"/>
            <a:ext cx="7112000" cy="152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4800" b="1" i="0" dirty="0">
                <a:solidFill>
                  <a:srgbClr val="0FBF3E"/>
                </a:solidFill>
                <a:latin typeface="Mona Sans"/>
                <a:cs typeface="Mona Sans"/>
              </a:rPr>
              <a:t>Light FDE as a service.</a:t>
            </a:r>
          </a:p>
        </p:txBody>
      </p:sp>
      <p:sp>
        <p:nvSpPr>
          <p:cNvPr id="12" name="Tagline"/>
          <p:cNvSpPr txBox="1"/>
          <p:nvPr/>
        </p:nvSpPr>
        <p:spPr>
          <a:xfrm>
            <a:off x="594360" y="2997200"/>
            <a:ext cx="6858000" cy="1143000"/>
          </a:xfrm>
          <a:prstGeom prst="rect">
            <a:avLst/>
          </a:prstGeom>
          <a:noFill/>
          <a:ln>
            <a:noFill/>
          </a:ln>
        </p:spPr>
        <p:txBody>
          <a:bodyPr wrap="square" lIns="0" tIns="0" rIns="0" bIns="0" anchor="t">
            <a:noAutofit/>
          </a:bodyPr>
          <a:lstStyle/>
          <a:p>
            <a:pPr algn="l">
              <a:lnSpc>
                <a:spcPct val="108000"/>
              </a:lnSpc>
              <a:spcBef>
                <a:spcPts val="0"/>
              </a:spcBef>
              <a:spcAft>
                <a:spcPts val="0"/>
              </a:spcAft>
              <a:buNone/>
            </a:pPr>
            <a:r>
              <a:rPr lang="en-US" sz="2400" b="0" i="0" dirty="0">
                <a:solidFill>
                  <a:srgbClr val="FFFFFF"/>
                </a:solidFill>
                <a:latin typeface="Arial"/>
                <a:cs typeface="Arial"/>
              </a:rPr>
              <a:t>From AI adoption to AI outcomes, through the field teams we already have.</a:t>
            </a:r>
          </a:p>
        </p:txBody>
      </p:sp>
      <p:sp>
        <p:nvSpPr>
          <p:cNvPr id="13" name="Principle"/>
          <p:cNvSpPr txBox="1"/>
          <p:nvPr/>
        </p:nvSpPr>
        <p:spPr>
          <a:xfrm>
            <a:off x="594360" y="4318000"/>
            <a:ext cx="6604000" cy="889000"/>
          </a:xfrm>
          <a:prstGeom prst="rect">
            <a:avLst/>
          </a:prstGeom>
          <a:noFill/>
          <a:ln>
            <a:noFill/>
          </a:ln>
        </p:spPr>
        <p:txBody>
          <a:bodyPr wrap="square" lIns="0" tIns="0" rIns="0" bIns="0" anchor="t">
            <a:noAutofit/>
          </a:bodyPr>
          <a:lstStyle/>
          <a:p>
            <a:pPr algn="l">
              <a:lnSpc>
                <a:spcPct val="100000"/>
              </a:lnSpc>
              <a:spcBef>
                <a:spcPts val="0"/>
              </a:spcBef>
              <a:spcAft>
                <a:spcPts val="200"/>
              </a:spcAft>
              <a:buNone/>
            </a:pPr>
            <a:r>
              <a:rPr lang="en-US" sz="1800" b="0" i="0" dirty="0">
                <a:solidFill>
                  <a:srgbClr val="B6BFB8"/>
                </a:solidFill>
                <a:latin typeface="Arial"/>
                <a:cs typeface="Arial"/>
              </a:rPr>
              <a:t>Copilot does the first pass.</a:t>
            </a:r>
          </a:p>
          <a:p>
            <a:pPr algn="l">
              <a:lnSpc>
                <a:spcPct val="100000"/>
              </a:lnSpc>
              <a:spcBef>
                <a:spcPts val="0"/>
              </a:spcBef>
              <a:spcAft>
                <a:spcPts val="0"/>
              </a:spcAft>
              <a:buNone/>
            </a:pPr>
            <a:r>
              <a:rPr lang="en-US" sz="1800" b="0" i="0" dirty="0">
                <a:solidFill>
                  <a:srgbClr val="B6BFB8"/>
                </a:solidFill>
                <a:latin typeface="Arial"/>
                <a:cs typeface="Arial"/>
              </a:rPr>
              <a:t>People own every gate.</a:t>
            </a:r>
          </a:p>
        </p:txBody>
      </p:sp>
      <p:sp>
        <p:nvSpPr>
          <p:cNvPr id="14" name="Flow box Discover"/>
          <p:cNvSpPr/>
          <p:nvPr/>
        </p:nvSpPr>
        <p:spPr>
          <a:xfrm>
            <a:off x="8229600" y="1778000"/>
            <a:ext cx="3327400" cy="736600"/>
          </a:xfrm>
          <a:prstGeom prst="rect">
            <a:avLst/>
          </a:prstGeom>
          <a:solidFill>
            <a:srgbClr val="232925"/>
          </a:solidFill>
          <a:ln>
            <a:noFill/>
          </a:ln>
        </p:spPr>
        <p:txBody>
          <a:bodyPr rtlCol="0" anchor="ctr"/>
          <a:lstStyle/>
          <a:p>
            <a:endParaRPr lang="en-US"/>
          </a:p>
        </p:txBody>
      </p:sp>
      <p:sp>
        <p:nvSpPr>
          <p:cNvPr id="15" name="Flow Discover"/>
          <p:cNvSpPr txBox="1"/>
          <p:nvPr/>
        </p:nvSpPr>
        <p:spPr>
          <a:xfrm>
            <a:off x="8432800" y="1879600"/>
            <a:ext cx="1905000" cy="330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2000" b="1" i="0" dirty="0">
                <a:solidFill>
                  <a:srgbClr val="0FBF3E"/>
                </a:solidFill>
                <a:latin typeface="Mona Sans"/>
                <a:cs typeface="Mona Sans"/>
              </a:rPr>
              <a:t>1  Discover</a:t>
            </a:r>
          </a:p>
        </p:txBody>
      </p:sp>
      <p:sp>
        <p:nvSpPr>
          <p:cNvPr id="16" name="Flow note Discover"/>
          <p:cNvSpPr txBox="1"/>
          <p:nvPr/>
        </p:nvSpPr>
        <p:spPr>
          <a:xfrm>
            <a:off x="8432800" y="2197100"/>
            <a:ext cx="2032000" cy="228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100" b="0" i="0" dirty="0">
                <a:solidFill>
                  <a:srgbClr val="B6BFB8"/>
                </a:solidFill>
                <a:latin typeface="Arial"/>
                <a:cs typeface="Arial"/>
              </a:rPr>
              <a:t>repository discovery</a:t>
            </a:r>
          </a:p>
        </p:txBody>
      </p:sp>
      <p:sp>
        <p:nvSpPr>
          <p:cNvPr id="17" name="Tag Prototype"/>
          <p:cNvSpPr txBox="1"/>
          <p:nvPr/>
        </p:nvSpPr>
        <p:spPr>
          <a:xfrm>
            <a:off x="10439400" y="2006600"/>
            <a:ext cx="930275"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18" name="Flow connector"/>
          <p:cNvSpPr/>
          <p:nvPr/>
        </p:nvSpPr>
        <p:spPr>
          <a:xfrm>
            <a:off x="9886950" y="2514600"/>
            <a:ext cx="16510" cy="330200"/>
          </a:xfrm>
          <a:prstGeom prst="rect">
            <a:avLst/>
          </a:prstGeom>
          <a:solidFill>
            <a:srgbClr val="B6BFB8"/>
          </a:solidFill>
          <a:ln>
            <a:noFill/>
          </a:ln>
        </p:spPr>
        <p:txBody>
          <a:bodyPr rtlCol="0" anchor="ctr"/>
          <a:lstStyle/>
          <a:p>
            <a:endParaRPr lang="en-US"/>
          </a:p>
        </p:txBody>
      </p:sp>
      <p:sp>
        <p:nvSpPr>
          <p:cNvPr id="19" name="Flow box Survey"/>
          <p:cNvSpPr/>
          <p:nvPr/>
        </p:nvSpPr>
        <p:spPr>
          <a:xfrm>
            <a:off x="8229600" y="2844800"/>
            <a:ext cx="3327400" cy="736600"/>
          </a:xfrm>
          <a:prstGeom prst="rect">
            <a:avLst/>
          </a:prstGeom>
          <a:solidFill>
            <a:srgbClr val="232925"/>
          </a:solidFill>
          <a:ln>
            <a:noFill/>
          </a:ln>
        </p:spPr>
        <p:txBody>
          <a:bodyPr rtlCol="0" anchor="ctr"/>
          <a:lstStyle/>
          <a:p>
            <a:endParaRPr lang="en-US"/>
          </a:p>
        </p:txBody>
      </p:sp>
      <p:sp>
        <p:nvSpPr>
          <p:cNvPr id="20" name="Flow Survey"/>
          <p:cNvSpPr txBox="1"/>
          <p:nvPr/>
        </p:nvSpPr>
        <p:spPr>
          <a:xfrm>
            <a:off x="8432800" y="2946400"/>
            <a:ext cx="1905000" cy="330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2000" b="1" i="0" dirty="0">
                <a:solidFill>
                  <a:srgbClr val="FFFFFF"/>
                </a:solidFill>
                <a:latin typeface="Mona Sans"/>
                <a:cs typeface="Mona Sans"/>
              </a:rPr>
              <a:t>2  Survey</a:t>
            </a:r>
          </a:p>
        </p:txBody>
      </p:sp>
      <p:sp>
        <p:nvSpPr>
          <p:cNvPr id="21" name="Flow note Survey"/>
          <p:cNvSpPr txBox="1"/>
          <p:nvPr/>
        </p:nvSpPr>
        <p:spPr>
          <a:xfrm>
            <a:off x="8432800" y="3263900"/>
            <a:ext cx="2032000" cy="228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p>
        </p:txBody>
      </p:sp>
      <p:sp>
        <p:nvSpPr>
          <p:cNvPr id="22" name="Tag Proposed"/>
          <p:cNvSpPr txBox="1"/>
          <p:nvPr/>
        </p:nvSpPr>
        <p:spPr>
          <a:xfrm>
            <a:off x="10439400" y="30734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3" name="Flow connector"/>
          <p:cNvSpPr/>
          <p:nvPr/>
        </p:nvSpPr>
        <p:spPr>
          <a:xfrm>
            <a:off x="9886950" y="3581400"/>
            <a:ext cx="16510" cy="330200"/>
          </a:xfrm>
          <a:prstGeom prst="rect">
            <a:avLst/>
          </a:prstGeom>
          <a:solidFill>
            <a:srgbClr val="B6BFB8"/>
          </a:solidFill>
          <a:ln>
            <a:noFill/>
          </a:ln>
        </p:spPr>
        <p:txBody>
          <a:bodyPr rtlCol="0" anchor="ctr"/>
          <a:lstStyle/>
          <a:p>
            <a:endParaRPr lang="en-US"/>
          </a:p>
        </p:txBody>
      </p:sp>
      <p:sp>
        <p:nvSpPr>
          <p:cNvPr id="24" name="Flow box Workshop"/>
          <p:cNvSpPr/>
          <p:nvPr/>
        </p:nvSpPr>
        <p:spPr>
          <a:xfrm>
            <a:off x="8229600" y="3911600"/>
            <a:ext cx="3327400" cy="736600"/>
          </a:xfrm>
          <a:prstGeom prst="rect">
            <a:avLst/>
          </a:prstGeom>
          <a:solidFill>
            <a:srgbClr val="232925"/>
          </a:solidFill>
          <a:ln>
            <a:noFill/>
          </a:ln>
        </p:spPr>
        <p:txBody>
          <a:bodyPr rtlCol="0" anchor="ctr"/>
          <a:lstStyle/>
          <a:p>
            <a:endParaRPr lang="en-US"/>
          </a:p>
        </p:txBody>
      </p:sp>
      <p:sp>
        <p:nvSpPr>
          <p:cNvPr id="25" name="Flow Workshop"/>
          <p:cNvSpPr txBox="1"/>
          <p:nvPr/>
        </p:nvSpPr>
        <p:spPr>
          <a:xfrm>
            <a:off x="8432800" y="4013200"/>
            <a:ext cx="1905000" cy="330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2000" b="1" i="0" dirty="0">
                <a:solidFill>
                  <a:srgbClr val="FFFFFF"/>
                </a:solidFill>
                <a:latin typeface="Mona Sans"/>
                <a:cs typeface="Mona Sans"/>
              </a:rPr>
              <a:t>3  Workshop</a:t>
            </a:r>
          </a:p>
        </p:txBody>
      </p:sp>
      <p:sp>
        <p:nvSpPr>
          <p:cNvPr id="26" name="Flow note Workshop"/>
          <p:cNvSpPr txBox="1"/>
          <p:nvPr/>
        </p:nvSpPr>
        <p:spPr>
          <a:xfrm>
            <a:off x="8432800" y="4330700"/>
            <a:ext cx="2032000" cy="228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100" b="0" i="0" dirty="0">
                <a:solidFill>
                  <a:srgbClr val="B6BFB8"/>
                </a:solidFill>
                <a:latin typeface="Arial"/>
                <a:cs typeface="Arial"/>
              </a:rPr>
              <a:t>from the knowledge base</a:t>
            </a:r>
          </a:p>
        </p:txBody>
      </p:sp>
      <p:sp>
        <p:nvSpPr>
          <p:cNvPr id="27" name="Tag Proposed"/>
          <p:cNvSpPr txBox="1"/>
          <p:nvPr/>
        </p:nvSpPr>
        <p:spPr>
          <a:xfrm>
            <a:off x="10439400" y="41402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8" name="Honesty note"/>
          <p:cNvSpPr txBox="1"/>
          <p:nvPr/>
        </p:nvSpPr>
        <p:spPr>
          <a:xfrm>
            <a:off x="594360" y="5537200"/>
            <a:ext cx="10160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300" b="0" i="0" dirty="0">
                <a:solidFill>
                  <a:srgbClr val="B6BFB8"/>
                </a:solidFill>
                <a:latin typeface="Arial"/>
                <a:cs typeface="Arial"/>
              </a:rPr>
              <a:t>FDE = forward-deployed engineer. Independent Bearing prototype. Only repository discovery is built. Surveys, response synthesis and workshop assembly are Proposed. “Light” means a first pass reviewed by people.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38"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02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Sources S1 to S5 in submission/fde-evidence.md. Surveys are self-reported and each covers a different population.</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From “are we using AI?” to “what did it change?”</a:t>
            </a:r>
          </a:p>
        </p:txBody>
      </p:sp>
      <p:sp>
        <p:nvSpPr>
          <p:cNvPr id="8" name="Tag Industry signal"/>
          <p:cNvSpPr txBox="1"/>
          <p:nvPr/>
        </p:nvSpPr>
        <p:spPr>
          <a:xfrm>
            <a:off x="594360" y="1498600"/>
            <a:ext cx="1320800" cy="274320"/>
          </a:xfrm>
          <a:prstGeom prst="roundRect">
            <a:avLst>
              <a:gd name="adj" fmla="val 22000"/>
            </a:avLst>
          </a:prstGeom>
          <a:solidFill>
            <a:srgbClr val="3B6EA5"/>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Industry signal</a:t>
            </a:r>
          </a:p>
        </p:txBody>
      </p:sp>
      <p:sp>
        <p:nvSpPr>
          <p:cNvPr id="9" name="Signal note"/>
          <p:cNvSpPr txBox="1"/>
          <p:nvPr/>
        </p:nvSpPr>
        <p:spPr>
          <a:xfrm>
            <a:off x="2042160" y="1498600"/>
            <a:ext cx="8890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Research published in 2025. Not findings about our customers.</a:t>
            </a:r>
          </a:p>
        </p:txBody>
      </p:sp>
      <p:sp>
        <p:nvSpPr>
          <p:cNvPr id="10" name="Signal card"/>
          <p:cNvSpPr/>
          <p:nvPr/>
        </p:nvSpPr>
        <p:spPr>
          <a:xfrm>
            <a:off x="594360" y="1905000"/>
            <a:ext cx="2590800" cy="3403600"/>
          </a:xfrm>
          <a:prstGeom prst="rect">
            <a:avLst/>
          </a:prstGeom>
          <a:solidFill>
            <a:srgbClr val="F2F5F3"/>
          </a:solidFill>
          <a:ln>
            <a:noFill/>
          </a:ln>
        </p:spPr>
        <p:txBody>
          <a:bodyPr rtlCol="0" anchor="ctr"/>
          <a:lstStyle/>
          <a:p>
            <a:endParaRPr lang="en-US"/>
          </a:p>
        </p:txBody>
      </p:sp>
      <p:sp>
        <p:nvSpPr>
          <p:cNvPr id="11" name="Signal accent"/>
          <p:cNvSpPr/>
          <p:nvPr/>
        </p:nvSpPr>
        <p:spPr>
          <a:xfrm>
            <a:off x="594360" y="1905000"/>
            <a:ext cx="2590800" cy="50800"/>
          </a:xfrm>
          <a:prstGeom prst="rect">
            <a:avLst/>
          </a:prstGeom>
          <a:solidFill>
            <a:srgbClr val="08872B"/>
          </a:solidFill>
          <a:ln>
            <a:noFill/>
          </a:ln>
        </p:spPr>
        <p:txBody>
          <a:bodyPr rtlCol="0" anchor="ctr"/>
          <a:lstStyle/>
          <a:p>
            <a:endParaRPr lang="en-US"/>
          </a:p>
        </p:txBody>
      </p:sp>
      <p:sp>
        <p:nvSpPr>
          <p:cNvPr id="12" name="Stat 60%"/>
          <p:cNvSpPr txBox="1"/>
          <p:nvPr/>
        </p:nvSpPr>
        <p:spPr>
          <a:xfrm>
            <a:off x="772160" y="2362200"/>
            <a:ext cx="22352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4400" b="1" i="0" dirty="0">
                <a:solidFill>
                  <a:srgbClr val="08872B"/>
                </a:solidFill>
                <a:latin typeface="Mona Sans"/>
                <a:cs typeface="Mona Sans"/>
              </a:rPr>
              <a:t>60%</a:t>
            </a:r>
          </a:p>
        </p:txBody>
      </p:sp>
      <p:sp>
        <p:nvSpPr>
          <p:cNvPr id="13" name="Stat 60% text"/>
          <p:cNvSpPr txBox="1"/>
          <p:nvPr/>
        </p:nvSpPr>
        <p:spPr>
          <a:xfrm>
            <a:off x="772160" y="3175000"/>
            <a:ext cx="2235200" cy="12446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400" b="0" i="0" dirty="0">
                <a:solidFill>
                  <a:srgbClr val="101411"/>
                </a:solidFill>
                <a:latin typeface="Arial"/>
                <a:cs typeface="Arial"/>
              </a:rPr>
              <a:t>of companies report hardly any material value from AI despite substantial investment.</a:t>
            </a:r>
          </a:p>
        </p:txBody>
      </p:sp>
      <p:sp>
        <p:nvSpPr>
          <p:cNvPr id="14" name="Card rule"/>
          <p:cNvSpPr/>
          <p:nvPr/>
        </p:nvSpPr>
        <p:spPr>
          <a:xfrm>
            <a:off x="772160" y="4521200"/>
            <a:ext cx="2235200" cy="10922"/>
          </a:xfrm>
          <a:prstGeom prst="rect">
            <a:avLst/>
          </a:prstGeom>
          <a:solidFill>
            <a:srgbClr val="B6BFB8"/>
          </a:solidFill>
          <a:ln>
            <a:noFill/>
          </a:ln>
        </p:spPr>
        <p:txBody>
          <a:bodyPr rtlCol="0" anchor="ctr"/>
          <a:lstStyle/>
          <a:p>
            <a:endParaRPr lang="en-US"/>
          </a:p>
        </p:txBody>
      </p:sp>
      <p:sp>
        <p:nvSpPr>
          <p:cNvPr id="15" name="Stat 60% source"/>
          <p:cNvSpPr txBox="1"/>
          <p:nvPr/>
        </p:nvSpPr>
        <p:spPr>
          <a:xfrm>
            <a:off x="772160" y="4622800"/>
            <a:ext cx="2235200" cy="584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100" b="0" i="0" dirty="0">
                <a:solidFill>
                  <a:srgbClr val="5C665F"/>
                </a:solidFill>
                <a:latin typeface="Arial"/>
                <a:cs typeface="Arial"/>
              </a:rPr>
              <a:t>BCG, Oct 2025. 1,250 senior executives.</a:t>
            </a:r>
          </a:p>
        </p:txBody>
      </p:sp>
      <p:sp>
        <p:nvSpPr>
          <p:cNvPr id="16" name="Signal card"/>
          <p:cNvSpPr/>
          <p:nvPr/>
        </p:nvSpPr>
        <p:spPr>
          <a:xfrm>
            <a:off x="3388360" y="1905000"/>
            <a:ext cx="2590800" cy="3403600"/>
          </a:xfrm>
          <a:prstGeom prst="rect">
            <a:avLst/>
          </a:prstGeom>
          <a:solidFill>
            <a:srgbClr val="F2F5F3"/>
          </a:solidFill>
          <a:ln>
            <a:noFill/>
          </a:ln>
        </p:spPr>
        <p:txBody>
          <a:bodyPr rtlCol="0" anchor="ctr"/>
          <a:lstStyle/>
          <a:p>
            <a:endParaRPr lang="en-US"/>
          </a:p>
        </p:txBody>
      </p:sp>
      <p:sp>
        <p:nvSpPr>
          <p:cNvPr id="17" name="Signal accent"/>
          <p:cNvSpPr/>
          <p:nvPr/>
        </p:nvSpPr>
        <p:spPr>
          <a:xfrm>
            <a:off x="3388360" y="1905000"/>
            <a:ext cx="2590800" cy="50800"/>
          </a:xfrm>
          <a:prstGeom prst="rect">
            <a:avLst/>
          </a:prstGeom>
          <a:solidFill>
            <a:srgbClr val="08872B"/>
          </a:solidFill>
          <a:ln>
            <a:noFill/>
          </a:ln>
        </p:spPr>
        <p:txBody>
          <a:bodyPr rtlCol="0" anchor="ctr"/>
          <a:lstStyle/>
          <a:p>
            <a:endParaRPr lang="en-US"/>
          </a:p>
        </p:txBody>
      </p:sp>
      <p:sp>
        <p:nvSpPr>
          <p:cNvPr id="18" name="Stat 25%"/>
          <p:cNvSpPr txBox="1"/>
          <p:nvPr/>
        </p:nvSpPr>
        <p:spPr>
          <a:xfrm>
            <a:off x="3566160" y="2362200"/>
            <a:ext cx="22352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4400" b="1" i="0" dirty="0">
                <a:solidFill>
                  <a:srgbClr val="08872B"/>
                </a:solidFill>
                <a:latin typeface="Mona Sans"/>
                <a:cs typeface="Mona Sans"/>
              </a:rPr>
              <a:t>25%</a:t>
            </a:r>
          </a:p>
        </p:txBody>
      </p:sp>
      <p:sp>
        <p:nvSpPr>
          <p:cNvPr id="19" name="Stat 25% text"/>
          <p:cNvSpPr txBox="1"/>
          <p:nvPr/>
        </p:nvSpPr>
        <p:spPr>
          <a:xfrm>
            <a:off x="3566160" y="3175000"/>
            <a:ext cx="2235200" cy="12446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400" b="0" i="0" dirty="0">
                <a:solidFill>
                  <a:srgbClr val="101411"/>
                </a:solidFill>
                <a:latin typeface="Arial"/>
                <a:cs typeface="Arial"/>
              </a:rPr>
              <a:t>of AI initiatives have delivered the expected ROI. Only 16% have scaled enterprise wide.</a:t>
            </a:r>
          </a:p>
        </p:txBody>
      </p:sp>
      <p:sp>
        <p:nvSpPr>
          <p:cNvPr id="20" name="Card rule"/>
          <p:cNvSpPr/>
          <p:nvPr/>
        </p:nvSpPr>
        <p:spPr>
          <a:xfrm>
            <a:off x="3566160" y="4521200"/>
            <a:ext cx="2235200" cy="10922"/>
          </a:xfrm>
          <a:prstGeom prst="rect">
            <a:avLst/>
          </a:prstGeom>
          <a:solidFill>
            <a:srgbClr val="B6BFB8"/>
          </a:solidFill>
          <a:ln>
            <a:noFill/>
          </a:ln>
        </p:spPr>
        <p:txBody>
          <a:bodyPr rtlCol="0" anchor="ctr"/>
          <a:lstStyle/>
          <a:p>
            <a:endParaRPr lang="en-US"/>
          </a:p>
        </p:txBody>
      </p:sp>
      <p:sp>
        <p:nvSpPr>
          <p:cNvPr id="21" name="Stat 25% source"/>
          <p:cNvSpPr txBox="1"/>
          <p:nvPr/>
        </p:nvSpPr>
        <p:spPr>
          <a:xfrm>
            <a:off x="3566160" y="4622800"/>
            <a:ext cx="2235200" cy="584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100" b="0" i="0" dirty="0">
                <a:solidFill>
                  <a:srgbClr val="5C665F"/>
                </a:solidFill>
                <a:latin typeface="Arial"/>
                <a:cs typeface="Arial"/>
              </a:rPr>
              <a:t>IBM CEO study, May 2025. 2,000 CEOs.</a:t>
            </a:r>
          </a:p>
        </p:txBody>
      </p:sp>
      <p:sp>
        <p:nvSpPr>
          <p:cNvPr id="22" name="Signal card"/>
          <p:cNvSpPr/>
          <p:nvPr/>
        </p:nvSpPr>
        <p:spPr>
          <a:xfrm>
            <a:off x="6182360" y="1905000"/>
            <a:ext cx="2590800" cy="3403600"/>
          </a:xfrm>
          <a:prstGeom prst="rect">
            <a:avLst/>
          </a:prstGeom>
          <a:solidFill>
            <a:srgbClr val="F2F5F3"/>
          </a:solidFill>
          <a:ln>
            <a:noFill/>
          </a:ln>
        </p:spPr>
        <p:txBody>
          <a:bodyPr rtlCol="0" anchor="ctr"/>
          <a:lstStyle/>
          <a:p>
            <a:endParaRPr lang="en-US"/>
          </a:p>
        </p:txBody>
      </p:sp>
      <p:sp>
        <p:nvSpPr>
          <p:cNvPr id="23" name="Signal accent"/>
          <p:cNvSpPr/>
          <p:nvPr/>
        </p:nvSpPr>
        <p:spPr>
          <a:xfrm>
            <a:off x="6182360" y="1905000"/>
            <a:ext cx="2590800" cy="50800"/>
          </a:xfrm>
          <a:prstGeom prst="rect">
            <a:avLst/>
          </a:prstGeom>
          <a:solidFill>
            <a:srgbClr val="08872B"/>
          </a:solidFill>
          <a:ln>
            <a:noFill/>
          </a:ln>
        </p:spPr>
        <p:txBody>
          <a:bodyPr rtlCol="0" anchor="ctr"/>
          <a:lstStyle/>
          <a:p>
            <a:endParaRPr lang="en-US"/>
          </a:p>
        </p:txBody>
      </p:sp>
      <p:sp>
        <p:nvSpPr>
          <p:cNvPr id="24" name="Stat &gt;40%"/>
          <p:cNvSpPr txBox="1"/>
          <p:nvPr/>
        </p:nvSpPr>
        <p:spPr>
          <a:xfrm>
            <a:off x="6360160" y="2362200"/>
            <a:ext cx="22352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4400" b="1" i="0" dirty="0">
                <a:solidFill>
                  <a:srgbClr val="08872B"/>
                </a:solidFill>
                <a:latin typeface="Mona Sans"/>
                <a:cs typeface="Mona Sans"/>
              </a:rPr>
              <a:t>&gt;40%</a:t>
            </a:r>
          </a:p>
        </p:txBody>
      </p:sp>
      <p:sp>
        <p:nvSpPr>
          <p:cNvPr id="25" name="Tag Forecast"/>
          <p:cNvSpPr txBox="1"/>
          <p:nvPr/>
        </p:nvSpPr>
        <p:spPr>
          <a:xfrm>
            <a:off x="6360160" y="2082800"/>
            <a:ext cx="838200" cy="274320"/>
          </a:xfrm>
          <a:prstGeom prst="roundRect">
            <a:avLst>
              <a:gd name="adj" fmla="val 22000"/>
            </a:avLst>
          </a:prstGeom>
          <a:solidFill>
            <a:srgbClr val="3B6EA5"/>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Forecast</a:t>
            </a:r>
          </a:p>
        </p:txBody>
      </p:sp>
      <p:sp>
        <p:nvSpPr>
          <p:cNvPr id="26" name="Stat &gt;40% text"/>
          <p:cNvSpPr txBox="1"/>
          <p:nvPr/>
        </p:nvSpPr>
        <p:spPr>
          <a:xfrm>
            <a:off x="6360160" y="3175000"/>
            <a:ext cx="2235200" cy="12446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400" b="0" i="0" dirty="0">
                <a:solidFill>
                  <a:srgbClr val="101411"/>
                </a:solidFill>
                <a:latin typeface="Arial"/>
                <a:cs typeface="Arial"/>
              </a:rPr>
              <a:t>of agentic AI projects are forecast to be canceled by end of 2027, with unclear business value among the causes.</a:t>
            </a:r>
          </a:p>
        </p:txBody>
      </p:sp>
      <p:sp>
        <p:nvSpPr>
          <p:cNvPr id="27" name="Card rule"/>
          <p:cNvSpPr/>
          <p:nvPr/>
        </p:nvSpPr>
        <p:spPr>
          <a:xfrm>
            <a:off x="6360160" y="4521200"/>
            <a:ext cx="2235200" cy="10922"/>
          </a:xfrm>
          <a:prstGeom prst="rect">
            <a:avLst/>
          </a:prstGeom>
          <a:solidFill>
            <a:srgbClr val="B6BFB8"/>
          </a:solidFill>
          <a:ln>
            <a:noFill/>
          </a:ln>
        </p:spPr>
        <p:txBody>
          <a:bodyPr rtlCol="0" anchor="ctr"/>
          <a:lstStyle/>
          <a:p>
            <a:endParaRPr lang="en-US"/>
          </a:p>
        </p:txBody>
      </p:sp>
      <p:sp>
        <p:nvSpPr>
          <p:cNvPr id="28" name="Stat &gt;40% source"/>
          <p:cNvSpPr txBox="1"/>
          <p:nvPr/>
        </p:nvSpPr>
        <p:spPr>
          <a:xfrm>
            <a:off x="6360160" y="4622800"/>
            <a:ext cx="2235200" cy="584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100" b="0" i="0" dirty="0">
                <a:solidFill>
                  <a:srgbClr val="5C665F"/>
                </a:solidFill>
                <a:latin typeface="Arial"/>
                <a:cs typeface="Arial"/>
              </a:rPr>
              <a:t>Gartner forecast, Jun 2025. Not an observed result.</a:t>
            </a:r>
          </a:p>
        </p:txBody>
      </p:sp>
      <p:sp>
        <p:nvSpPr>
          <p:cNvPr id="29" name="Signal card"/>
          <p:cNvSpPr/>
          <p:nvPr/>
        </p:nvSpPr>
        <p:spPr>
          <a:xfrm>
            <a:off x="8976360" y="1905000"/>
            <a:ext cx="2590800" cy="3403600"/>
          </a:xfrm>
          <a:prstGeom prst="rect">
            <a:avLst/>
          </a:prstGeom>
          <a:solidFill>
            <a:srgbClr val="F2F5F3"/>
          </a:solidFill>
          <a:ln>
            <a:noFill/>
          </a:ln>
        </p:spPr>
        <p:txBody>
          <a:bodyPr rtlCol="0" anchor="ctr"/>
          <a:lstStyle/>
          <a:p>
            <a:endParaRPr lang="en-US"/>
          </a:p>
        </p:txBody>
      </p:sp>
      <p:sp>
        <p:nvSpPr>
          <p:cNvPr id="30" name="Signal accent"/>
          <p:cNvSpPr/>
          <p:nvPr/>
        </p:nvSpPr>
        <p:spPr>
          <a:xfrm>
            <a:off x="8976360" y="1905000"/>
            <a:ext cx="2590800" cy="50800"/>
          </a:xfrm>
          <a:prstGeom prst="rect">
            <a:avLst/>
          </a:prstGeom>
          <a:solidFill>
            <a:srgbClr val="08872B"/>
          </a:solidFill>
          <a:ln>
            <a:noFill/>
          </a:ln>
        </p:spPr>
        <p:txBody>
          <a:bodyPr rtlCol="0" anchor="ctr"/>
          <a:lstStyle/>
          <a:p>
            <a:endParaRPr lang="en-US"/>
          </a:p>
        </p:txBody>
      </p:sp>
      <p:sp>
        <p:nvSpPr>
          <p:cNvPr id="31" name="Stat 84%"/>
          <p:cNvSpPr txBox="1"/>
          <p:nvPr/>
        </p:nvSpPr>
        <p:spPr>
          <a:xfrm>
            <a:off x="9154160" y="2362200"/>
            <a:ext cx="22352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4400" b="1" i="0" dirty="0">
                <a:solidFill>
                  <a:srgbClr val="08872B"/>
                </a:solidFill>
                <a:latin typeface="Mona Sans"/>
                <a:cs typeface="Mona Sans"/>
              </a:rPr>
              <a:t>84%</a:t>
            </a:r>
          </a:p>
        </p:txBody>
      </p:sp>
      <p:sp>
        <p:nvSpPr>
          <p:cNvPr id="32" name="Stat 84% text"/>
          <p:cNvSpPr txBox="1"/>
          <p:nvPr/>
        </p:nvSpPr>
        <p:spPr>
          <a:xfrm>
            <a:off x="9154160" y="3175000"/>
            <a:ext cx="2235200" cy="12446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400" b="0" i="0" dirty="0">
                <a:solidFill>
                  <a:srgbClr val="101411"/>
                </a:solidFill>
                <a:latin typeface="Arial"/>
                <a:cs typeface="Arial"/>
              </a:rPr>
              <a:t>of developers use or plan to use AI tools. 46% distrust the accuracy of its output; 33% trust it.</a:t>
            </a:r>
          </a:p>
        </p:txBody>
      </p:sp>
      <p:sp>
        <p:nvSpPr>
          <p:cNvPr id="33" name="Card rule"/>
          <p:cNvSpPr/>
          <p:nvPr/>
        </p:nvSpPr>
        <p:spPr>
          <a:xfrm>
            <a:off x="9154160" y="4521200"/>
            <a:ext cx="2235200" cy="10922"/>
          </a:xfrm>
          <a:prstGeom prst="rect">
            <a:avLst/>
          </a:prstGeom>
          <a:solidFill>
            <a:srgbClr val="B6BFB8"/>
          </a:solidFill>
          <a:ln>
            <a:noFill/>
          </a:ln>
        </p:spPr>
        <p:txBody>
          <a:bodyPr rtlCol="0" anchor="ctr"/>
          <a:lstStyle/>
          <a:p>
            <a:endParaRPr lang="en-US"/>
          </a:p>
        </p:txBody>
      </p:sp>
      <p:sp>
        <p:nvSpPr>
          <p:cNvPr id="34" name="Stat 84% source"/>
          <p:cNvSpPr txBox="1"/>
          <p:nvPr/>
        </p:nvSpPr>
        <p:spPr>
          <a:xfrm>
            <a:off x="9154160" y="4622800"/>
            <a:ext cx="2235200" cy="584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100" b="0" i="0" dirty="0">
                <a:solidFill>
                  <a:srgbClr val="5C665F"/>
                </a:solidFill>
                <a:latin typeface="Arial"/>
                <a:cs typeface="Arial"/>
              </a:rPr>
              <a:t>Stack Overflow survey, Jul 2025. 33,244 answered the trust question.</a:t>
            </a:r>
          </a:p>
        </p:txBody>
      </p:sp>
      <p:sp>
        <p:nvSpPr>
          <p:cNvPr id="35" name="Takeaway band"/>
          <p:cNvSpPr/>
          <p:nvPr/>
        </p:nvSpPr>
        <p:spPr>
          <a:xfrm>
            <a:off x="594360" y="5435600"/>
            <a:ext cx="10972800" cy="457200"/>
          </a:xfrm>
          <a:prstGeom prst="rect">
            <a:avLst/>
          </a:prstGeom>
          <a:solidFill>
            <a:srgbClr val="F2F5F3"/>
          </a:solidFill>
          <a:ln>
            <a:noFill/>
          </a:ln>
        </p:spPr>
        <p:txBody>
          <a:bodyPr rtlCol="0" anchor="ctr"/>
          <a:lstStyle/>
          <a:p>
            <a:endParaRPr lang="en-US"/>
          </a:p>
        </p:txBody>
      </p:sp>
      <p:sp>
        <p:nvSpPr>
          <p:cNvPr id="36" name="Takeaway marker"/>
          <p:cNvSpPr/>
          <p:nvPr/>
        </p:nvSpPr>
        <p:spPr>
          <a:xfrm>
            <a:off x="772160" y="5588000"/>
            <a:ext cx="152400" cy="152400"/>
          </a:xfrm>
          <a:prstGeom prst="diamond">
            <a:avLst/>
          </a:prstGeom>
          <a:solidFill>
            <a:srgbClr val="08872B"/>
          </a:solidFill>
          <a:ln>
            <a:noFill/>
          </a:ln>
        </p:spPr>
        <p:txBody>
          <a:bodyPr rtlCol="0" anchor="ctr"/>
          <a:lstStyle/>
          <a:p>
            <a:endParaRPr lang="en-US"/>
          </a:p>
        </p:txBody>
      </p:sp>
      <p:sp>
        <p:nvSpPr>
          <p:cNvPr id="37" name="Takeaway"/>
          <p:cNvSpPr txBox="1"/>
          <p:nvPr/>
        </p:nvSpPr>
        <p:spPr>
          <a:xfrm>
            <a:off x="1076960" y="5435600"/>
            <a:ext cx="103124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600" b="1" i="0" dirty="0">
                <a:solidFill>
                  <a:srgbClr val="101411"/>
                </a:solidFill>
                <a:latin typeface="Arial"/>
                <a:cs typeface="Arial"/>
              </a:rPr>
              <a:t>Using AI is common. Showing its impact is the open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25"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03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Hypothesis for the pilot, not a sourced finding. Analyst remark: Gartner (Channel Dive, 2026-09-29), S10 in submission/fde-evidence.md.</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Feature tours do not answer outcome questions.</a:t>
            </a:r>
          </a:p>
        </p:txBody>
      </p:sp>
      <p:sp>
        <p:nvSpPr>
          <p:cNvPr id="8" name="Tag Hypothesis"/>
          <p:cNvSpPr txBox="1"/>
          <p:nvPr/>
        </p:nvSpPr>
        <p:spPr>
          <a:xfrm>
            <a:off x="594360" y="1498600"/>
            <a:ext cx="1092200" cy="274320"/>
          </a:xfrm>
          <a:prstGeom prst="roundRect">
            <a:avLst>
              <a:gd name="adj" fmla="val 22000"/>
            </a:avLst>
          </a:prstGeom>
          <a:solidFill>
            <a:srgbClr val="5C665F"/>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Hypothesis</a:t>
            </a:r>
          </a:p>
        </p:txBody>
      </p:sp>
      <p:sp>
        <p:nvSpPr>
          <p:cNvPr id="9" name="Hypothesis note"/>
          <p:cNvSpPr txBox="1"/>
          <p:nvPr/>
        </p:nvSpPr>
        <p:spPr>
          <a:xfrm>
            <a:off x="1813560" y="1498600"/>
            <a:ext cx="8890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What we expect field teams run into. To test in a pilot.</a:t>
            </a:r>
          </a:p>
        </p:txBody>
      </p:sp>
      <p:sp>
        <p:nvSpPr>
          <p:cNvPr id="10" name="Card"/>
          <p:cNvSpPr/>
          <p:nvPr/>
        </p:nvSpPr>
        <p:spPr>
          <a:xfrm>
            <a:off x="594360" y="1930400"/>
            <a:ext cx="3454400" cy="2717800"/>
          </a:xfrm>
          <a:prstGeom prst="rect">
            <a:avLst/>
          </a:prstGeom>
          <a:solidFill>
            <a:srgbClr val="F2F5F3"/>
          </a:solidFill>
          <a:ln>
            <a:noFill/>
          </a:ln>
        </p:spPr>
        <p:txBody>
          <a:bodyPr rtlCol="0" anchor="ctr"/>
          <a:lstStyle/>
          <a:p>
            <a:endParaRPr lang="en-US"/>
          </a:p>
        </p:txBody>
      </p:sp>
      <p:sp>
        <p:nvSpPr>
          <p:cNvPr id="11" name="Card accent"/>
          <p:cNvSpPr/>
          <p:nvPr/>
        </p:nvSpPr>
        <p:spPr>
          <a:xfrm>
            <a:off x="594360" y="1930400"/>
            <a:ext cx="3454400" cy="50800"/>
          </a:xfrm>
          <a:prstGeom prst="rect">
            <a:avLst/>
          </a:prstGeom>
          <a:solidFill>
            <a:srgbClr val="101411"/>
          </a:solidFill>
          <a:ln>
            <a:noFill/>
          </a:ln>
        </p:spPr>
        <p:txBody>
          <a:bodyPr rtlCol="0" anchor="ctr"/>
          <a:lstStyle/>
          <a:p>
            <a:endParaRPr lang="en-US"/>
          </a:p>
        </p:txBody>
      </p:sp>
      <p:sp>
        <p:nvSpPr>
          <p:cNvPr id="12" name="Demos answer the wrong question title"/>
          <p:cNvSpPr txBox="1"/>
          <p:nvPr/>
        </p:nvSpPr>
        <p:spPr>
          <a:xfrm>
            <a:off x="797560" y="2159000"/>
            <a:ext cx="30480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900" b="1" i="0" dirty="0">
                <a:solidFill>
                  <a:srgbClr val="101411"/>
                </a:solidFill>
                <a:latin typeface="Mona Sans"/>
                <a:cs typeface="Mona Sans"/>
              </a:rPr>
              <a:t>Demos answer the wrong question</a:t>
            </a:r>
          </a:p>
        </p:txBody>
      </p:sp>
      <p:sp>
        <p:nvSpPr>
          <p:cNvPr id="13" name="Demos answer the wrong question body"/>
          <p:cNvSpPr txBox="1"/>
          <p:nvPr/>
        </p:nvSpPr>
        <p:spPr>
          <a:xfrm>
            <a:off x="797560" y="2946400"/>
            <a:ext cx="3048000" cy="16002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600" b="0" i="0" dirty="0">
                <a:solidFill>
                  <a:srgbClr val="232925"/>
                </a:solidFill>
                <a:latin typeface="Arial"/>
                <a:cs typeface="Arial"/>
              </a:rPr>
              <a:t>A tour shows what the product can do. Customers now ask what changes for them and how they will know.</a:t>
            </a:r>
          </a:p>
        </p:txBody>
      </p:sp>
      <p:sp>
        <p:nvSpPr>
          <p:cNvPr id="14" name="Card"/>
          <p:cNvSpPr/>
          <p:nvPr/>
        </p:nvSpPr>
        <p:spPr>
          <a:xfrm>
            <a:off x="4353560" y="1930400"/>
            <a:ext cx="3454400" cy="2717800"/>
          </a:xfrm>
          <a:prstGeom prst="rect">
            <a:avLst/>
          </a:prstGeom>
          <a:solidFill>
            <a:srgbClr val="F2F5F3"/>
          </a:solidFill>
          <a:ln>
            <a:noFill/>
          </a:ln>
        </p:spPr>
        <p:txBody>
          <a:bodyPr rtlCol="0" anchor="ctr"/>
          <a:lstStyle/>
          <a:p>
            <a:endParaRPr lang="en-US"/>
          </a:p>
        </p:txBody>
      </p:sp>
      <p:sp>
        <p:nvSpPr>
          <p:cNvPr id="15" name="Card accent"/>
          <p:cNvSpPr/>
          <p:nvPr/>
        </p:nvSpPr>
        <p:spPr>
          <a:xfrm>
            <a:off x="4353560" y="1930400"/>
            <a:ext cx="3454400" cy="50800"/>
          </a:xfrm>
          <a:prstGeom prst="rect">
            <a:avLst/>
          </a:prstGeom>
          <a:solidFill>
            <a:srgbClr val="101411"/>
          </a:solidFill>
          <a:ln>
            <a:noFill/>
          </a:ln>
        </p:spPr>
        <p:txBody>
          <a:bodyPr rtlCol="0" anchor="ctr"/>
          <a:lstStyle/>
          <a:p>
            <a:endParaRPr lang="en-US"/>
          </a:p>
        </p:txBody>
      </p:sp>
      <p:sp>
        <p:nvSpPr>
          <p:cNvPr id="16" name="Discovery gets repeated title"/>
          <p:cNvSpPr txBox="1"/>
          <p:nvPr/>
        </p:nvSpPr>
        <p:spPr>
          <a:xfrm>
            <a:off x="4556760" y="2159000"/>
            <a:ext cx="30480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900" b="1" i="0" dirty="0">
                <a:solidFill>
                  <a:srgbClr val="101411"/>
                </a:solidFill>
                <a:latin typeface="Mona Sans"/>
                <a:cs typeface="Mona Sans"/>
              </a:rPr>
              <a:t>Discovery gets repeated</a:t>
            </a:r>
          </a:p>
        </p:txBody>
      </p:sp>
      <p:sp>
        <p:nvSpPr>
          <p:cNvPr id="17" name="Discovery gets repeated body"/>
          <p:cNvSpPr txBox="1"/>
          <p:nvPr/>
        </p:nvSpPr>
        <p:spPr>
          <a:xfrm>
            <a:off x="4556760" y="2946400"/>
            <a:ext cx="3048000" cy="16002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600" b="0" i="0" dirty="0">
                <a:solidFill>
                  <a:srgbClr val="232925"/>
                </a:solidFill>
                <a:latin typeface="Arial"/>
                <a:cs typeface="Arial"/>
              </a:rPr>
              <a:t>Each team re-asks the same questions about the repository, owners, constraints and baseline, and the answers stay in chat.</a:t>
            </a:r>
          </a:p>
        </p:txBody>
      </p:sp>
      <p:sp>
        <p:nvSpPr>
          <p:cNvPr id="18" name="Card"/>
          <p:cNvSpPr/>
          <p:nvPr/>
        </p:nvSpPr>
        <p:spPr>
          <a:xfrm>
            <a:off x="8112760" y="1930400"/>
            <a:ext cx="3454400" cy="2717800"/>
          </a:xfrm>
          <a:prstGeom prst="rect">
            <a:avLst/>
          </a:prstGeom>
          <a:solidFill>
            <a:srgbClr val="F2F5F3"/>
          </a:solidFill>
          <a:ln>
            <a:noFill/>
          </a:ln>
        </p:spPr>
        <p:txBody>
          <a:bodyPr rtlCol="0" anchor="ctr"/>
          <a:lstStyle/>
          <a:p>
            <a:endParaRPr lang="en-US"/>
          </a:p>
        </p:txBody>
      </p:sp>
      <p:sp>
        <p:nvSpPr>
          <p:cNvPr id="19" name="Card accent"/>
          <p:cNvSpPr/>
          <p:nvPr/>
        </p:nvSpPr>
        <p:spPr>
          <a:xfrm>
            <a:off x="8112760" y="1930400"/>
            <a:ext cx="3454400" cy="50800"/>
          </a:xfrm>
          <a:prstGeom prst="rect">
            <a:avLst/>
          </a:prstGeom>
          <a:solidFill>
            <a:srgbClr val="101411"/>
          </a:solidFill>
          <a:ln>
            <a:noFill/>
          </a:ln>
        </p:spPr>
        <p:txBody>
          <a:bodyPr rtlCol="0" anchor="ctr"/>
          <a:lstStyle/>
          <a:p>
            <a:endParaRPr lang="en-US"/>
          </a:p>
        </p:txBody>
      </p:sp>
      <p:sp>
        <p:nvSpPr>
          <p:cNvPr id="20" name="Field teams are stretched title"/>
          <p:cNvSpPr txBox="1"/>
          <p:nvPr/>
        </p:nvSpPr>
        <p:spPr>
          <a:xfrm>
            <a:off x="8315960" y="2159000"/>
            <a:ext cx="3048000" cy="7112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900" b="1" i="0" dirty="0">
                <a:solidFill>
                  <a:srgbClr val="101411"/>
                </a:solidFill>
                <a:latin typeface="Mona Sans"/>
                <a:cs typeface="Mona Sans"/>
              </a:rPr>
              <a:t>Field teams are stretched</a:t>
            </a:r>
          </a:p>
        </p:txBody>
      </p:sp>
      <p:sp>
        <p:nvSpPr>
          <p:cNvPr id="21" name="Field teams are stretched body"/>
          <p:cNvSpPr txBox="1"/>
          <p:nvPr/>
        </p:nvSpPr>
        <p:spPr>
          <a:xfrm>
            <a:off x="8315960" y="2946400"/>
            <a:ext cx="3048000" cy="16002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600" b="0" i="0" dirty="0">
                <a:solidFill>
                  <a:srgbClr val="232925"/>
                </a:solidFill>
                <a:latin typeface="Arial"/>
                <a:cs typeface="Arial"/>
              </a:rPr>
              <a:t>Demand for hands-on help outruns the specialists available. One analyst puts demand for FDEs at “probably quadruple” about 2,000 active FDEs.</a:t>
            </a:r>
          </a:p>
        </p:txBody>
      </p:sp>
      <p:sp>
        <p:nvSpPr>
          <p:cNvPr id="22" name="Takeaway band"/>
          <p:cNvSpPr/>
          <p:nvPr/>
        </p:nvSpPr>
        <p:spPr>
          <a:xfrm>
            <a:off x="594360" y="4851400"/>
            <a:ext cx="10972800" cy="635000"/>
          </a:xfrm>
          <a:prstGeom prst="rect">
            <a:avLst/>
          </a:prstGeom>
          <a:solidFill>
            <a:srgbClr val="F2F5F3"/>
          </a:solidFill>
          <a:ln>
            <a:noFill/>
          </a:ln>
        </p:spPr>
        <p:txBody>
          <a:bodyPr rtlCol="0" anchor="ctr"/>
          <a:lstStyle/>
          <a:p>
            <a:endParaRPr lang="en-US"/>
          </a:p>
        </p:txBody>
      </p:sp>
      <p:sp>
        <p:nvSpPr>
          <p:cNvPr id="23" name="Takeaway marker"/>
          <p:cNvSpPr/>
          <p:nvPr/>
        </p:nvSpPr>
        <p:spPr>
          <a:xfrm>
            <a:off x="772160" y="5092700"/>
            <a:ext cx="152400" cy="152400"/>
          </a:xfrm>
          <a:prstGeom prst="diamond">
            <a:avLst/>
          </a:prstGeom>
          <a:solidFill>
            <a:srgbClr val="08872B"/>
          </a:solidFill>
          <a:ln>
            <a:noFill/>
          </a:ln>
        </p:spPr>
        <p:txBody>
          <a:bodyPr rtlCol="0" anchor="ctr"/>
          <a:lstStyle/>
          <a:p>
            <a:endParaRPr lang="en-US"/>
          </a:p>
        </p:txBody>
      </p:sp>
      <p:sp>
        <p:nvSpPr>
          <p:cNvPr id="24" name="Takeaway"/>
          <p:cNvSpPr txBox="1"/>
          <p:nvPr/>
        </p:nvSpPr>
        <p:spPr>
          <a:xfrm>
            <a:off x="1076960" y="4851400"/>
            <a:ext cx="10312400" cy="635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500" b="1" i="0" dirty="0">
                <a:solidFill>
                  <a:srgbClr val="101411"/>
                </a:solidFill>
                <a:latin typeface="Arial"/>
                <a:cs typeface="Arial"/>
              </a:rPr>
              <a:t>If true, a light, repeatable first pass frees field teams for the conversations only they can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41"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04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Sources S6 to S11 and S4 in submission/fde-evidence.md. Industry research, not findings about our customers.</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What an FDE is, and what the evidence says.</a:t>
            </a:r>
          </a:p>
        </p:txBody>
      </p:sp>
      <p:sp>
        <p:nvSpPr>
          <p:cNvPr id="8" name="Definition band"/>
          <p:cNvSpPr/>
          <p:nvPr/>
        </p:nvSpPr>
        <p:spPr>
          <a:xfrm>
            <a:off x="594360" y="1473200"/>
            <a:ext cx="10972800" cy="558800"/>
          </a:xfrm>
          <a:prstGeom prst="rect">
            <a:avLst/>
          </a:prstGeom>
          <a:solidFill>
            <a:srgbClr val="F2F5F3"/>
          </a:solidFill>
          <a:ln>
            <a:noFill/>
          </a:ln>
        </p:spPr>
        <p:txBody>
          <a:bodyPr rtlCol="0" anchor="ctr"/>
          <a:lstStyle/>
          <a:p>
            <a:endParaRPr lang="en-US"/>
          </a:p>
        </p:txBody>
      </p:sp>
      <p:sp>
        <p:nvSpPr>
          <p:cNvPr id="9" name="Definition"/>
          <p:cNvSpPr txBox="1"/>
          <p:nvPr/>
        </p:nvSpPr>
        <p:spPr>
          <a:xfrm>
            <a:off x="797560" y="1473200"/>
            <a:ext cx="10566400" cy="558800"/>
          </a:xfrm>
          <a:prstGeom prst="rect">
            <a:avLst/>
          </a:prstGeom>
          <a:noFill/>
          <a:ln>
            <a:noFill/>
          </a:ln>
        </p:spPr>
        <p:txBody>
          <a:bodyPr wrap="square" lIns="0" tIns="0" rIns="0" bIns="0" anchor="ctr">
            <a:noAutofit/>
          </a:bodyPr>
          <a:lstStyle/>
          <a:p>
            <a:pPr algn="l">
              <a:lnSpc>
                <a:spcPct val="102000"/>
              </a:lnSpc>
              <a:spcBef>
                <a:spcPts val="0"/>
              </a:spcBef>
              <a:spcAft>
                <a:spcPts val="0"/>
              </a:spcAft>
              <a:buNone/>
            </a:pPr>
            <a:r>
              <a:rPr lang="en-US" sz="1350" b="1" i="0" dirty="0">
                <a:solidFill>
                  <a:srgbClr val="101411"/>
                </a:solidFill>
                <a:latin typeface="Arial"/>
                <a:cs typeface="Arial"/>
              </a:rPr>
              <a:t>A forward-deployed engineer</a:t>
            </a:r>
            <a:r>
              <a:rPr lang="en-US" sz="1350" b="0" i="0" dirty="0">
                <a:solidFill>
                  <a:srgbClr val="101411"/>
                </a:solidFill>
                <a:latin typeface="Arial"/>
                <a:cs typeface="Arial"/>
              </a:rPr>
              <a:t> is an engineer embedded with a customer to learn the problem and build a solution on the vendor’s platform. Palantir popularized the role (S6).</a:t>
            </a:r>
          </a:p>
        </p:txBody>
      </p:sp>
      <p:sp>
        <p:nvSpPr>
          <p:cNvPr id="10" name="Header row"/>
          <p:cNvSpPr/>
          <p:nvPr/>
        </p:nvSpPr>
        <p:spPr>
          <a:xfrm>
            <a:off x="594360" y="2184400"/>
            <a:ext cx="10972800" cy="330200"/>
          </a:xfrm>
          <a:prstGeom prst="rect">
            <a:avLst/>
          </a:prstGeom>
          <a:solidFill>
            <a:srgbClr val="101411"/>
          </a:solidFill>
          <a:ln>
            <a:noFill/>
          </a:ln>
        </p:spPr>
        <p:txBody>
          <a:bodyPr rtlCol="0" anchor="ctr"/>
          <a:lstStyle/>
          <a:p>
            <a:endParaRPr lang="en-US"/>
          </a:p>
        </p:txBody>
      </p:sp>
      <p:sp>
        <p:nvSpPr>
          <p:cNvPr id="11" name="Header Claim"/>
          <p:cNvSpPr txBox="1"/>
          <p:nvPr/>
        </p:nvSpPr>
        <p:spPr>
          <a:xfrm>
            <a:off x="721360" y="2184400"/>
            <a:ext cx="2489200" cy="330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FFFFFF"/>
                </a:solidFill>
                <a:latin typeface="Arial"/>
                <a:cs typeface="Arial"/>
              </a:rPr>
              <a:t>Claim</a:t>
            </a:r>
          </a:p>
        </p:txBody>
      </p:sp>
      <p:sp>
        <p:nvSpPr>
          <p:cNvPr id="12" name="Header What exists"/>
          <p:cNvSpPr txBox="1"/>
          <p:nvPr/>
        </p:nvSpPr>
        <p:spPr>
          <a:xfrm>
            <a:off x="3388360" y="2184400"/>
            <a:ext cx="5613400" cy="330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FFFFFF"/>
                </a:solidFill>
                <a:latin typeface="Arial"/>
                <a:cs typeface="Arial"/>
              </a:rPr>
              <a:t>What exists</a:t>
            </a:r>
          </a:p>
        </p:txBody>
      </p:sp>
      <p:sp>
        <p:nvSpPr>
          <p:cNvPr id="13" name="Header Evidence strength"/>
          <p:cNvSpPr txBox="1"/>
          <p:nvPr/>
        </p:nvSpPr>
        <p:spPr>
          <a:xfrm>
            <a:off x="9179560" y="2184400"/>
            <a:ext cx="2336800" cy="330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FFFFFF"/>
                </a:solidFill>
                <a:latin typeface="Arial"/>
                <a:cs typeface="Arial"/>
              </a:rPr>
              <a:t>Evidence strength</a:t>
            </a:r>
          </a:p>
        </p:txBody>
      </p:sp>
      <p:sp>
        <p:nvSpPr>
          <p:cNvPr id="14" name="Cell r1c1"/>
          <p:cNvSpPr txBox="1"/>
          <p:nvPr/>
        </p:nvSpPr>
        <p:spPr>
          <a:xfrm>
            <a:off x="721360" y="2552700"/>
            <a:ext cx="24638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101411"/>
                </a:solidFill>
                <a:latin typeface="Arial"/>
                <a:cs typeface="Arial"/>
              </a:rPr>
              <a:t>FDE hiring is surging</a:t>
            </a:r>
          </a:p>
        </p:txBody>
      </p:sp>
      <p:sp>
        <p:nvSpPr>
          <p:cNvPr id="15" name="Cell r1c2"/>
          <p:cNvSpPr txBox="1"/>
          <p:nvPr/>
        </p:nvSpPr>
        <p:spPr>
          <a:xfrm>
            <a:off x="3388360" y="2552700"/>
            <a:ext cx="55880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Indeed postings reached 5,230% above Jan 2025 in Apr 2026. An index, not post counts (S7).</a:t>
            </a:r>
          </a:p>
        </p:txBody>
      </p:sp>
      <p:sp>
        <p:nvSpPr>
          <p:cNvPr id="16" name="Cell r1c3"/>
          <p:cNvSpPr txBox="1"/>
          <p:nvPr/>
        </p:nvSpPr>
        <p:spPr>
          <a:xfrm>
            <a:off x="9179560" y="2552700"/>
            <a:ext cx="23114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Job-posting index</a:t>
            </a:r>
          </a:p>
        </p:txBody>
      </p:sp>
      <p:sp>
        <p:nvSpPr>
          <p:cNvPr id="17" name="Row rule"/>
          <p:cNvSpPr/>
          <p:nvPr/>
        </p:nvSpPr>
        <p:spPr>
          <a:xfrm>
            <a:off x="594360" y="3041650"/>
            <a:ext cx="10972800" cy="10922"/>
          </a:xfrm>
          <a:prstGeom prst="rect">
            <a:avLst/>
          </a:prstGeom>
          <a:solidFill>
            <a:srgbClr val="E4EBE6"/>
          </a:solidFill>
          <a:ln>
            <a:noFill/>
          </a:ln>
        </p:spPr>
        <p:txBody>
          <a:bodyPr rtlCol="0" anchor="ctr"/>
          <a:lstStyle/>
          <a:p>
            <a:endParaRPr lang="en-US"/>
          </a:p>
        </p:txBody>
      </p:sp>
      <p:sp>
        <p:nvSpPr>
          <p:cNvPr id="18" name="Cell r2c1"/>
          <p:cNvSpPr txBox="1"/>
          <p:nvPr/>
        </p:nvSpPr>
        <p:spPr>
          <a:xfrm>
            <a:off x="721360" y="3086100"/>
            <a:ext cx="24638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101411"/>
                </a:solidFill>
                <a:latin typeface="Arial"/>
                <a:cs typeface="Arial"/>
              </a:rPr>
              <a:t>It can win enterprise deals</a:t>
            </a:r>
          </a:p>
        </p:txBody>
      </p:sp>
      <p:sp>
        <p:nvSpPr>
          <p:cNvPr id="19" name="Cell r2c2"/>
          <p:cNvSpPr txBox="1"/>
          <p:nvPr/>
        </p:nvSpPr>
        <p:spPr>
          <a:xfrm>
            <a:off x="3388360" y="3086100"/>
            <a:ext cx="55880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Investor thesis: it trades gross margin for a moat (S8).</a:t>
            </a:r>
          </a:p>
        </p:txBody>
      </p:sp>
      <p:sp>
        <p:nvSpPr>
          <p:cNvPr id="20" name="Cell r2c3"/>
          <p:cNvSpPr txBox="1"/>
          <p:nvPr/>
        </p:nvSpPr>
        <p:spPr>
          <a:xfrm>
            <a:off x="9179560" y="3086100"/>
            <a:ext cx="23114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Investor commentary</a:t>
            </a:r>
          </a:p>
        </p:txBody>
      </p:sp>
      <p:sp>
        <p:nvSpPr>
          <p:cNvPr id="21" name="Row rule"/>
          <p:cNvSpPr/>
          <p:nvPr/>
        </p:nvSpPr>
        <p:spPr>
          <a:xfrm>
            <a:off x="594360" y="3575050"/>
            <a:ext cx="10972800" cy="10922"/>
          </a:xfrm>
          <a:prstGeom prst="rect">
            <a:avLst/>
          </a:prstGeom>
          <a:solidFill>
            <a:srgbClr val="E4EBE6"/>
          </a:solidFill>
          <a:ln>
            <a:noFill/>
          </a:ln>
        </p:spPr>
        <p:txBody>
          <a:bodyPr rtlCol="0" anchor="ctr"/>
          <a:lstStyle/>
          <a:p>
            <a:endParaRPr lang="en-US"/>
          </a:p>
        </p:txBody>
      </p:sp>
      <p:sp>
        <p:nvSpPr>
          <p:cNvPr id="22" name="Cell r3c1"/>
          <p:cNvSpPr txBox="1"/>
          <p:nvPr/>
        </p:nvSpPr>
        <p:spPr>
          <a:xfrm>
            <a:off x="721360" y="3619500"/>
            <a:ext cx="24638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101411"/>
                </a:solidFill>
                <a:latin typeface="Arial"/>
                <a:cs typeface="Arial"/>
              </a:rPr>
              <a:t>It needs a platform behind it</a:t>
            </a:r>
          </a:p>
        </p:txBody>
      </p:sp>
      <p:sp>
        <p:nvSpPr>
          <p:cNvPr id="23" name="Cell r3c2"/>
          <p:cNvSpPr txBox="1"/>
          <p:nvPr/>
        </p:nvSpPr>
        <p:spPr>
          <a:xfrm>
            <a:off x="3388360" y="3619500"/>
            <a:ext cx="55880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Product leader: otherwise “thousands of large, bespoke solutions” (S9).</a:t>
            </a:r>
          </a:p>
        </p:txBody>
      </p:sp>
      <p:sp>
        <p:nvSpPr>
          <p:cNvPr id="24" name="Cell r3c3"/>
          <p:cNvSpPr txBox="1"/>
          <p:nvPr/>
        </p:nvSpPr>
        <p:spPr>
          <a:xfrm>
            <a:off x="9179560" y="3619500"/>
            <a:ext cx="23114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Practitioner commentary</a:t>
            </a:r>
          </a:p>
        </p:txBody>
      </p:sp>
      <p:sp>
        <p:nvSpPr>
          <p:cNvPr id="25" name="Row rule"/>
          <p:cNvSpPr/>
          <p:nvPr/>
        </p:nvSpPr>
        <p:spPr>
          <a:xfrm>
            <a:off x="594360" y="4108450"/>
            <a:ext cx="10972800" cy="10922"/>
          </a:xfrm>
          <a:prstGeom prst="rect">
            <a:avLst/>
          </a:prstGeom>
          <a:solidFill>
            <a:srgbClr val="E4EBE6"/>
          </a:solidFill>
          <a:ln>
            <a:noFill/>
          </a:ln>
        </p:spPr>
        <p:txBody>
          <a:bodyPr rtlCol="0" anchor="ctr"/>
          <a:lstStyle/>
          <a:p>
            <a:endParaRPr lang="en-US"/>
          </a:p>
        </p:txBody>
      </p:sp>
      <p:sp>
        <p:nvSpPr>
          <p:cNvPr id="26" name="Cell r4c1"/>
          <p:cNvSpPr txBox="1"/>
          <p:nvPr/>
        </p:nvSpPr>
        <p:spPr>
          <a:xfrm>
            <a:off x="721360" y="4152900"/>
            <a:ext cx="24638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101411"/>
                </a:solidFill>
                <a:latin typeface="Arial"/>
                <a:cs typeface="Arial"/>
              </a:rPr>
              <a:t>Many programs will not last</a:t>
            </a:r>
          </a:p>
        </p:txBody>
      </p:sp>
      <p:sp>
        <p:nvSpPr>
          <p:cNvPr id="27" name="Cell r4c2"/>
          <p:cNvSpPr txBox="1"/>
          <p:nvPr/>
        </p:nvSpPr>
        <p:spPr>
          <a:xfrm>
            <a:off x="3388360" y="4152900"/>
            <a:ext cx="55880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Gartner forecasts about 70% of vendor-led engagements abandoned by 2028 (S10).</a:t>
            </a:r>
          </a:p>
        </p:txBody>
      </p:sp>
      <p:sp>
        <p:nvSpPr>
          <p:cNvPr id="28" name="Cell r4c3"/>
          <p:cNvSpPr txBox="1"/>
          <p:nvPr/>
        </p:nvSpPr>
        <p:spPr>
          <a:xfrm>
            <a:off x="9179560" y="4152900"/>
            <a:ext cx="23114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232925"/>
                </a:solidFill>
                <a:latin typeface="Arial"/>
                <a:cs typeface="Arial"/>
              </a:rPr>
              <a:t>Analyst forecast</a:t>
            </a:r>
          </a:p>
        </p:txBody>
      </p:sp>
      <p:sp>
        <p:nvSpPr>
          <p:cNvPr id="29" name="Row rule"/>
          <p:cNvSpPr/>
          <p:nvPr/>
        </p:nvSpPr>
        <p:spPr>
          <a:xfrm>
            <a:off x="594360" y="4641850"/>
            <a:ext cx="10972800" cy="10922"/>
          </a:xfrm>
          <a:prstGeom prst="rect">
            <a:avLst/>
          </a:prstGeom>
          <a:solidFill>
            <a:srgbClr val="E4EBE6"/>
          </a:solidFill>
          <a:ln>
            <a:noFill/>
          </a:ln>
        </p:spPr>
        <p:txBody>
          <a:bodyPr rtlCol="0" anchor="ctr"/>
          <a:lstStyle/>
          <a:p>
            <a:endParaRPr lang="en-US"/>
          </a:p>
        </p:txBody>
      </p:sp>
      <p:sp>
        <p:nvSpPr>
          <p:cNvPr id="30" name="Cell r5c1"/>
          <p:cNvSpPr txBox="1"/>
          <p:nvPr/>
        </p:nvSpPr>
        <p:spPr>
          <a:xfrm>
            <a:off x="721360" y="4686300"/>
            <a:ext cx="2463800" cy="482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p>
        </p:txBody>
      </p:sp>
      <p:sp>
        <p:nvSpPr>
          <p:cNvPr id="31" name="Cell r5c2"/>
          <p:cNvSpPr txBox="1"/>
          <p:nvPr/>
        </p:nvSpPr>
        <p:spPr>
          <a:xfrm>
            <a:off x="3388360" y="4686300"/>
            <a:ext cx="5588000" cy="482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p>
        </p:txBody>
      </p:sp>
      <p:sp>
        <p:nvSpPr>
          <p:cNvPr id="32" name="Cell r5c3"/>
          <p:cNvSpPr txBox="1"/>
          <p:nvPr/>
        </p:nvSpPr>
        <p:spPr>
          <a:xfrm>
            <a:off x="9179560" y="4686300"/>
            <a:ext cx="2311400" cy="482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p>
        </p:txBody>
      </p:sp>
      <p:sp>
        <p:nvSpPr>
          <p:cNvPr id="33" name="Row rule"/>
          <p:cNvSpPr/>
          <p:nvPr/>
        </p:nvSpPr>
        <p:spPr>
          <a:xfrm>
            <a:off x="594360" y="5200650"/>
            <a:ext cx="10972800" cy="10922"/>
          </a:xfrm>
          <a:prstGeom prst="rect">
            <a:avLst/>
          </a:prstGeom>
          <a:solidFill>
            <a:srgbClr val="E4EBE6"/>
          </a:solidFill>
          <a:ln>
            <a:noFill/>
          </a:ln>
        </p:spPr>
        <p:txBody>
          <a:bodyPr rtlCol="0" anchor="ctr"/>
          <a:lstStyle/>
          <a:p>
            <a:endParaRPr lang="en-US"/>
          </a:p>
        </p:txBody>
      </p:sp>
      <p:sp>
        <p:nvSpPr>
          <p:cNvPr id="34" name="Not known row"/>
          <p:cNvSpPr/>
          <p:nvPr/>
        </p:nvSpPr>
        <p:spPr>
          <a:xfrm>
            <a:off x="594360" y="4648200"/>
            <a:ext cx="10972800" cy="558800"/>
          </a:xfrm>
          <a:prstGeom prst="rect">
            <a:avLst/>
          </a:prstGeom>
          <a:solidFill>
            <a:srgbClr val="F2F5F3"/>
          </a:solidFill>
          <a:ln>
            <a:noFill/>
          </a:ln>
        </p:spPr>
        <p:txBody>
          <a:bodyPr rtlCol="0" anchor="ctr"/>
          <a:lstStyle/>
          <a:p>
            <a:endParaRPr lang="en-US"/>
          </a:p>
        </p:txBody>
      </p:sp>
      <p:sp>
        <p:nvSpPr>
          <p:cNvPr id="35" name="Not known claim"/>
          <p:cNvSpPr txBox="1"/>
          <p:nvPr/>
        </p:nvSpPr>
        <p:spPr>
          <a:xfrm>
            <a:off x="721360" y="4686300"/>
            <a:ext cx="2463800" cy="482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101411"/>
                </a:solidFill>
                <a:latin typeface="Arial"/>
                <a:cs typeface="Arial"/>
              </a:rPr>
              <a:t>FDEs cause better outcomes</a:t>
            </a:r>
          </a:p>
        </p:txBody>
      </p:sp>
      <p:sp>
        <p:nvSpPr>
          <p:cNvPr id="36" name="Not known evidence"/>
          <p:cNvSpPr txBox="1"/>
          <p:nvPr/>
        </p:nvSpPr>
        <p:spPr>
          <a:xfrm>
            <a:off x="3388360" y="4686300"/>
            <a:ext cx="5588000" cy="482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101411"/>
                </a:solidFill>
                <a:latin typeface="Arial"/>
                <a:cs typeface="Arial"/>
              </a:rPr>
              <a:t>No controlled or peer-reviewed study found.</a:t>
            </a:r>
          </a:p>
        </p:txBody>
      </p:sp>
      <p:sp>
        <p:nvSpPr>
          <p:cNvPr id="37" name="Tag Not known"/>
          <p:cNvSpPr txBox="1"/>
          <p:nvPr/>
        </p:nvSpPr>
        <p:spPr>
          <a:xfrm>
            <a:off x="9179560" y="4787900"/>
            <a:ext cx="1066800" cy="274320"/>
          </a:xfrm>
          <a:prstGeom prst="roundRect">
            <a:avLst>
              <a:gd name="adj" fmla="val 22000"/>
            </a:avLst>
          </a:prstGeom>
          <a:solidFill>
            <a:srgbClr val="B42318"/>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Not known</a:t>
            </a:r>
          </a:p>
        </p:txBody>
      </p:sp>
      <p:sp>
        <p:nvSpPr>
          <p:cNvPr id="38" name="Takeaway band"/>
          <p:cNvSpPr/>
          <p:nvPr/>
        </p:nvSpPr>
        <p:spPr>
          <a:xfrm>
            <a:off x="594360" y="5359400"/>
            <a:ext cx="10972800" cy="381000"/>
          </a:xfrm>
          <a:prstGeom prst="rect">
            <a:avLst/>
          </a:prstGeom>
          <a:solidFill>
            <a:srgbClr val="F2F5F3"/>
          </a:solidFill>
          <a:ln>
            <a:noFill/>
          </a:ln>
        </p:spPr>
        <p:txBody>
          <a:bodyPr rtlCol="0" anchor="ctr"/>
          <a:lstStyle/>
          <a:p>
            <a:endParaRPr lang="en-US"/>
          </a:p>
        </p:txBody>
      </p:sp>
      <p:sp>
        <p:nvSpPr>
          <p:cNvPr id="39" name="Takeaway marker"/>
          <p:cNvSpPr/>
          <p:nvPr/>
        </p:nvSpPr>
        <p:spPr>
          <a:xfrm>
            <a:off x="772160" y="5473700"/>
            <a:ext cx="152400" cy="152400"/>
          </a:xfrm>
          <a:prstGeom prst="diamond">
            <a:avLst/>
          </a:prstGeom>
          <a:solidFill>
            <a:srgbClr val="08872B"/>
          </a:solidFill>
          <a:ln>
            <a:noFill/>
          </a:ln>
        </p:spPr>
        <p:txBody>
          <a:bodyPr rtlCol="0" anchor="ctr"/>
          <a:lstStyle/>
          <a:p>
            <a:endParaRPr lang="en-US"/>
          </a:p>
        </p:txBody>
      </p:sp>
      <p:sp>
        <p:nvSpPr>
          <p:cNvPr id="40" name="Takeaway"/>
          <p:cNvSpPr txBox="1"/>
          <p:nvPr/>
        </p:nvSpPr>
        <p:spPr>
          <a:xfrm>
            <a:off x="1076960" y="5359400"/>
            <a:ext cx="103124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Best reading: a model worth a bounded pilot, not a proven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51"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05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Light FDE as a service: discover, survey, workshop.</a:t>
            </a:r>
          </a:p>
        </p:txBody>
      </p:sp>
      <p:sp>
        <p:nvSpPr>
          <p:cNvPr id="8" name="Step card"/>
          <p:cNvSpPr/>
          <p:nvPr/>
        </p:nvSpPr>
        <p:spPr>
          <a:xfrm>
            <a:off x="594360" y="1574800"/>
            <a:ext cx="3454400" cy="2235200"/>
          </a:xfrm>
          <a:prstGeom prst="rect">
            <a:avLst/>
          </a:prstGeom>
          <a:solidFill>
            <a:srgbClr val="F2F5F3"/>
          </a:solidFill>
          <a:ln>
            <a:noFill/>
          </a:ln>
        </p:spPr>
        <p:txBody>
          <a:bodyPr rtlCol="0" anchor="ctr"/>
          <a:lstStyle/>
          <a:p>
            <a:endParaRPr lang="en-US"/>
          </a:p>
        </p:txBody>
      </p:sp>
      <p:sp>
        <p:nvSpPr>
          <p:cNvPr id="9" name="Step accent"/>
          <p:cNvSpPr/>
          <p:nvPr/>
        </p:nvSpPr>
        <p:spPr>
          <a:xfrm>
            <a:off x="594360" y="1574800"/>
            <a:ext cx="3454400" cy="50800"/>
          </a:xfrm>
          <a:prstGeom prst="rect">
            <a:avLst/>
          </a:prstGeom>
          <a:solidFill>
            <a:srgbClr val="08872B"/>
          </a:solidFill>
          <a:ln>
            <a:noFill/>
          </a:ln>
        </p:spPr>
        <p:txBody>
          <a:bodyPr rtlCol="0" anchor="ctr"/>
          <a:lstStyle/>
          <a:p>
            <a:endParaRPr lang="en-US"/>
          </a:p>
        </p:txBody>
      </p:sp>
      <p:sp>
        <p:nvSpPr>
          <p:cNvPr id="10" name="Step number"/>
          <p:cNvSpPr txBox="1"/>
          <p:nvPr/>
        </p:nvSpPr>
        <p:spPr>
          <a:xfrm>
            <a:off x="797560" y="1778000"/>
            <a:ext cx="508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3400" b="1" i="0" dirty="0">
                <a:solidFill>
                  <a:srgbClr val="08872B"/>
                </a:solidFill>
                <a:latin typeface="Mona Sans"/>
                <a:cs typeface="Mona Sans"/>
              </a:rPr>
              <a:t>1</a:t>
            </a:r>
          </a:p>
        </p:txBody>
      </p:sp>
      <p:sp>
        <p:nvSpPr>
          <p:cNvPr id="11" name="Step Discover"/>
          <p:cNvSpPr txBox="1"/>
          <p:nvPr/>
        </p:nvSpPr>
        <p:spPr>
          <a:xfrm>
            <a:off x="1254760" y="1854200"/>
            <a:ext cx="16510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2400" b="1" i="0" dirty="0">
                <a:solidFill>
                  <a:srgbClr val="101411"/>
                </a:solidFill>
                <a:latin typeface="Mona Sans"/>
                <a:cs typeface="Mona Sans"/>
              </a:rPr>
              <a:t>Discover</a:t>
            </a:r>
          </a:p>
        </p:txBody>
      </p:sp>
      <p:sp>
        <p:nvSpPr>
          <p:cNvPr id="12" name="Tag Prototype"/>
          <p:cNvSpPr txBox="1"/>
          <p:nvPr/>
        </p:nvSpPr>
        <p:spPr>
          <a:xfrm>
            <a:off x="2880360" y="1930400"/>
            <a:ext cx="990600"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13" name="Step Discover body"/>
          <p:cNvSpPr txBox="1"/>
          <p:nvPr/>
        </p:nvSpPr>
        <p:spPr>
          <a:xfrm>
            <a:off x="797560" y="2514600"/>
            <a:ext cx="3048000" cy="11684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600" b="0" i="0" dirty="0">
                <a:solidFill>
                  <a:srgbClr val="232925"/>
                </a:solidFill>
                <a:latin typeface="Arial"/>
                <a:cs typeface="Arial"/>
              </a:rPr>
              <a:t>Walk people through discovery. Today the built piece explores one repository, with cited evidence.</a:t>
            </a:r>
          </a:p>
        </p:txBody>
      </p:sp>
      <p:sp>
        <p:nvSpPr>
          <p:cNvPr id="14" name="Arrow"/>
          <p:cNvSpPr/>
          <p:nvPr/>
        </p:nvSpPr>
        <p:spPr>
          <a:xfrm>
            <a:off x="4099560" y="2578100"/>
            <a:ext cx="203200" cy="228600"/>
          </a:xfrm>
          <a:prstGeom prst="rightArrow">
            <a:avLst/>
          </a:prstGeom>
          <a:solidFill>
            <a:srgbClr val="101411"/>
          </a:solidFill>
          <a:ln>
            <a:noFill/>
          </a:ln>
        </p:spPr>
        <p:txBody>
          <a:bodyPr rtlCol="0" anchor="ctr"/>
          <a:lstStyle/>
          <a:p>
            <a:endParaRPr lang="en-US"/>
          </a:p>
        </p:txBody>
      </p:sp>
      <p:sp>
        <p:nvSpPr>
          <p:cNvPr id="15" name="Step card"/>
          <p:cNvSpPr/>
          <p:nvPr/>
        </p:nvSpPr>
        <p:spPr>
          <a:xfrm>
            <a:off x="4353560" y="1574800"/>
            <a:ext cx="3454400" cy="2235200"/>
          </a:xfrm>
          <a:prstGeom prst="rect">
            <a:avLst/>
          </a:prstGeom>
          <a:solidFill>
            <a:srgbClr val="F2F5F3"/>
          </a:solidFill>
          <a:ln>
            <a:noFill/>
          </a:ln>
        </p:spPr>
        <p:txBody>
          <a:bodyPr rtlCol="0" anchor="ctr"/>
          <a:lstStyle/>
          <a:p>
            <a:endParaRPr lang="en-US"/>
          </a:p>
        </p:txBody>
      </p:sp>
      <p:sp>
        <p:nvSpPr>
          <p:cNvPr id="16" name="Step accent"/>
          <p:cNvSpPr/>
          <p:nvPr/>
        </p:nvSpPr>
        <p:spPr>
          <a:xfrm>
            <a:off x="4353560" y="1574800"/>
            <a:ext cx="3454400" cy="50800"/>
          </a:xfrm>
          <a:prstGeom prst="rect">
            <a:avLst/>
          </a:prstGeom>
          <a:solidFill>
            <a:srgbClr val="8534F3"/>
          </a:solidFill>
          <a:ln>
            <a:noFill/>
          </a:ln>
        </p:spPr>
        <p:txBody>
          <a:bodyPr rtlCol="0" anchor="ctr"/>
          <a:lstStyle/>
          <a:p>
            <a:endParaRPr lang="en-US"/>
          </a:p>
        </p:txBody>
      </p:sp>
      <p:sp>
        <p:nvSpPr>
          <p:cNvPr id="17" name="Step number"/>
          <p:cNvSpPr txBox="1"/>
          <p:nvPr/>
        </p:nvSpPr>
        <p:spPr>
          <a:xfrm>
            <a:off x="4556760" y="1778000"/>
            <a:ext cx="508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3400" b="1" i="0" dirty="0">
                <a:solidFill>
                  <a:srgbClr val="08872B"/>
                </a:solidFill>
                <a:latin typeface="Mona Sans"/>
                <a:cs typeface="Mona Sans"/>
              </a:rPr>
              <a:t>2</a:t>
            </a:r>
          </a:p>
        </p:txBody>
      </p:sp>
      <p:sp>
        <p:nvSpPr>
          <p:cNvPr id="18" name="Step Survey"/>
          <p:cNvSpPr txBox="1"/>
          <p:nvPr/>
        </p:nvSpPr>
        <p:spPr>
          <a:xfrm>
            <a:off x="5013960" y="1854200"/>
            <a:ext cx="16510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2400" b="1" i="0" dirty="0">
                <a:solidFill>
                  <a:srgbClr val="101411"/>
                </a:solidFill>
                <a:latin typeface="Mona Sans"/>
                <a:cs typeface="Mona Sans"/>
              </a:rPr>
              <a:t>Survey</a:t>
            </a:r>
          </a:p>
        </p:txBody>
      </p:sp>
      <p:sp>
        <p:nvSpPr>
          <p:cNvPr id="19" name="Tag Proposed"/>
          <p:cNvSpPr txBox="1"/>
          <p:nvPr/>
        </p:nvSpPr>
        <p:spPr>
          <a:xfrm>
            <a:off x="6639560" y="1930400"/>
            <a:ext cx="990600"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0" name="Step Survey body"/>
          <p:cNvSpPr txBox="1"/>
          <p:nvPr/>
        </p:nvSpPr>
        <p:spPr>
          <a:xfrm>
            <a:off x="4556760" y="2514600"/>
            <a:ext cx="3048000" cy="11684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600" b="0" i="0" dirty="0">
                <a:solidFill>
                  <a:srgbClr val="232925"/>
                </a:solidFill>
                <a:latin typeface="Arial"/>
                <a:cs typeface="Arial"/>
              </a:rPr>
              <a:t>Turn discovery findings into a survey that captures fine-grained requirements. A person approves it.</a:t>
            </a:r>
          </a:p>
        </p:txBody>
      </p:sp>
      <p:sp>
        <p:nvSpPr>
          <p:cNvPr id="21" name="Arrow"/>
          <p:cNvSpPr/>
          <p:nvPr/>
        </p:nvSpPr>
        <p:spPr>
          <a:xfrm>
            <a:off x="7858760" y="2578100"/>
            <a:ext cx="203200" cy="228600"/>
          </a:xfrm>
          <a:prstGeom prst="rightArrow">
            <a:avLst/>
          </a:prstGeom>
          <a:solidFill>
            <a:srgbClr val="101411"/>
          </a:solidFill>
          <a:ln>
            <a:noFill/>
          </a:ln>
        </p:spPr>
        <p:txBody>
          <a:bodyPr rtlCol="0" anchor="ctr"/>
          <a:lstStyle/>
          <a:p>
            <a:endParaRPr lang="en-US"/>
          </a:p>
        </p:txBody>
      </p:sp>
      <p:sp>
        <p:nvSpPr>
          <p:cNvPr id="22" name="Step card"/>
          <p:cNvSpPr/>
          <p:nvPr/>
        </p:nvSpPr>
        <p:spPr>
          <a:xfrm>
            <a:off x="8112760" y="1574800"/>
            <a:ext cx="3454400" cy="2235200"/>
          </a:xfrm>
          <a:prstGeom prst="rect">
            <a:avLst/>
          </a:prstGeom>
          <a:solidFill>
            <a:srgbClr val="F2F5F3"/>
          </a:solidFill>
          <a:ln>
            <a:noFill/>
          </a:ln>
        </p:spPr>
        <p:txBody>
          <a:bodyPr rtlCol="0" anchor="ctr"/>
          <a:lstStyle/>
          <a:p>
            <a:endParaRPr lang="en-US"/>
          </a:p>
        </p:txBody>
      </p:sp>
      <p:sp>
        <p:nvSpPr>
          <p:cNvPr id="23" name="Step accent"/>
          <p:cNvSpPr/>
          <p:nvPr/>
        </p:nvSpPr>
        <p:spPr>
          <a:xfrm>
            <a:off x="8112760" y="1574800"/>
            <a:ext cx="3454400" cy="50800"/>
          </a:xfrm>
          <a:prstGeom prst="rect">
            <a:avLst/>
          </a:prstGeom>
          <a:solidFill>
            <a:srgbClr val="8534F3"/>
          </a:solidFill>
          <a:ln>
            <a:noFill/>
          </a:ln>
        </p:spPr>
        <p:txBody>
          <a:bodyPr rtlCol="0" anchor="ctr"/>
          <a:lstStyle/>
          <a:p>
            <a:endParaRPr lang="en-US"/>
          </a:p>
        </p:txBody>
      </p:sp>
      <p:sp>
        <p:nvSpPr>
          <p:cNvPr id="24" name="Step number"/>
          <p:cNvSpPr txBox="1"/>
          <p:nvPr/>
        </p:nvSpPr>
        <p:spPr>
          <a:xfrm>
            <a:off x="8315960" y="1778000"/>
            <a:ext cx="508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3400" b="1" i="0" dirty="0">
                <a:solidFill>
                  <a:srgbClr val="08872B"/>
                </a:solidFill>
                <a:latin typeface="Mona Sans"/>
                <a:cs typeface="Mona Sans"/>
              </a:rPr>
              <a:t>3</a:t>
            </a:r>
          </a:p>
        </p:txBody>
      </p:sp>
      <p:sp>
        <p:nvSpPr>
          <p:cNvPr id="25" name="Step Workshop"/>
          <p:cNvSpPr txBox="1"/>
          <p:nvPr/>
        </p:nvSpPr>
        <p:spPr>
          <a:xfrm>
            <a:off x="8773160" y="1854200"/>
            <a:ext cx="16510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2400" b="1" i="0" dirty="0">
                <a:solidFill>
                  <a:srgbClr val="101411"/>
                </a:solidFill>
                <a:latin typeface="Mona Sans"/>
                <a:cs typeface="Mona Sans"/>
              </a:rPr>
              <a:t>Workshop</a:t>
            </a:r>
          </a:p>
        </p:txBody>
      </p:sp>
      <p:sp>
        <p:nvSpPr>
          <p:cNvPr id="26" name="Tag Proposed"/>
          <p:cNvSpPr txBox="1"/>
          <p:nvPr/>
        </p:nvSpPr>
        <p:spPr>
          <a:xfrm>
            <a:off x="10398760" y="1930400"/>
            <a:ext cx="990600"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7" name="Step Workshop body"/>
          <p:cNvSpPr txBox="1"/>
          <p:nvPr/>
        </p:nvSpPr>
        <p:spPr>
          <a:xfrm>
            <a:off x="8315960" y="2514600"/>
            <a:ext cx="3048000" cy="11684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600" b="0" i="0" dirty="0">
                <a:solidFill>
                  <a:srgbClr val="232925"/>
                </a:solidFill>
                <a:latin typeface="Arial"/>
                <a:cs typeface="Arial"/>
              </a:rPr>
              <a:t>Translate confirmed requirements into a workshop drawn from the knowledge base of building blocks.</a:t>
            </a:r>
          </a:p>
        </p:txBody>
      </p:sp>
      <p:sp>
        <p:nvSpPr>
          <p:cNvPr id="28" name="Workflow label"/>
          <p:cNvSpPr txBox="1"/>
          <p:nvPr/>
        </p:nvSpPr>
        <p:spPr>
          <a:xfrm>
            <a:off x="594360" y="4013200"/>
            <a:ext cx="109728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300" b="1" i="0" dirty="0">
                <a:solidFill>
                  <a:srgbClr val="5C665F"/>
                </a:solidFill>
                <a:latin typeface="Arial"/>
                <a:cs typeface="Arial"/>
              </a:rPr>
              <a:t>Inside the GitHub Copilot App, each step uses the same workflow:</a:t>
            </a:r>
          </a:p>
        </p:txBody>
      </p:sp>
      <p:sp>
        <p:nvSpPr>
          <p:cNvPr id="29" name="Stage chip"/>
          <p:cNvSpPr/>
          <p:nvPr/>
        </p:nvSpPr>
        <p:spPr>
          <a:xfrm>
            <a:off x="594360" y="4318000"/>
            <a:ext cx="1981200" cy="838200"/>
          </a:xfrm>
          <a:prstGeom prst="rect">
            <a:avLst/>
          </a:prstGeom>
          <a:solidFill>
            <a:srgbClr val="FFFFFF"/>
          </a:solidFill>
          <a:ln w="12700">
            <a:solidFill>
              <a:srgbClr val="B6BFB8"/>
            </a:solidFill>
          </a:ln>
        </p:spPr>
        <p:txBody>
          <a:bodyPr rtlCol="0" anchor="ctr"/>
          <a:lstStyle/>
          <a:p>
            <a:endParaRPr lang="en-US"/>
          </a:p>
        </p:txBody>
      </p:sp>
      <p:sp>
        <p:nvSpPr>
          <p:cNvPr id="30" name="Stage Plan"/>
          <p:cNvSpPr txBox="1"/>
          <p:nvPr/>
        </p:nvSpPr>
        <p:spPr>
          <a:xfrm>
            <a:off x="721360" y="4381500"/>
            <a:ext cx="17272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1" i="0" dirty="0">
                <a:solidFill>
                  <a:srgbClr val="101411"/>
                </a:solidFill>
                <a:latin typeface="Mona Sans"/>
                <a:cs typeface="Mona Sans"/>
              </a:rPr>
              <a:t>Plan</a:t>
            </a:r>
          </a:p>
        </p:txBody>
      </p:sp>
      <p:sp>
        <p:nvSpPr>
          <p:cNvPr id="31" name="Stage Plan text"/>
          <p:cNvSpPr txBox="1"/>
          <p:nvPr/>
        </p:nvSpPr>
        <p:spPr>
          <a:xfrm>
            <a:off x="721360" y="4648200"/>
            <a:ext cx="1727200" cy="482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232925"/>
                </a:solidFill>
                <a:latin typeface="Arial"/>
                <a:cs typeface="Arial"/>
              </a:rPr>
              <a:t>Scope the question and name an owner</a:t>
            </a:r>
          </a:p>
        </p:txBody>
      </p:sp>
      <p:sp>
        <p:nvSpPr>
          <p:cNvPr id="32" name="Stage arrow"/>
          <p:cNvSpPr/>
          <p:nvPr/>
        </p:nvSpPr>
        <p:spPr>
          <a:xfrm>
            <a:off x="2626360" y="4648200"/>
            <a:ext cx="165100" cy="177800"/>
          </a:xfrm>
          <a:prstGeom prst="rightArrow">
            <a:avLst/>
          </a:prstGeom>
          <a:solidFill>
            <a:srgbClr val="B6BFB8"/>
          </a:solidFill>
          <a:ln>
            <a:noFill/>
          </a:ln>
        </p:spPr>
        <p:txBody>
          <a:bodyPr rtlCol="0" anchor="ctr"/>
          <a:lstStyle/>
          <a:p>
            <a:endParaRPr lang="en-US"/>
          </a:p>
        </p:txBody>
      </p:sp>
      <p:sp>
        <p:nvSpPr>
          <p:cNvPr id="33" name="Stage chip"/>
          <p:cNvSpPr/>
          <p:nvPr/>
        </p:nvSpPr>
        <p:spPr>
          <a:xfrm>
            <a:off x="2842260" y="4318000"/>
            <a:ext cx="1981200" cy="838200"/>
          </a:xfrm>
          <a:prstGeom prst="rect">
            <a:avLst/>
          </a:prstGeom>
          <a:solidFill>
            <a:srgbClr val="FFFFFF"/>
          </a:solidFill>
          <a:ln w="12700">
            <a:solidFill>
              <a:srgbClr val="B6BFB8"/>
            </a:solidFill>
          </a:ln>
        </p:spPr>
        <p:txBody>
          <a:bodyPr rtlCol="0" anchor="ctr"/>
          <a:lstStyle/>
          <a:p>
            <a:endParaRPr lang="en-US"/>
          </a:p>
        </p:txBody>
      </p:sp>
      <p:sp>
        <p:nvSpPr>
          <p:cNvPr id="34" name="Stage Delegate"/>
          <p:cNvSpPr txBox="1"/>
          <p:nvPr/>
        </p:nvSpPr>
        <p:spPr>
          <a:xfrm>
            <a:off x="2969260" y="4381500"/>
            <a:ext cx="17272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1" i="0" dirty="0">
                <a:solidFill>
                  <a:srgbClr val="101411"/>
                </a:solidFill>
                <a:latin typeface="Mona Sans"/>
                <a:cs typeface="Mona Sans"/>
              </a:rPr>
              <a:t>Delegate</a:t>
            </a:r>
          </a:p>
        </p:txBody>
      </p:sp>
      <p:sp>
        <p:nvSpPr>
          <p:cNvPr id="35" name="Stage Delegate text"/>
          <p:cNvSpPr txBox="1"/>
          <p:nvPr/>
        </p:nvSpPr>
        <p:spPr>
          <a:xfrm>
            <a:off x="2969260" y="4648200"/>
            <a:ext cx="1727200" cy="482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232925"/>
                </a:solidFill>
                <a:latin typeface="Arial"/>
                <a:cs typeface="Arial"/>
              </a:rPr>
              <a:t>Specialist agents do bounded first passes</a:t>
            </a:r>
          </a:p>
        </p:txBody>
      </p:sp>
      <p:sp>
        <p:nvSpPr>
          <p:cNvPr id="36" name="Stage arrow"/>
          <p:cNvSpPr/>
          <p:nvPr/>
        </p:nvSpPr>
        <p:spPr>
          <a:xfrm>
            <a:off x="4874260" y="4648200"/>
            <a:ext cx="165100" cy="177800"/>
          </a:xfrm>
          <a:prstGeom prst="rightArrow">
            <a:avLst/>
          </a:prstGeom>
          <a:solidFill>
            <a:srgbClr val="B6BFB8"/>
          </a:solidFill>
          <a:ln>
            <a:noFill/>
          </a:ln>
        </p:spPr>
        <p:txBody>
          <a:bodyPr rtlCol="0" anchor="ctr"/>
          <a:lstStyle/>
          <a:p>
            <a:endParaRPr lang="en-US"/>
          </a:p>
        </p:txBody>
      </p:sp>
      <p:sp>
        <p:nvSpPr>
          <p:cNvPr id="37" name="Stage chip"/>
          <p:cNvSpPr/>
          <p:nvPr/>
        </p:nvSpPr>
        <p:spPr>
          <a:xfrm>
            <a:off x="5090160" y="4318000"/>
            <a:ext cx="1981200" cy="838200"/>
          </a:xfrm>
          <a:prstGeom prst="rect">
            <a:avLst/>
          </a:prstGeom>
          <a:solidFill>
            <a:srgbClr val="FFFFFF"/>
          </a:solidFill>
          <a:ln w="12700">
            <a:solidFill>
              <a:srgbClr val="B6BFB8"/>
            </a:solidFill>
          </a:ln>
        </p:spPr>
        <p:txBody>
          <a:bodyPr rtlCol="0" anchor="ctr"/>
          <a:lstStyle/>
          <a:p>
            <a:endParaRPr lang="en-US"/>
          </a:p>
        </p:txBody>
      </p:sp>
      <p:sp>
        <p:nvSpPr>
          <p:cNvPr id="38" name="Stage Validate"/>
          <p:cNvSpPr txBox="1"/>
          <p:nvPr/>
        </p:nvSpPr>
        <p:spPr>
          <a:xfrm>
            <a:off x="5217160" y="4381500"/>
            <a:ext cx="17272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1" i="0" dirty="0">
                <a:solidFill>
                  <a:srgbClr val="101411"/>
                </a:solidFill>
                <a:latin typeface="Mona Sans"/>
                <a:cs typeface="Mona Sans"/>
              </a:rPr>
              <a:t>Validate</a:t>
            </a:r>
          </a:p>
        </p:txBody>
      </p:sp>
      <p:sp>
        <p:nvSpPr>
          <p:cNvPr id="39" name="Stage Validate text"/>
          <p:cNvSpPr txBox="1"/>
          <p:nvPr/>
        </p:nvSpPr>
        <p:spPr>
          <a:xfrm>
            <a:off x="5217160" y="4648200"/>
            <a:ext cx="1727200" cy="482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232925"/>
                </a:solidFill>
                <a:latin typeface="Arial"/>
                <a:cs typeface="Arial"/>
              </a:rPr>
              <a:t>Check claims against sources</a:t>
            </a:r>
          </a:p>
        </p:txBody>
      </p:sp>
      <p:sp>
        <p:nvSpPr>
          <p:cNvPr id="40" name="Stage arrow"/>
          <p:cNvSpPr/>
          <p:nvPr/>
        </p:nvSpPr>
        <p:spPr>
          <a:xfrm>
            <a:off x="7122160" y="4648200"/>
            <a:ext cx="165100" cy="177800"/>
          </a:xfrm>
          <a:prstGeom prst="rightArrow">
            <a:avLst/>
          </a:prstGeom>
          <a:solidFill>
            <a:srgbClr val="B6BFB8"/>
          </a:solidFill>
          <a:ln>
            <a:noFill/>
          </a:ln>
        </p:spPr>
        <p:txBody>
          <a:bodyPr rtlCol="0" anchor="ctr"/>
          <a:lstStyle/>
          <a:p>
            <a:endParaRPr lang="en-US"/>
          </a:p>
        </p:txBody>
      </p:sp>
      <p:sp>
        <p:nvSpPr>
          <p:cNvPr id="41" name="Stage chip"/>
          <p:cNvSpPr/>
          <p:nvPr/>
        </p:nvSpPr>
        <p:spPr>
          <a:xfrm>
            <a:off x="7338060" y="4318000"/>
            <a:ext cx="1981200" cy="838200"/>
          </a:xfrm>
          <a:prstGeom prst="rect">
            <a:avLst/>
          </a:prstGeom>
          <a:solidFill>
            <a:srgbClr val="FFFFFF"/>
          </a:solidFill>
          <a:ln w="12700">
            <a:solidFill>
              <a:srgbClr val="B6BFB8"/>
            </a:solidFill>
          </a:ln>
        </p:spPr>
        <p:txBody>
          <a:bodyPr rtlCol="0" anchor="ctr"/>
          <a:lstStyle/>
          <a:p>
            <a:endParaRPr lang="en-US"/>
          </a:p>
        </p:txBody>
      </p:sp>
      <p:sp>
        <p:nvSpPr>
          <p:cNvPr id="42" name="Stage Review"/>
          <p:cNvSpPr txBox="1"/>
          <p:nvPr/>
        </p:nvSpPr>
        <p:spPr>
          <a:xfrm>
            <a:off x="7465060" y="4381500"/>
            <a:ext cx="17272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1" i="0" dirty="0">
                <a:solidFill>
                  <a:srgbClr val="101411"/>
                </a:solidFill>
                <a:latin typeface="Mona Sans"/>
                <a:cs typeface="Mona Sans"/>
              </a:rPr>
              <a:t>Review</a:t>
            </a:r>
          </a:p>
        </p:txBody>
      </p:sp>
      <p:sp>
        <p:nvSpPr>
          <p:cNvPr id="43" name="Stage Review text"/>
          <p:cNvSpPr txBox="1"/>
          <p:nvPr/>
        </p:nvSpPr>
        <p:spPr>
          <a:xfrm>
            <a:off x="7465060" y="4648200"/>
            <a:ext cx="1727200" cy="482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232925"/>
                </a:solidFill>
                <a:latin typeface="Arial"/>
                <a:cs typeface="Arial"/>
              </a:rPr>
              <a:t>A person approves at each gate</a:t>
            </a:r>
          </a:p>
        </p:txBody>
      </p:sp>
      <p:sp>
        <p:nvSpPr>
          <p:cNvPr id="44" name="Stage arrow"/>
          <p:cNvSpPr/>
          <p:nvPr/>
        </p:nvSpPr>
        <p:spPr>
          <a:xfrm>
            <a:off x="9370060" y="4648200"/>
            <a:ext cx="165100" cy="177800"/>
          </a:xfrm>
          <a:prstGeom prst="rightArrow">
            <a:avLst/>
          </a:prstGeom>
          <a:solidFill>
            <a:srgbClr val="B6BFB8"/>
          </a:solidFill>
          <a:ln>
            <a:noFill/>
          </a:ln>
        </p:spPr>
        <p:txBody>
          <a:bodyPr rtlCol="0" anchor="ctr"/>
          <a:lstStyle/>
          <a:p>
            <a:endParaRPr lang="en-US"/>
          </a:p>
        </p:txBody>
      </p:sp>
      <p:sp>
        <p:nvSpPr>
          <p:cNvPr id="45" name="Stage chip"/>
          <p:cNvSpPr/>
          <p:nvPr/>
        </p:nvSpPr>
        <p:spPr>
          <a:xfrm>
            <a:off x="9585960" y="4318000"/>
            <a:ext cx="1981200" cy="838200"/>
          </a:xfrm>
          <a:prstGeom prst="rect">
            <a:avLst/>
          </a:prstGeom>
          <a:solidFill>
            <a:srgbClr val="FFFFFF"/>
          </a:solidFill>
          <a:ln w="12700">
            <a:solidFill>
              <a:srgbClr val="B6BFB8"/>
            </a:solidFill>
          </a:ln>
        </p:spPr>
        <p:txBody>
          <a:bodyPr rtlCol="0" anchor="ctr"/>
          <a:lstStyle/>
          <a:p>
            <a:endParaRPr lang="en-US"/>
          </a:p>
        </p:txBody>
      </p:sp>
      <p:sp>
        <p:nvSpPr>
          <p:cNvPr id="46" name="Stage Ship"/>
          <p:cNvSpPr txBox="1"/>
          <p:nvPr/>
        </p:nvSpPr>
        <p:spPr>
          <a:xfrm>
            <a:off x="9712960" y="4381500"/>
            <a:ext cx="17272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1" i="0" dirty="0">
                <a:solidFill>
                  <a:srgbClr val="101411"/>
                </a:solidFill>
                <a:latin typeface="Mona Sans"/>
                <a:cs typeface="Mona Sans"/>
              </a:rPr>
              <a:t>Ship</a:t>
            </a:r>
          </a:p>
        </p:txBody>
      </p:sp>
      <p:sp>
        <p:nvSpPr>
          <p:cNvPr id="47" name="Stage Ship text"/>
          <p:cNvSpPr txBox="1"/>
          <p:nvPr/>
        </p:nvSpPr>
        <p:spPr>
          <a:xfrm>
            <a:off x="9712960" y="4648200"/>
            <a:ext cx="1727200" cy="482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232925"/>
                </a:solidFill>
                <a:latin typeface="Arial"/>
                <a:cs typeface="Arial"/>
              </a:rPr>
              <a:t>Hand over a reviewed artifact</a:t>
            </a:r>
          </a:p>
        </p:txBody>
      </p:sp>
      <p:sp>
        <p:nvSpPr>
          <p:cNvPr id="48" name="Takeaway band"/>
          <p:cNvSpPr/>
          <p:nvPr/>
        </p:nvSpPr>
        <p:spPr>
          <a:xfrm>
            <a:off x="594360" y="5308600"/>
            <a:ext cx="10972800" cy="635000"/>
          </a:xfrm>
          <a:prstGeom prst="rect">
            <a:avLst/>
          </a:prstGeom>
          <a:solidFill>
            <a:srgbClr val="F2F5F3"/>
          </a:solidFill>
          <a:ln>
            <a:noFill/>
          </a:ln>
        </p:spPr>
        <p:txBody>
          <a:bodyPr rtlCol="0" anchor="ctr"/>
          <a:lstStyle/>
          <a:p>
            <a:endParaRPr lang="en-US"/>
          </a:p>
        </p:txBody>
      </p:sp>
      <p:sp>
        <p:nvSpPr>
          <p:cNvPr id="49" name="Takeaway marker"/>
          <p:cNvSpPr/>
          <p:nvPr/>
        </p:nvSpPr>
        <p:spPr>
          <a:xfrm>
            <a:off x="772160" y="5549900"/>
            <a:ext cx="152400" cy="152400"/>
          </a:xfrm>
          <a:prstGeom prst="diamond">
            <a:avLst/>
          </a:prstGeom>
          <a:solidFill>
            <a:srgbClr val="08872B"/>
          </a:solidFill>
          <a:ln>
            <a:noFill/>
          </a:ln>
        </p:spPr>
        <p:txBody>
          <a:bodyPr rtlCol="0" anchor="ctr"/>
          <a:lstStyle/>
          <a:p>
            <a:endParaRPr lang="en-US"/>
          </a:p>
        </p:txBody>
      </p:sp>
      <p:sp>
        <p:nvSpPr>
          <p:cNvPr id="50" name="Takeaway"/>
          <p:cNvSpPr txBox="1"/>
          <p:nvPr/>
        </p:nvSpPr>
        <p:spPr>
          <a:xfrm>
            <a:off x="1076960" y="5308600"/>
            <a:ext cx="10312400" cy="635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“Light” = a first pass by Copilot, reviewed by people at every gate. It does not replace FDEs, service owners or facilitators.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21"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06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Step 1. Walk people through discovery.</a:t>
            </a:r>
          </a:p>
        </p:txBody>
      </p:sp>
      <p:sp>
        <p:nvSpPr>
          <p:cNvPr id="8" name="Built card"/>
          <p:cNvSpPr/>
          <p:nvPr/>
        </p:nvSpPr>
        <p:spPr>
          <a:xfrm>
            <a:off x="594360" y="1600200"/>
            <a:ext cx="5334000" cy="3429000"/>
          </a:xfrm>
          <a:prstGeom prst="rect">
            <a:avLst/>
          </a:prstGeom>
          <a:solidFill>
            <a:srgbClr val="F2F5F3"/>
          </a:solidFill>
          <a:ln>
            <a:noFill/>
          </a:ln>
        </p:spPr>
        <p:txBody>
          <a:bodyPr rtlCol="0" anchor="ctr"/>
          <a:lstStyle/>
          <a:p>
            <a:endParaRPr lang="en-US"/>
          </a:p>
        </p:txBody>
      </p:sp>
      <p:sp>
        <p:nvSpPr>
          <p:cNvPr id="9" name="Built accent"/>
          <p:cNvSpPr/>
          <p:nvPr/>
        </p:nvSpPr>
        <p:spPr>
          <a:xfrm>
            <a:off x="594360" y="1600200"/>
            <a:ext cx="5334000" cy="50800"/>
          </a:xfrm>
          <a:prstGeom prst="rect">
            <a:avLst/>
          </a:prstGeom>
          <a:solidFill>
            <a:srgbClr val="08872B"/>
          </a:solidFill>
          <a:ln>
            <a:noFill/>
          </a:ln>
        </p:spPr>
        <p:txBody>
          <a:bodyPr rtlCol="0" anchor="ctr"/>
          <a:lstStyle/>
          <a:p>
            <a:endParaRPr lang="en-US"/>
          </a:p>
        </p:txBody>
      </p:sp>
      <p:sp>
        <p:nvSpPr>
          <p:cNvPr id="10" name="Tag Prototype"/>
          <p:cNvSpPr txBox="1"/>
          <p:nvPr/>
        </p:nvSpPr>
        <p:spPr>
          <a:xfrm>
            <a:off x="797560" y="1828800"/>
            <a:ext cx="930275"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11" name="Built title"/>
          <p:cNvSpPr txBox="1"/>
          <p:nvPr/>
        </p:nvSpPr>
        <p:spPr>
          <a:xfrm>
            <a:off x="797560" y="2209800"/>
            <a:ext cx="4927600" cy="355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800" b="1" i="0" dirty="0">
                <a:solidFill>
                  <a:srgbClr val="101411"/>
                </a:solidFill>
                <a:latin typeface="Mona Sans"/>
                <a:cs typeface="Mona Sans"/>
              </a:rPr>
              <a:t>Repository discovery: /onboard-repo</a:t>
            </a:r>
          </a:p>
        </p:txBody>
      </p:sp>
      <p:sp>
        <p:nvSpPr>
          <p:cNvPr id="12" name="Built body"/>
          <p:cNvSpPr txBox="1"/>
          <p:nvPr/>
        </p:nvSpPr>
        <p:spPr>
          <a:xfrm>
            <a:off x="797560" y="2641600"/>
            <a:ext cx="4927600" cy="2286000"/>
          </a:xfrm>
          <a:prstGeom prst="rect">
            <a:avLst/>
          </a:prstGeom>
          <a:noFill/>
          <a:ln>
            <a:noFill/>
          </a:ln>
        </p:spPr>
        <p:txBody>
          <a:bodyPr wrap="square" lIns="0" tIns="0" rIns="0" bIns="0" anchor="t">
            <a:noAutofit/>
          </a:bodyPr>
          <a:lstStyle/>
          <a:p>
            <a:pPr algn="l" marL="223520" indent="-223520">
              <a:lnSpc>
                <a:spcPct val="100000"/>
              </a:lnSpc>
              <a:spcBef>
                <a:spcPts val="0"/>
              </a:spcBef>
              <a:spcAft>
                <a:spcPts val="600"/>
              </a:spcAft>
              <a:buClr>
                <a:srgbClr val="08872B"/>
              </a:buClr>
              <a:buFont typeface="Arial"/>
              <a:buChar char="■"/>
            </a:pPr>
            <a:r>
              <a:rPr lang="en-US" sz="1600" b="0" i="0" dirty="0">
                <a:solidFill>
                  <a:srgbClr val="101411"/>
                </a:solidFill>
                <a:latin typeface="Arial"/>
                <a:cs typeface="Arial"/>
              </a:rPr>
              <a:t>Two read-only specialist agents work in parallel.</a:t>
            </a:r>
          </a:p>
          <a:p>
            <a:pPr algn="l" marL="223520" indent="-223520">
              <a:lnSpc>
                <a:spcPct val="100000"/>
              </a:lnSpc>
              <a:spcBef>
                <a:spcPts val="0"/>
              </a:spcBef>
              <a:spcAft>
                <a:spcPts val="600"/>
              </a:spcAft>
              <a:buClr>
                <a:srgbClr val="08872B"/>
              </a:buClr>
              <a:buFont typeface="Arial"/>
              <a:buChar char="■"/>
            </a:pPr>
            <a:r>
              <a:rPr lang="en-US" sz="1600" b="0" i="0" dirty="0">
                <a:solidFill>
                  <a:srgbClr val="101411"/>
                </a:solidFill>
                <a:latin typeface="Arial"/>
                <a:cs typeface="Arial"/>
              </a:rPr>
              <a:t>A live canvas fills with seven sections: welcome, map, architecture, conventions, workflow, recent changes, first steps.</a:t>
            </a:r>
          </a:p>
          <a:p>
            <a:pPr algn="l" marL="223520" indent="-223520">
              <a:lnSpc>
                <a:spcPct val="100000"/>
              </a:lnSpc>
              <a:spcBef>
                <a:spcPts val="0"/>
              </a:spcBef>
              <a:spcAft>
                <a:spcPts val="600"/>
              </a:spcAft>
              <a:buClr>
                <a:srgbClr val="08872B"/>
              </a:buClr>
              <a:buFont typeface="Arial"/>
              <a:buChar char="■"/>
            </a:pPr>
            <a:r>
              <a:rPr lang="en-US" sz="1600" b="0" i="0" dirty="0">
                <a:solidFill>
                  <a:srgbClr val="101411"/>
                </a:solidFill>
                <a:latin typeface="Arial"/>
                <a:cs typeface="Arial"/>
              </a:rPr>
              <a:t>Claims cite files and lines. Gaps show as unavailable.</a:t>
            </a:r>
          </a:p>
          <a:p>
            <a:pPr algn="l" marL="223520" indent="-223520">
              <a:lnSpc>
                <a:spcPct val="100000"/>
              </a:lnSpc>
              <a:spcBef>
                <a:spcPts val="0"/>
              </a:spcBef>
              <a:spcAft>
                <a:spcPts val="0"/>
              </a:spcAft>
              <a:buClr>
                <a:srgbClr val="08872B"/>
              </a:buClr>
              <a:buFont typeface="Arial"/>
              <a:buChar char="■"/>
            </a:pPr>
            <a:r>
              <a:rPr lang="en-US" sz="1600" b="0" i="0" dirty="0">
                <a:solidFill>
                  <a:srgbClr val="101411"/>
                </a:solidFill>
                <a:latin typeface="Arial"/>
                <a:cs typeface="Arial"/>
              </a:rPr>
              <a:t>Stops before implementation.</a:t>
            </a:r>
          </a:p>
        </p:txBody>
      </p:sp>
      <p:sp>
        <p:nvSpPr>
          <p:cNvPr id="13" name="Proposed card"/>
          <p:cNvSpPr/>
          <p:nvPr/>
        </p:nvSpPr>
        <p:spPr>
          <a:xfrm>
            <a:off x="6233160" y="1600200"/>
            <a:ext cx="5334000" cy="3429000"/>
          </a:xfrm>
          <a:prstGeom prst="rect">
            <a:avLst/>
          </a:prstGeom>
          <a:solidFill>
            <a:srgbClr val="F2F5F3"/>
          </a:solidFill>
          <a:ln>
            <a:noFill/>
          </a:ln>
        </p:spPr>
        <p:txBody>
          <a:bodyPr rtlCol="0" anchor="ctr"/>
          <a:lstStyle/>
          <a:p>
            <a:endParaRPr lang="en-US"/>
          </a:p>
        </p:txBody>
      </p:sp>
      <p:sp>
        <p:nvSpPr>
          <p:cNvPr id="14" name="Proposed accent"/>
          <p:cNvSpPr/>
          <p:nvPr/>
        </p:nvSpPr>
        <p:spPr>
          <a:xfrm>
            <a:off x="6233160" y="1600200"/>
            <a:ext cx="5334000" cy="50800"/>
          </a:xfrm>
          <a:prstGeom prst="rect">
            <a:avLst/>
          </a:prstGeom>
          <a:solidFill>
            <a:srgbClr val="8534F3"/>
          </a:solidFill>
          <a:ln>
            <a:noFill/>
          </a:ln>
        </p:spPr>
        <p:txBody>
          <a:bodyPr rtlCol="0" anchor="ctr"/>
          <a:lstStyle/>
          <a:p>
            <a:endParaRPr lang="en-US"/>
          </a:p>
        </p:txBody>
      </p:sp>
      <p:sp>
        <p:nvSpPr>
          <p:cNvPr id="15" name="Tag Proposed"/>
          <p:cNvSpPr txBox="1"/>
          <p:nvPr/>
        </p:nvSpPr>
        <p:spPr>
          <a:xfrm>
            <a:off x="6436360" y="18288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16" name="Proposed title"/>
          <p:cNvSpPr txBox="1"/>
          <p:nvPr/>
        </p:nvSpPr>
        <p:spPr>
          <a:xfrm>
            <a:off x="6436360" y="2209800"/>
            <a:ext cx="4927600" cy="3556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800" b="1" i="0" dirty="0">
                <a:solidFill>
                  <a:srgbClr val="101411"/>
                </a:solidFill>
                <a:latin typeface="Mona Sans"/>
                <a:cs typeface="Mona Sans"/>
              </a:rPr>
              <a:t>Guided stakeholder discovery</a:t>
            </a:r>
          </a:p>
        </p:txBody>
      </p:sp>
      <p:sp>
        <p:nvSpPr>
          <p:cNvPr id="17" name="Proposed body"/>
          <p:cNvSpPr txBox="1"/>
          <p:nvPr/>
        </p:nvSpPr>
        <p:spPr>
          <a:xfrm>
            <a:off x="6436360" y="2641600"/>
            <a:ext cx="4927600" cy="2286000"/>
          </a:xfrm>
          <a:prstGeom prst="rect">
            <a:avLst/>
          </a:prstGeom>
          <a:noFill/>
          <a:ln>
            <a:noFill/>
          </a:ln>
        </p:spPr>
        <p:txBody>
          <a:bodyPr wrap="square" lIns="0" tIns="0" rIns="0" bIns="0" anchor="t">
            <a:noAutofit/>
          </a:bodyPr>
          <a:lstStyle/>
          <a:p>
            <a:pPr algn="l" marL="223520" indent="-223520">
              <a:lnSpc>
                <a:spcPct val="100000"/>
              </a:lnSpc>
              <a:spcBef>
                <a:spcPts val="0"/>
              </a:spcBef>
              <a:spcAft>
                <a:spcPts val="600"/>
              </a:spcAft>
              <a:buClr>
                <a:srgbClr val="8534F3"/>
              </a:buClr>
              <a:buFont typeface="Arial"/>
              <a:buChar char="■"/>
            </a:pPr>
            <a:r>
              <a:rPr lang="en-US" sz="1600" b="0" i="0" dirty="0">
                <a:solidFill>
                  <a:srgbClr val="101411"/>
                </a:solidFill>
                <a:latin typeface="Arial"/>
                <a:cs typeface="Arial"/>
              </a:rPr>
              <a:t>Copilot walks the account team through questions on the outcome, owners, baseline and constraints.</a:t>
            </a:r>
          </a:p>
          <a:p>
            <a:pPr algn="l" marL="223520" indent="-223520">
              <a:lnSpc>
                <a:spcPct val="100000"/>
              </a:lnSpc>
              <a:spcBef>
                <a:spcPts val="0"/>
              </a:spcBef>
              <a:spcAft>
                <a:spcPts val="600"/>
              </a:spcAft>
              <a:buClr>
                <a:srgbClr val="8534F3"/>
              </a:buClr>
              <a:buFont typeface="Arial"/>
              <a:buChar char="■"/>
            </a:pPr>
            <a:r>
              <a:rPr lang="en-US" sz="1600" b="0" i="0" dirty="0">
                <a:solidFill>
                  <a:srgbClr val="101411"/>
                </a:solidFill>
                <a:latin typeface="Arial"/>
                <a:cs typeface="Arial"/>
              </a:rPr>
              <a:t>It records answers, flags unknowns and contradictions, and keeps sources visible.</a:t>
            </a:r>
          </a:p>
          <a:p>
            <a:pPr algn="l" marL="223520" indent="-223520">
              <a:lnSpc>
                <a:spcPct val="100000"/>
              </a:lnSpc>
              <a:spcBef>
                <a:spcPts val="0"/>
              </a:spcBef>
              <a:spcAft>
                <a:spcPts val="0"/>
              </a:spcAft>
              <a:buClr>
                <a:srgbClr val="8534F3"/>
              </a:buClr>
              <a:buFont typeface="Arial"/>
              <a:buChar char="■"/>
            </a:pPr>
            <a:r>
              <a:rPr lang="en-US" sz="1600" b="0" i="0" dirty="0">
                <a:solidFill>
                  <a:srgbClr val="101411"/>
                </a:solidFill>
                <a:latin typeface="Arial"/>
                <a:cs typeface="Arial"/>
              </a:rPr>
              <a:t>Output: a discovery brief the account owner reviews and approves.</a:t>
            </a:r>
          </a:p>
        </p:txBody>
      </p:sp>
      <p:sp>
        <p:nvSpPr>
          <p:cNvPr id="18" name="Takeaway band"/>
          <p:cNvSpPr/>
          <p:nvPr/>
        </p:nvSpPr>
        <p:spPr>
          <a:xfrm>
            <a:off x="594360" y="5181600"/>
            <a:ext cx="10972800" cy="558800"/>
          </a:xfrm>
          <a:prstGeom prst="rect">
            <a:avLst/>
          </a:prstGeom>
          <a:solidFill>
            <a:srgbClr val="F2F5F3"/>
          </a:solidFill>
          <a:ln>
            <a:noFill/>
          </a:ln>
        </p:spPr>
        <p:txBody>
          <a:bodyPr rtlCol="0" anchor="ctr"/>
          <a:lstStyle/>
          <a:p>
            <a:endParaRPr lang="en-US"/>
          </a:p>
        </p:txBody>
      </p:sp>
      <p:sp>
        <p:nvSpPr>
          <p:cNvPr id="19" name="Takeaway marker"/>
          <p:cNvSpPr/>
          <p:nvPr/>
        </p:nvSpPr>
        <p:spPr>
          <a:xfrm>
            <a:off x="772160" y="5384800"/>
            <a:ext cx="152400" cy="152400"/>
          </a:xfrm>
          <a:prstGeom prst="diamond">
            <a:avLst/>
          </a:prstGeom>
          <a:solidFill>
            <a:srgbClr val="08872B"/>
          </a:solidFill>
          <a:ln>
            <a:noFill/>
          </a:ln>
        </p:spPr>
        <p:txBody>
          <a:bodyPr rtlCol="0" anchor="ctr"/>
          <a:lstStyle/>
          <a:p>
            <a:endParaRPr lang="en-US"/>
          </a:p>
        </p:txBody>
      </p:sp>
      <p:sp>
        <p:nvSpPr>
          <p:cNvPr id="20" name="Takeaway"/>
          <p:cNvSpPr txBox="1"/>
          <p:nvPr/>
        </p:nvSpPr>
        <p:spPr>
          <a:xfrm>
            <a:off x="1076960" y="5181600"/>
            <a:ext cx="10312400" cy="558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500" b="1" i="0" dirty="0">
                <a:solidFill>
                  <a:srgbClr val="101411"/>
                </a:solidFill>
                <a:latin typeface="Arial"/>
                <a:cs typeface="Arial"/>
              </a:rPr>
              <a:t>Built: “what does the code say?” Proposed: “what outcome does the customer want?”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49"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07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Step 2. Turn discovery into a survey a person approves.</a:t>
            </a:r>
          </a:p>
        </p:txBody>
      </p:sp>
      <p:sp>
        <p:nvSpPr>
          <p:cNvPr id="8" name="Tag Proposed"/>
          <p:cNvSpPr txBox="1"/>
          <p:nvPr/>
        </p:nvSpPr>
        <p:spPr>
          <a:xfrm>
            <a:off x="594360" y="14986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9" name="Proposed note"/>
          <p:cNvSpPr txBox="1"/>
          <p:nvPr/>
        </p:nvSpPr>
        <p:spPr>
          <a:xfrm>
            <a:off x="1686560" y="1498600"/>
            <a:ext cx="8890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Nothing on this slide is built.</a:t>
            </a:r>
          </a:p>
        </p:txBody>
      </p:sp>
      <p:sp>
        <p:nvSpPr>
          <p:cNvPr id="10" name="Categories title"/>
          <p:cNvSpPr txBox="1"/>
          <p:nvPr/>
        </p:nvSpPr>
        <p:spPr>
          <a:xfrm>
            <a:off x="594360" y="1905000"/>
            <a:ext cx="50800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600" b="1" i="0" dirty="0">
                <a:solidFill>
                  <a:srgbClr val="101411"/>
                </a:solidFill>
                <a:latin typeface="Mona Sans"/>
                <a:cs typeface="Mona Sans"/>
              </a:rPr>
              <a:t>Example question categories</a:t>
            </a:r>
          </a:p>
        </p:txBody>
      </p:sp>
      <p:sp>
        <p:nvSpPr>
          <p:cNvPr id="11" name="Category accent"/>
          <p:cNvSpPr/>
          <p:nvPr/>
        </p:nvSpPr>
        <p:spPr>
          <a:xfrm>
            <a:off x="594360" y="2286000"/>
            <a:ext cx="63500" cy="431800"/>
          </a:xfrm>
          <a:prstGeom prst="rect">
            <a:avLst/>
          </a:prstGeom>
          <a:solidFill>
            <a:srgbClr val="8534F3"/>
          </a:solidFill>
          <a:ln>
            <a:noFill/>
          </a:ln>
        </p:spPr>
        <p:txBody>
          <a:bodyPr rtlCol="0" anchor="ctr"/>
          <a:lstStyle/>
          <a:p>
            <a:endParaRPr lang="en-US"/>
          </a:p>
        </p:txBody>
      </p:sp>
      <p:sp>
        <p:nvSpPr>
          <p:cNvPr id="12" name="Category row"/>
          <p:cNvSpPr/>
          <p:nvPr/>
        </p:nvSpPr>
        <p:spPr>
          <a:xfrm>
            <a:off x="657860" y="2286000"/>
            <a:ext cx="5016500" cy="431800"/>
          </a:xfrm>
          <a:prstGeom prst="rect">
            <a:avLst/>
          </a:prstGeom>
          <a:solidFill>
            <a:srgbClr val="F2F5F3"/>
          </a:solidFill>
          <a:ln>
            <a:noFill/>
          </a:ln>
        </p:spPr>
        <p:txBody>
          <a:bodyPr rtlCol="0" anchor="ctr"/>
          <a:lstStyle/>
          <a:p>
            <a:endParaRPr lang="en-US"/>
          </a:p>
        </p:txBody>
      </p:sp>
      <p:sp>
        <p:nvSpPr>
          <p:cNvPr id="13" name="Category Outcome"/>
          <p:cNvSpPr txBox="1"/>
          <p:nvPr/>
        </p:nvSpPr>
        <p:spPr>
          <a:xfrm>
            <a:off x="797560" y="2298700"/>
            <a:ext cx="1498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Outcome</a:t>
            </a:r>
          </a:p>
        </p:txBody>
      </p:sp>
      <p:sp>
        <p:nvSpPr>
          <p:cNvPr id="14" name="Category Outcome text"/>
          <p:cNvSpPr txBox="1"/>
          <p:nvPr/>
        </p:nvSpPr>
        <p:spPr>
          <a:xfrm>
            <a:off x="2346960" y="2298700"/>
            <a:ext cx="3200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00" b="0" i="0" dirty="0">
                <a:solidFill>
                  <a:srgbClr val="232925"/>
                </a:solidFill>
                <a:latin typeface="Arial"/>
                <a:cs typeface="Arial"/>
              </a:rPr>
              <a:t>What would success look like, and how is it measured?</a:t>
            </a:r>
          </a:p>
        </p:txBody>
      </p:sp>
      <p:sp>
        <p:nvSpPr>
          <p:cNvPr id="15" name="Category accent"/>
          <p:cNvSpPr/>
          <p:nvPr/>
        </p:nvSpPr>
        <p:spPr>
          <a:xfrm>
            <a:off x="594360" y="2794000"/>
            <a:ext cx="63500" cy="431800"/>
          </a:xfrm>
          <a:prstGeom prst="rect">
            <a:avLst/>
          </a:prstGeom>
          <a:solidFill>
            <a:srgbClr val="8534F3"/>
          </a:solidFill>
          <a:ln>
            <a:noFill/>
          </a:ln>
        </p:spPr>
        <p:txBody>
          <a:bodyPr rtlCol="0" anchor="ctr"/>
          <a:lstStyle/>
          <a:p>
            <a:endParaRPr lang="en-US"/>
          </a:p>
        </p:txBody>
      </p:sp>
      <p:sp>
        <p:nvSpPr>
          <p:cNvPr id="16" name="Category row"/>
          <p:cNvSpPr/>
          <p:nvPr/>
        </p:nvSpPr>
        <p:spPr>
          <a:xfrm>
            <a:off x="657860" y="2794000"/>
            <a:ext cx="5016500" cy="431800"/>
          </a:xfrm>
          <a:prstGeom prst="rect">
            <a:avLst/>
          </a:prstGeom>
          <a:solidFill>
            <a:srgbClr val="F2F5F3"/>
          </a:solidFill>
          <a:ln>
            <a:noFill/>
          </a:ln>
        </p:spPr>
        <p:txBody>
          <a:bodyPr rtlCol="0" anchor="ctr"/>
          <a:lstStyle/>
          <a:p>
            <a:endParaRPr lang="en-US"/>
          </a:p>
        </p:txBody>
      </p:sp>
      <p:sp>
        <p:nvSpPr>
          <p:cNvPr id="17" name="Category Baseline"/>
          <p:cNvSpPr txBox="1"/>
          <p:nvPr/>
        </p:nvSpPr>
        <p:spPr>
          <a:xfrm>
            <a:off x="797560" y="2806700"/>
            <a:ext cx="1498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Baseline</a:t>
            </a:r>
          </a:p>
        </p:txBody>
      </p:sp>
      <p:sp>
        <p:nvSpPr>
          <p:cNvPr id="18" name="Category Baseline text"/>
          <p:cNvSpPr txBox="1"/>
          <p:nvPr/>
        </p:nvSpPr>
        <p:spPr>
          <a:xfrm>
            <a:off x="2346960" y="2806700"/>
            <a:ext cx="3200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00" b="0" i="0" dirty="0">
                <a:solidFill>
                  <a:srgbClr val="232925"/>
                </a:solidFill>
                <a:latin typeface="Arial"/>
                <a:cs typeface="Arial"/>
              </a:rPr>
              <a:t>How is the work done today? What does it cost?</a:t>
            </a:r>
          </a:p>
        </p:txBody>
      </p:sp>
      <p:sp>
        <p:nvSpPr>
          <p:cNvPr id="19" name="Category accent"/>
          <p:cNvSpPr/>
          <p:nvPr/>
        </p:nvSpPr>
        <p:spPr>
          <a:xfrm>
            <a:off x="594360" y="3302000"/>
            <a:ext cx="63500" cy="431800"/>
          </a:xfrm>
          <a:prstGeom prst="rect">
            <a:avLst/>
          </a:prstGeom>
          <a:solidFill>
            <a:srgbClr val="8534F3"/>
          </a:solidFill>
          <a:ln>
            <a:noFill/>
          </a:ln>
        </p:spPr>
        <p:txBody>
          <a:bodyPr rtlCol="0" anchor="ctr"/>
          <a:lstStyle/>
          <a:p>
            <a:endParaRPr lang="en-US"/>
          </a:p>
        </p:txBody>
      </p:sp>
      <p:sp>
        <p:nvSpPr>
          <p:cNvPr id="20" name="Category row"/>
          <p:cNvSpPr/>
          <p:nvPr/>
        </p:nvSpPr>
        <p:spPr>
          <a:xfrm>
            <a:off x="657860" y="3302000"/>
            <a:ext cx="5016500" cy="431800"/>
          </a:xfrm>
          <a:prstGeom prst="rect">
            <a:avLst/>
          </a:prstGeom>
          <a:solidFill>
            <a:srgbClr val="F2F5F3"/>
          </a:solidFill>
          <a:ln>
            <a:noFill/>
          </a:ln>
        </p:spPr>
        <p:txBody>
          <a:bodyPr rtlCol="0" anchor="ctr"/>
          <a:lstStyle/>
          <a:p>
            <a:endParaRPr lang="en-US"/>
          </a:p>
        </p:txBody>
      </p:sp>
      <p:sp>
        <p:nvSpPr>
          <p:cNvPr id="21" name="Category Users and workflow"/>
          <p:cNvSpPr txBox="1"/>
          <p:nvPr/>
        </p:nvSpPr>
        <p:spPr>
          <a:xfrm>
            <a:off x="797560" y="3314700"/>
            <a:ext cx="1498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Users and workflow</a:t>
            </a:r>
          </a:p>
        </p:txBody>
      </p:sp>
      <p:sp>
        <p:nvSpPr>
          <p:cNvPr id="22" name="Category Users and workflow text"/>
          <p:cNvSpPr txBox="1"/>
          <p:nvPr/>
        </p:nvSpPr>
        <p:spPr>
          <a:xfrm>
            <a:off x="2346960" y="3314700"/>
            <a:ext cx="3200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00" b="0" i="0" dirty="0">
                <a:solidFill>
                  <a:srgbClr val="232925"/>
                </a:solidFill>
                <a:latin typeface="Arial"/>
                <a:cs typeface="Arial"/>
              </a:rPr>
              <a:t>Who does the work, in which steps?</a:t>
            </a:r>
          </a:p>
        </p:txBody>
      </p:sp>
      <p:sp>
        <p:nvSpPr>
          <p:cNvPr id="23" name="Category accent"/>
          <p:cNvSpPr/>
          <p:nvPr/>
        </p:nvSpPr>
        <p:spPr>
          <a:xfrm>
            <a:off x="594360" y="3810000"/>
            <a:ext cx="63500" cy="431800"/>
          </a:xfrm>
          <a:prstGeom prst="rect">
            <a:avLst/>
          </a:prstGeom>
          <a:solidFill>
            <a:srgbClr val="8534F3"/>
          </a:solidFill>
          <a:ln>
            <a:noFill/>
          </a:ln>
        </p:spPr>
        <p:txBody>
          <a:bodyPr rtlCol="0" anchor="ctr"/>
          <a:lstStyle/>
          <a:p>
            <a:endParaRPr lang="en-US"/>
          </a:p>
        </p:txBody>
      </p:sp>
      <p:sp>
        <p:nvSpPr>
          <p:cNvPr id="24" name="Category row"/>
          <p:cNvSpPr/>
          <p:nvPr/>
        </p:nvSpPr>
        <p:spPr>
          <a:xfrm>
            <a:off x="657860" y="3810000"/>
            <a:ext cx="5016500" cy="431800"/>
          </a:xfrm>
          <a:prstGeom prst="rect">
            <a:avLst/>
          </a:prstGeom>
          <a:solidFill>
            <a:srgbClr val="F2F5F3"/>
          </a:solidFill>
          <a:ln>
            <a:noFill/>
          </a:ln>
        </p:spPr>
        <p:txBody>
          <a:bodyPr rtlCol="0" anchor="ctr"/>
          <a:lstStyle/>
          <a:p>
            <a:endParaRPr lang="en-US"/>
          </a:p>
        </p:txBody>
      </p:sp>
      <p:sp>
        <p:nvSpPr>
          <p:cNvPr id="25" name="Category Constraints"/>
          <p:cNvSpPr txBox="1"/>
          <p:nvPr/>
        </p:nvSpPr>
        <p:spPr>
          <a:xfrm>
            <a:off x="797560" y="3822700"/>
            <a:ext cx="1498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Constraints</a:t>
            </a:r>
          </a:p>
        </p:txBody>
      </p:sp>
      <p:sp>
        <p:nvSpPr>
          <p:cNvPr id="26" name="Category Constraints text"/>
          <p:cNvSpPr txBox="1"/>
          <p:nvPr/>
        </p:nvSpPr>
        <p:spPr>
          <a:xfrm>
            <a:off x="2346960" y="3822700"/>
            <a:ext cx="3200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00" b="0" i="0" dirty="0">
                <a:solidFill>
                  <a:srgbClr val="232925"/>
                </a:solidFill>
                <a:latin typeface="Arial"/>
                <a:cs typeface="Arial"/>
              </a:rPr>
              <a:t>Data, policy and access limits</a:t>
            </a:r>
          </a:p>
        </p:txBody>
      </p:sp>
      <p:sp>
        <p:nvSpPr>
          <p:cNvPr id="27" name="Category accent"/>
          <p:cNvSpPr/>
          <p:nvPr/>
        </p:nvSpPr>
        <p:spPr>
          <a:xfrm>
            <a:off x="594360" y="4318000"/>
            <a:ext cx="63500" cy="431800"/>
          </a:xfrm>
          <a:prstGeom prst="rect">
            <a:avLst/>
          </a:prstGeom>
          <a:solidFill>
            <a:srgbClr val="8534F3"/>
          </a:solidFill>
          <a:ln>
            <a:noFill/>
          </a:ln>
        </p:spPr>
        <p:txBody>
          <a:bodyPr rtlCol="0" anchor="ctr"/>
          <a:lstStyle/>
          <a:p>
            <a:endParaRPr lang="en-US"/>
          </a:p>
        </p:txBody>
      </p:sp>
      <p:sp>
        <p:nvSpPr>
          <p:cNvPr id="28" name="Category row"/>
          <p:cNvSpPr/>
          <p:nvPr/>
        </p:nvSpPr>
        <p:spPr>
          <a:xfrm>
            <a:off x="657860" y="4318000"/>
            <a:ext cx="5016500" cy="431800"/>
          </a:xfrm>
          <a:prstGeom prst="rect">
            <a:avLst/>
          </a:prstGeom>
          <a:solidFill>
            <a:srgbClr val="F2F5F3"/>
          </a:solidFill>
          <a:ln>
            <a:noFill/>
          </a:ln>
        </p:spPr>
        <p:txBody>
          <a:bodyPr rtlCol="0" anchor="ctr"/>
          <a:lstStyle/>
          <a:p>
            <a:endParaRPr lang="en-US"/>
          </a:p>
        </p:txBody>
      </p:sp>
      <p:sp>
        <p:nvSpPr>
          <p:cNvPr id="29" name="Category Ownership"/>
          <p:cNvSpPr txBox="1"/>
          <p:nvPr/>
        </p:nvSpPr>
        <p:spPr>
          <a:xfrm>
            <a:off x="797560" y="4330700"/>
            <a:ext cx="1498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Ownership</a:t>
            </a:r>
          </a:p>
        </p:txBody>
      </p:sp>
      <p:sp>
        <p:nvSpPr>
          <p:cNvPr id="30" name="Category Ownership text"/>
          <p:cNvSpPr txBox="1"/>
          <p:nvPr/>
        </p:nvSpPr>
        <p:spPr>
          <a:xfrm>
            <a:off x="2346960" y="4330700"/>
            <a:ext cx="3200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00" b="0" i="0" dirty="0">
                <a:solidFill>
                  <a:srgbClr val="232925"/>
                </a:solidFill>
                <a:latin typeface="Arial"/>
                <a:cs typeface="Arial"/>
              </a:rPr>
              <a:t>Who decides, reviews and owns follow-up?</a:t>
            </a:r>
          </a:p>
        </p:txBody>
      </p:sp>
      <p:sp>
        <p:nvSpPr>
          <p:cNvPr id="31" name="Category accent"/>
          <p:cNvSpPr/>
          <p:nvPr/>
        </p:nvSpPr>
        <p:spPr>
          <a:xfrm>
            <a:off x="594360" y="4826000"/>
            <a:ext cx="63500" cy="431800"/>
          </a:xfrm>
          <a:prstGeom prst="rect">
            <a:avLst/>
          </a:prstGeom>
          <a:solidFill>
            <a:srgbClr val="8534F3"/>
          </a:solidFill>
          <a:ln>
            <a:noFill/>
          </a:ln>
        </p:spPr>
        <p:txBody>
          <a:bodyPr rtlCol="0" anchor="ctr"/>
          <a:lstStyle/>
          <a:p>
            <a:endParaRPr lang="en-US"/>
          </a:p>
        </p:txBody>
      </p:sp>
      <p:sp>
        <p:nvSpPr>
          <p:cNvPr id="32" name="Category row"/>
          <p:cNvSpPr/>
          <p:nvPr/>
        </p:nvSpPr>
        <p:spPr>
          <a:xfrm>
            <a:off x="657860" y="4826000"/>
            <a:ext cx="5016500" cy="431800"/>
          </a:xfrm>
          <a:prstGeom prst="rect">
            <a:avLst/>
          </a:prstGeom>
          <a:solidFill>
            <a:srgbClr val="F2F5F3"/>
          </a:solidFill>
          <a:ln>
            <a:noFill/>
          </a:ln>
        </p:spPr>
        <p:txBody>
          <a:bodyPr rtlCol="0" anchor="ctr"/>
          <a:lstStyle/>
          <a:p>
            <a:endParaRPr lang="en-US"/>
          </a:p>
        </p:txBody>
      </p:sp>
      <p:sp>
        <p:nvSpPr>
          <p:cNvPr id="33" name="Category Readiness"/>
          <p:cNvSpPr txBox="1"/>
          <p:nvPr/>
        </p:nvSpPr>
        <p:spPr>
          <a:xfrm>
            <a:off x="797560" y="4838700"/>
            <a:ext cx="1498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Readiness</a:t>
            </a:r>
          </a:p>
        </p:txBody>
      </p:sp>
      <p:sp>
        <p:nvSpPr>
          <p:cNvPr id="34" name="Category Readiness text"/>
          <p:cNvSpPr txBox="1"/>
          <p:nvPr/>
        </p:nvSpPr>
        <p:spPr>
          <a:xfrm>
            <a:off x="2346960" y="4838700"/>
            <a:ext cx="3200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00" b="0" i="0" dirty="0">
                <a:solidFill>
                  <a:srgbClr val="232925"/>
                </a:solidFill>
                <a:latin typeface="Arial"/>
                <a:cs typeface="Arial"/>
              </a:rPr>
              <a:t>Skills, tooling and App access in place?</a:t>
            </a:r>
          </a:p>
        </p:txBody>
      </p:sp>
      <p:sp>
        <p:nvSpPr>
          <p:cNvPr id="35" name="Handling title"/>
          <p:cNvSpPr txBox="1"/>
          <p:nvPr/>
        </p:nvSpPr>
        <p:spPr>
          <a:xfrm>
            <a:off x="6182360" y="1905000"/>
            <a:ext cx="53848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600" b="1" i="0" dirty="0">
                <a:solidFill>
                  <a:srgbClr val="101411"/>
                </a:solidFill>
                <a:latin typeface="Mona Sans"/>
                <a:cs typeface="Mona Sans"/>
              </a:rPr>
              <a:t>How responses would be handled</a:t>
            </a:r>
          </a:p>
        </p:txBody>
      </p:sp>
      <p:sp>
        <p:nvSpPr>
          <p:cNvPr id="36" name="Step number"/>
          <p:cNvSpPr txBox="1"/>
          <p:nvPr/>
        </p:nvSpPr>
        <p:spPr>
          <a:xfrm>
            <a:off x="6182360" y="2349500"/>
            <a:ext cx="355600" cy="35560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300" b="1" i="0" dirty="0">
                <a:solidFill>
                  <a:srgbClr val="FFFFFF"/>
                </a:solidFill>
                <a:latin typeface="Arial"/>
                <a:cs typeface="Arial"/>
              </a:rPr>
              <a:t>1</a:t>
            </a:r>
          </a:p>
        </p:txBody>
      </p:sp>
      <p:sp>
        <p:nvSpPr>
          <p:cNvPr id="37" name="Handling 1"/>
          <p:cNvSpPr txBox="1"/>
          <p:nvPr/>
        </p:nvSpPr>
        <p:spPr>
          <a:xfrm>
            <a:off x="6690360" y="2286000"/>
            <a:ext cx="4876800" cy="508000"/>
          </a:xfrm>
          <a:prstGeom prst="rect">
            <a:avLst/>
          </a:prstGeom>
          <a:noFill/>
          <a:ln>
            <a:noFill/>
          </a:ln>
        </p:spPr>
        <p:txBody>
          <a:bodyPr wrap="square" lIns="0" tIns="0" rIns="0" bIns="0" anchor="ctr">
            <a:noAutofit/>
          </a:bodyPr>
          <a:lstStyle/>
          <a:p>
            <a:pPr algn="l">
              <a:lnSpc>
                <a:spcPct val="102000"/>
              </a:lnSpc>
              <a:spcBef>
                <a:spcPts val="0"/>
              </a:spcBef>
              <a:spcAft>
                <a:spcPts val="0"/>
              </a:spcAft>
              <a:buNone/>
            </a:pPr>
            <a:r>
              <a:rPr lang="en-US" sz="1300" b="1" i="0" dirty="0">
                <a:solidFill>
                  <a:srgbClr val="232925"/>
                </a:solidFill>
                <a:latin typeface="Arial"/>
                <a:cs typeface="Arial"/>
              </a:rPr>
              <a:t>Draft.</a:t>
            </a:r>
            <a:r>
              <a:rPr lang="en-US" sz="1300" b="0" i="0" dirty="0">
                <a:solidFill>
                  <a:srgbClr val="232925"/>
                </a:solidFill>
                <a:latin typeface="Arial"/>
                <a:cs typeface="Arial"/>
              </a:rPr>
              <a:t> Copilot drafts questions from discovery findings and evidence gaps.</a:t>
            </a:r>
          </a:p>
        </p:txBody>
      </p:sp>
      <p:sp>
        <p:nvSpPr>
          <p:cNvPr id="38" name="Step number"/>
          <p:cNvSpPr txBox="1"/>
          <p:nvPr/>
        </p:nvSpPr>
        <p:spPr>
          <a:xfrm>
            <a:off x="6182360" y="2959100"/>
            <a:ext cx="355600" cy="35560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300" b="1" i="0" dirty="0">
                <a:solidFill>
                  <a:srgbClr val="FFFFFF"/>
                </a:solidFill>
                <a:latin typeface="Arial"/>
                <a:cs typeface="Arial"/>
              </a:rPr>
              <a:t>2</a:t>
            </a:r>
          </a:p>
        </p:txBody>
      </p:sp>
      <p:sp>
        <p:nvSpPr>
          <p:cNvPr id="39" name="Handling 2"/>
          <p:cNvSpPr txBox="1"/>
          <p:nvPr/>
        </p:nvSpPr>
        <p:spPr>
          <a:xfrm>
            <a:off x="6690360" y="2895600"/>
            <a:ext cx="4876800" cy="508000"/>
          </a:xfrm>
          <a:prstGeom prst="rect">
            <a:avLst/>
          </a:prstGeom>
          <a:noFill/>
          <a:ln>
            <a:noFill/>
          </a:ln>
        </p:spPr>
        <p:txBody>
          <a:bodyPr wrap="square" lIns="0" tIns="0" rIns="0" bIns="0" anchor="ctr">
            <a:noAutofit/>
          </a:bodyPr>
          <a:lstStyle/>
          <a:p>
            <a:pPr algn="l">
              <a:lnSpc>
                <a:spcPct val="102000"/>
              </a:lnSpc>
              <a:spcBef>
                <a:spcPts val="0"/>
              </a:spcBef>
              <a:spcAft>
                <a:spcPts val="0"/>
              </a:spcAft>
              <a:buNone/>
            </a:pPr>
            <a:r>
              <a:rPr lang="en-US" sz="1300" b="1" i="0" dirty="0">
                <a:solidFill>
                  <a:srgbClr val="232925"/>
                </a:solidFill>
                <a:latin typeface="Arial"/>
                <a:cs typeface="Arial"/>
              </a:rPr>
              <a:t>Gate.</a:t>
            </a:r>
            <a:r>
              <a:rPr lang="en-US" sz="1300" b="0" i="0" dirty="0">
                <a:solidFill>
                  <a:srgbClr val="232925"/>
                </a:solidFill>
                <a:latin typeface="Arial"/>
                <a:cs typeface="Arial"/>
              </a:rPr>
              <a:t> The account owner edits and approves before anything is sent.</a:t>
            </a:r>
          </a:p>
        </p:txBody>
      </p:sp>
      <p:sp>
        <p:nvSpPr>
          <p:cNvPr id="40" name="Step number"/>
          <p:cNvSpPr txBox="1"/>
          <p:nvPr/>
        </p:nvSpPr>
        <p:spPr>
          <a:xfrm>
            <a:off x="6182360" y="3568700"/>
            <a:ext cx="355600" cy="35560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300" b="1" i="0" dirty="0">
                <a:solidFill>
                  <a:srgbClr val="FFFFFF"/>
                </a:solidFill>
                <a:latin typeface="Arial"/>
                <a:cs typeface="Arial"/>
              </a:rPr>
              <a:t>3</a:t>
            </a:r>
          </a:p>
        </p:txBody>
      </p:sp>
      <p:sp>
        <p:nvSpPr>
          <p:cNvPr id="41" name="Handling 3"/>
          <p:cNvSpPr txBox="1"/>
          <p:nvPr/>
        </p:nvSpPr>
        <p:spPr>
          <a:xfrm>
            <a:off x="6690360" y="3505200"/>
            <a:ext cx="4876800" cy="508000"/>
          </a:xfrm>
          <a:prstGeom prst="rect">
            <a:avLst/>
          </a:prstGeom>
          <a:noFill/>
          <a:ln>
            <a:noFill/>
          </a:ln>
        </p:spPr>
        <p:txBody>
          <a:bodyPr wrap="square" lIns="0" tIns="0" rIns="0" bIns="0" anchor="ctr">
            <a:noAutofit/>
          </a:bodyPr>
          <a:lstStyle/>
          <a:p>
            <a:pPr algn="l">
              <a:lnSpc>
                <a:spcPct val="102000"/>
              </a:lnSpc>
              <a:spcBef>
                <a:spcPts val="0"/>
              </a:spcBef>
              <a:spcAft>
                <a:spcPts val="0"/>
              </a:spcAft>
              <a:buNone/>
            </a:pPr>
            <a:r>
              <a:rPr lang="en-US" sz="1300" b="1" i="0" dirty="0">
                <a:solidFill>
                  <a:srgbClr val="232925"/>
                </a:solidFill>
                <a:latin typeface="Arial"/>
                <a:cs typeface="Arial"/>
              </a:rPr>
              <a:t>Synthesize.</a:t>
            </a:r>
            <a:r>
              <a:rPr lang="en-US" sz="1300" b="0" i="0" dirty="0">
                <a:solidFill>
                  <a:srgbClr val="232925"/>
                </a:solidFill>
                <a:latin typeface="Arial"/>
                <a:cs typeface="Arial"/>
              </a:rPr>
              <a:t> Answers are grouped into requirements; each cites its source answers.</a:t>
            </a:r>
          </a:p>
        </p:txBody>
      </p:sp>
      <p:sp>
        <p:nvSpPr>
          <p:cNvPr id="42" name="Step number"/>
          <p:cNvSpPr txBox="1"/>
          <p:nvPr/>
        </p:nvSpPr>
        <p:spPr>
          <a:xfrm>
            <a:off x="6182360" y="4178300"/>
            <a:ext cx="355600" cy="35560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300" b="1" i="0" dirty="0">
                <a:solidFill>
                  <a:srgbClr val="FFFFFF"/>
                </a:solidFill>
                <a:latin typeface="Arial"/>
                <a:cs typeface="Arial"/>
              </a:rPr>
              <a:t>4</a:t>
            </a:r>
          </a:p>
        </p:txBody>
      </p:sp>
      <p:sp>
        <p:nvSpPr>
          <p:cNvPr id="43" name="Handling 4"/>
          <p:cNvSpPr txBox="1"/>
          <p:nvPr/>
        </p:nvSpPr>
        <p:spPr>
          <a:xfrm>
            <a:off x="6690360" y="4114800"/>
            <a:ext cx="4876800" cy="508000"/>
          </a:xfrm>
          <a:prstGeom prst="rect">
            <a:avLst/>
          </a:prstGeom>
          <a:noFill/>
          <a:ln>
            <a:noFill/>
          </a:ln>
        </p:spPr>
        <p:txBody>
          <a:bodyPr wrap="square" lIns="0" tIns="0" rIns="0" bIns="0" anchor="ctr">
            <a:noAutofit/>
          </a:bodyPr>
          <a:lstStyle/>
          <a:p>
            <a:pPr algn="l">
              <a:lnSpc>
                <a:spcPct val="102000"/>
              </a:lnSpc>
              <a:spcBef>
                <a:spcPts val="0"/>
              </a:spcBef>
              <a:spcAft>
                <a:spcPts val="0"/>
              </a:spcAft>
              <a:buNone/>
            </a:pPr>
            <a:r>
              <a:rPr lang="en-US" sz="1300" b="1" i="0" dirty="0">
                <a:solidFill>
                  <a:srgbClr val="232925"/>
                </a:solidFill>
                <a:latin typeface="Arial"/>
                <a:cs typeface="Arial"/>
              </a:rPr>
              <a:t>Keep unknowns.</a:t>
            </a:r>
            <a:r>
              <a:rPr lang="en-US" sz="1300" b="0" i="0" dirty="0">
                <a:solidFill>
                  <a:srgbClr val="232925"/>
                </a:solidFill>
                <a:latin typeface="Arial"/>
                <a:cs typeface="Arial"/>
              </a:rPr>
              <a:t> Missing and contradictory answers stay visible.</a:t>
            </a:r>
          </a:p>
        </p:txBody>
      </p:sp>
      <p:sp>
        <p:nvSpPr>
          <p:cNvPr id="44" name="Step number"/>
          <p:cNvSpPr txBox="1"/>
          <p:nvPr/>
        </p:nvSpPr>
        <p:spPr>
          <a:xfrm>
            <a:off x="6182360" y="4787900"/>
            <a:ext cx="355600" cy="35560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300" b="1" i="0" dirty="0">
                <a:solidFill>
                  <a:srgbClr val="FFFFFF"/>
                </a:solidFill>
                <a:latin typeface="Arial"/>
                <a:cs typeface="Arial"/>
              </a:rPr>
              <a:t>5</a:t>
            </a:r>
          </a:p>
        </p:txBody>
      </p:sp>
      <p:sp>
        <p:nvSpPr>
          <p:cNvPr id="45" name="Handling 5"/>
          <p:cNvSpPr txBox="1"/>
          <p:nvPr/>
        </p:nvSpPr>
        <p:spPr>
          <a:xfrm>
            <a:off x="6690360" y="4724400"/>
            <a:ext cx="4876800" cy="508000"/>
          </a:xfrm>
          <a:prstGeom prst="rect">
            <a:avLst/>
          </a:prstGeom>
          <a:noFill/>
          <a:ln>
            <a:noFill/>
          </a:ln>
        </p:spPr>
        <p:txBody>
          <a:bodyPr wrap="square" lIns="0" tIns="0" rIns="0" bIns="0" anchor="ctr">
            <a:noAutofit/>
          </a:bodyPr>
          <a:lstStyle/>
          <a:p>
            <a:pPr algn="l">
              <a:lnSpc>
                <a:spcPct val="102000"/>
              </a:lnSpc>
              <a:spcBef>
                <a:spcPts val="0"/>
              </a:spcBef>
              <a:spcAft>
                <a:spcPts val="0"/>
              </a:spcAft>
              <a:buNone/>
            </a:pPr>
            <a:r>
              <a:rPr lang="en-US" sz="1300" b="1" i="0" dirty="0">
                <a:solidFill>
                  <a:srgbClr val="232925"/>
                </a:solidFill>
                <a:latin typeface="Arial"/>
                <a:cs typeface="Arial"/>
              </a:rPr>
              <a:t>Gate.</a:t>
            </a:r>
            <a:r>
              <a:rPr lang="en-US" sz="1300" b="0" i="0" dirty="0">
                <a:solidFill>
                  <a:srgbClr val="232925"/>
                </a:solidFill>
                <a:latin typeface="Arial"/>
                <a:cs typeface="Arial"/>
              </a:rPr>
              <a:t> The customer confirms the requirement list.</a:t>
            </a:r>
          </a:p>
        </p:txBody>
      </p:sp>
      <p:sp>
        <p:nvSpPr>
          <p:cNvPr id="46" name="Takeaway band"/>
          <p:cNvSpPr/>
          <p:nvPr/>
        </p:nvSpPr>
        <p:spPr>
          <a:xfrm>
            <a:off x="594360" y="5511800"/>
            <a:ext cx="10972800" cy="406400"/>
          </a:xfrm>
          <a:prstGeom prst="rect">
            <a:avLst/>
          </a:prstGeom>
          <a:solidFill>
            <a:srgbClr val="F2F5F3"/>
          </a:solidFill>
          <a:ln>
            <a:noFill/>
          </a:ln>
        </p:spPr>
        <p:txBody>
          <a:bodyPr rtlCol="0" anchor="ctr"/>
          <a:lstStyle/>
          <a:p>
            <a:endParaRPr lang="en-US"/>
          </a:p>
        </p:txBody>
      </p:sp>
      <p:sp>
        <p:nvSpPr>
          <p:cNvPr id="47" name="Takeaway marker"/>
          <p:cNvSpPr/>
          <p:nvPr/>
        </p:nvSpPr>
        <p:spPr>
          <a:xfrm>
            <a:off x="772160" y="5638800"/>
            <a:ext cx="152400" cy="152400"/>
          </a:xfrm>
          <a:prstGeom prst="diamond">
            <a:avLst/>
          </a:prstGeom>
          <a:solidFill>
            <a:srgbClr val="08872B"/>
          </a:solidFill>
          <a:ln>
            <a:noFill/>
          </a:ln>
        </p:spPr>
        <p:txBody>
          <a:bodyPr rtlCol="0" anchor="ctr"/>
          <a:lstStyle/>
          <a:p>
            <a:endParaRPr lang="en-US"/>
          </a:p>
        </p:txBody>
      </p:sp>
      <p:sp>
        <p:nvSpPr>
          <p:cNvPr id="48" name="Takeaway"/>
          <p:cNvSpPr txBox="1"/>
          <p:nvPr/>
        </p:nvSpPr>
        <p:spPr>
          <a:xfrm>
            <a:off x="1076960" y="5511800"/>
            <a:ext cx="103124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Reuses Bearing’s discipline: cite sources, keep unknowns visible, stop at a human gate.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63"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08 / 15</a:t>
            </a:r>
          </a:p>
        </p:txBody>
      </p:sp>
      <p:sp>
        <p:nvSpPr>
          <p:cNvPr id="6" name="Source and legend"/>
          <p:cNvSpPr txBox="1"/>
          <p:nvPr/>
        </p:nvSpPr>
        <p:spPr>
          <a:xfrm>
            <a:off x="594360" y="5905500"/>
            <a:ext cx="10972800" cy="3556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a:p>
            <a:pPr algn="l">
              <a:lnSpc>
                <a:spcPct val="100000"/>
              </a:lnSpc>
              <a:spcBef>
                <a:spcPts val="0"/>
              </a:spcBef>
              <a:spcAft>
                <a:spcPts val="0"/>
              </a:spcAft>
              <a:buNone/>
            </a:pPr>
            <a:r>
              <a:rPr lang="en-US" sz="1000" b="0" i="0" dirty="0">
                <a:solidFill>
                  <a:srgbClr val="5C665F"/>
                </a:solidFill>
                <a:latin typeface="Arial"/>
                <a:cs typeface="Arial"/>
              </a:rPr>
              <a:t>Source: submission/workshop-building-blocks.md (recommended designs, not packaged offerings, not proven outcomes). Green marker: block backed by built Bearing behavior.</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Step 3. Turn requirements into a workshop.</a:t>
            </a:r>
          </a:p>
        </p:txBody>
      </p:sp>
      <p:sp>
        <p:nvSpPr>
          <p:cNvPr id="8" name="Tag Emerging"/>
          <p:cNvSpPr txBox="1"/>
          <p:nvPr/>
        </p:nvSpPr>
        <p:spPr>
          <a:xfrm>
            <a:off x="594360" y="1498600"/>
            <a:ext cx="923290" cy="27432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Emerging</a:t>
            </a:r>
          </a:p>
        </p:txBody>
      </p:sp>
      <p:sp>
        <p:nvSpPr>
          <p:cNvPr id="9" name="KB note"/>
          <p:cNvSpPr txBox="1"/>
          <p:nvPr/>
        </p:nvSpPr>
        <p:spPr>
          <a:xfrm>
            <a:off x="1686560" y="1498600"/>
            <a:ext cx="3810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Knowledge base: a document</a:t>
            </a:r>
          </a:p>
        </p:txBody>
      </p:sp>
      <p:sp>
        <p:nvSpPr>
          <p:cNvPr id="10" name="Tag Proposed"/>
          <p:cNvSpPr txBox="1"/>
          <p:nvPr/>
        </p:nvSpPr>
        <p:spPr>
          <a:xfrm>
            <a:off x="6182360" y="14986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11" name="Assembly note"/>
          <p:cNvSpPr txBox="1"/>
          <p:nvPr/>
        </p:nvSpPr>
        <p:spPr>
          <a:xfrm>
            <a:off x="7274560" y="1498600"/>
            <a:ext cx="4191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Assembly from requirements</a:t>
            </a:r>
          </a:p>
        </p:txBody>
      </p:sp>
      <p:sp>
        <p:nvSpPr>
          <p:cNvPr id="12" name="Block row"/>
          <p:cNvSpPr/>
          <p:nvPr/>
        </p:nvSpPr>
        <p:spPr>
          <a:xfrm>
            <a:off x="594360" y="1879600"/>
            <a:ext cx="5080000" cy="342900"/>
          </a:xfrm>
          <a:prstGeom prst="rect">
            <a:avLst/>
          </a:prstGeom>
          <a:solidFill>
            <a:srgbClr val="F2F5F3"/>
          </a:solidFill>
          <a:ln>
            <a:noFill/>
          </a:ln>
        </p:spPr>
        <p:txBody>
          <a:bodyPr rtlCol="0" anchor="ctr"/>
          <a:lstStyle/>
          <a:p>
            <a:endParaRPr lang="en-US"/>
          </a:p>
        </p:txBody>
      </p:sp>
      <p:sp>
        <p:nvSpPr>
          <p:cNvPr id="13" name="Block marker"/>
          <p:cNvSpPr/>
          <p:nvPr/>
        </p:nvSpPr>
        <p:spPr>
          <a:xfrm>
            <a:off x="594360" y="1879600"/>
            <a:ext cx="63500" cy="342900"/>
          </a:xfrm>
          <a:prstGeom prst="rect">
            <a:avLst/>
          </a:prstGeom>
          <a:solidFill>
            <a:srgbClr val="B6BFB8"/>
          </a:solidFill>
          <a:ln>
            <a:noFill/>
          </a:ln>
        </p:spPr>
        <p:txBody>
          <a:bodyPr rtlCol="0" anchor="ctr"/>
          <a:lstStyle/>
          <a:p>
            <a:endParaRPr lang="en-US"/>
          </a:p>
        </p:txBody>
      </p:sp>
      <p:sp>
        <p:nvSpPr>
          <p:cNvPr id="14" name="B1 id"/>
          <p:cNvSpPr txBox="1"/>
          <p:nvPr/>
        </p:nvSpPr>
        <p:spPr>
          <a:xfrm>
            <a:off x="772160" y="18796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Mona Sans"/>
                <a:cs typeface="Mona Sans"/>
              </a:rPr>
              <a:t>B1</a:t>
            </a:r>
          </a:p>
        </p:txBody>
      </p:sp>
      <p:sp>
        <p:nvSpPr>
          <p:cNvPr id="15" name="B1 name"/>
          <p:cNvSpPr txBox="1"/>
          <p:nvPr/>
        </p:nvSpPr>
        <p:spPr>
          <a:xfrm>
            <a:off x="1203960" y="18796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Scope the workflow and learn the App</a:t>
            </a:r>
          </a:p>
        </p:txBody>
      </p:sp>
      <p:sp>
        <p:nvSpPr>
          <p:cNvPr id="16" name="Block row"/>
          <p:cNvSpPr/>
          <p:nvPr/>
        </p:nvSpPr>
        <p:spPr>
          <a:xfrm>
            <a:off x="594360" y="2273300"/>
            <a:ext cx="5080000" cy="342900"/>
          </a:xfrm>
          <a:prstGeom prst="rect">
            <a:avLst/>
          </a:prstGeom>
          <a:solidFill>
            <a:srgbClr val="F2F5F3"/>
          </a:solidFill>
          <a:ln>
            <a:noFill/>
          </a:ln>
        </p:spPr>
        <p:txBody>
          <a:bodyPr rtlCol="0" anchor="ctr"/>
          <a:lstStyle/>
          <a:p>
            <a:endParaRPr lang="en-US"/>
          </a:p>
        </p:txBody>
      </p:sp>
      <p:sp>
        <p:nvSpPr>
          <p:cNvPr id="17" name="Block marker"/>
          <p:cNvSpPr/>
          <p:nvPr/>
        </p:nvSpPr>
        <p:spPr>
          <a:xfrm>
            <a:off x="594360" y="2273300"/>
            <a:ext cx="63500" cy="342900"/>
          </a:xfrm>
          <a:prstGeom prst="rect">
            <a:avLst/>
          </a:prstGeom>
          <a:solidFill>
            <a:srgbClr val="08872B"/>
          </a:solidFill>
          <a:ln>
            <a:noFill/>
          </a:ln>
        </p:spPr>
        <p:txBody>
          <a:bodyPr rtlCol="0" anchor="ctr"/>
          <a:lstStyle/>
          <a:p>
            <a:endParaRPr lang="en-US"/>
          </a:p>
        </p:txBody>
      </p:sp>
      <p:sp>
        <p:nvSpPr>
          <p:cNvPr id="18" name="B2 id"/>
          <p:cNvSpPr txBox="1"/>
          <p:nvPr/>
        </p:nvSpPr>
        <p:spPr>
          <a:xfrm>
            <a:off x="772160" y="22733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08872B"/>
                </a:solidFill>
                <a:latin typeface="Mona Sans"/>
                <a:cs typeface="Mona Sans"/>
              </a:rPr>
              <a:t>B2</a:t>
            </a:r>
          </a:p>
        </p:txBody>
      </p:sp>
      <p:sp>
        <p:nvSpPr>
          <p:cNvPr id="19" name="B2 name"/>
          <p:cNvSpPr txBox="1"/>
          <p:nvPr/>
        </p:nvSpPr>
        <p:spPr>
          <a:xfrm>
            <a:off x="1203960" y="22733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Establish repository bearings</a:t>
            </a:r>
          </a:p>
        </p:txBody>
      </p:sp>
      <p:sp>
        <p:nvSpPr>
          <p:cNvPr id="20" name="Block row"/>
          <p:cNvSpPr/>
          <p:nvPr/>
        </p:nvSpPr>
        <p:spPr>
          <a:xfrm>
            <a:off x="594360" y="2667000"/>
            <a:ext cx="5080000" cy="342900"/>
          </a:xfrm>
          <a:prstGeom prst="rect">
            <a:avLst/>
          </a:prstGeom>
          <a:solidFill>
            <a:srgbClr val="F2F5F3"/>
          </a:solidFill>
          <a:ln>
            <a:noFill/>
          </a:ln>
        </p:spPr>
        <p:txBody>
          <a:bodyPr rtlCol="0" anchor="ctr"/>
          <a:lstStyle/>
          <a:p>
            <a:endParaRPr lang="en-US"/>
          </a:p>
        </p:txBody>
      </p:sp>
      <p:sp>
        <p:nvSpPr>
          <p:cNvPr id="21" name="Block marker"/>
          <p:cNvSpPr/>
          <p:nvPr/>
        </p:nvSpPr>
        <p:spPr>
          <a:xfrm>
            <a:off x="594360" y="2667000"/>
            <a:ext cx="63500" cy="342900"/>
          </a:xfrm>
          <a:prstGeom prst="rect">
            <a:avLst/>
          </a:prstGeom>
          <a:solidFill>
            <a:srgbClr val="08872B"/>
          </a:solidFill>
          <a:ln>
            <a:noFill/>
          </a:ln>
        </p:spPr>
        <p:txBody>
          <a:bodyPr rtlCol="0" anchor="ctr"/>
          <a:lstStyle/>
          <a:p>
            <a:endParaRPr lang="en-US"/>
          </a:p>
        </p:txBody>
      </p:sp>
      <p:sp>
        <p:nvSpPr>
          <p:cNvPr id="22" name="B3 id"/>
          <p:cNvSpPr txBox="1"/>
          <p:nvPr/>
        </p:nvSpPr>
        <p:spPr>
          <a:xfrm>
            <a:off x="772160" y="26670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08872B"/>
                </a:solidFill>
                <a:latin typeface="Mona Sans"/>
                <a:cs typeface="Mona Sans"/>
              </a:rPr>
              <a:t>B3</a:t>
            </a:r>
          </a:p>
        </p:txBody>
      </p:sp>
      <p:sp>
        <p:nvSpPr>
          <p:cNvPr id="23" name="B3 name"/>
          <p:cNvSpPr txBox="1"/>
          <p:nvPr/>
        </p:nvSpPr>
        <p:spPr>
          <a:xfrm>
            <a:off x="1203960" y="26670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Explain a change and choose a first task</a:t>
            </a:r>
          </a:p>
        </p:txBody>
      </p:sp>
      <p:sp>
        <p:nvSpPr>
          <p:cNvPr id="24" name="Block row"/>
          <p:cNvSpPr/>
          <p:nvPr/>
        </p:nvSpPr>
        <p:spPr>
          <a:xfrm>
            <a:off x="594360" y="3060700"/>
            <a:ext cx="5080000" cy="342900"/>
          </a:xfrm>
          <a:prstGeom prst="rect">
            <a:avLst/>
          </a:prstGeom>
          <a:solidFill>
            <a:srgbClr val="F2F5F3"/>
          </a:solidFill>
          <a:ln>
            <a:noFill/>
          </a:ln>
        </p:spPr>
        <p:txBody>
          <a:bodyPr rtlCol="0" anchor="ctr"/>
          <a:lstStyle/>
          <a:p>
            <a:endParaRPr lang="en-US"/>
          </a:p>
        </p:txBody>
      </p:sp>
      <p:sp>
        <p:nvSpPr>
          <p:cNvPr id="25" name="Block marker"/>
          <p:cNvSpPr/>
          <p:nvPr/>
        </p:nvSpPr>
        <p:spPr>
          <a:xfrm>
            <a:off x="594360" y="3060700"/>
            <a:ext cx="63500" cy="342900"/>
          </a:xfrm>
          <a:prstGeom prst="rect">
            <a:avLst/>
          </a:prstGeom>
          <a:solidFill>
            <a:srgbClr val="B6BFB8"/>
          </a:solidFill>
          <a:ln>
            <a:noFill/>
          </a:ln>
        </p:spPr>
        <p:txBody>
          <a:bodyPr rtlCol="0" anchor="ctr"/>
          <a:lstStyle/>
          <a:p>
            <a:endParaRPr lang="en-US"/>
          </a:p>
        </p:txBody>
      </p:sp>
      <p:sp>
        <p:nvSpPr>
          <p:cNvPr id="26" name="B4 id"/>
          <p:cNvSpPr txBox="1"/>
          <p:nvPr/>
        </p:nvSpPr>
        <p:spPr>
          <a:xfrm>
            <a:off x="772160" y="30607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Mona Sans"/>
                <a:cs typeface="Mona Sans"/>
              </a:rPr>
              <a:t>B4</a:t>
            </a:r>
          </a:p>
        </p:txBody>
      </p:sp>
      <p:sp>
        <p:nvSpPr>
          <p:cNvPr id="27" name="B4 name"/>
          <p:cNvSpPr txBox="1"/>
          <p:nvPr/>
        </p:nvSpPr>
        <p:spPr>
          <a:xfrm>
            <a:off x="1203960" y="30607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Package reusable team guidance</a:t>
            </a:r>
          </a:p>
        </p:txBody>
      </p:sp>
      <p:sp>
        <p:nvSpPr>
          <p:cNvPr id="28" name="Block row"/>
          <p:cNvSpPr/>
          <p:nvPr/>
        </p:nvSpPr>
        <p:spPr>
          <a:xfrm>
            <a:off x="594360" y="3454400"/>
            <a:ext cx="5080000" cy="342900"/>
          </a:xfrm>
          <a:prstGeom prst="rect">
            <a:avLst/>
          </a:prstGeom>
          <a:solidFill>
            <a:srgbClr val="F2F5F3"/>
          </a:solidFill>
          <a:ln>
            <a:noFill/>
          </a:ln>
        </p:spPr>
        <p:txBody>
          <a:bodyPr rtlCol="0" anchor="ctr"/>
          <a:lstStyle/>
          <a:p>
            <a:endParaRPr lang="en-US"/>
          </a:p>
        </p:txBody>
      </p:sp>
      <p:sp>
        <p:nvSpPr>
          <p:cNvPr id="29" name="Block marker"/>
          <p:cNvSpPr/>
          <p:nvPr/>
        </p:nvSpPr>
        <p:spPr>
          <a:xfrm>
            <a:off x="594360" y="3454400"/>
            <a:ext cx="63500" cy="342900"/>
          </a:xfrm>
          <a:prstGeom prst="rect">
            <a:avLst/>
          </a:prstGeom>
          <a:solidFill>
            <a:srgbClr val="B6BFB8"/>
          </a:solidFill>
          <a:ln>
            <a:noFill/>
          </a:ln>
        </p:spPr>
        <p:txBody>
          <a:bodyPr rtlCol="0" anchor="ctr"/>
          <a:lstStyle/>
          <a:p>
            <a:endParaRPr lang="en-US"/>
          </a:p>
        </p:txBody>
      </p:sp>
      <p:sp>
        <p:nvSpPr>
          <p:cNvPr id="30" name="B5 id"/>
          <p:cNvSpPr txBox="1"/>
          <p:nvPr/>
        </p:nvSpPr>
        <p:spPr>
          <a:xfrm>
            <a:off x="772160" y="34544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Mona Sans"/>
                <a:cs typeface="Mona Sans"/>
              </a:rPr>
              <a:t>B5</a:t>
            </a:r>
          </a:p>
        </p:txBody>
      </p:sp>
      <p:sp>
        <p:nvSpPr>
          <p:cNvPr id="31" name="B5 name"/>
          <p:cNvSpPr txBox="1"/>
          <p:nvPr/>
        </p:nvSpPr>
        <p:spPr>
          <a:xfrm>
            <a:off x="1203960" y="34544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Connect context without expanding authority</a:t>
            </a:r>
          </a:p>
        </p:txBody>
      </p:sp>
      <p:sp>
        <p:nvSpPr>
          <p:cNvPr id="32" name="Block row"/>
          <p:cNvSpPr/>
          <p:nvPr/>
        </p:nvSpPr>
        <p:spPr>
          <a:xfrm>
            <a:off x="594360" y="3848100"/>
            <a:ext cx="5080000" cy="342900"/>
          </a:xfrm>
          <a:prstGeom prst="rect">
            <a:avLst/>
          </a:prstGeom>
          <a:solidFill>
            <a:srgbClr val="F2F5F3"/>
          </a:solidFill>
          <a:ln>
            <a:noFill/>
          </a:ln>
        </p:spPr>
        <p:txBody>
          <a:bodyPr rtlCol="0" anchor="ctr"/>
          <a:lstStyle/>
          <a:p>
            <a:endParaRPr lang="en-US"/>
          </a:p>
        </p:txBody>
      </p:sp>
      <p:sp>
        <p:nvSpPr>
          <p:cNvPr id="33" name="Block marker"/>
          <p:cNvSpPr/>
          <p:nvPr/>
        </p:nvSpPr>
        <p:spPr>
          <a:xfrm>
            <a:off x="594360" y="3848100"/>
            <a:ext cx="63500" cy="342900"/>
          </a:xfrm>
          <a:prstGeom prst="rect">
            <a:avLst/>
          </a:prstGeom>
          <a:solidFill>
            <a:srgbClr val="B6BFB8"/>
          </a:solidFill>
          <a:ln>
            <a:noFill/>
          </a:ln>
        </p:spPr>
        <p:txBody>
          <a:bodyPr rtlCol="0" anchor="ctr"/>
          <a:lstStyle/>
          <a:p>
            <a:endParaRPr lang="en-US"/>
          </a:p>
        </p:txBody>
      </p:sp>
      <p:sp>
        <p:nvSpPr>
          <p:cNvPr id="34" name="B6 id"/>
          <p:cNvSpPr txBox="1"/>
          <p:nvPr/>
        </p:nvSpPr>
        <p:spPr>
          <a:xfrm>
            <a:off x="772160" y="38481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Mona Sans"/>
                <a:cs typeface="Mona Sans"/>
              </a:rPr>
              <a:t>B6</a:t>
            </a:r>
          </a:p>
        </p:txBody>
      </p:sp>
      <p:sp>
        <p:nvSpPr>
          <p:cNvPr id="35" name="B6 name"/>
          <p:cNvSpPr txBox="1"/>
          <p:nvPr/>
        </p:nvSpPr>
        <p:spPr>
          <a:xfrm>
            <a:off x="1203960" y="38481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Prototype with a non-developer</a:t>
            </a:r>
          </a:p>
        </p:txBody>
      </p:sp>
      <p:sp>
        <p:nvSpPr>
          <p:cNvPr id="36" name="Block row"/>
          <p:cNvSpPr/>
          <p:nvPr/>
        </p:nvSpPr>
        <p:spPr>
          <a:xfrm>
            <a:off x="594360" y="4241800"/>
            <a:ext cx="5080000" cy="342900"/>
          </a:xfrm>
          <a:prstGeom prst="rect">
            <a:avLst/>
          </a:prstGeom>
          <a:solidFill>
            <a:srgbClr val="F2F5F3"/>
          </a:solidFill>
          <a:ln>
            <a:noFill/>
          </a:ln>
        </p:spPr>
        <p:txBody>
          <a:bodyPr rtlCol="0" anchor="ctr"/>
          <a:lstStyle/>
          <a:p>
            <a:endParaRPr lang="en-US"/>
          </a:p>
        </p:txBody>
      </p:sp>
      <p:sp>
        <p:nvSpPr>
          <p:cNvPr id="37" name="Block marker"/>
          <p:cNvSpPr/>
          <p:nvPr/>
        </p:nvSpPr>
        <p:spPr>
          <a:xfrm>
            <a:off x="594360" y="4241800"/>
            <a:ext cx="63500" cy="342900"/>
          </a:xfrm>
          <a:prstGeom prst="rect">
            <a:avLst/>
          </a:prstGeom>
          <a:solidFill>
            <a:srgbClr val="B6BFB8"/>
          </a:solidFill>
          <a:ln>
            <a:noFill/>
          </a:ln>
        </p:spPr>
        <p:txBody>
          <a:bodyPr rtlCol="0" anchor="ctr"/>
          <a:lstStyle/>
          <a:p>
            <a:endParaRPr lang="en-US"/>
          </a:p>
        </p:txBody>
      </p:sp>
      <p:sp>
        <p:nvSpPr>
          <p:cNvPr id="38" name="B7 id"/>
          <p:cNvSpPr txBox="1"/>
          <p:nvPr/>
        </p:nvSpPr>
        <p:spPr>
          <a:xfrm>
            <a:off x="772160" y="42418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Mona Sans"/>
                <a:cs typeface="Mona Sans"/>
              </a:rPr>
              <a:t>B7</a:t>
            </a:r>
          </a:p>
        </p:txBody>
      </p:sp>
      <p:sp>
        <p:nvSpPr>
          <p:cNvPr id="39" name="B7 name"/>
          <p:cNvSpPr txBox="1"/>
          <p:nvPr/>
        </p:nvSpPr>
        <p:spPr>
          <a:xfrm>
            <a:off x="1203960" y="42418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Review against evidence and risk</a:t>
            </a:r>
          </a:p>
        </p:txBody>
      </p:sp>
      <p:sp>
        <p:nvSpPr>
          <p:cNvPr id="40" name="Block row"/>
          <p:cNvSpPr/>
          <p:nvPr/>
        </p:nvSpPr>
        <p:spPr>
          <a:xfrm>
            <a:off x="594360" y="4635500"/>
            <a:ext cx="5080000" cy="342900"/>
          </a:xfrm>
          <a:prstGeom prst="rect">
            <a:avLst/>
          </a:prstGeom>
          <a:solidFill>
            <a:srgbClr val="F2F5F3"/>
          </a:solidFill>
          <a:ln>
            <a:noFill/>
          </a:ln>
        </p:spPr>
        <p:txBody>
          <a:bodyPr rtlCol="0" anchor="ctr"/>
          <a:lstStyle/>
          <a:p>
            <a:endParaRPr lang="en-US"/>
          </a:p>
        </p:txBody>
      </p:sp>
      <p:sp>
        <p:nvSpPr>
          <p:cNvPr id="41" name="Block marker"/>
          <p:cNvSpPr/>
          <p:nvPr/>
        </p:nvSpPr>
        <p:spPr>
          <a:xfrm>
            <a:off x="594360" y="4635500"/>
            <a:ext cx="63500" cy="342900"/>
          </a:xfrm>
          <a:prstGeom prst="rect">
            <a:avLst/>
          </a:prstGeom>
          <a:solidFill>
            <a:srgbClr val="B6BFB8"/>
          </a:solidFill>
          <a:ln>
            <a:noFill/>
          </a:ln>
        </p:spPr>
        <p:txBody>
          <a:bodyPr rtlCol="0" anchor="ctr"/>
          <a:lstStyle/>
          <a:p>
            <a:endParaRPr lang="en-US"/>
          </a:p>
        </p:txBody>
      </p:sp>
      <p:sp>
        <p:nvSpPr>
          <p:cNvPr id="42" name="B8 id"/>
          <p:cNvSpPr txBox="1"/>
          <p:nvPr/>
        </p:nvSpPr>
        <p:spPr>
          <a:xfrm>
            <a:off x="772160" y="4635500"/>
            <a:ext cx="4064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Mona Sans"/>
                <a:cs typeface="Mona Sans"/>
              </a:rPr>
              <a:t>B8</a:t>
            </a:r>
          </a:p>
        </p:txBody>
      </p:sp>
      <p:sp>
        <p:nvSpPr>
          <p:cNvPr id="43" name="B8 name"/>
          <p:cNvSpPr txBox="1"/>
          <p:nvPr/>
        </p:nvSpPr>
        <p:spPr>
          <a:xfrm>
            <a:off x="1203960" y="4635500"/>
            <a:ext cx="4368800" cy="3429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0" i="0" dirty="0">
                <a:solidFill>
                  <a:srgbClr val="101411"/>
                </a:solidFill>
                <a:latin typeface="Arial"/>
                <a:cs typeface="Arial"/>
              </a:rPr>
              <a:t>Create a shareable knowledge handoff</a:t>
            </a:r>
          </a:p>
        </p:txBody>
      </p:sp>
      <p:sp>
        <p:nvSpPr>
          <p:cNvPr id="44" name="Header row"/>
          <p:cNvSpPr/>
          <p:nvPr/>
        </p:nvSpPr>
        <p:spPr>
          <a:xfrm>
            <a:off x="6182360" y="1879600"/>
            <a:ext cx="5384800" cy="355600"/>
          </a:xfrm>
          <a:prstGeom prst="rect">
            <a:avLst/>
          </a:prstGeom>
          <a:solidFill>
            <a:srgbClr val="101411"/>
          </a:solidFill>
          <a:ln>
            <a:noFill/>
          </a:ln>
        </p:spPr>
        <p:txBody>
          <a:bodyPr rtlCol="0" anchor="ctr"/>
          <a:lstStyle/>
          <a:p>
            <a:endParaRPr lang="en-US"/>
          </a:p>
        </p:txBody>
      </p:sp>
      <p:sp>
        <p:nvSpPr>
          <p:cNvPr id="45" name="Header If the requirement p"/>
          <p:cNvSpPr txBox="1"/>
          <p:nvPr/>
        </p:nvSpPr>
        <p:spPr>
          <a:xfrm>
            <a:off x="6309360" y="1879600"/>
            <a:ext cx="36322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FFFFFF"/>
                </a:solidFill>
                <a:latin typeface="Arial"/>
                <a:cs typeface="Arial"/>
              </a:rPr>
              <a:t>If the requirement points to…</a:t>
            </a:r>
          </a:p>
        </p:txBody>
      </p:sp>
      <p:sp>
        <p:nvSpPr>
          <p:cNvPr id="46" name="Header Start with"/>
          <p:cNvSpPr txBox="1"/>
          <p:nvPr/>
        </p:nvSpPr>
        <p:spPr>
          <a:xfrm>
            <a:off x="10119360" y="1879600"/>
            <a:ext cx="13970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250" b="1" i="0" dirty="0">
                <a:solidFill>
                  <a:srgbClr val="FFFFFF"/>
                </a:solidFill>
                <a:latin typeface="Arial"/>
                <a:cs typeface="Arial"/>
              </a:rPr>
              <a:t>Start with</a:t>
            </a:r>
          </a:p>
        </p:txBody>
      </p:sp>
      <p:sp>
        <p:nvSpPr>
          <p:cNvPr id="47" name="Cell r1c1"/>
          <p:cNvSpPr txBox="1"/>
          <p:nvPr/>
        </p:nvSpPr>
        <p:spPr>
          <a:xfrm>
            <a:off x="6309360" y="2273300"/>
            <a:ext cx="36068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101411"/>
                </a:solidFill>
                <a:latin typeface="Arial"/>
                <a:cs typeface="Arial"/>
              </a:rPr>
              <a:t>New App users, mixed team</a:t>
            </a:r>
          </a:p>
        </p:txBody>
      </p:sp>
      <p:sp>
        <p:nvSpPr>
          <p:cNvPr id="48" name="Cell r1c2"/>
          <p:cNvSpPr txBox="1"/>
          <p:nvPr/>
        </p:nvSpPr>
        <p:spPr>
          <a:xfrm>
            <a:off x="10119360" y="2273300"/>
            <a:ext cx="13716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B1, B6, B8</a:t>
            </a:r>
          </a:p>
        </p:txBody>
      </p:sp>
      <p:sp>
        <p:nvSpPr>
          <p:cNvPr id="49" name="Row rule"/>
          <p:cNvSpPr/>
          <p:nvPr/>
        </p:nvSpPr>
        <p:spPr>
          <a:xfrm>
            <a:off x="6182360" y="2813050"/>
            <a:ext cx="5384800" cy="10922"/>
          </a:xfrm>
          <a:prstGeom prst="rect">
            <a:avLst/>
          </a:prstGeom>
          <a:solidFill>
            <a:srgbClr val="E4EBE6"/>
          </a:solidFill>
          <a:ln>
            <a:noFill/>
          </a:ln>
        </p:spPr>
        <p:txBody>
          <a:bodyPr rtlCol="0" anchor="ctr"/>
          <a:lstStyle/>
          <a:p>
            <a:endParaRPr lang="en-US"/>
          </a:p>
        </p:txBody>
      </p:sp>
      <p:sp>
        <p:nvSpPr>
          <p:cNvPr id="50" name="Cell r2c1"/>
          <p:cNvSpPr txBox="1"/>
          <p:nvPr/>
        </p:nvSpPr>
        <p:spPr>
          <a:xfrm>
            <a:off x="6309360" y="2857500"/>
            <a:ext cx="36068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101411"/>
                </a:solidFill>
                <a:latin typeface="Arial"/>
                <a:cs typeface="Arial"/>
              </a:rPr>
              <a:t>Engineering team, onboarding bottleneck</a:t>
            </a:r>
          </a:p>
        </p:txBody>
      </p:sp>
      <p:sp>
        <p:nvSpPr>
          <p:cNvPr id="51" name="Cell r2c2"/>
          <p:cNvSpPr txBox="1"/>
          <p:nvPr/>
        </p:nvSpPr>
        <p:spPr>
          <a:xfrm>
            <a:off x="10119360" y="2857500"/>
            <a:ext cx="13716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B1, B2, B3, B8</a:t>
            </a:r>
          </a:p>
        </p:txBody>
      </p:sp>
      <p:sp>
        <p:nvSpPr>
          <p:cNvPr id="52" name="Row rule"/>
          <p:cNvSpPr/>
          <p:nvPr/>
        </p:nvSpPr>
        <p:spPr>
          <a:xfrm>
            <a:off x="6182360" y="3397250"/>
            <a:ext cx="5384800" cy="10922"/>
          </a:xfrm>
          <a:prstGeom prst="rect">
            <a:avLst/>
          </a:prstGeom>
          <a:solidFill>
            <a:srgbClr val="E4EBE6"/>
          </a:solidFill>
          <a:ln>
            <a:noFill/>
          </a:ln>
        </p:spPr>
        <p:txBody>
          <a:bodyPr rtlCol="0" anchor="ctr"/>
          <a:lstStyle/>
          <a:p>
            <a:endParaRPr lang="en-US"/>
          </a:p>
        </p:txBody>
      </p:sp>
      <p:sp>
        <p:nvSpPr>
          <p:cNvPr id="53" name="Cell r3c1"/>
          <p:cNvSpPr txBox="1"/>
          <p:nvPr/>
        </p:nvSpPr>
        <p:spPr>
          <a:xfrm>
            <a:off x="6309360" y="3441700"/>
            <a:ext cx="36068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101411"/>
                </a:solidFill>
                <a:latin typeface="Arial"/>
                <a:cs typeface="Arial"/>
              </a:rPr>
              <a:t>Repeat users, platform or enablement team</a:t>
            </a:r>
          </a:p>
        </p:txBody>
      </p:sp>
      <p:sp>
        <p:nvSpPr>
          <p:cNvPr id="54" name="Cell r3c2"/>
          <p:cNvSpPr txBox="1"/>
          <p:nvPr/>
        </p:nvSpPr>
        <p:spPr>
          <a:xfrm>
            <a:off x="10119360" y="3441700"/>
            <a:ext cx="13716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B1, B4, B7, B8</a:t>
            </a:r>
          </a:p>
        </p:txBody>
      </p:sp>
      <p:sp>
        <p:nvSpPr>
          <p:cNvPr id="55" name="Row rule"/>
          <p:cNvSpPr/>
          <p:nvPr/>
        </p:nvSpPr>
        <p:spPr>
          <a:xfrm>
            <a:off x="6182360" y="3981450"/>
            <a:ext cx="5384800" cy="10922"/>
          </a:xfrm>
          <a:prstGeom prst="rect">
            <a:avLst/>
          </a:prstGeom>
          <a:solidFill>
            <a:srgbClr val="E4EBE6"/>
          </a:solidFill>
          <a:ln>
            <a:noFill/>
          </a:ln>
        </p:spPr>
        <p:txBody>
          <a:bodyPr rtlCol="0" anchor="ctr"/>
          <a:lstStyle/>
          <a:p>
            <a:endParaRPr lang="en-US"/>
          </a:p>
        </p:txBody>
      </p:sp>
      <p:sp>
        <p:nvSpPr>
          <p:cNvPr id="56" name="Cell r4c1"/>
          <p:cNvSpPr txBox="1"/>
          <p:nvPr/>
        </p:nvSpPr>
        <p:spPr>
          <a:xfrm>
            <a:off x="6309360" y="4025900"/>
            <a:ext cx="36068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101411"/>
                </a:solidFill>
                <a:latin typeface="Arial"/>
                <a:cs typeface="Arial"/>
              </a:rPr>
              <a:t>Integration-ready team with security owner</a:t>
            </a:r>
          </a:p>
        </p:txBody>
      </p:sp>
      <p:sp>
        <p:nvSpPr>
          <p:cNvPr id="57" name="Cell r4c2"/>
          <p:cNvSpPr txBox="1"/>
          <p:nvPr/>
        </p:nvSpPr>
        <p:spPr>
          <a:xfrm>
            <a:off x="10119360" y="4025900"/>
            <a:ext cx="13716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B1, B4, B5, B7</a:t>
            </a:r>
          </a:p>
        </p:txBody>
      </p:sp>
      <p:sp>
        <p:nvSpPr>
          <p:cNvPr id="58" name="Row rule"/>
          <p:cNvSpPr/>
          <p:nvPr/>
        </p:nvSpPr>
        <p:spPr>
          <a:xfrm>
            <a:off x="6182360" y="4565650"/>
            <a:ext cx="5384800" cy="10922"/>
          </a:xfrm>
          <a:prstGeom prst="rect">
            <a:avLst/>
          </a:prstGeom>
          <a:solidFill>
            <a:srgbClr val="E4EBE6"/>
          </a:solidFill>
          <a:ln>
            <a:noFill/>
          </a:ln>
        </p:spPr>
        <p:txBody>
          <a:bodyPr rtlCol="0" anchor="ctr"/>
          <a:lstStyle/>
          <a:p>
            <a:endParaRPr lang="en-US"/>
          </a:p>
        </p:txBody>
      </p:sp>
      <p:sp>
        <p:nvSpPr>
          <p:cNvPr id="59" name="Recipes note"/>
          <p:cNvSpPr txBox="1"/>
          <p:nvPr/>
        </p:nvSpPr>
        <p:spPr>
          <a:xfrm>
            <a:off x="6182360" y="4673600"/>
            <a:ext cx="53848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50" b="0" i="0" dirty="0">
                <a:solidFill>
                  <a:srgbClr val="5C665F"/>
                </a:solidFill>
                <a:latin typeface="Arial"/>
                <a:cs typeface="Arial"/>
              </a:rPr>
              <a:t>Four recipes combine blocks: 75, 90, 90 minutes and half-day.</a:t>
            </a:r>
          </a:p>
        </p:txBody>
      </p:sp>
      <p:sp>
        <p:nvSpPr>
          <p:cNvPr id="60" name="Takeaway band"/>
          <p:cNvSpPr/>
          <p:nvPr/>
        </p:nvSpPr>
        <p:spPr>
          <a:xfrm>
            <a:off x="594360" y="5080000"/>
            <a:ext cx="10972800" cy="508000"/>
          </a:xfrm>
          <a:prstGeom prst="rect">
            <a:avLst/>
          </a:prstGeom>
          <a:solidFill>
            <a:srgbClr val="F2F5F3"/>
          </a:solidFill>
          <a:ln>
            <a:noFill/>
          </a:ln>
        </p:spPr>
        <p:txBody>
          <a:bodyPr rtlCol="0" anchor="ctr"/>
          <a:lstStyle/>
          <a:p>
            <a:endParaRPr lang="en-US"/>
          </a:p>
        </p:txBody>
      </p:sp>
      <p:sp>
        <p:nvSpPr>
          <p:cNvPr id="61" name="Takeaway marker"/>
          <p:cNvSpPr/>
          <p:nvPr/>
        </p:nvSpPr>
        <p:spPr>
          <a:xfrm>
            <a:off x="772160" y="5257800"/>
            <a:ext cx="152400" cy="152400"/>
          </a:xfrm>
          <a:prstGeom prst="diamond">
            <a:avLst/>
          </a:prstGeom>
          <a:solidFill>
            <a:srgbClr val="08872B"/>
          </a:solidFill>
          <a:ln>
            <a:noFill/>
          </a:ln>
        </p:spPr>
        <p:txBody>
          <a:bodyPr rtlCol="0" anchor="ctr"/>
          <a:lstStyle/>
          <a:p>
            <a:endParaRPr lang="en-US"/>
          </a:p>
        </p:txBody>
      </p:sp>
      <p:sp>
        <p:nvSpPr>
          <p:cNvPr id="62" name="Takeaway"/>
          <p:cNvSpPr txBox="1"/>
          <p:nvPr/>
        </p:nvSpPr>
        <p:spPr>
          <a:xfrm>
            <a:off x="1076960" y="5080000"/>
            <a:ext cx="103124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Choose the smallest recipe that produces the decision. A facilitator approves the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41"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09 / 15</a:t>
            </a:r>
          </a:p>
        </p:txBody>
      </p:sp>
      <p:sp>
        <p:nvSpPr>
          <p:cNvPr id="6" name="Source and legend"/>
          <p:cNvSpPr txBox="1"/>
          <p:nvPr/>
        </p:nvSpPr>
        <p:spPr>
          <a:xfrm>
            <a:off x="594360" y="5905500"/>
            <a:ext cx="10972800" cy="3556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a:p>
            <a:pPr algn="l">
              <a:lnSpc>
                <a:spcPct val="100000"/>
              </a:lnSpc>
              <a:spcBef>
                <a:spcPts val="0"/>
              </a:spcBef>
              <a:spcAft>
                <a:spcPts val="0"/>
              </a:spcAft>
              <a:buNone/>
            </a:pPr>
            <a:r>
              <a:rPr lang="en-US" sz="1000" b="0" i="0" dirty="0">
                <a:solidFill>
                  <a:srgbClr val="5C665F"/>
                </a:solidFill>
                <a:latin typeface="Arial"/>
                <a:cs typeface="Arial"/>
              </a:rPr>
              <a:t>Fictional example. The customer, repository and answers are invented to show the flow. No customer was involved.</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2800" b="1" i="0" dirty="0">
                <a:solidFill>
                  <a:srgbClr val="101411"/>
                </a:solidFill>
                <a:latin typeface="Mona Sans"/>
                <a:cs typeface="Mona Sans"/>
              </a:rPr>
              <a:t>A worked example, from outcome question to owned action.</a:t>
            </a:r>
          </a:p>
        </p:txBody>
      </p:sp>
      <p:sp>
        <p:nvSpPr>
          <p:cNvPr id="8" name="Tag Illustrative"/>
          <p:cNvSpPr txBox="1"/>
          <p:nvPr/>
        </p:nvSpPr>
        <p:spPr>
          <a:xfrm>
            <a:off x="594360" y="1498600"/>
            <a:ext cx="1219200" cy="274320"/>
          </a:xfrm>
          <a:prstGeom prst="roundRect">
            <a:avLst>
              <a:gd name="adj" fmla="val 22000"/>
            </a:avLst>
          </a:prstGeom>
          <a:solidFill>
            <a:srgbClr val="9A5B00"/>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Illustrative</a:t>
            </a:r>
          </a:p>
        </p:txBody>
      </p:sp>
      <p:sp>
        <p:nvSpPr>
          <p:cNvPr id="9" name="Illustrative note"/>
          <p:cNvSpPr txBox="1"/>
          <p:nvPr/>
        </p:nvSpPr>
        <p:spPr>
          <a:xfrm>
            <a:off x="1940560" y="1498600"/>
            <a:ext cx="8890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Fictional customer: a platform team that wants new engineers productive sooner.</a:t>
            </a:r>
          </a:p>
        </p:txBody>
      </p:sp>
      <p:sp>
        <p:nvSpPr>
          <p:cNvPr id="10" name="Example card"/>
          <p:cNvSpPr/>
          <p:nvPr/>
        </p:nvSpPr>
        <p:spPr>
          <a:xfrm>
            <a:off x="594360" y="1905000"/>
            <a:ext cx="2032000" cy="3200400"/>
          </a:xfrm>
          <a:prstGeom prst="rect">
            <a:avLst/>
          </a:prstGeom>
          <a:solidFill>
            <a:srgbClr val="F2F5F3"/>
          </a:solidFill>
          <a:ln>
            <a:noFill/>
          </a:ln>
        </p:spPr>
        <p:txBody>
          <a:bodyPr rtlCol="0" anchor="ctr"/>
          <a:lstStyle/>
          <a:p>
            <a:endParaRPr lang="en-US"/>
          </a:p>
        </p:txBody>
      </p:sp>
      <p:sp>
        <p:nvSpPr>
          <p:cNvPr id="11" name="Example accent"/>
          <p:cNvSpPr/>
          <p:nvPr/>
        </p:nvSpPr>
        <p:spPr>
          <a:xfrm>
            <a:off x="594360" y="1905000"/>
            <a:ext cx="2032000" cy="50800"/>
          </a:xfrm>
          <a:prstGeom prst="rect">
            <a:avLst/>
          </a:prstGeom>
          <a:solidFill>
            <a:srgbClr val="101411"/>
          </a:solidFill>
          <a:ln>
            <a:noFill/>
          </a:ln>
        </p:spPr>
        <p:txBody>
          <a:bodyPr rtlCol="0" anchor="ctr"/>
          <a:lstStyle/>
          <a:p>
            <a:endParaRPr lang="en-US"/>
          </a:p>
        </p:txBody>
      </p:sp>
      <p:sp>
        <p:nvSpPr>
          <p:cNvPr id="12" name="Outcome question title"/>
          <p:cNvSpPr txBox="1"/>
          <p:nvPr/>
        </p:nvSpPr>
        <p:spPr>
          <a:xfrm>
            <a:off x="746760" y="2082800"/>
            <a:ext cx="17272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Outcome question</a:t>
            </a:r>
          </a:p>
        </p:txBody>
      </p:sp>
      <p:sp>
        <p:nvSpPr>
          <p:cNvPr id="13" name="Outcome question body"/>
          <p:cNvSpPr txBox="1"/>
          <p:nvPr/>
        </p:nvSpPr>
        <p:spPr>
          <a:xfrm>
            <a:off x="746760" y="2844800"/>
            <a:ext cx="1727200" cy="21590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350" b="0" i="0" dirty="0">
                <a:solidFill>
                  <a:srgbClr val="232925"/>
                </a:solidFill>
                <a:latin typeface="Arial"/>
                <a:cs typeface="Arial"/>
              </a:rPr>
              <a:t>“New engineers take too long to ship safely on our billing service. What would change that, and how will we know?”</a:t>
            </a:r>
          </a:p>
        </p:txBody>
      </p:sp>
      <p:sp>
        <p:nvSpPr>
          <p:cNvPr id="14" name="Arrow"/>
          <p:cNvSpPr/>
          <p:nvPr/>
        </p:nvSpPr>
        <p:spPr>
          <a:xfrm>
            <a:off x="2639060" y="3429000"/>
            <a:ext cx="177800" cy="203200"/>
          </a:xfrm>
          <a:prstGeom prst="rightArrow">
            <a:avLst/>
          </a:prstGeom>
          <a:solidFill>
            <a:srgbClr val="101411"/>
          </a:solidFill>
          <a:ln>
            <a:noFill/>
          </a:ln>
        </p:spPr>
        <p:txBody>
          <a:bodyPr rtlCol="0" anchor="ctr"/>
          <a:lstStyle/>
          <a:p>
            <a:endParaRPr lang="en-US"/>
          </a:p>
        </p:txBody>
      </p:sp>
      <p:sp>
        <p:nvSpPr>
          <p:cNvPr id="15" name="Example card"/>
          <p:cNvSpPr/>
          <p:nvPr/>
        </p:nvSpPr>
        <p:spPr>
          <a:xfrm>
            <a:off x="2829560" y="1905000"/>
            <a:ext cx="2032000" cy="3200400"/>
          </a:xfrm>
          <a:prstGeom prst="rect">
            <a:avLst/>
          </a:prstGeom>
          <a:solidFill>
            <a:srgbClr val="F2F5F3"/>
          </a:solidFill>
          <a:ln>
            <a:noFill/>
          </a:ln>
        </p:spPr>
        <p:txBody>
          <a:bodyPr rtlCol="0" anchor="ctr"/>
          <a:lstStyle/>
          <a:p>
            <a:endParaRPr lang="en-US"/>
          </a:p>
        </p:txBody>
      </p:sp>
      <p:sp>
        <p:nvSpPr>
          <p:cNvPr id="16" name="Example accent"/>
          <p:cNvSpPr/>
          <p:nvPr/>
        </p:nvSpPr>
        <p:spPr>
          <a:xfrm>
            <a:off x="2829560" y="1905000"/>
            <a:ext cx="2032000" cy="50800"/>
          </a:xfrm>
          <a:prstGeom prst="rect">
            <a:avLst/>
          </a:prstGeom>
          <a:solidFill>
            <a:srgbClr val="08872B"/>
          </a:solidFill>
          <a:ln>
            <a:noFill/>
          </a:ln>
        </p:spPr>
        <p:txBody>
          <a:bodyPr rtlCol="0" anchor="ctr"/>
          <a:lstStyle/>
          <a:p>
            <a:endParaRPr lang="en-US"/>
          </a:p>
        </p:txBody>
      </p:sp>
      <p:sp>
        <p:nvSpPr>
          <p:cNvPr id="17" name="Discovery title"/>
          <p:cNvSpPr txBox="1"/>
          <p:nvPr/>
        </p:nvSpPr>
        <p:spPr>
          <a:xfrm>
            <a:off x="2981960" y="2082800"/>
            <a:ext cx="17272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Discovery</a:t>
            </a:r>
          </a:p>
        </p:txBody>
      </p:sp>
      <p:sp>
        <p:nvSpPr>
          <p:cNvPr id="18" name="Tag Prototype"/>
          <p:cNvSpPr txBox="1"/>
          <p:nvPr/>
        </p:nvSpPr>
        <p:spPr>
          <a:xfrm>
            <a:off x="2981960" y="2438400"/>
            <a:ext cx="930275"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19" name="Discovery body"/>
          <p:cNvSpPr txBox="1"/>
          <p:nvPr/>
        </p:nvSpPr>
        <p:spPr>
          <a:xfrm>
            <a:off x="2981960" y="2844800"/>
            <a:ext cx="1727200" cy="21590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350" b="0" i="0" dirty="0">
                <a:solidFill>
                  <a:srgbClr val="232925"/>
                </a:solidFill>
                <a:latin typeface="Arial"/>
                <a:cs typeface="Arial"/>
              </a:rPr>
              <a:t>/onboard-repo on one approved repository: entry points, conventions, test workflow. Gaps shown as unavailable.</a:t>
            </a:r>
          </a:p>
        </p:txBody>
      </p:sp>
      <p:sp>
        <p:nvSpPr>
          <p:cNvPr id="20" name="Arrow"/>
          <p:cNvSpPr/>
          <p:nvPr/>
        </p:nvSpPr>
        <p:spPr>
          <a:xfrm>
            <a:off x="4874260" y="3429000"/>
            <a:ext cx="177800" cy="203200"/>
          </a:xfrm>
          <a:prstGeom prst="rightArrow">
            <a:avLst/>
          </a:prstGeom>
          <a:solidFill>
            <a:srgbClr val="101411"/>
          </a:solidFill>
          <a:ln>
            <a:noFill/>
          </a:ln>
        </p:spPr>
        <p:txBody>
          <a:bodyPr rtlCol="0" anchor="ctr"/>
          <a:lstStyle/>
          <a:p>
            <a:endParaRPr lang="en-US"/>
          </a:p>
        </p:txBody>
      </p:sp>
      <p:sp>
        <p:nvSpPr>
          <p:cNvPr id="21" name="Example card"/>
          <p:cNvSpPr/>
          <p:nvPr/>
        </p:nvSpPr>
        <p:spPr>
          <a:xfrm>
            <a:off x="5064760" y="1905000"/>
            <a:ext cx="2032000" cy="3200400"/>
          </a:xfrm>
          <a:prstGeom prst="rect">
            <a:avLst/>
          </a:prstGeom>
          <a:solidFill>
            <a:srgbClr val="F2F5F3"/>
          </a:solidFill>
          <a:ln>
            <a:noFill/>
          </a:ln>
        </p:spPr>
        <p:txBody>
          <a:bodyPr rtlCol="0" anchor="ctr"/>
          <a:lstStyle/>
          <a:p>
            <a:endParaRPr lang="en-US"/>
          </a:p>
        </p:txBody>
      </p:sp>
      <p:sp>
        <p:nvSpPr>
          <p:cNvPr id="22" name="Example accent"/>
          <p:cNvSpPr/>
          <p:nvPr/>
        </p:nvSpPr>
        <p:spPr>
          <a:xfrm>
            <a:off x="5064760" y="1905000"/>
            <a:ext cx="2032000" cy="50800"/>
          </a:xfrm>
          <a:prstGeom prst="rect">
            <a:avLst/>
          </a:prstGeom>
          <a:solidFill>
            <a:srgbClr val="8534F3"/>
          </a:solidFill>
          <a:ln>
            <a:noFill/>
          </a:ln>
        </p:spPr>
        <p:txBody>
          <a:bodyPr rtlCol="0" anchor="ctr"/>
          <a:lstStyle/>
          <a:p>
            <a:endParaRPr lang="en-US"/>
          </a:p>
        </p:txBody>
      </p:sp>
      <p:sp>
        <p:nvSpPr>
          <p:cNvPr id="23" name="Survey title"/>
          <p:cNvSpPr txBox="1"/>
          <p:nvPr/>
        </p:nvSpPr>
        <p:spPr>
          <a:xfrm>
            <a:off x="5217160" y="2082800"/>
            <a:ext cx="17272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Survey</a:t>
            </a:r>
          </a:p>
        </p:txBody>
      </p:sp>
      <p:sp>
        <p:nvSpPr>
          <p:cNvPr id="24" name="Tag Proposed"/>
          <p:cNvSpPr txBox="1"/>
          <p:nvPr/>
        </p:nvSpPr>
        <p:spPr>
          <a:xfrm>
            <a:off x="5217160" y="24384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5" name="Survey body"/>
          <p:cNvSpPr txBox="1"/>
          <p:nvPr/>
        </p:nvSpPr>
        <p:spPr>
          <a:xfrm>
            <a:off x="5217160" y="2844800"/>
            <a:ext cx="1727200" cy="21590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350" b="0" i="0" dirty="0">
                <a:solidFill>
                  <a:srgbClr val="232925"/>
                </a:solidFill>
                <a:latin typeface="Arial"/>
                <a:cs typeface="Arial"/>
              </a:rPr>
              <a:t>Short survey to the service owner and team leads: target outcome, baseline, who onboards, constraints.</a:t>
            </a:r>
          </a:p>
        </p:txBody>
      </p:sp>
      <p:sp>
        <p:nvSpPr>
          <p:cNvPr id="26" name="Arrow"/>
          <p:cNvSpPr/>
          <p:nvPr/>
        </p:nvSpPr>
        <p:spPr>
          <a:xfrm>
            <a:off x="7109460" y="3429000"/>
            <a:ext cx="177800" cy="203200"/>
          </a:xfrm>
          <a:prstGeom prst="rightArrow">
            <a:avLst/>
          </a:prstGeom>
          <a:solidFill>
            <a:srgbClr val="101411"/>
          </a:solidFill>
          <a:ln>
            <a:noFill/>
          </a:ln>
        </p:spPr>
        <p:txBody>
          <a:bodyPr rtlCol="0" anchor="ctr"/>
          <a:lstStyle/>
          <a:p>
            <a:endParaRPr lang="en-US"/>
          </a:p>
        </p:txBody>
      </p:sp>
      <p:sp>
        <p:nvSpPr>
          <p:cNvPr id="27" name="Example card"/>
          <p:cNvSpPr/>
          <p:nvPr/>
        </p:nvSpPr>
        <p:spPr>
          <a:xfrm>
            <a:off x="7299960" y="1905000"/>
            <a:ext cx="2032000" cy="3200400"/>
          </a:xfrm>
          <a:prstGeom prst="rect">
            <a:avLst/>
          </a:prstGeom>
          <a:solidFill>
            <a:srgbClr val="F2F5F3"/>
          </a:solidFill>
          <a:ln>
            <a:noFill/>
          </a:ln>
        </p:spPr>
        <p:txBody>
          <a:bodyPr rtlCol="0" anchor="ctr"/>
          <a:lstStyle/>
          <a:p>
            <a:endParaRPr lang="en-US"/>
          </a:p>
        </p:txBody>
      </p:sp>
      <p:sp>
        <p:nvSpPr>
          <p:cNvPr id="28" name="Example accent"/>
          <p:cNvSpPr/>
          <p:nvPr/>
        </p:nvSpPr>
        <p:spPr>
          <a:xfrm>
            <a:off x="7299960" y="1905000"/>
            <a:ext cx="2032000" cy="50800"/>
          </a:xfrm>
          <a:prstGeom prst="rect">
            <a:avLst/>
          </a:prstGeom>
          <a:solidFill>
            <a:srgbClr val="101411"/>
          </a:solidFill>
          <a:ln>
            <a:noFill/>
          </a:ln>
        </p:spPr>
        <p:txBody>
          <a:bodyPr rtlCol="0" anchor="ctr"/>
          <a:lstStyle/>
          <a:p>
            <a:endParaRPr lang="en-US"/>
          </a:p>
        </p:txBody>
      </p:sp>
      <p:sp>
        <p:nvSpPr>
          <p:cNvPr id="29" name="Recipe title"/>
          <p:cNvSpPr txBox="1"/>
          <p:nvPr/>
        </p:nvSpPr>
        <p:spPr>
          <a:xfrm>
            <a:off x="7452360" y="2082800"/>
            <a:ext cx="17272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Recipe</a:t>
            </a:r>
          </a:p>
        </p:txBody>
      </p:sp>
      <p:sp>
        <p:nvSpPr>
          <p:cNvPr id="30" name="Tag Emerging"/>
          <p:cNvSpPr txBox="1"/>
          <p:nvPr/>
        </p:nvSpPr>
        <p:spPr>
          <a:xfrm>
            <a:off x="7452360" y="2438400"/>
            <a:ext cx="923290" cy="27432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Emerging</a:t>
            </a:r>
          </a:p>
        </p:txBody>
      </p:sp>
      <p:sp>
        <p:nvSpPr>
          <p:cNvPr id="31" name="Recipe body"/>
          <p:cNvSpPr txBox="1"/>
          <p:nvPr/>
        </p:nvSpPr>
        <p:spPr>
          <a:xfrm>
            <a:off x="7452360" y="2844800"/>
            <a:ext cx="1727200" cy="21590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350" b="0" i="0" dirty="0">
                <a:solidFill>
                  <a:srgbClr val="232925"/>
                </a:solidFill>
                <a:latin typeface="Arial"/>
                <a:cs typeface="Arial"/>
              </a:rPr>
              <a:t>Bearing onboarding and workflow discovery, 75 min: B1 10, B2 25, B3 20, B8 15, review 5.</a:t>
            </a:r>
          </a:p>
        </p:txBody>
      </p:sp>
      <p:sp>
        <p:nvSpPr>
          <p:cNvPr id="32" name="Arrow"/>
          <p:cNvSpPr/>
          <p:nvPr/>
        </p:nvSpPr>
        <p:spPr>
          <a:xfrm>
            <a:off x="9344660" y="3429000"/>
            <a:ext cx="177800" cy="203200"/>
          </a:xfrm>
          <a:prstGeom prst="rightArrow">
            <a:avLst/>
          </a:prstGeom>
          <a:solidFill>
            <a:srgbClr val="101411"/>
          </a:solidFill>
          <a:ln>
            <a:noFill/>
          </a:ln>
        </p:spPr>
        <p:txBody>
          <a:bodyPr rtlCol="0" anchor="ctr"/>
          <a:lstStyle/>
          <a:p>
            <a:endParaRPr lang="en-US"/>
          </a:p>
        </p:txBody>
      </p:sp>
      <p:sp>
        <p:nvSpPr>
          <p:cNvPr id="33" name="Example card"/>
          <p:cNvSpPr/>
          <p:nvPr/>
        </p:nvSpPr>
        <p:spPr>
          <a:xfrm>
            <a:off x="9535160" y="1905000"/>
            <a:ext cx="2032000" cy="3200400"/>
          </a:xfrm>
          <a:prstGeom prst="rect">
            <a:avLst/>
          </a:prstGeom>
          <a:solidFill>
            <a:srgbClr val="F2F5F3"/>
          </a:solidFill>
          <a:ln>
            <a:noFill/>
          </a:ln>
        </p:spPr>
        <p:txBody>
          <a:bodyPr rtlCol="0" anchor="ctr"/>
          <a:lstStyle/>
          <a:p>
            <a:endParaRPr lang="en-US"/>
          </a:p>
        </p:txBody>
      </p:sp>
      <p:sp>
        <p:nvSpPr>
          <p:cNvPr id="34" name="Example accent"/>
          <p:cNvSpPr/>
          <p:nvPr/>
        </p:nvSpPr>
        <p:spPr>
          <a:xfrm>
            <a:off x="9535160" y="1905000"/>
            <a:ext cx="2032000" cy="50800"/>
          </a:xfrm>
          <a:prstGeom prst="rect">
            <a:avLst/>
          </a:prstGeom>
          <a:solidFill>
            <a:srgbClr val="101411"/>
          </a:solidFill>
          <a:ln>
            <a:noFill/>
          </a:ln>
        </p:spPr>
        <p:txBody>
          <a:bodyPr rtlCol="0" anchor="ctr"/>
          <a:lstStyle/>
          <a:p>
            <a:endParaRPr lang="en-US"/>
          </a:p>
        </p:txBody>
      </p:sp>
      <p:sp>
        <p:nvSpPr>
          <p:cNvPr id="35" name="Exit artifact title"/>
          <p:cNvSpPr txBox="1"/>
          <p:nvPr/>
        </p:nvSpPr>
        <p:spPr>
          <a:xfrm>
            <a:off x="9687560" y="2082800"/>
            <a:ext cx="17272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Exit artifact</a:t>
            </a:r>
          </a:p>
        </p:txBody>
      </p:sp>
      <p:sp>
        <p:nvSpPr>
          <p:cNvPr id="36" name="Tag Emerging"/>
          <p:cNvSpPr txBox="1"/>
          <p:nvPr/>
        </p:nvSpPr>
        <p:spPr>
          <a:xfrm>
            <a:off x="9687560" y="2438400"/>
            <a:ext cx="923290" cy="27432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Emerging</a:t>
            </a:r>
          </a:p>
        </p:txBody>
      </p:sp>
      <p:sp>
        <p:nvSpPr>
          <p:cNvPr id="37" name="Exit artifact body"/>
          <p:cNvSpPr txBox="1"/>
          <p:nvPr/>
        </p:nvSpPr>
        <p:spPr>
          <a:xfrm>
            <a:off x="9687560" y="2844800"/>
            <a:ext cx="1727200" cy="2159000"/>
          </a:xfrm>
          <a:prstGeom prst="rect">
            <a:avLst/>
          </a:prstGeom>
          <a:noFill/>
          <a:ln>
            <a:noFill/>
          </a:ln>
        </p:spPr>
        <p:txBody>
          <a:bodyPr wrap="square" lIns="0" tIns="0" rIns="0" bIns="0" anchor="t">
            <a:noAutofit/>
          </a:bodyPr>
          <a:lstStyle/>
          <a:p>
            <a:pPr algn="l">
              <a:lnSpc>
                <a:spcPct val="104000"/>
              </a:lnSpc>
              <a:spcBef>
                <a:spcPts val="0"/>
              </a:spcBef>
              <a:spcAft>
                <a:spcPts val="0"/>
              </a:spcAft>
              <a:buNone/>
            </a:pPr>
            <a:r>
              <a:rPr lang="en-US" sz="1350" b="0" i="0" dirty="0">
                <a:solidFill>
                  <a:srgbClr val="232925"/>
                </a:solidFill>
                <a:latin typeface="Arial"/>
                <a:cs typeface="Arial"/>
              </a:rPr>
              <a:t>Verified repository orientation, evidence gaps, approved first-task proposal. Owner: service owner.</a:t>
            </a:r>
          </a:p>
        </p:txBody>
      </p:sp>
      <p:sp>
        <p:nvSpPr>
          <p:cNvPr id="38" name="Takeaway band"/>
          <p:cNvSpPr/>
          <p:nvPr/>
        </p:nvSpPr>
        <p:spPr>
          <a:xfrm>
            <a:off x="594360" y="5334000"/>
            <a:ext cx="10972800" cy="508000"/>
          </a:xfrm>
          <a:prstGeom prst="rect">
            <a:avLst/>
          </a:prstGeom>
          <a:solidFill>
            <a:srgbClr val="F2F5F3"/>
          </a:solidFill>
          <a:ln>
            <a:noFill/>
          </a:ln>
        </p:spPr>
        <p:txBody>
          <a:bodyPr rtlCol="0" anchor="ctr"/>
          <a:lstStyle/>
          <a:p>
            <a:endParaRPr lang="en-US"/>
          </a:p>
        </p:txBody>
      </p:sp>
      <p:sp>
        <p:nvSpPr>
          <p:cNvPr id="39" name="Takeaway marker"/>
          <p:cNvSpPr/>
          <p:nvPr/>
        </p:nvSpPr>
        <p:spPr>
          <a:xfrm>
            <a:off x="772160" y="5511800"/>
            <a:ext cx="152400" cy="152400"/>
          </a:xfrm>
          <a:prstGeom prst="diamond">
            <a:avLst/>
          </a:prstGeom>
          <a:solidFill>
            <a:srgbClr val="08872B"/>
          </a:solidFill>
          <a:ln>
            <a:noFill/>
          </a:ln>
        </p:spPr>
        <p:txBody>
          <a:bodyPr rtlCol="0" anchor="ctr"/>
          <a:lstStyle/>
          <a:p>
            <a:endParaRPr lang="en-US"/>
          </a:p>
        </p:txBody>
      </p:sp>
      <p:sp>
        <p:nvSpPr>
          <p:cNvPr id="40" name="Takeaway"/>
          <p:cNvSpPr txBox="1"/>
          <p:nvPr/>
        </p:nvSpPr>
        <p:spPr>
          <a:xfrm>
            <a:off x="1076960" y="5334000"/>
            <a:ext cx="10312400" cy="508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Gates: scope approved, survey approved, requirements confirmed, plan approved, actions owned by the customer.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42"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10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Delegate more. Review where it matters.</a:t>
            </a:r>
          </a:p>
        </p:txBody>
      </p:sp>
      <p:sp>
        <p:nvSpPr>
          <p:cNvPr id="8" name="Header row"/>
          <p:cNvSpPr/>
          <p:nvPr/>
        </p:nvSpPr>
        <p:spPr>
          <a:xfrm>
            <a:off x="594360" y="1600200"/>
            <a:ext cx="10972800" cy="381000"/>
          </a:xfrm>
          <a:prstGeom prst="rect">
            <a:avLst/>
          </a:prstGeom>
          <a:solidFill>
            <a:srgbClr val="101411"/>
          </a:solidFill>
          <a:ln>
            <a:noFill/>
          </a:ln>
        </p:spPr>
        <p:txBody>
          <a:bodyPr rtlCol="0" anchor="ctr"/>
          <a:lstStyle/>
          <a:p>
            <a:endParaRPr lang="en-US"/>
          </a:p>
        </p:txBody>
      </p:sp>
      <p:sp>
        <p:nvSpPr>
          <p:cNvPr id="9" name="Header Stage"/>
          <p:cNvSpPr txBox="1"/>
          <p:nvPr/>
        </p:nvSpPr>
        <p:spPr>
          <a:xfrm>
            <a:off x="721360" y="1600200"/>
            <a:ext cx="14478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Stage</a:t>
            </a:r>
          </a:p>
        </p:txBody>
      </p:sp>
      <p:sp>
        <p:nvSpPr>
          <p:cNvPr id="10" name="Header What Copilot does"/>
          <p:cNvSpPr txBox="1"/>
          <p:nvPr/>
        </p:nvSpPr>
        <p:spPr>
          <a:xfrm>
            <a:off x="2346960" y="1600200"/>
            <a:ext cx="39116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What Copilot does</a:t>
            </a:r>
          </a:p>
        </p:txBody>
      </p:sp>
      <p:sp>
        <p:nvSpPr>
          <p:cNvPr id="11" name="Header Human review gate"/>
          <p:cNvSpPr txBox="1"/>
          <p:nvPr/>
        </p:nvSpPr>
        <p:spPr>
          <a:xfrm>
            <a:off x="6436360" y="1600200"/>
            <a:ext cx="33782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Human review gate</a:t>
            </a:r>
          </a:p>
        </p:txBody>
      </p:sp>
      <p:sp>
        <p:nvSpPr>
          <p:cNvPr id="12" name="Header Status"/>
          <p:cNvSpPr txBox="1"/>
          <p:nvPr/>
        </p:nvSpPr>
        <p:spPr>
          <a:xfrm>
            <a:off x="9992360" y="1600200"/>
            <a:ext cx="15240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Status</a:t>
            </a:r>
          </a:p>
        </p:txBody>
      </p:sp>
      <p:sp>
        <p:nvSpPr>
          <p:cNvPr id="13" name="Cell r1c1"/>
          <p:cNvSpPr txBox="1"/>
          <p:nvPr/>
        </p:nvSpPr>
        <p:spPr>
          <a:xfrm>
            <a:off x="721360" y="2019300"/>
            <a:ext cx="14224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Discover</a:t>
            </a:r>
          </a:p>
        </p:txBody>
      </p:sp>
      <p:sp>
        <p:nvSpPr>
          <p:cNvPr id="14" name="Cell r1c2"/>
          <p:cNvSpPr txBox="1"/>
          <p:nvPr/>
        </p:nvSpPr>
        <p:spPr>
          <a:xfrm>
            <a:off x="2346960" y="2019300"/>
            <a:ext cx="38862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Runs repository discovery; would draft discovery questions</a:t>
            </a:r>
          </a:p>
        </p:txBody>
      </p:sp>
      <p:sp>
        <p:nvSpPr>
          <p:cNvPr id="15" name="Cell r1c3"/>
          <p:cNvSpPr txBox="1"/>
          <p:nvPr/>
        </p:nvSpPr>
        <p:spPr>
          <a:xfrm>
            <a:off x="6436360" y="2019300"/>
            <a:ext cx="33528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Scope approved by the account owner</a:t>
            </a:r>
          </a:p>
        </p:txBody>
      </p:sp>
      <p:sp>
        <p:nvSpPr>
          <p:cNvPr id="16" name="Tag Prototype"/>
          <p:cNvSpPr txBox="1"/>
          <p:nvPr/>
        </p:nvSpPr>
        <p:spPr>
          <a:xfrm>
            <a:off x="9992360" y="2030730"/>
            <a:ext cx="930275"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17" name="Tag Proposed"/>
          <p:cNvSpPr txBox="1"/>
          <p:nvPr/>
        </p:nvSpPr>
        <p:spPr>
          <a:xfrm>
            <a:off x="9992360" y="234315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18" name="Row rule"/>
          <p:cNvSpPr/>
          <p:nvPr/>
        </p:nvSpPr>
        <p:spPr>
          <a:xfrm>
            <a:off x="594360" y="2660650"/>
            <a:ext cx="10972800" cy="10922"/>
          </a:xfrm>
          <a:prstGeom prst="rect">
            <a:avLst/>
          </a:prstGeom>
          <a:solidFill>
            <a:srgbClr val="E4EBE6"/>
          </a:solidFill>
          <a:ln>
            <a:noFill/>
          </a:ln>
        </p:spPr>
        <p:txBody>
          <a:bodyPr rtlCol="0" anchor="ctr"/>
          <a:lstStyle/>
          <a:p>
            <a:endParaRPr lang="en-US"/>
          </a:p>
        </p:txBody>
      </p:sp>
      <p:sp>
        <p:nvSpPr>
          <p:cNvPr id="19" name="Cell r2c1"/>
          <p:cNvSpPr txBox="1"/>
          <p:nvPr/>
        </p:nvSpPr>
        <p:spPr>
          <a:xfrm>
            <a:off x="721360" y="2705100"/>
            <a:ext cx="14224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Survey</a:t>
            </a:r>
          </a:p>
        </p:txBody>
      </p:sp>
      <p:sp>
        <p:nvSpPr>
          <p:cNvPr id="20" name="Cell r2c2"/>
          <p:cNvSpPr txBox="1"/>
          <p:nvPr/>
        </p:nvSpPr>
        <p:spPr>
          <a:xfrm>
            <a:off x="2346960" y="2705100"/>
            <a:ext cx="38862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Would draft a survey from findings and gaps</a:t>
            </a:r>
          </a:p>
        </p:txBody>
      </p:sp>
      <p:sp>
        <p:nvSpPr>
          <p:cNvPr id="21" name="Cell r2c3"/>
          <p:cNvSpPr txBox="1"/>
          <p:nvPr/>
        </p:nvSpPr>
        <p:spPr>
          <a:xfrm>
            <a:off x="6436360" y="2705100"/>
            <a:ext cx="33528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Survey approved before sending</a:t>
            </a:r>
          </a:p>
        </p:txBody>
      </p:sp>
      <p:sp>
        <p:nvSpPr>
          <p:cNvPr id="22" name="Tag Proposed"/>
          <p:cNvSpPr txBox="1"/>
          <p:nvPr/>
        </p:nvSpPr>
        <p:spPr>
          <a:xfrm>
            <a:off x="9992360" y="28727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3" name="Row rule"/>
          <p:cNvSpPr/>
          <p:nvPr/>
        </p:nvSpPr>
        <p:spPr>
          <a:xfrm>
            <a:off x="594360" y="3346450"/>
            <a:ext cx="10972800" cy="10922"/>
          </a:xfrm>
          <a:prstGeom prst="rect">
            <a:avLst/>
          </a:prstGeom>
          <a:solidFill>
            <a:srgbClr val="E4EBE6"/>
          </a:solidFill>
          <a:ln>
            <a:noFill/>
          </a:ln>
        </p:spPr>
        <p:txBody>
          <a:bodyPr rtlCol="0" anchor="ctr"/>
          <a:lstStyle/>
          <a:p>
            <a:endParaRPr lang="en-US"/>
          </a:p>
        </p:txBody>
      </p:sp>
      <p:sp>
        <p:nvSpPr>
          <p:cNvPr id="24" name="Cell r3c1"/>
          <p:cNvSpPr txBox="1"/>
          <p:nvPr/>
        </p:nvSpPr>
        <p:spPr>
          <a:xfrm>
            <a:off x="721360" y="3390900"/>
            <a:ext cx="14224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Requirements</a:t>
            </a:r>
          </a:p>
        </p:txBody>
      </p:sp>
      <p:sp>
        <p:nvSpPr>
          <p:cNvPr id="25" name="Cell r3c2"/>
          <p:cNvSpPr txBox="1"/>
          <p:nvPr/>
        </p:nvSpPr>
        <p:spPr>
          <a:xfrm>
            <a:off x="2346960" y="3390900"/>
            <a:ext cx="38862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Would group answers into cited requirements; keeps unknowns</a:t>
            </a:r>
          </a:p>
        </p:txBody>
      </p:sp>
      <p:sp>
        <p:nvSpPr>
          <p:cNvPr id="26" name="Cell r3c3"/>
          <p:cNvSpPr txBox="1"/>
          <p:nvPr/>
        </p:nvSpPr>
        <p:spPr>
          <a:xfrm>
            <a:off x="6436360" y="3390900"/>
            <a:ext cx="33528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Requirements confirmed by the customer</a:t>
            </a:r>
          </a:p>
        </p:txBody>
      </p:sp>
      <p:sp>
        <p:nvSpPr>
          <p:cNvPr id="27" name="Tag Proposed"/>
          <p:cNvSpPr txBox="1"/>
          <p:nvPr/>
        </p:nvSpPr>
        <p:spPr>
          <a:xfrm>
            <a:off x="9992360" y="35585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8" name="Row rule"/>
          <p:cNvSpPr/>
          <p:nvPr/>
        </p:nvSpPr>
        <p:spPr>
          <a:xfrm>
            <a:off x="594360" y="4032250"/>
            <a:ext cx="10972800" cy="10922"/>
          </a:xfrm>
          <a:prstGeom prst="rect">
            <a:avLst/>
          </a:prstGeom>
          <a:solidFill>
            <a:srgbClr val="E4EBE6"/>
          </a:solidFill>
          <a:ln>
            <a:noFill/>
          </a:ln>
        </p:spPr>
        <p:txBody>
          <a:bodyPr rtlCol="0" anchor="ctr"/>
          <a:lstStyle/>
          <a:p>
            <a:endParaRPr lang="en-US"/>
          </a:p>
        </p:txBody>
      </p:sp>
      <p:sp>
        <p:nvSpPr>
          <p:cNvPr id="29" name="Cell r4c1"/>
          <p:cNvSpPr txBox="1"/>
          <p:nvPr/>
        </p:nvSpPr>
        <p:spPr>
          <a:xfrm>
            <a:off x="721360" y="4076700"/>
            <a:ext cx="14224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Workshop</a:t>
            </a:r>
          </a:p>
        </p:txBody>
      </p:sp>
      <p:sp>
        <p:nvSpPr>
          <p:cNvPr id="30" name="Cell r4c2"/>
          <p:cNvSpPr txBox="1"/>
          <p:nvPr/>
        </p:nvSpPr>
        <p:spPr>
          <a:xfrm>
            <a:off x="2346960" y="4076700"/>
            <a:ext cx="38862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Would select blocks and draft a plan from the knowledge base</a:t>
            </a:r>
          </a:p>
        </p:txBody>
      </p:sp>
      <p:sp>
        <p:nvSpPr>
          <p:cNvPr id="31" name="Cell r4c3"/>
          <p:cNvSpPr txBox="1"/>
          <p:nvPr/>
        </p:nvSpPr>
        <p:spPr>
          <a:xfrm>
            <a:off x="6436360" y="4076700"/>
            <a:ext cx="33528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Plan approved by the facilitator</a:t>
            </a:r>
          </a:p>
        </p:txBody>
      </p:sp>
      <p:sp>
        <p:nvSpPr>
          <p:cNvPr id="32" name="Tag Proposed"/>
          <p:cNvSpPr txBox="1"/>
          <p:nvPr/>
        </p:nvSpPr>
        <p:spPr>
          <a:xfrm>
            <a:off x="9992360" y="42443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33" name="Row rule"/>
          <p:cNvSpPr/>
          <p:nvPr/>
        </p:nvSpPr>
        <p:spPr>
          <a:xfrm>
            <a:off x="594360" y="4718050"/>
            <a:ext cx="10972800" cy="10922"/>
          </a:xfrm>
          <a:prstGeom prst="rect">
            <a:avLst/>
          </a:prstGeom>
          <a:solidFill>
            <a:srgbClr val="E4EBE6"/>
          </a:solidFill>
          <a:ln>
            <a:noFill/>
          </a:ln>
        </p:spPr>
        <p:txBody>
          <a:bodyPr rtlCol="0" anchor="ctr"/>
          <a:lstStyle/>
          <a:p>
            <a:endParaRPr lang="en-US"/>
          </a:p>
        </p:txBody>
      </p:sp>
      <p:sp>
        <p:nvSpPr>
          <p:cNvPr id="34" name="Cell r5c1"/>
          <p:cNvSpPr txBox="1"/>
          <p:nvPr/>
        </p:nvSpPr>
        <p:spPr>
          <a:xfrm>
            <a:off x="721360" y="4762500"/>
            <a:ext cx="14224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Follow-through</a:t>
            </a:r>
          </a:p>
        </p:txBody>
      </p:sp>
      <p:sp>
        <p:nvSpPr>
          <p:cNvPr id="35" name="Cell r5c2"/>
          <p:cNvSpPr txBox="1"/>
          <p:nvPr/>
        </p:nvSpPr>
        <p:spPr>
          <a:xfrm>
            <a:off x="2346960" y="4762500"/>
            <a:ext cx="38862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Would draft a handoff brief: sources, owners, gaps</a:t>
            </a:r>
          </a:p>
        </p:txBody>
      </p:sp>
      <p:sp>
        <p:nvSpPr>
          <p:cNvPr id="36" name="Cell r5c3"/>
          <p:cNvSpPr txBox="1"/>
          <p:nvPr/>
        </p:nvSpPr>
        <p:spPr>
          <a:xfrm>
            <a:off x="6436360" y="4762500"/>
            <a:ext cx="3352800" cy="609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0" i="0" dirty="0">
                <a:solidFill>
                  <a:srgbClr val="232925"/>
                </a:solidFill>
                <a:latin typeface="Arial"/>
                <a:cs typeface="Arial"/>
              </a:rPr>
              <a:t>Actions owned by the customer</a:t>
            </a:r>
          </a:p>
        </p:txBody>
      </p:sp>
      <p:sp>
        <p:nvSpPr>
          <p:cNvPr id="37" name="Tag Proposed"/>
          <p:cNvSpPr txBox="1"/>
          <p:nvPr/>
        </p:nvSpPr>
        <p:spPr>
          <a:xfrm>
            <a:off x="9992360" y="49301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38" name="Row rule"/>
          <p:cNvSpPr/>
          <p:nvPr/>
        </p:nvSpPr>
        <p:spPr>
          <a:xfrm>
            <a:off x="594360" y="5403850"/>
            <a:ext cx="10972800" cy="10922"/>
          </a:xfrm>
          <a:prstGeom prst="rect">
            <a:avLst/>
          </a:prstGeom>
          <a:solidFill>
            <a:srgbClr val="E4EBE6"/>
          </a:solidFill>
          <a:ln>
            <a:noFill/>
          </a:ln>
        </p:spPr>
        <p:txBody>
          <a:bodyPr rtlCol="0" anchor="ctr"/>
          <a:lstStyle/>
          <a:p>
            <a:endParaRPr lang="en-US"/>
          </a:p>
        </p:txBody>
      </p:sp>
      <p:sp>
        <p:nvSpPr>
          <p:cNvPr id="39" name="Takeaway band"/>
          <p:cNvSpPr/>
          <p:nvPr/>
        </p:nvSpPr>
        <p:spPr>
          <a:xfrm>
            <a:off x="594360" y="5588000"/>
            <a:ext cx="10972800" cy="457200"/>
          </a:xfrm>
          <a:prstGeom prst="rect">
            <a:avLst/>
          </a:prstGeom>
          <a:solidFill>
            <a:srgbClr val="F2F5F3"/>
          </a:solidFill>
          <a:ln>
            <a:noFill/>
          </a:ln>
        </p:spPr>
        <p:txBody>
          <a:bodyPr rtlCol="0" anchor="ctr"/>
          <a:lstStyle/>
          <a:p>
            <a:endParaRPr lang="en-US"/>
          </a:p>
        </p:txBody>
      </p:sp>
      <p:sp>
        <p:nvSpPr>
          <p:cNvPr id="40" name="Takeaway marker"/>
          <p:cNvSpPr/>
          <p:nvPr/>
        </p:nvSpPr>
        <p:spPr>
          <a:xfrm>
            <a:off x="772160" y="5740400"/>
            <a:ext cx="152400" cy="152400"/>
          </a:xfrm>
          <a:prstGeom prst="diamond">
            <a:avLst/>
          </a:prstGeom>
          <a:solidFill>
            <a:srgbClr val="08872B"/>
          </a:solidFill>
          <a:ln>
            <a:noFill/>
          </a:ln>
        </p:spPr>
        <p:txBody>
          <a:bodyPr rtlCol="0" anchor="ctr"/>
          <a:lstStyle/>
          <a:p>
            <a:endParaRPr lang="en-US"/>
          </a:p>
        </p:txBody>
      </p:sp>
      <p:sp>
        <p:nvSpPr>
          <p:cNvPr id="41" name="Takeaway"/>
          <p:cNvSpPr txBox="1"/>
          <p:nvPr/>
        </p:nvSpPr>
        <p:spPr>
          <a:xfrm>
            <a:off x="1076960" y="5588000"/>
            <a:ext cx="10312400" cy="457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500" b="1" i="0" dirty="0">
                <a:solidFill>
                  <a:srgbClr val="101411"/>
                </a:solidFill>
                <a:latin typeface="Arial"/>
                <a:cs typeface="Arial"/>
              </a:rPr>
              <a:t>Nothing moves to the next stage without a named person saying yes.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39"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11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Who uses it, and what is real today.</a:t>
            </a:r>
          </a:p>
        </p:txBody>
      </p:sp>
      <p:sp>
        <p:nvSpPr>
          <p:cNvPr id="8" name="Header row"/>
          <p:cNvSpPr/>
          <p:nvPr/>
        </p:nvSpPr>
        <p:spPr>
          <a:xfrm>
            <a:off x="594360" y="1549400"/>
            <a:ext cx="10972800" cy="355600"/>
          </a:xfrm>
          <a:prstGeom prst="rect">
            <a:avLst/>
          </a:prstGeom>
          <a:solidFill>
            <a:srgbClr val="101411"/>
          </a:solidFill>
          <a:ln>
            <a:noFill/>
          </a:ln>
        </p:spPr>
        <p:txBody>
          <a:bodyPr rtlCol="0" anchor="ctr"/>
          <a:lstStyle/>
          <a:p>
            <a:endParaRPr lang="en-US"/>
          </a:p>
        </p:txBody>
      </p:sp>
      <p:sp>
        <p:nvSpPr>
          <p:cNvPr id="9" name="Header Role"/>
          <p:cNvSpPr txBox="1"/>
          <p:nvPr/>
        </p:nvSpPr>
        <p:spPr>
          <a:xfrm>
            <a:off x="721360" y="1549400"/>
            <a:ext cx="25400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Role</a:t>
            </a:r>
          </a:p>
        </p:txBody>
      </p:sp>
      <p:sp>
        <p:nvSpPr>
          <p:cNvPr id="10" name="Header How they would use i"/>
          <p:cNvSpPr txBox="1"/>
          <p:nvPr/>
        </p:nvSpPr>
        <p:spPr>
          <a:xfrm>
            <a:off x="3439160" y="1549400"/>
            <a:ext cx="65532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How they would use it</a:t>
            </a:r>
          </a:p>
        </p:txBody>
      </p:sp>
      <p:sp>
        <p:nvSpPr>
          <p:cNvPr id="11" name="Header Status today"/>
          <p:cNvSpPr txBox="1"/>
          <p:nvPr/>
        </p:nvSpPr>
        <p:spPr>
          <a:xfrm>
            <a:off x="10170160" y="1549400"/>
            <a:ext cx="13462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Status today</a:t>
            </a:r>
          </a:p>
        </p:txBody>
      </p:sp>
      <p:sp>
        <p:nvSpPr>
          <p:cNvPr id="12" name="Cell r1c1"/>
          <p:cNvSpPr txBox="1"/>
          <p:nvPr/>
        </p:nvSpPr>
        <p:spPr>
          <a:xfrm>
            <a:off x="721360" y="1943100"/>
            <a:ext cx="25146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1" i="0" dirty="0">
                <a:solidFill>
                  <a:srgbClr val="101411"/>
                </a:solidFill>
                <a:latin typeface="Arial"/>
                <a:cs typeface="Arial"/>
              </a:rPr>
              <a:t>Account teams</a:t>
            </a:r>
          </a:p>
        </p:txBody>
      </p:sp>
      <p:sp>
        <p:nvSpPr>
          <p:cNvPr id="13" name="Cell r1c2"/>
          <p:cNvSpPr txBox="1"/>
          <p:nvPr/>
        </p:nvSpPr>
        <p:spPr>
          <a:xfrm>
            <a:off x="3439160" y="1943100"/>
            <a:ext cx="65278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Frame the outcome question, approve scope, own the customer conversation</a:t>
            </a:r>
          </a:p>
        </p:txBody>
      </p:sp>
      <p:sp>
        <p:nvSpPr>
          <p:cNvPr id="14" name="Tag Proposed"/>
          <p:cNvSpPr txBox="1"/>
          <p:nvPr/>
        </p:nvSpPr>
        <p:spPr>
          <a:xfrm>
            <a:off x="10170160" y="20218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15" name="Row rule"/>
          <p:cNvSpPr/>
          <p:nvPr/>
        </p:nvSpPr>
        <p:spPr>
          <a:xfrm>
            <a:off x="594360" y="2406650"/>
            <a:ext cx="10972800" cy="10922"/>
          </a:xfrm>
          <a:prstGeom prst="rect">
            <a:avLst/>
          </a:prstGeom>
          <a:solidFill>
            <a:srgbClr val="E4EBE6"/>
          </a:solidFill>
          <a:ln>
            <a:noFill/>
          </a:ln>
        </p:spPr>
        <p:txBody>
          <a:bodyPr rtlCol="0" anchor="ctr"/>
          <a:lstStyle/>
          <a:p>
            <a:endParaRPr lang="en-US"/>
          </a:p>
        </p:txBody>
      </p:sp>
      <p:sp>
        <p:nvSpPr>
          <p:cNvPr id="16" name="Cell r2c1"/>
          <p:cNvSpPr txBox="1"/>
          <p:nvPr/>
        </p:nvSpPr>
        <p:spPr>
          <a:xfrm>
            <a:off x="721360" y="2451100"/>
            <a:ext cx="25146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1" i="0" dirty="0">
                <a:solidFill>
                  <a:srgbClr val="101411"/>
                </a:solidFill>
                <a:latin typeface="Arial"/>
                <a:cs typeface="Arial"/>
              </a:rPr>
              <a:t>Solution sales and engineers</a:t>
            </a:r>
          </a:p>
        </p:txBody>
      </p:sp>
      <p:sp>
        <p:nvSpPr>
          <p:cNvPr id="17" name="Cell r2c2"/>
          <p:cNvSpPr txBox="1"/>
          <p:nvPr/>
        </p:nvSpPr>
        <p:spPr>
          <a:xfrm>
            <a:off x="3439160" y="2451100"/>
            <a:ext cx="65278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Review the survey and workshop plan; prepare the demo environment</a:t>
            </a:r>
          </a:p>
        </p:txBody>
      </p:sp>
      <p:sp>
        <p:nvSpPr>
          <p:cNvPr id="18" name="Tag Proposed"/>
          <p:cNvSpPr txBox="1"/>
          <p:nvPr/>
        </p:nvSpPr>
        <p:spPr>
          <a:xfrm>
            <a:off x="10170160" y="25298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19" name="Row rule"/>
          <p:cNvSpPr/>
          <p:nvPr/>
        </p:nvSpPr>
        <p:spPr>
          <a:xfrm>
            <a:off x="594360" y="2914650"/>
            <a:ext cx="10972800" cy="10922"/>
          </a:xfrm>
          <a:prstGeom prst="rect">
            <a:avLst/>
          </a:prstGeom>
          <a:solidFill>
            <a:srgbClr val="E4EBE6"/>
          </a:solidFill>
          <a:ln>
            <a:noFill/>
          </a:ln>
        </p:spPr>
        <p:txBody>
          <a:bodyPr rtlCol="0" anchor="ctr"/>
          <a:lstStyle/>
          <a:p>
            <a:endParaRPr lang="en-US"/>
          </a:p>
        </p:txBody>
      </p:sp>
      <p:sp>
        <p:nvSpPr>
          <p:cNvPr id="20" name="Cell r3c1"/>
          <p:cNvSpPr txBox="1"/>
          <p:nvPr/>
        </p:nvSpPr>
        <p:spPr>
          <a:xfrm>
            <a:off x="721360" y="2959100"/>
            <a:ext cx="25146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1" i="0" dirty="0">
                <a:solidFill>
                  <a:srgbClr val="101411"/>
                </a:solidFill>
                <a:latin typeface="Arial"/>
                <a:cs typeface="Arial"/>
              </a:rPr>
              <a:t>Customer success</a:t>
            </a:r>
          </a:p>
        </p:txBody>
      </p:sp>
      <p:sp>
        <p:nvSpPr>
          <p:cNvPr id="21" name="Cell r3c2"/>
          <p:cNvSpPr txBox="1"/>
          <p:nvPr/>
        </p:nvSpPr>
        <p:spPr>
          <a:xfrm>
            <a:off x="3439160" y="2959100"/>
            <a:ext cx="65278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Run the workshop and follow through on customer-owned actions</a:t>
            </a:r>
          </a:p>
        </p:txBody>
      </p:sp>
      <p:sp>
        <p:nvSpPr>
          <p:cNvPr id="22" name="Tag Proposed"/>
          <p:cNvSpPr txBox="1"/>
          <p:nvPr/>
        </p:nvSpPr>
        <p:spPr>
          <a:xfrm>
            <a:off x="10170160" y="303784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3" name="Row rule"/>
          <p:cNvSpPr/>
          <p:nvPr/>
        </p:nvSpPr>
        <p:spPr>
          <a:xfrm>
            <a:off x="594360" y="3422650"/>
            <a:ext cx="10972800" cy="10922"/>
          </a:xfrm>
          <a:prstGeom prst="rect">
            <a:avLst/>
          </a:prstGeom>
          <a:solidFill>
            <a:srgbClr val="E4EBE6"/>
          </a:solidFill>
          <a:ln>
            <a:noFill/>
          </a:ln>
        </p:spPr>
        <p:txBody>
          <a:bodyPr rtlCol="0" anchor="ctr"/>
          <a:lstStyle/>
          <a:p>
            <a:endParaRPr lang="en-US"/>
          </a:p>
        </p:txBody>
      </p:sp>
      <p:sp>
        <p:nvSpPr>
          <p:cNvPr id="24" name="Cell r4c1"/>
          <p:cNvSpPr txBox="1"/>
          <p:nvPr/>
        </p:nvSpPr>
        <p:spPr>
          <a:xfrm>
            <a:off x="721360" y="3467100"/>
            <a:ext cx="25146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1" i="0" dirty="0">
                <a:solidFill>
                  <a:srgbClr val="101411"/>
                </a:solidFill>
                <a:latin typeface="Arial"/>
                <a:cs typeface="Arial"/>
              </a:rPr>
              <a:t>Developer stakeholders</a:t>
            </a:r>
          </a:p>
        </p:txBody>
      </p:sp>
      <p:sp>
        <p:nvSpPr>
          <p:cNvPr id="25" name="Cell r4c2"/>
          <p:cNvSpPr txBox="1"/>
          <p:nvPr/>
        </p:nvSpPr>
        <p:spPr>
          <a:xfrm>
            <a:off x="3439160" y="3467100"/>
            <a:ext cx="65278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Run /onboard-repo on an approved small repository; verify the guide</a:t>
            </a:r>
          </a:p>
        </p:txBody>
      </p:sp>
      <p:sp>
        <p:nvSpPr>
          <p:cNvPr id="26" name="Tag Prototype"/>
          <p:cNvSpPr txBox="1"/>
          <p:nvPr/>
        </p:nvSpPr>
        <p:spPr>
          <a:xfrm>
            <a:off x="10170160" y="3545840"/>
            <a:ext cx="930275"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27" name="Row rule"/>
          <p:cNvSpPr/>
          <p:nvPr/>
        </p:nvSpPr>
        <p:spPr>
          <a:xfrm>
            <a:off x="594360" y="3930650"/>
            <a:ext cx="10972800" cy="10922"/>
          </a:xfrm>
          <a:prstGeom prst="rect">
            <a:avLst/>
          </a:prstGeom>
          <a:solidFill>
            <a:srgbClr val="E4EBE6"/>
          </a:solidFill>
          <a:ln>
            <a:noFill/>
          </a:ln>
        </p:spPr>
        <p:txBody>
          <a:bodyPr rtlCol="0" anchor="ctr"/>
          <a:lstStyle/>
          <a:p>
            <a:endParaRPr lang="en-US"/>
          </a:p>
        </p:txBody>
      </p:sp>
      <p:sp>
        <p:nvSpPr>
          <p:cNvPr id="28" name="Cell r5c1"/>
          <p:cNvSpPr txBox="1"/>
          <p:nvPr/>
        </p:nvSpPr>
        <p:spPr>
          <a:xfrm>
            <a:off x="721360" y="3975100"/>
            <a:ext cx="25146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1" i="0" dirty="0">
                <a:solidFill>
                  <a:srgbClr val="101411"/>
                </a:solidFill>
                <a:latin typeface="Arial"/>
                <a:cs typeface="Arial"/>
              </a:rPr>
              <a:t>Workshop facilitators</a:t>
            </a:r>
          </a:p>
        </p:txBody>
      </p:sp>
      <p:sp>
        <p:nvSpPr>
          <p:cNvPr id="29" name="Cell r5c2"/>
          <p:cNvSpPr txBox="1"/>
          <p:nvPr/>
        </p:nvSpPr>
        <p:spPr>
          <a:xfrm>
            <a:off x="3439160" y="3975100"/>
            <a:ext cx="65278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Pick blocks from the knowledge base; approve the plan</a:t>
            </a:r>
          </a:p>
        </p:txBody>
      </p:sp>
      <p:sp>
        <p:nvSpPr>
          <p:cNvPr id="30" name="Tag Emerging"/>
          <p:cNvSpPr txBox="1"/>
          <p:nvPr/>
        </p:nvSpPr>
        <p:spPr>
          <a:xfrm>
            <a:off x="10170160" y="4053840"/>
            <a:ext cx="923290" cy="27432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Emerging</a:t>
            </a:r>
          </a:p>
        </p:txBody>
      </p:sp>
      <p:sp>
        <p:nvSpPr>
          <p:cNvPr id="31" name="Row rule"/>
          <p:cNvSpPr/>
          <p:nvPr/>
        </p:nvSpPr>
        <p:spPr>
          <a:xfrm>
            <a:off x="594360" y="4438650"/>
            <a:ext cx="10972800" cy="10922"/>
          </a:xfrm>
          <a:prstGeom prst="rect">
            <a:avLst/>
          </a:prstGeom>
          <a:solidFill>
            <a:srgbClr val="E4EBE6"/>
          </a:solidFill>
          <a:ln>
            <a:noFill/>
          </a:ln>
        </p:spPr>
        <p:txBody>
          <a:bodyPr rtlCol="0" anchor="ctr"/>
          <a:lstStyle/>
          <a:p>
            <a:endParaRPr lang="en-US"/>
          </a:p>
        </p:txBody>
      </p:sp>
      <p:sp>
        <p:nvSpPr>
          <p:cNvPr id="32" name="Takeaway band"/>
          <p:cNvSpPr/>
          <p:nvPr/>
        </p:nvSpPr>
        <p:spPr>
          <a:xfrm>
            <a:off x="594360" y="4546600"/>
            <a:ext cx="10972800" cy="431800"/>
          </a:xfrm>
          <a:prstGeom prst="rect">
            <a:avLst/>
          </a:prstGeom>
          <a:solidFill>
            <a:srgbClr val="F2F5F3"/>
          </a:solidFill>
          <a:ln>
            <a:noFill/>
          </a:ln>
        </p:spPr>
        <p:txBody>
          <a:bodyPr rtlCol="0" anchor="ctr"/>
          <a:lstStyle/>
          <a:p>
            <a:endParaRPr lang="en-US"/>
          </a:p>
        </p:txBody>
      </p:sp>
      <p:sp>
        <p:nvSpPr>
          <p:cNvPr id="33" name="Takeaway marker"/>
          <p:cNvSpPr/>
          <p:nvPr/>
        </p:nvSpPr>
        <p:spPr>
          <a:xfrm>
            <a:off x="772160" y="4686300"/>
            <a:ext cx="152400" cy="152400"/>
          </a:xfrm>
          <a:prstGeom prst="diamond">
            <a:avLst/>
          </a:prstGeom>
          <a:solidFill>
            <a:srgbClr val="08872B"/>
          </a:solidFill>
          <a:ln>
            <a:noFill/>
          </a:ln>
        </p:spPr>
        <p:txBody>
          <a:bodyPr rtlCol="0" anchor="ctr"/>
          <a:lstStyle/>
          <a:p>
            <a:endParaRPr lang="en-US"/>
          </a:p>
        </p:txBody>
      </p:sp>
      <p:sp>
        <p:nvSpPr>
          <p:cNvPr id="34" name="Takeaway"/>
          <p:cNvSpPr txBox="1"/>
          <p:nvPr/>
        </p:nvSpPr>
        <p:spPr>
          <a:xfrm>
            <a:off x="1076960" y="4546600"/>
            <a:ext cx="10312400" cy="431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1" i="0" dirty="0">
                <a:solidFill>
                  <a:srgbClr val="101411"/>
                </a:solidFill>
                <a:latin typeface="Arial"/>
                <a:cs typeface="Arial"/>
              </a:rPr>
              <a:t>Only developer repository exploration is built. Every other role is a design to test in a pilot.</a:t>
            </a:r>
          </a:p>
        </p:txBody>
      </p:sp>
      <p:sp>
        <p:nvSpPr>
          <p:cNvPr id="35" name="Service surface band"/>
          <p:cNvSpPr/>
          <p:nvPr/>
        </p:nvSpPr>
        <p:spPr>
          <a:xfrm>
            <a:off x="594360" y="5080000"/>
            <a:ext cx="10972800" cy="762000"/>
          </a:xfrm>
          <a:prstGeom prst="rect">
            <a:avLst/>
          </a:prstGeom>
          <a:solidFill>
            <a:srgbClr val="F2F5F3"/>
          </a:solidFill>
          <a:ln>
            <a:noFill/>
          </a:ln>
        </p:spPr>
        <p:txBody>
          <a:bodyPr rtlCol="0" anchor="ctr"/>
          <a:lstStyle/>
          <a:p>
            <a:endParaRPr lang="en-US"/>
          </a:p>
        </p:txBody>
      </p:sp>
      <p:sp>
        <p:nvSpPr>
          <p:cNvPr id="36" name="Tag Proposed"/>
          <p:cNvSpPr txBox="1"/>
          <p:nvPr/>
        </p:nvSpPr>
        <p:spPr>
          <a:xfrm>
            <a:off x="772160" y="51816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37" name="Surface title"/>
          <p:cNvSpPr txBox="1"/>
          <p:nvPr/>
        </p:nvSpPr>
        <p:spPr>
          <a:xfrm>
            <a:off x="1864360" y="5156200"/>
            <a:ext cx="9525000" cy="3048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Mona Sans"/>
                <a:cs typeface="Mona Sans"/>
              </a:rPr>
              <a:t>The service surface: one private Pages workspace per customer.</a:t>
            </a:r>
          </a:p>
        </p:txBody>
      </p:sp>
      <p:sp>
        <p:nvSpPr>
          <p:cNvPr id="38" name="Surface text"/>
          <p:cNvSpPr txBox="1"/>
          <p:nvPr/>
        </p:nvSpPr>
        <p:spPr>
          <a:xfrm>
            <a:off x="772160" y="5499100"/>
            <a:ext cx="10617200" cy="304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200" b="0" i="0" dirty="0">
                <a:solidFill>
                  <a:srgbClr val="232925"/>
                </a:solidFill>
                <a:latin typeface="Arial"/>
                <a:cs typeface="Arial"/>
              </a:rPr>
              <a:t>Access follows the people on that engagement. A static template exists in docs/; it is unpublished and has no access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26"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12 / 15</a:t>
            </a:r>
          </a:p>
        </p:txBody>
      </p:sp>
      <p:sp>
        <p:nvSpPr>
          <p:cNvPr id="6"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What is built today, and what is not.</a:t>
            </a:r>
          </a:p>
        </p:txBody>
      </p:sp>
      <p:sp>
        <p:nvSpPr>
          <p:cNvPr id="7" name="Prototype card"/>
          <p:cNvSpPr/>
          <p:nvPr/>
        </p:nvSpPr>
        <p:spPr>
          <a:xfrm>
            <a:off x="594360" y="1600200"/>
            <a:ext cx="3454400" cy="2946400"/>
          </a:xfrm>
          <a:prstGeom prst="rect">
            <a:avLst/>
          </a:prstGeom>
          <a:solidFill>
            <a:srgbClr val="F2F5F3"/>
          </a:solidFill>
          <a:ln>
            <a:noFill/>
          </a:ln>
        </p:spPr>
        <p:txBody>
          <a:bodyPr rtlCol="0" anchor="ctr"/>
          <a:lstStyle/>
          <a:p>
            <a:endParaRPr lang="en-US"/>
          </a:p>
        </p:txBody>
      </p:sp>
      <p:sp>
        <p:nvSpPr>
          <p:cNvPr id="8" name="Prototype accent"/>
          <p:cNvSpPr/>
          <p:nvPr/>
        </p:nvSpPr>
        <p:spPr>
          <a:xfrm>
            <a:off x="594360" y="1600200"/>
            <a:ext cx="3454400" cy="50800"/>
          </a:xfrm>
          <a:prstGeom prst="rect">
            <a:avLst/>
          </a:prstGeom>
          <a:solidFill>
            <a:srgbClr val="08872B"/>
          </a:solidFill>
          <a:ln>
            <a:noFill/>
          </a:ln>
        </p:spPr>
        <p:txBody>
          <a:bodyPr rtlCol="0" anchor="ctr"/>
          <a:lstStyle/>
          <a:p>
            <a:endParaRPr lang="en-US"/>
          </a:p>
        </p:txBody>
      </p:sp>
      <p:sp>
        <p:nvSpPr>
          <p:cNvPr id="9" name="Tag Prototype"/>
          <p:cNvSpPr txBox="1"/>
          <p:nvPr/>
        </p:nvSpPr>
        <p:spPr>
          <a:xfrm>
            <a:off x="772160" y="1778000"/>
            <a:ext cx="930275"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10" name="Prototype sub"/>
          <p:cNvSpPr txBox="1"/>
          <p:nvPr/>
        </p:nvSpPr>
        <p:spPr>
          <a:xfrm>
            <a:off x="1864360" y="1778000"/>
            <a:ext cx="20574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150" b="0" i="0" dirty="0">
                <a:solidFill>
                  <a:srgbClr val="5C665F"/>
                </a:solidFill>
                <a:latin typeface="Arial"/>
                <a:cs typeface="Arial"/>
              </a:rPr>
              <a:t>Built, in this repo</a:t>
            </a:r>
          </a:p>
        </p:txBody>
      </p:sp>
      <p:sp>
        <p:nvSpPr>
          <p:cNvPr id="11" name="Prototype items"/>
          <p:cNvSpPr txBox="1"/>
          <p:nvPr/>
        </p:nvSpPr>
        <p:spPr>
          <a:xfrm>
            <a:off x="772160" y="2184400"/>
            <a:ext cx="3098800" cy="2260600"/>
          </a:xfrm>
          <a:prstGeom prst="rect">
            <a:avLst/>
          </a:prstGeom>
          <a:noFill/>
          <a:ln>
            <a:noFill/>
          </a:ln>
        </p:spPr>
        <p:txBody>
          <a:bodyPr wrap="square" lIns="0" tIns="0" rIns="0" bIns="0" anchor="t">
            <a:noAutofit/>
          </a:bodyPr>
          <a:lstStyle/>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/onboard-repo in the GitHub Copilot App</a:t>
            </a:r>
          </a:p>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Two read-only specialists in parallel</a:t>
            </a:r>
          </a:p>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Live canvas, seven sections</a:t>
            </a:r>
          </a:p>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Evidence cited to file and line</a:t>
            </a:r>
          </a:p>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Explicit unavailable sections</a:t>
            </a:r>
          </a:p>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Saved first-steps checklist, Ask buttons</a:t>
            </a:r>
          </a:p>
          <a:p>
            <a:pPr algn="l" marL="188595" indent="-188595">
              <a:lnSpc>
                <a:spcPct val="100000"/>
              </a:lnSpc>
              <a:spcBef>
                <a:spcPts val="0"/>
              </a:spcBef>
              <a:spcAft>
                <a:spcPts val="350"/>
              </a:spcAft>
              <a:buClr>
                <a:srgbClr val="08872B"/>
              </a:buClr>
              <a:buFont typeface="Arial"/>
              <a:buChar char="■"/>
            </a:pPr>
            <a:r>
              <a:rPr lang="en-US" sz="1350" b="0" i="0" dirty="0">
                <a:solidFill>
                  <a:srgbClr val="232925"/>
                </a:solidFill>
                <a:latin typeface="Arial"/>
                <a:cs typeface="Arial"/>
              </a:rPr>
              <a:t>Stops before implementation</a:t>
            </a:r>
          </a:p>
        </p:txBody>
      </p:sp>
      <p:sp>
        <p:nvSpPr>
          <p:cNvPr id="12" name="Emerging card"/>
          <p:cNvSpPr/>
          <p:nvPr/>
        </p:nvSpPr>
        <p:spPr>
          <a:xfrm>
            <a:off x="4353560" y="1600200"/>
            <a:ext cx="3454400" cy="2946400"/>
          </a:xfrm>
          <a:prstGeom prst="rect">
            <a:avLst/>
          </a:prstGeom>
          <a:solidFill>
            <a:srgbClr val="F2F5F3"/>
          </a:solidFill>
          <a:ln>
            <a:noFill/>
          </a:ln>
        </p:spPr>
        <p:txBody>
          <a:bodyPr rtlCol="0" anchor="ctr"/>
          <a:lstStyle/>
          <a:p>
            <a:endParaRPr lang="en-US"/>
          </a:p>
        </p:txBody>
      </p:sp>
      <p:sp>
        <p:nvSpPr>
          <p:cNvPr id="13" name="Emerging accent"/>
          <p:cNvSpPr/>
          <p:nvPr/>
        </p:nvSpPr>
        <p:spPr>
          <a:xfrm>
            <a:off x="4353560" y="1600200"/>
            <a:ext cx="3454400" cy="50800"/>
          </a:xfrm>
          <a:prstGeom prst="rect">
            <a:avLst/>
          </a:prstGeom>
          <a:solidFill>
            <a:srgbClr val="101411"/>
          </a:solidFill>
          <a:ln>
            <a:noFill/>
          </a:ln>
        </p:spPr>
        <p:txBody>
          <a:bodyPr rtlCol="0" anchor="ctr"/>
          <a:lstStyle/>
          <a:p>
            <a:endParaRPr lang="en-US"/>
          </a:p>
        </p:txBody>
      </p:sp>
      <p:sp>
        <p:nvSpPr>
          <p:cNvPr id="14" name="Tag Emerging"/>
          <p:cNvSpPr txBox="1"/>
          <p:nvPr/>
        </p:nvSpPr>
        <p:spPr>
          <a:xfrm>
            <a:off x="4531360" y="1778000"/>
            <a:ext cx="923290" cy="27432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Emerging</a:t>
            </a:r>
          </a:p>
        </p:txBody>
      </p:sp>
      <p:sp>
        <p:nvSpPr>
          <p:cNvPr id="15" name="Emerging sub"/>
          <p:cNvSpPr txBox="1"/>
          <p:nvPr/>
        </p:nvSpPr>
        <p:spPr>
          <a:xfrm>
            <a:off x="5623560" y="1778000"/>
            <a:ext cx="20574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150" b="0" i="0" dirty="0">
                <a:solidFill>
                  <a:srgbClr val="5C665F"/>
                </a:solidFill>
                <a:latin typeface="Arial"/>
                <a:cs typeface="Arial"/>
              </a:rPr>
              <a:t>A document, not validated</a:t>
            </a:r>
          </a:p>
        </p:txBody>
      </p:sp>
      <p:sp>
        <p:nvSpPr>
          <p:cNvPr id="16" name="Emerging items"/>
          <p:cNvSpPr txBox="1"/>
          <p:nvPr/>
        </p:nvSpPr>
        <p:spPr>
          <a:xfrm>
            <a:off x="4531360" y="2184400"/>
            <a:ext cx="3098800" cy="2260600"/>
          </a:xfrm>
          <a:prstGeom prst="rect">
            <a:avLst/>
          </a:prstGeom>
          <a:noFill/>
          <a:ln>
            <a:noFill/>
          </a:ln>
        </p:spPr>
        <p:txBody>
          <a:bodyPr wrap="square" lIns="0" tIns="0" rIns="0" bIns="0" anchor="t">
            <a:noAutofit/>
          </a:bodyPr>
          <a:lstStyle/>
          <a:p>
            <a:pPr algn="l" marL="188595" indent="-188595">
              <a:lnSpc>
                <a:spcPct val="100000"/>
              </a:lnSpc>
              <a:spcBef>
                <a:spcPts val="0"/>
              </a:spcBef>
              <a:spcAft>
                <a:spcPts val="350"/>
              </a:spcAft>
              <a:buClr>
                <a:srgbClr val="101411"/>
              </a:buClr>
              <a:buFont typeface="Arial"/>
              <a:buChar char="■"/>
            </a:pPr>
            <a:r>
              <a:rPr lang="en-US" sz="1350" b="0" i="0" dirty="0">
                <a:solidFill>
                  <a:srgbClr val="232925"/>
                </a:solidFill>
                <a:latin typeface="Arial"/>
                <a:cs typeface="Arial"/>
              </a:rPr>
              <a:t>Workshop blocks B1 to B8</a:t>
            </a:r>
          </a:p>
          <a:p>
            <a:pPr algn="l" marL="188595" indent="-188595">
              <a:lnSpc>
                <a:spcPct val="100000"/>
              </a:lnSpc>
              <a:spcBef>
                <a:spcPts val="0"/>
              </a:spcBef>
              <a:spcAft>
                <a:spcPts val="350"/>
              </a:spcAft>
              <a:buClr>
                <a:srgbClr val="101411"/>
              </a:buClr>
              <a:buFont typeface="Arial"/>
              <a:buChar char="■"/>
            </a:pPr>
            <a:r>
              <a:rPr lang="en-US" sz="1350" b="0" i="0" dirty="0">
                <a:solidFill>
                  <a:srgbClr val="232925"/>
                </a:solidFill>
                <a:latin typeface="Arial"/>
                <a:cs typeface="Arial"/>
              </a:rPr>
              <a:t>Four composable recipes</a:t>
            </a:r>
          </a:p>
          <a:p>
            <a:pPr algn="l" marL="188595" indent="-188595">
              <a:lnSpc>
                <a:spcPct val="100000"/>
              </a:lnSpc>
              <a:spcBef>
                <a:spcPts val="0"/>
              </a:spcBef>
              <a:spcAft>
                <a:spcPts val="350"/>
              </a:spcAft>
              <a:buClr>
                <a:srgbClr val="101411"/>
              </a:buClr>
              <a:buFont typeface="Arial"/>
              <a:buChar char="■"/>
            </a:pPr>
            <a:r>
              <a:rPr lang="en-US" sz="1350" b="0" i="0" dirty="0">
                <a:solidFill>
                  <a:srgbClr val="232925"/>
                </a:solidFill>
                <a:latin typeface="Arial"/>
                <a:cs typeface="Arial"/>
              </a:rPr>
              <a:t>Selection table by customer maturity</a:t>
            </a:r>
          </a:p>
          <a:p>
            <a:pPr algn="l" marL="188595" indent="-188595">
              <a:lnSpc>
                <a:spcPct val="100000"/>
              </a:lnSpc>
              <a:spcBef>
                <a:spcPts val="0"/>
              </a:spcBef>
              <a:spcAft>
                <a:spcPts val="350"/>
              </a:spcAft>
              <a:buClr>
                <a:srgbClr val="101411"/>
              </a:buClr>
              <a:buFont typeface="Arial"/>
              <a:buChar char="■"/>
            </a:pPr>
            <a:r>
              <a:rPr lang="en-US" sz="1350" b="0" i="0" dirty="0">
                <a:solidFill>
                  <a:srgbClr val="232925"/>
                </a:solidFill>
                <a:latin typeface="Arial"/>
                <a:cs typeface="Arial"/>
              </a:rPr>
              <a:t>Static Pages template in docs/, unpublished</a:t>
            </a:r>
          </a:p>
          <a:p>
            <a:pPr algn="l" marL="188595" indent="-188595">
              <a:lnSpc>
                <a:spcPct val="100000"/>
              </a:lnSpc>
              <a:spcBef>
                <a:spcPts val="0"/>
              </a:spcBef>
              <a:spcAft>
                <a:spcPts val="350"/>
              </a:spcAft>
              <a:buClr>
                <a:srgbClr val="101411"/>
              </a:buClr>
              <a:buFont typeface="Arial"/>
              <a:buChar char="■"/>
            </a:pPr>
            <a:r>
              <a:rPr lang="en-US" sz="1350" b="0" i="0" dirty="0">
                <a:solidFill>
                  <a:srgbClr val="232925"/>
                </a:solidFill>
                <a:latin typeface="Arial"/>
                <a:cs typeface="Arial"/>
              </a:rPr>
              <a:t>Recommended designs, not packaged offerings, not proven outcomes</a:t>
            </a:r>
          </a:p>
        </p:txBody>
      </p:sp>
      <p:sp>
        <p:nvSpPr>
          <p:cNvPr id="17" name="Proposed card"/>
          <p:cNvSpPr/>
          <p:nvPr/>
        </p:nvSpPr>
        <p:spPr>
          <a:xfrm>
            <a:off x="8112760" y="1600200"/>
            <a:ext cx="3454400" cy="2946400"/>
          </a:xfrm>
          <a:prstGeom prst="rect">
            <a:avLst/>
          </a:prstGeom>
          <a:solidFill>
            <a:srgbClr val="F2F5F3"/>
          </a:solidFill>
          <a:ln>
            <a:noFill/>
          </a:ln>
        </p:spPr>
        <p:txBody>
          <a:bodyPr rtlCol="0" anchor="ctr"/>
          <a:lstStyle/>
          <a:p>
            <a:endParaRPr lang="en-US"/>
          </a:p>
        </p:txBody>
      </p:sp>
      <p:sp>
        <p:nvSpPr>
          <p:cNvPr id="18" name="Proposed accent"/>
          <p:cNvSpPr/>
          <p:nvPr/>
        </p:nvSpPr>
        <p:spPr>
          <a:xfrm>
            <a:off x="8112760" y="1600200"/>
            <a:ext cx="3454400" cy="50800"/>
          </a:xfrm>
          <a:prstGeom prst="rect">
            <a:avLst/>
          </a:prstGeom>
          <a:solidFill>
            <a:srgbClr val="8534F3"/>
          </a:solidFill>
          <a:ln>
            <a:noFill/>
          </a:ln>
        </p:spPr>
        <p:txBody>
          <a:bodyPr rtlCol="0" anchor="ctr"/>
          <a:lstStyle/>
          <a:p>
            <a:endParaRPr lang="en-US"/>
          </a:p>
        </p:txBody>
      </p:sp>
      <p:sp>
        <p:nvSpPr>
          <p:cNvPr id="19" name="Tag Proposed"/>
          <p:cNvSpPr txBox="1"/>
          <p:nvPr/>
        </p:nvSpPr>
        <p:spPr>
          <a:xfrm>
            <a:off x="8290560" y="17780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20" name="Proposed sub"/>
          <p:cNvSpPr txBox="1"/>
          <p:nvPr/>
        </p:nvSpPr>
        <p:spPr>
          <a:xfrm>
            <a:off x="9382760" y="1778000"/>
            <a:ext cx="20574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150" b="0" i="0" dirty="0">
                <a:solidFill>
                  <a:srgbClr val="5C665F"/>
                </a:solidFill>
                <a:latin typeface="Arial"/>
                <a:cs typeface="Arial"/>
              </a:rPr>
              <a:t>Not built</a:t>
            </a:r>
          </a:p>
        </p:txBody>
      </p:sp>
      <p:sp>
        <p:nvSpPr>
          <p:cNvPr id="21" name="Proposed items"/>
          <p:cNvSpPr txBox="1"/>
          <p:nvPr/>
        </p:nvSpPr>
        <p:spPr>
          <a:xfrm>
            <a:off x="8290560" y="2184400"/>
            <a:ext cx="3098800" cy="2260600"/>
          </a:xfrm>
          <a:prstGeom prst="rect">
            <a:avLst/>
          </a:prstGeom>
          <a:noFill/>
          <a:ln>
            <a:noFill/>
          </a:ln>
        </p:spPr>
        <p:txBody>
          <a:bodyPr wrap="square" lIns="0" tIns="0" rIns="0" bIns="0" anchor="t">
            <a:noAutofit/>
          </a:bodyPr>
          <a:lstStyle/>
          <a:p>
            <a:pPr algn="l" marL="188595" indent="-188595">
              <a:lnSpc>
                <a:spcPct val="100000"/>
              </a:lnSpc>
              <a:spcBef>
                <a:spcPts val="0"/>
              </a:spcBef>
              <a:spcAft>
                <a:spcPts val="350"/>
              </a:spcAft>
              <a:buClr>
                <a:srgbClr val="8534F3"/>
              </a:buClr>
              <a:buFont typeface="Arial"/>
              <a:buChar char="■"/>
            </a:pPr>
            <a:r>
              <a:rPr lang="en-US" sz="1350" b="0" i="0" dirty="0">
                <a:solidFill>
                  <a:srgbClr val="232925"/>
                </a:solidFill>
                <a:latin typeface="Arial"/>
                <a:cs typeface="Arial"/>
              </a:rPr>
              <a:t>Guided stakeholder discovery</a:t>
            </a:r>
          </a:p>
          <a:p>
            <a:pPr algn="l" marL="188595" indent="-188595">
              <a:lnSpc>
                <a:spcPct val="100000"/>
              </a:lnSpc>
              <a:spcBef>
                <a:spcPts val="0"/>
              </a:spcBef>
              <a:spcAft>
                <a:spcPts val="350"/>
              </a:spcAft>
              <a:buClr>
                <a:srgbClr val="8534F3"/>
              </a:buClr>
              <a:buFont typeface="Arial"/>
              <a:buChar char="■"/>
            </a:pPr>
            <a:r>
              <a:rPr lang="en-US" sz="1350" b="0" i="0" dirty="0">
                <a:solidFill>
                  <a:srgbClr val="232925"/>
                </a:solidFill>
                <a:latin typeface="Arial"/>
                <a:cs typeface="Arial"/>
              </a:rPr>
              <a:t>Generated requirement surveys</a:t>
            </a:r>
          </a:p>
          <a:p>
            <a:pPr algn="l" marL="188595" indent="-188595">
              <a:lnSpc>
                <a:spcPct val="100000"/>
              </a:lnSpc>
              <a:spcBef>
                <a:spcPts val="0"/>
              </a:spcBef>
              <a:spcAft>
                <a:spcPts val="350"/>
              </a:spcAft>
              <a:buClr>
                <a:srgbClr val="8534F3"/>
              </a:buClr>
              <a:buFont typeface="Arial"/>
              <a:buChar char="■"/>
            </a:pPr>
            <a:r>
              <a:rPr lang="en-US" sz="1350" b="0" i="0" dirty="0">
                <a:solidFill>
                  <a:srgbClr val="232925"/>
                </a:solidFill>
                <a:latin typeface="Arial"/>
                <a:cs typeface="Arial"/>
              </a:rPr>
              <a:t>Synthesis of survey responses</a:t>
            </a:r>
          </a:p>
          <a:p>
            <a:pPr algn="l" marL="188595" indent="-188595">
              <a:lnSpc>
                <a:spcPct val="100000"/>
              </a:lnSpc>
              <a:spcBef>
                <a:spcPts val="0"/>
              </a:spcBef>
              <a:spcAft>
                <a:spcPts val="350"/>
              </a:spcAft>
              <a:buClr>
                <a:srgbClr val="8534F3"/>
              </a:buClr>
              <a:buFont typeface="Arial"/>
              <a:buChar char="■"/>
            </a:pPr>
            <a:r>
              <a:rPr lang="en-US" sz="1350" b="0" i="0" dirty="0">
                <a:solidFill>
                  <a:srgbClr val="232925"/>
                </a:solidFill>
                <a:latin typeface="Arial"/>
                <a:cs typeface="Arial"/>
              </a:rPr>
              <a:t>Workshop plan assembled from blocks</a:t>
            </a:r>
          </a:p>
          <a:p>
            <a:pPr algn="l" marL="188595" indent="-188595">
              <a:lnSpc>
                <a:spcPct val="100000"/>
              </a:lnSpc>
              <a:spcBef>
                <a:spcPts val="0"/>
              </a:spcBef>
              <a:spcAft>
                <a:spcPts val="350"/>
              </a:spcAft>
              <a:buClr>
                <a:srgbClr val="8534F3"/>
              </a:buClr>
              <a:buFont typeface="Arial"/>
              <a:buChar char="■"/>
            </a:pPr>
            <a:r>
              <a:rPr lang="en-US" sz="1350" b="0" i="0" dirty="0">
                <a:solidFill>
                  <a:srgbClr val="232925"/>
                </a:solidFill>
                <a:latin typeface="Arial"/>
                <a:cs typeface="Arial"/>
              </a:rPr>
              <a:t>Hosted intake and a private Pages workspace per customer</a:t>
            </a:r>
          </a:p>
        </p:txBody>
      </p:sp>
      <p:sp>
        <p:nvSpPr>
          <p:cNvPr id="22" name="Governance band"/>
          <p:cNvSpPr/>
          <p:nvPr/>
        </p:nvSpPr>
        <p:spPr>
          <a:xfrm>
            <a:off x="594360" y="4699000"/>
            <a:ext cx="10972800" cy="1270000"/>
          </a:xfrm>
          <a:prstGeom prst="rect">
            <a:avLst/>
          </a:prstGeom>
          <a:solidFill>
            <a:srgbClr val="101411"/>
          </a:solidFill>
          <a:ln>
            <a:noFill/>
          </a:ln>
        </p:spPr>
        <p:txBody>
          <a:bodyPr rtlCol="0" anchor="ctr"/>
          <a:lstStyle/>
          <a:p>
            <a:endParaRPr lang="en-US"/>
          </a:p>
        </p:txBody>
      </p:sp>
      <p:sp>
        <p:nvSpPr>
          <p:cNvPr id="23" name="Governance title"/>
          <p:cNvSpPr txBox="1"/>
          <p:nvPr/>
        </p:nvSpPr>
        <p:spPr>
          <a:xfrm>
            <a:off x="797560" y="4826000"/>
            <a:ext cx="3810000" cy="254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1" i="0" dirty="0">
                <a:solidFill>
                  <a:srgbClr val="0FBF3E"/>
                </a:solidFill>
                <a:latin typeface="Mona Sans"/>
                <a:cs typeface="Mona Sans"/>
              </a:rPr>
              <a:t>Governance of the built part</a:t>
            </a:r>
          </a:p>
        </p:txBody>
      </p:sp>
      <p:sp>
        <p:nvSpPr>
          <p:cNvPr id="24" name="Governance left"/>
          <p:cNvSpPr txBox="1"/>
          <p:nvPr/>
        </p:nvSpPr>
        <p:spPr>
          <a:xfrm>
            <a:off x="797560" y="5130800"/>
            <a:ext cx="5283200" cy="787400"/>
          </a:xfrm>
          <a:prstGeom prst="rect">
            <a:avLst/>
          </a:prstGeom>
          <a:noFill/>
          <a:ln>
            <a:noFill/>
          </a:ln>
        </p:spPr>
        <p:txBody>
          <a:bodyPr wrap="square" lIns="0" tIns="0" rIns="0" bIns="0" anchor="t">
            <a:noAutofit/>
          </a:bodyPr>
          <a:lstStyle/>
          <a:p>
            <a:pPr algn="l" marL="174625" indent="-174625">
              <a:lnSpc>
                <a:spcPct val="100000"/>
              </a:lnSpc>
              <a:spcBef>
                <a:spcPts val="0"/>
              </a:spcBef>
              <a:spcAft>
                <a:spcPts val="200"/>
              </a:spcAft>
              <a:buClr>
                <a:srgbClr val="0FBF3E"/>
              </a:buClr>
              <a:buFont typeface="Arial"/>
              <a:buChar char="■"/>
            </a:pPr>
            <a:r>
              <a:rPr lang="en-US" sz="1250" b="0" i="0" dirty="0">
                <a:solidFill>
                  <a:srgbClr val="FFFFFF"/>
                </a:solidFill>
                <a:latin typeface="Arial"/>
                <a:cs typeface="Arial"/>
              </a:rPr>
              <a:t>Read-only: no file changes, no setup, build or test commands</a:t>
            </a:r>
          </a:p>
          <a:p>
            <a:pPr algn="l" marL="174625" indent="-174625">
              <a:lnSpc>
                <a:spcPct val="100000"/>
              </a:lnSpc>
              <a:spcBef>
                <a:spcPts val="0"/>
              </a:spcBef>
              <a:spcAft>
                <a:spcPts val="200"/>
              </a:spcAft>
              <a:buClr>
                <a:srgbClr val="0FBF3E"/>
              </a:buClr>
              <a:buFont typeface="Arial"/>
              <a:buChar char="■"/>
            </a:pPr>
            <a:r>
              <a:rPr lang="en-US" sz="1250" b="0" i="0" dirty="0">
                <a:solidFill>
                  <a:srgbClr val="FFFFFF"/>
                </a:solidFill>
                <a:latin typeface="Arial"/>
                <a:cs typeface="Arial"/>
              </a:rPr>
              <a:t>Role-scoped tools: agents have no shell</a:t>
            </a:r>
          </a:p>
          <a:p>
            <a:pPr algn="l" marL="174625" indent="-174625">
              <a:lnSpc>
                <a:spcPct val="100000"/>
              </a:lnSpc>
              <a:spcBef>
                <a:spcPts val="0"/>
              </a:spcBef>
              <a:spcAft>
                <a:spcPts val="200"/>
              </a:spcAft>
              <a:buClr>
                <a:srgbClr val="0FBF3E"/>
              </a:buClr>
              <a:buFont typeface="Arial"/>
              <a:buChar char="■"/>
            </a:pPr>
            <a:r>
              <a:rPr lang="en-US" sz="1250" b="0" i="0" dirty="0">
                <a:solidFill>
                  <a:srgbClr val="FFFFFF"/>
                </a:solidFill>
                <a:latin typeface="Arial"/>
                <a:cs typeface="Arial"/>
              </a:rPr>
              <a:t>Repository and PR text is untrusted data</a:t>
            </a:r>
          </a:p>
        </p:txBody>
      </p:sp>
      <p:sp>
        <p:nvSpPr>
          <p:cNvPr id="25" name="Governance right"/>
          <p:cNvSpPr txBox="1"/>
          <p:nvPr/>
        </p:nvSpPr>
        <p:spPr>
          <a:xfrm>
            <a:off x="6182360" y="5130800"/>
            <a:ext cx="5181600" cy="787400"/>
          </a:xfrm>
          <a:prstGeom prst="rect">
            <a:avLst/>
          </a:prstGeom>
          <a:noFill/>
          <a:ln>
            <a:noFill/>
          </a:ln>
        </p:spPr>
        <p:txBody>
          <a:bodyPr wrap="square" lIns="0" tIns="0" rIns="0" bIns="0" anchor="t">
            <a:noAutofit/>
          </a:bodyPr>
          <a:lstStyle/>
          <a:p>
            <a:pPr algn="l" marL="174625" indent="-174625">
              <a:lnSpc>
                <a:spcPct val="100000"/>
              </a:lnSpc>
              <a:spcBef>
                <a:spcPts val="0"/>
              </a:spcBef>
              <a:spcAft>
                <a:spcPts val="200"/>
              </a:spcAft>
              <a:buClr>
                <a:srgbClr val="0FBF3E"/>
              </a:buClr>
              <a:buFont typeface="Arial"/>
              <a:buChar char="■"/>
            </a:pPr>
            <a:r>
              <a:rPr lang="en-US" sz="1250" b="0" i="0" dirty="0">
                <a:solidFill>
                  <a:srgbClr val="FFFFFF"/>
                </a:solidFill>
                <a:latin typeface="Arial"/>
                <a:cs typeface="Arial"/>
              </a:rPr>
              <a:t>Guides stay local; canvas bound to 127.0.0.1 with a token</a:t>
            </a:r>
          </a:p>
          <a:p>
            <a:pPr algn="l" marL="174625" indent="-174625">
              <a:lnSpc>
                <a:spcPct val="100000"/>
              </a:lnSpc>
              <a:spcBef>
                <a:spcPts val="0"/>
              </a:spcBef>
              <a:spcAft>
                <a:spcPts val="200"/>
              </a:spcAft>
              <a:buClr>
                <a:srgbClr val="0FBF3E"/>
              </a:buClr>
              <a:buFont typeface="Arial"/>
              <a:buChar char="■"/>
            </a:pPr>
            <a:r>
              <a:rPr lang="en-US" sz="1250" b="0" i="0" dirty="0">
                <a:solidFill>
                  <a:srgbClr val="FFFFFF"/>
                </a:solidFill>
                <a:latin typeface="Arial"/>
                <a:cs typeface="Arial"/>
              </a:rPr>
              <a:t>Path and line checks validate references, not correctness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33"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13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Status tags. Prototype: built and runnable in this repo. Emerging: exists as a document or design; not validated or automated. Proposed: not built.</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A bounded pilot, not a promise.</a:t>
            </a:r>
          </a:p>
        </p:txBody>
      </p:sp>
      <p:sp>
        <p:nvSpPr>
          <p:cNvPr id="8" name="Tag Proposed"/>
          <p:cNvSpPr txBox="1"/>
          <p:nvPr/>
        </p:nvSpPr>
        <p:spPr>
          <a:xfrm>
            <a:off x="594360" y="1498600"/>
            <a:ext cx="922655"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9" name="Pilot note"/>
          <p:cNvSpPr txBox="1"/>
          <p:nvPr/>
        </p:nvSpPr>
        <p:spPr>
          <a:xfrm>
            <a:off x="1686560" y="1498600"/>
            <a:ext cx="9652000" cy="279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5C665F"/>
                </a:solidFill>
                <a:latin typeface="Arial"/>
                <a:cs typeface="Arial"/>
              </a:rPr>
              <a:t>One customer engagement. A baseline before the pilot. No results are claimed.</a:t>
            </a:r>
          </a:p>
        </p:txBody>
      </p:sp>
      <p:sp>
        <p:nvSpPr>
          <p:cNvPr id="10" name="Header row"/>
          <p:cNvSpPr/>
          <p:nvPr/>
        </p:nvSpPr>
        <p:spPr>
          <a:xfrm>
            <a:off x="594360" y="1905000"/>
            <a:ext cx="10972800" cy="381000"/>
          </a:xfrm>
          <a:prstGeom prst="rect">
            <a:avLst/>
          </a:prstGeom>
          <a:solidFill>
            <a:srgbClr val="101411"/>
          </a:solidFill>
          <a:ln>
            <a:noFill/>
          </a:ln>
        </p:spPr>
        <p:txBody>
          <a:bodyPr rtlCol="0" anchor="ctr"/>
          <a:lstStyle/>
          <a:p>
            <a:endParaRPr lang="en-US"/>
          </a:p>
        </p:txBody>
      </p:sp>
      <p:sp>
        <p:nvSpPr>
          <p:cNvPr id="11" name="Header Proposed measure"/>
          <p:cNvSpPr txBox="1"/>
          <p:nvPr/>
        </p:nvSpPr>
        <p:spPr>
          <a:xfrm>
            <a:off x="721360" y="1905000"/>
            <a:ext cx="27432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Proposed measure</a:t>
            </a:r>
          </a:p>
        </p:txBody>
      </p:sp>
      <p:sp>
        <p:nvSpPr>
          <p:cNvPr id="12" name="Header Question it answers"/>
          <p:cNvSpPr txBox="1"/>
          <p:nvPr/>
        </p:nvSpPr>
        <p:spPr>
          <a:xfrm>
            <a:off x="3642360" y="1905000"/>
            <a:ext cx="49022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Question it answers</a:t>
            </a:r>
          </a:p>
        </p:txBody>
      </p:sp>
      <p:sp>
        <p:nvSpPr>
          <p:cNvPr id="13" name="Header How it is captured"/>
          <p:cNvSpPr txBox="1"/>
          <p:nvPr/>
        </p:nvSpPr>
        <p:spPr>
          <a:xfrm>
            <a:off x="8722360" y="1905000"/>
            <a:ext cx="2794000" cy="3810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How it is captured</a:t>
            </a:r>
          </a:p>
        </p:txBody>
      </p:sp>
      <p:sp>
        <p:nvSpPr>
          <p:cNvPr id="14" name="Cell r1c1"/>
          <p:cNvSpPr txBox="1"/>
          <p:nvPr/>
        </p:nvSpPr>
        <p:spPr>
          <a:xfrm>
            <a:off x="721360" y="2324100"/>
            <a:ext cx="2717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Time to qualified requirements</a:t>
            </a:r>
          </a:p>
        </p:txBody>
      </p:sp>
      <p:sp>
        <p:nvSpPr>
          <p:cNvPr id="15" name="Cell r1c2"/>
          <p:cNvSpPr txBox="1"/>
          <p:nvPr/>
        </p:nvSpPr>
        <p:spPr>
          <a:xfrm>
            <a:off x="3642360" y="2324100"/>
            <a:ext cx="4876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How long from the first discovery to a customer-confirmed requirement list?</a:t>
            </a:r>
          </a:p>
        </p:txBody>
      </p:sp>
      <p:sp>
        <p:nvSpPr>
          <p:cNvPr id="16" name="Cell r1c3"/>
          <p:cNvSpPr txBox="1"/>
          <p:nvPr/>
        </p:nvSpPr>
        <p:spPr>
          <a:xfrm>
            <a:off x="8722360" y="2324100"/>
            <a:ext cx="27686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Compare with the baseline engagement</a:t>
            </a:r>
          </a:p>
        </p:txBody>
      </p:sp>
      <p:sp>
        <p:nvSpPr>
          <p:cNvPr id="17" name="Row rule"/>
          <p:cNvSpPr/>
          <p:nvPr/>
        </p:nvSpPr>
        <p:spPr>
          <a:xfrm>
            <a:off x="594360" y="3016250"/>
            <a:ext cx="10972800" cy="10922"/>
          </a:xfrm>
          <a:prstGeom prst="rect">
            <a:avLst/>
          </a:prstGeom>
          <a:solidFill>
            <a:srgbClr val="E4EBE6"/>
          </a:solidFill>
          <a:ln>
            <a:noFill/>
          </a:ln>
        </p:spPr>
        <p:txBody>
          <a:bodyPr rtlCol="0" anchor="ctr"/>
          <a:lstStyle/>
          <a:p>
            <a:endParaRPr lang="en-US"/>
          </a:p>
        </p:txBody>
      </p:sp>
      <p:sp>
        <p:nvSpPr>
          <p:cNvPr id="18" name="Cell r2c1"/>
          <p:cNvSpPr txBox="1"/>
          <p:nvPr/>
        </p:nvSpPr>
        <p:spPr>
          <a:xfrm>
            <a:off x="721360" y="3060700"/>
            <a:ext cx="2717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Requirement completeness</a:t>
            </a:r>
          </a:p>
        </p:txBody>
      </p:sp>
      <p:sp>
        <p:nvSpPr>
          <p:cNvPr id="19" name="Cell r2c2"/>
          <p:cNvSpPr txBox="1"/>
          <p:nvPr/>
        </p:nvSpPr>
        <p:spPr>
          <a:xfrm>
            <a:off x="3642360" y="3060700"/>
            <a:ext cx="4876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Does the account owner judge the list complete enough to plan a workshop?</a:t>
            </a:r>
          </a:p>
        </p:txBody>
      </p:sp>
      <p:sp>
        <p:nvSpPr>
          <p:cNvPr id="20" name="Cell r2c3"/>
          <p:cNvSpPr txBox="1"/>
          <p:nvPr/>
        </p:nvSpPr>
        <p:spPr>
          <a:xfrm>
            <a:off x="8722360" y="3060700"/>
            <a:ext cx="27686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Account owner’s rating against agreed criteria</a:t>
            </a:r>
          </a:p>
        </p:txBody>
      </p:sp>
      <p:sp>
        <p:nvSpPr>
          <p:cNvPr id="21" name="Row rule"/>
          <p:cNvSpPr/>
          <p:nvPr/>
        </p:nvSpPr>
        <p:spPr>
          <a:xfrm>
            <a:off x="594360" y="3752850"/>
            <a:ext cx="10972800" cy="10922"/>
          </a:xfrm>
          <a:prstGeom prst="rect">
            <a:avLst/>
          </a:prstGeom>
          <a:solidFill>
            <a:srgbClr val="E4EBE6"/>
          </a:solidFill>
          <a:ln>
            <a:noFill/>
          </a:ln>
        </p:spPr>
        <p:txBody>
          <a:bodyPr rtlCol="0" anchor="ctr"/>
          <a:lstStyle/>
          <a:p>
            <a:endParaRPr lang="en-US"/>
          </a:p>
        </p:txBody>
      </p:sp>
      <p:sp>
        <p:nvSpPr>
          <p:cNvPr id="22" name="Cell r3c1"/>
          <p:cNvSpPr txBox="1"/>
          <p:nvPr/>
        </p:nvSpPr>
        <p:spPr>
          <a:xfrm>
            <a:off x="721360" y="3797300"/>
            <a:ext cx="2717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Workshop-to-action conversion</a:t>
            </a:r>
          </a:p>
        </p:txBody>
      </p:sp>
      <p:sp>
        <p:nvSpPr>
          <p:cNvPr id="23" name="Cell r3c2"/>
          <p:cNvSpPr txBox="1"/>
          <p:nvPr/>
        </p:nvSpPr>
        <p:spPr>
          <a:xfrm>
            <a:off x="3642360" y="3797300"/>
            <a:ext cx="4876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How many workshop actions get a named customer owner?</a:t>
            </a:r>
          </a:p>
        </p:txBody>
      </p:sp>
      <p:sp>
        <p:nvSpPr>
          <p:cNvPr id="24" name="Cell r3c3"/>
          <p:cNvSpPr txBox="1"/>
          <p:nvPr/>
        </p:nvSpPr>
        <p:spPr>
          <a:xfrm>
            <a:off x="8722360" y="3797300"/>
            <a:ext cx="27686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Count of owned actions over proposed actions</a:t>
            </a:r>
          </a:p>
        </p:txBody>
      </p:sp>
      <p:sp>
        <p:nvSpPr>
          <p:cNvPr id="25" name="Row rule"/>
          <p:cNvSpPr/>
          <p:nvPr/>
        </p:nvSpPr>
        <p:spPr>
          <a:xfrm>
            <a:off x="594360" y="4489450"/>
            <a:ext cx="10972800" cy="10922"/>
          </a:xfrm>
          <a:prstGeom prst="rect">
            <a:avLst/>
          </a:prstGeom>
          <a:solidFill>
            <a:srgbClr val="E4EBE6"/>
          </a:solidFill>
          <a:ln>
            <a:noFill/>
          </a:ln>
        </p:spPr>
        <p:txBody>
          <a:bodyPr rtlCol="0" anchor="ctr"/>
          <a:lstStyle/>
          <a:p>
            <a:endParaRPr lang="en-US"/>
          </a:p>
        </p:txBody>
      </p:sp>
      <p:sp>
        <p:nvSpPr>
          <p:cNvPr id="26" name="Cell r4c1"/>
          <p:cNvSpPr txBox="1"/>
          <p:nvPr/>
        </p:nvSpPr>
        <p:spPr>
          <a:xfrm>
            <a:off x="721360" y="4533900"/>
            <a:ext cx="2717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101411"/>
                </a:solidFill>
                <a:latin typeface="Arial"/>
                <a:cs typeface="Arial"/>
              </a:rPr>
              <a:t>Rework found at review</a:t>
            </a:r>
          </a:p>
        </p:txBody>
      </p:sp>
      <p:sp>
        <p:nvSpPr>
          <p:cNvPr id="27" name="Cell r4c2"/>
          <p:cNvSpPr txBox="1"/>
          <p:nvPr/>
        </p:nvSpPr>
        <p:spPr>
          <a:xfrm>
            <a:off x="3642360" y="4533900"/>
            <a:ext cx="48768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How many corrections do reviewers make at each gate?</a:t>
            </a:r>
          </a:p>
        </p:txBody>
      </p:sp>
      <p:sp>
        <p:nvSpPr>
          <p:cNvPr id="28" name="Cell r4c3"/>
          <p:cNvSpPr txBox="1"/>
          <p:nvPr/>
        </p:nvSpPr>
        <p:spPr>
          <a:xfrm>
            <a:off x="8722360" y="4533900"/>
            <a:ext cx="2768600" cy="660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0" i="0" dirty="0">
                <a:solidFill>
                  <a:srgbClr val="232925"/>
                </a:solidFill>
                <a:latin typeface="Arial"/>
                <a:cs typeface="Arial"/>
              </a:rPr>
              <a:t>Tally of corrections and unsupported claims</a:t>
            </a:r>
          </a:p>
        </p:txBody>
      </p:sp>
      <p:sp>
        <p:nvSpPr>
          <p:cNvPr id="29" name="Row rule"/>
          <p:cNvSpPr/>
          <p:nvPr/>
        </p:nvSpPr>
        <p:spPr>
          <a:xfrm>
            <a:off x="594360" y="5226050"/>
            <a:ext cx="10972800" cy="10922"/>
          </a:xfrm>
          <a:prstGeom prst="rect">
            <a:avLst/>
          </a:prstGeom>
          <a:solidFill>
            <a:srgbClr val="E4EBE6"/>
          </a:solidFill>
          <a:ln>
            <a:noFill/>
          </a:ln>
        </p:spPr>
        <p:txBody>
          <a:bodyPr rtlCol="0" anchor="ctr"/>
          <a:lstStyle/>
          <a:p>
            <a:endParaRPr lang="en-US"/>
          </a:p>
        </p:txBody>
      </p:sp>
      <p:sp>
        <p:nvSpPr>
          <p:cNvPr id="30" name="Takeaway band"/>
          <p:cNvSpPr/>
          <p:nvPr/>
        </p:nvSpPr>
        <p:spPr>
          <a:xfrm>
            <a:off x="594360" y="5410200"/>
            <a:ext cx="10972800" cy="584200"/>
          </a:xfrm>
          <a:prstGeom prst="rect">
            <a:avLst/>
          </a:prstGeom>
          <a:solidFill>
            <a:srgbClr val="F2F5F3"/>
          </a:solidFill>
          <a:ln>
            <a:noFill/>
          </a:ln>
        </p:spPr>
        <p:txBody>
          <a:bodyPr rtlCol="0" anchor="ctr"/>
          <a:lstStyle/>
          <a:p>
            <a:endParaRPr lang="en-US"/>
          </a:p>
        </p:txBody>
      </p:sp>
      <p:sp>
        <p:nvSpPr>
          <p:cNvPr id="31" name="Takeaway marker"/>
          <p:cNvSpPr/>
          <p:nvPr/>
        </p:nvSpPr>
        <p:spPr>
          <a:xfrm>
            <a:off x="772160" y="5626100"/>
            <a:ext cx="152400" cy="152400"/>
          </a:xfrm>
          <a:prstGeom prst="diamond">
            <a:avLst/>
          </a:prstGeom>
          <a:solidFill>
            <a:srgbClr val="08872B"/>
          </a:solidFill>
          <a:ln>
            <a:noFill/>
          </a:ln>
        </p:spPr>
        <p:txBody>
          <a:bodyPr rtlCol="0" anchor="ctr"/>
          <a:lstStyle/>
          <a:p>
            <a:endParaRPr lang="en-US"/>
          </a:p>
        </p:txBody>
      </p:sp>
      <p:sp>
        <p:nvSpPr>
          <p:cNvPr id="32" name="Takeaway"/>
          <p:cNvSpPr txBox="1"/>
          <p:nvPr/>
        </p:nvSpPr>
        <p:spPr>
          <a:xfrm>
            <a:off x="1076960" y="5410200"/>
            <a:ext cx="10312400" cy="5842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400" b="1" i="0" dirty="0">
                <a:solidFill>
                  <a:srgbClr val="101411"/>
                </a:solidFill>
                <a:latin typeface="Arial"/>
                <a:cs typeface="Arial"/>
              </a:rPr>
              <a:t>The pilot decides whether the hypothesis holds. Stop or change course if review corrections outweigh the effort saved.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232925"/>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B6BFB8"/>
                </a:solidFill>
                <a:latin typeface="Arial"/>
                <a:cs typeface="Arial"/>
              </a:rPr>
              <a:t>Bearing  |  GitHub Copilot App workflow</a:t>
            </a:r>
          </a:p>
        </p:txBody>
      </p:sp>
      <p:sp>
        <p:nvSpPr>
          <p:cNvPr id="24"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B6BFB8"/>
                </a:solidFill>
                <a:latin typeface="Arial"/>
                <a:cs typeface="Arial"/>
              </a:rPr>
              <a:t>14 / 15</a:t>
            </a:r>
          </a:p>
        </p:txBody>
      </p:sp>
      <p:sp>
        <p:nvSpPr>
          <p:cNvPr id="6" name="Title"/>
          <p:cNvSpPr txBox="1"/>
          <p:nvPr/>
        </p:nvSpPr>
        <p:spPr>
          <a:xfrm>
            <a:off x="594360" y="508000"/>
            <a:ext cx="10972800" cy="889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4000" b="1" i="0" dirty="0">
                <a:solidFill>
                  <a:srgbClr val="0FBF3E"/>
                </a:solidFill>
                <a:latin typeface="Mona Sans"/>
                <a:cs typeface="Mona Sans"/>
              </a:rPr>
              <a:t>Start with one engagement.</a:t>
            </a:r>
          </a:p>
        </p:txBody>
      </p:sp>
      <p:sp>
        <p:nvSpPr>
          <p:cNvPr id="7" name="Step card"/>
          <p:cNvSpPr/>
          <p:nvPr/>
        </p:nvSpPr>
        <p:spPr>
          <a:xfrm>
            <a:off x="594360" y="1778000"/>
            <a:ext cx="3454400" cy="2540000"/>
          </a:xfrm>
          <a:prstGeom prst="rect">
            <a:avLst/>
          </a:prstGeom>
          <a:solidFill>
            <a:srgbClr val="232925"/>
          </a:solidFill>
          <a:ln>
            <a:noFill/>
          </a:ln>
        </p:spPr>
        <p:txBody>
          <a:bodyPr rtlCol="0" anchor="ctr"/>
          <a:lstStyle/>
          <a:p>
            <a:endParaRPr lang="en-US"/>
          </a:p>
        </p:txBody>
      </p:sp>
      <p:sp>
        <p:nvSpPr>
          <p:cNvPr id="8" name="Step accent"/>
          <p:cNvSpPr/>
          <p:nvPr/>
        </p:nvSpPr>
        <p:spPr>
          <a:xfrm>
            <a:off x="594360" y="1778000"/>
            <a:ext cx="3454400" cy="50800"/>
          </a:xfrm>
          <a:prstGeom prst="rect">
            <a:avLst/>
          </a:prstGeom>
          <a:solidFill>
            <a:srgbClr val="0FBF3E"/>
          </a:solidFill>
          <a:ln>
            <a:noFill/>
          </a:ln>
        </p:spPr>
        <p:txBody>
          <a:bodyPr rtlCol="0" anchor="ctr"/>
          <a:lstStyle/>
          <a:p>
            <a:endParaRPr lang="en-US"/>
          </a:p>
        </p:txBody>
      </p:sp>
      <p:sp>
        <p:nvSpPr>
          <p:cNvPr id="9" name="Step number"/>
          <p:cNvSpPr txBox="1"/>
          <p:nvPr/>
        </p:nvSpPr>
        <p:spPr>
          <a:xfrm>
            <a:off x="797560" y="1981200"/>
            <a:ext cx="508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3400" b="1" i="0" dirty="0">
                <a:solidFill>
                  <a:srgbClr val="0FBF3E"/>
                </a:solidFill>
                <a:latin typeface="Mona Sans"/>
                <a:cs typeface="Mona Sans"/>
              </a:rPr>
              <a:t>1</a:t>
            </a:r>
          </a:p>
        </p:txBody>
      </p:sp>
      <p:sp>
        <p:nvSpPr>
          <p:cNvPr id="10" name="Step 1 title"/>
          <p:cNvSpPr txBox="1"/>
          <p:nvPr/>
        </p:nvSpPr>
        <p:spPr>
          <a:xfrm>
            <a:off x="797560" y="2616200"/>
            <a:ext cx="3048000" cy="685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900" b="1" i="0" dirty="0">
                <a:solidFill>
                  <a:srgbClr val="FFFFFF"/>
                </a:solidFill>
                <a:latin typeface="Mona Sans"/>
                <a:cs typeface="Mona Sans"/>
              </a:rPr>
              <a:t>Pick one engagement</a:t>
            </a:r>
          </a:p>
        </p:txBody>
      </p:sp>
      <p:sp>
        <p:nvSpPr>
          <p:cNvPr id="11" name="Step 1 body"/>
          <p:cNvSpPr txBox="1"/>
          <p:nvPr/>
        </p:nvSpPr>
        <p:spPr>
          <a:xfrm>
            <a:off x="797560" y="3276600"/>
            <a:ext cx="3048000" cy="939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1350" b="0" i="0" dirty="0">
                <a:solidFill>
                  <a:srgbClr val="B6BFB8"/>
                </a:solidFill>
                <a:latin typeface="Arial"/>
                <a:cs typeface="Arial"/>
              </a:rPr>
              <a:t>One customer, one outcome question and an account owner who will approve scope.</a:t>
            </a:r>
          </a:p>
        </p:txBody>
      </p:sp>
      <p:sp>
        <p:nvSpPr>
          <p:cNvPr id="12" name="Step card"/>
          <p:cNvSpPr/>
          <p:nvPr/>
        </p:nvSpPr>
        <p:spPr>
          <a:xfrm>
            <a:off x="4353560" y="1778000"/>
            <a:ext cx="3454400" cy="2540000"/>
          </a:xfrm>
          <a:prstGeom prst="rect">
            <a:avLst/>
          </a:prstGeom>
          <a:solidFill>
            <a:srgbClr val="232925"/>
          </a:solidFill>
          <a:ln>
            <a:noFill/>
          </a:ln>
        </p:spPr>
        <p:txBody>
          <a:bodyPr rtlCol="0" anchor="ctr"/>
          <a:lstStyle/>
          <a:p>
            <a:endParaRPr lang="en-US"/>
          </a:p>
        </p:txBody>
      </p:sp>
      <p:sp>
        <p:nvSpPr>
          <p:cNvPr id="13" name="Step accent"/>
          <p:cNvSpPr/>
          <p:nvPr/>
        </p:nvSpPr>
        <p:spPr>
          <a:xfrm>
            <a:off x="4353560" y="1778000"/>
            <a:ext cx="3454400" cy="50800"/>
          </a:xfrm>
          <a:prstGeom prst="rect">
            <a:avLst/>
          </a:prstGeom>
          <a:solidFill>
            <a:srgbClr val="0FBF3E"/>
          </a:solidFill>
          <a:ln>
            <a:noFill/>
          </a:ln>
        </p:spPr>
        <p:txBody>
          <a:bodyPr rtlCol="0" anchor="ctr"/>
          <a:lstStyle/>
          <a:p>
            <a:endParaRPr lang="en-US"/>
          </a:p>
        </p:txBody>
      </p:sp>
      <p:sp>
        <p:nvSpPr>
          <p:cNvPr id="14" name="Step number"/>
          <p:cNvSpPr txBox="1"/>
          <p:nvPr/>
        </p:nvSpPr>
        <p:spPr>
          <a:xfrm>
            <a:off x="4556760" y="1981200"/>
            <a:ext cx="508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3400" b="1" i="0" dirty="0">
                <a:solidFill>
                  <a:srgbClr val="0FBF3E"/>
                </a:solidFill>
                <a:latin typeface="Mona Sans"/>
                <a:cs typeface="Mona Sans"/>
              </a:rPr>
              <a:t>2</a:t>
            </a:r>
          </a:p>
        </p:txBody>
      </p:sp>
      <p:sp>
        <p:nvSpPr>
          <p:cNvPr id="15" name="Step 2 title"/>
          <p:cNvSpPr txBox="1"/>
          <p:nvPr/>
        </p:nvSpPr>
        <p:spPr>
          <a:xfrm>
            <a:off x="4556760" y="2616200"/>
            <a:ext cx="3048000" cy="685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900" b="1" i="0" dirty="0">
                <a:solidFill>
                  <a:srgbClr val="FFFFFF"/>
                </a:solidFill>
                <a:latin typeface="Mona Sans"/>
                <a:cs typeface="Mona Sans"/>
              </a:rPr>
              <a:t>Run the built piece</a:t>
            </a:r>
          </a:p>
        </p:txBody>
      </p:sp>
      <p:sp>
        <p:nvSpPr>
          <p:cNvPr id="16" name="Step 2 body"/>
          <p:cNvSpPr txBox="1"/>
          <p:nvPr/>
        </p:nvSpPr>
        <p:spPr>
          <a:xfrm>
            <a:off x="4556760" y="3276600"/>
            <a:ext cx="3048000" cy="939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1350" b="0" i="0" dirty="0">
                <a:solidFill>
                  <a:srgbClr val="B6BFB8"/>
                </a:solidFill>
                <a:latin typeface="Arial"/>
                <a:cs typeface="Arial"/>
              </a:rPr>
              <a:t>Run /onboard-repo on one approved small repository and review the guide with its owner.</a:t>
            </a:r>
          </a:p>
        </p:txBody>
      </p:sp>
      <p:sp>
        <p:nvSpPr>
          <p:cNvPr id="17" name="Step card"/>
          <p:cNvSpPr/>
          <p:nvPr/>
        </p:nvSpPr>
        <p:spPr>
          <a:xfrm>
            <a:off x="8112760" y="1778000"/>
            <a:ext cx="3454400" cy="2540000"/>
          </a:xfrm>
          <a:prstGeom prst="rect">
            <a:avLst/>
          </a:prstGeom>
          <a:solidFill>
            <a:srgbClr val="232925"/>
          </a:solidFill>
          <a:ln>
            <a:noFill/>
          </a:ln>
        </p:spPr>
        <p:txBody>
          <a:bodyPr rtlCol="0" anchor="ctr"/>
          <a:lstStyle/>
          <a:p>
            <a:endParaRPr lang="en-US"/>
          </a:p>
        </p:txBody>
      </p:sp>
      <p:sp>
        <p:nvSpPr>
          <p:cNvPr id="18" name="Step accent"/>
          <p:cNvSpPr/>
          <p:nvPr/>
        </p:nvSpPr>
        <p:spPr>
          <a:xfrm>
            <a:off x="8112760" y="1778000"/>
            <a:ext cx="3454400" cy="50800"/>
          </a:xfrm>
          <a:prstGeom prst="rect">
            <a:avLst/>
          </a:prstGeom>
          <a:solidFill>
            <a:srgbClr val="0FBF3E"/>
          </a:solidFill>
          <a:ln>
            <a:noFill/>
          </a:ln>
        </p:spPr>
        <p:txBody>
          <a:bodyPr rtlCol="0" anchor="ctr"/>
          <a:lstStyle/>
          <a:p>
            <a:endParaRPr lang="en-US"/>
          </a:p>
        </p:txBody>
      </p:sp>
      <p:sp>
        <p:nvSpPr>
          <p:cNvPr id="19" name="Step number"/>
          <p:cNvSpPr txBox="1"/>
          <p:nvPr/>
        </p:nvSpPr>
        <p:spPr>
          <a:xfrm>
            <a:off x="8315960" y="1981200"/>
            <a:ext cx="5080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3400" b="1" i="0" dirty="0">
                <a:solidFill>
                  <a:srgbClr val="0FBF3E"/>
                </a:solidFill>
                <a:latin typeface="Mona Sans"/>
                <a:cs typeface="Mona Sans"/>
              </a:rPr>
              <a:t>3</a:t>
            </a:r>
          </a:p>
        </p:txBody>
      </p:sp>
      <p:sp>
        <p:nvSpPr>
          <p:cNvPr id="20" name="Step 3 title"/>
          <p:cNvSpPr txBox="1"/>
          <p:nvPr/>
        </p:nvSpPr>
        <p:spPr>
          <a:xfrm>
            <a:off x="8315960" y="2616200"/>
            <a:ext cx="3048000" cy="685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900" b="1" i="0" dirty="0">
                <a:solidFill>
                  <a:srgbClr val="FFFFFF"/>
                </a:solidFill>
                <a:latin typeface="Mona Sans"/>
                <a:cs typeface="Mona Sans"/>
              </a:rPr>
              <a:t>Run the rest by hand</a:t>
            </a:r>
          </a:p>
        </p:txBody>
      </p:sp>
      <p:sp>
        <p:nvSpPr>
          <p:cNvPr id="21" name="Step 3 body"/>
          <p:cNvSpPr txBox="1"/>
          <p:nvPr/>
        </p:nvSpPr>
        <p:spPr>
          <a:xfrm>
            <a:off x="8315960" y="3276600"/>
            <a:ext cx="3048000" cy="939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1350" b="0" i="0" dirty="0">
                <a:solidFill>
                  <a:srgbClr val="B6BFB8"/>
                </a:solidFill>
                <a:latin typeface="Arial"/>
                <a:cs typeface="Arial"/>
              </a:rPr>
              <a:t>Draft the survey and pick a workshop recipe from the building blocks. Measure against a baseline.</a:t>
            </a:r>
          </a:p>
        </p:txBody>
      </p:sp>
      <p:sp>
        <p:nvSpPr>
          <p:cNvPr id="22" name="Ask"/>
          <p:cNvSpPr txBox="1"/>
          <p:nvPr/>
        </p:nvSpPr>
        <p:spPr>
          <a:xfrm>
            <a:off x="594360" y="4648200"/>
            <a:ext cx="10972800" cy="3810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2000" b="0" i="0" dirty="0">
                <a:solidFill>
                  <a:srgbClr val="FFFFFF"/>
                </a:solidFill>
                <a:latin typeface="Arial"/>
                <a:cs typeface="Arial"/>
              </a:rPr>
              <a:t>The ask: one account team, one engagement, one pilot owner.</a:t>
            </a:r>
          </a:p>
        </p:txBody>
      </p:sp>
      <p:sp>
        <p:nvSpPr>
          <p:cNvPr id="23" name="Links"/>
          <p:cNvSpPr txBox="1"/>
          <p:nvPr/>
        </p:nvSpPr>
        <p:spPr>
          <a:xfrm>
            <a:off x="594360" y="5207000"/>
            <a:ext cx="10972800" cy="5588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400" b="0" i="0" dirty="0">
                <a:solidFill>
                  <a:srgbClr val="B6BFB8"/>
                </a:solidFill>
                <a:latin typeface="Arial"/>
                <a:cs typeface="Arial"/>
              </a:rPr>
              <a:t>Repository: github.com/eltyagi/bearingV2. Install and use: plugins/bearing/README.md.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Footer rule"/>
          <p:cNvSpPr/>
          <p:nvPr/>
        </p:nvSpPr>
        <p:spPr>
          <a:xfrm>
            <a:off x="594360" y="6327648"/>
            <a:ext cx="10972800" cy="10922"/>
          </a:xfrm>
          <a:prstGeom prst="rect">
            <a:avLst/>
          </a:prstGeom>
          <a:solidFill>
            <a:srgbClr val="E4EBE6"/>
          </a:solidFill>
          <a:ln>
            <a:noFill/>
          </a:ln>
        </p:spPr>
        <p:txBody>
          <a:bodyPr rtlCol="0" anchor="ctr"/>
          <a:lstStyle/>
          <a:p>
            <a:endParaRPr lang="en-US"/>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txBody>
          <a:bodyPr rtlCol="0" anchor="ctr"/>
          <a:lstStyle/>
          <a:p>
            <a:endParaRPr lang="en-US"/>
          </a:p>
        </p:txBody>
      </p:sp>
      <p:sp>
        <p:nvSpPr>
          <p:cNvPr id="5" name="Footer"/>
          <p:cNvSpPr txBox="1"/>
          <p:nvPr/>
        </p:nvSpPr>
        <p:spPr>
          <a:xfrm>
            <a:off x="914400" y="6428232"/>
            <a:ext cx="7721600" cy="201168"/>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000" b="0" i="0" dirty="0">
                <a:solidFill>
                  <a:srgbClr val="232925"/>
                </a:solidFill>
                <a:latin typeface="Arial"/>
                <a:cs typeface="Arial"/>
              </a:rPr>
              <a:t>Bearing  |  GitHub Copilot App workflow</a:t>
            </a:r>
          </a:p>
        </p:txBody>
      </p:sp>
      <p:sp>
        <p:nvSpPr>
          <p:cNvPr id="46" name="Slide number"/>
          <p:cNvSpPr txBox="1"/>
          <p:nvPr/>
        </p:nvSpPr>
        <p:spPr>
          <a:xfrm>
            <a:off x="10541000" y="6428232"/>
            <a:ext cx="1026160" cy="201168"/>
          </a:xfrm>
          <a:prstGeom prst="rect">
            <a:avLst/>
          </a:prstGeom>
          <a:noFill/>
        </p:spPr>
        <p:txBody>
          <a:bodyPr wrap="square" lIns="0" tIns="0" rIns="0" bIns="0" anchor="t">
            <a:noAutofit/>
          </a:bodyPr>
          <a:lstStyle/>
          <a:p>
            <a:pPr algn="r">
              <a:lnSpc>
                <a:spcPct val="100000"/>
              </a:lnSpc>
              <a:spcBef>
                <a:spcPts val="0"/>
              </a:spcBef>
              <a:spcAft>
                <a:spcPts val="0"/>
              </a:spcAft>
              <a:buNone/>
            </a:pPr>
            <a:r>
              <a:rPr lang="en-US" sz="1000" b="0" i="0" dirty="0">
                <a:solidFill>
                  <a:srgbClr val="232925"/>
                </a:solidFill>
                <a:latin typeface="Arial"/>
                <a:cs typeface="Arial"/>
              </a:rPr>
              <a:t>15 / 15</a:t>
            </a:r>
          </a:p>
        </p:txBody>
      </p:sp>
      <p:sp>
        <p:nvSpPr>
          <p:cNvPr id="6" name="Source and legend"/>
          <p:cNvSpPr txBox="1"/>
          <p:nvPr/>
        </p:nvSpPr>
        <p:spPr>
          <a:xfrm>
            <a:off x="594360" y="6070600"/>
            <a:ext cx="10972800" cy="190500"/>
          </a:xfrm>
          <a:prstGeom prst="rect">
            <a:avLst/>
          </a:prstGeom>
          <a:noFill/>
          <a:ln>
            <a:noFill/>
          </a:ln>
        </p:spPr>
        <p:txBody>
          <a:bodyPr wrap="square" lIns="0" tIns="0" rIns="0" bIns="0" anchor="b">
            <a:noAutofit/>
          </a:bodyPr>
          <a:lstStyle/>
          <a:p>
            <a:pPr algn="l">
              <a:lnSpc>
                <a:spcPct val="100000"/>
              </a:lnSpc>
              <a:spcBef>
                <a:spcPts val="0"/>
              </a:spcBef>
              <a:spcAft>
                <a:spcPts val="0"/>
              </a:spcAft>
              <a:buNone/>
            </a:pPr>
            <a:r>
              <a:rPr lang="en-US" sz="1000" b="0" i="0" dirty="0">
                <a:solidFill>
                  <a:srgbClr val="5C665F"/>
                </a:solidFill>
                <a:latin typeface="Arial"/>
                <a:cs typeface="Arial"/>
              </a:rPr>
              <a:t>Full list with methods and what each source does not show: submission/fde-evidence.md. All sources accessed 2026-10-07.</a:t>
            </a:r>
          </a:p>
        </p:txBody>
      </p:sp>
      <p:sp>
        <p:nvSpPr>
          <p:cNvPr id="7" name="Title"/>
          <p:cNvSpPr txBox="1"/>
          <p:nvPr/>
        </p:nvSpPr>
        <p:spPr>
          <a:xfrm>
            <a:off x="594360" y="431800"/>
            <a:ext cx="10972800" cy="1066800"/>
          </a:xfrm>
          <a:prstGeom prst="rect">
            <a:avLst/>
          </a:prstGeom>
          <a:noFill/>
          <a:ln>
            <a:noFill/>
          </a:ln>
        </p:spPr>
        <p:txBody>
          <a:bodyPr wrap="square" lIns="0" tIns="0" rIns="0" bIns="0" anchor="t">
            <a:noAutofit/>
          </a:bodyPr>
          <a:lstStyle/>
          <a:p>
            <a:pPr algn="l">
              <a:lnSpc>
                <a:spcPct val="105000"/>
              </a:lnSpc>
              <a:spcBef>
                <a:spcPts val="0"/>
              </a:spcBef>
              <a:spcAft>
                <a:spcPts val="0"/>
              </a:spcAft>
              <a:buNone/>
            </a:pPr>
            <a:r>
              <a:rPr lang="en-US" sz="3000" b="1" i="0" dirty="0">
                <a:solidFill>
                  <a:srgbClr val="101411"/>
                </a:solidFill>
                <a:latin typeface="Mona Sans"/>
                <a:cs typeface="Mona Sans"/>
              </a:rPr>
              <a:t>Research, definitions and honest limits.</a:t>
            </a:r>
          </a:p>
        </p:txBody>
      </p:sp>
      <p:sp>
        <p:nvSpPr>
          <p:cNvPr id="8" name="Header row"/>
          <p:cNvSpPr/>
          <p:nvPr/>
        </p:nvSpPr>
        <p:spPr>
          <a:xfrm>
            <a:off x="594360" y="1549400"/>
            <a:ext cx="5588000" cy="355600"/>
          </a:xfrm>
          <a:prstGeom prst="rect">
            <a:avLst/>
          </a:prstGeom>
          <a:solidFill>
            <a:srgbClr val="101411"/>
          </a:solidFill>
          <a:ln>
            <a:noFill/>
          </a:ln>
        </p:spPr>
        <p:txBody>
          <a:bodyPr rtlCol="0" anchor="ctr"/>
          <a:lstStyle/>
          <a:p>
            <a:endParaRPr lang="en-US"/>
          </a:p>
        </p:txBody>
      </p:sp>
      <p:sp>
        <p:nvSpPr>
          <p:cNvPr id="9" name="Header Source"/>
          <p:cNvSpPr txBox="1"/>
          <p:nvPr/>
        </p:nvSpPr>
        <p:spPr>
          <a:xfrm>
            <a:off x="721360" y="1549400"/>
            <a:ext cx="34290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Source</a:t>
            </a:r>
          </a:p>
        </p:txBody>
      </p:sp>
      <p:sp>
        <p:nvSpPr>
          <p:cNvPr id="10" name="Header Evidence strength"/>
          <p:cNvSpPr txBox="1"/>
          <p:nvPr/>
        </p:nvSpPr>
        <p:spPr>
          <a:xfrm>
            <a:off x="4328160" y="1549400"/>
            <a:ext cx="1803400" cy="3556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00" b="1" i="0" dirty="0">
                <a:solidFill>
                  <a:srgbClr val="FFFFFF"/>
                </a:solidFill>
                <a:latin typeface="Arial"/>
                <a:cs typeface="Arial"/>
              </a:rPr>
              <a:t>Evidence strength</a:t>
            </a:r>
          </a:p>
        </p:txBody>
      </p:sp>
      <p:sp>
        <p:nvSpPr>
          <p:cNvPr id="11" name="Cell r1c1"/>
          <p:cNvSpPr txBox="1"/>
          <p:nvPr/>
        </p:nvSpPr>
        <p:spPr>
          <a:xfrm>
            <a:off x="721360" y="19431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BCG, Oct 2025 (1,250 executives)</a:t>
            </a:r>
          </a:p>
        </p:txBody>
      </p:sp>
      <p:sp>
        <p:nvSpPr>
          <p:cNvPr id="12" name="Cell r1c2"/>
          <p:cNvSpPr txBox="1"/>
          <p:nvPr/>
        </p:nvSpPr>
        <p:spPr>
          <a:xfrm>
            <a:off x="4328160" y="19431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Large survey</a:t>
            </a:r>
          </a:p>
        </p:txBody>
      </p:sp>
      <p:sp>
        <p:nvSpPr>
          <p:cNvPr id="13" name="Row rule"/>
          <p:cNvSpPr/>
          <p:nvPr/>
        </p:nvSpPr>
        <p:spPr>
          <a:xfrm>
            <a:off x="594360" y="2381250"/>
            <a:ext cx="5588000" cy="10922"/>
          </a:xfrm>
          <a:prstGeom prst="rect">
            <a:avLst/>
          </a:prstGeom>
          <a:solidFill>
            <a:srgbClr val="E4EBE6"/>
          </a:solidFill>
          <a:ln>
            <a:noFill/>
          </a:ln>
        </p:spPr>
        <p:txBody>
          <a:bodyPr rtlCol="0" anchor="ctr"/>
          <a:lstStyle/>
          <a:p>
            <a:endParaRPr lang="en-US"/>
          </a:p>
        </p:txBody>
      </p:sp>
      <p:sp>
        <p:nvSpPr>
          <p:cNvPr id="14" name="Cell r2c1"/>
          <p:cNvSpPr txBox="1"/>
          <p:nvPr/>
        </p:nvSpPr>
        <p:spPr>
          <a:xfrm>
            <a:off x="721360" y="24257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IBM CEO study, May 2025 (2,000 CEOs)</a:t>
            </a:r>
          </a:p>
        </p:txBody>
      </p:sp>
      <p:sp>
        <p:nvSpPr>
          <p:cNvPr id="15" name="Cell r2c2"/>
          <p:cNvSpPr txBox="1"/>
          <p:nvPr/>
        </p:nvSpPr>
        <p:spPr>
          <a:xfrm>
            <a:off x="4328160" y="24257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Large survey</a:t>
            </a:r>
          </a:p>
        </p:txBody>
      </p:sp>
      <p:sp>
        <p:nvSpPr>
          <p:cNvPr id="16" name="Row rule"/>
          <p:cNvSpPr/>
          <p:nvPr/>
        </p:nvSpPr>
        <p:spPr>
          <a:xfrm>
            <a:off x="594360" y="2863850"/>
            <a:ext cx="5588000" cy="10922"/>
          </a:xfrm>
          <a:prstGeom prst="rect">
            <a:avLst/>
          </a:prstGeom>
          <a:solidFill>
            <a:srgbClr val="E4EBE6"/>
          </a:solidFill>
          <a:ln>
            <a:noFill/>
          </a:ln>
        </p:spPr>
        <p:txBody>
          <a:bodyPr rtlCol="0" anchor="ctr"/>
          <a:lstStyle/>
          <a:p>
            <a:endParaRPr lang="en-US"/>
          </a:p>
        </p:txBody>
      </p:sp>
      <p:sp>
        <p:nvSpPr>
          <p:cNvPr id="17" name="Cell r3c1"/>
          <p:cNvSpPr txBox="1"/>
          <p:nvPr/>
        </p:nvSpPr>
        <p:spPr>
          <a:xfrm>
            <a:off x="721360" y="29083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Stack Overflow, Jul 2025 (33,244)</a:t>
            </a:r>
          </a:p>
        </p:txBody>
      </p:sp>
      <p:sp>
        <p:nvSpPr>
          <p:cNvPr id="18" name="Cell r3c2"/>
          <p:cNvSpPr txBox="1"/>
          <p:nvPr/>
        </p:nvSpPr>
        <p:spPr>
          <a:xfrm>
            <a:off x="4328160" y="29083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Large survey</a:t>
            </a:r>
          </a:p>
        </p:txBody>
      </p:sp>
      <p:sp>
        <p:nvSpPr>
          <p:cNvPr id="19" name="Row rule"/>
          <p:cNvSpPr/>
          <p:nvPr/>
        </p:nvSpPr>
        <p:spPr>
          <a:xfrm>
            <a:off x="594360" y="3346450"/>
            <a:ext cx="5588000" cy="10922"/>
          </a:xfrm>
          <a:prstGeom prst="rect">
            <a:avLst/>
          </a:prstGeom>
          <a:solidFill>
            <a:srgbClr val="E4EBE6"/>
          </a:solidFill>
          <a:ln>
            <a:noFill/>
          </a:ln>
        </p:spPr>
        <p:txBody>
          <a:bodyPr rtlCol="0" anchor="ctr"/>
          <a:lstStyle/>
          <a:p>
            <a:endParaRPr lang="en-US"/>
          </a:p>
        </p:txBody>
      </p:sp>
      <p:sp>
        <p:nvSpPr>
          <p:cNvPr id="20" name="Cell r4c1"/>
          <p:cNvSpPr txBox="1"/>
          <p:nvPr/>
        </p:nvSpPr>
        <p:spPr>
          <a:xfrm>
            <a:off x="721360" y="33909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Gartner, Jun 2025 and Sep 2026</a:t>
            </a:r>
          </a:p>
        </p:txBody>
      </p:sp>
      <p:sp>
        <p:nvSpPr>
          <p:cNvPr id="21" name="Cell r4c2"/>
          <p:cNvSpPr txBox="1"/>
          <p:nvPr/>
        </p:nvSpPr>
        <p:spPr>
          <a:xfrm>
            <a:off x="4328160" y="33909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Analyst forecasts</a:t>
            </a:r>
          </a:p>
        </p:txBody>
      </p:sp>
      <p:sp>
        <p:nvSpPr>
          <p:cNvPr id="22" name="Row rule"/>
          <p:cNvSpPr/>
          <p:nvPr/>
        </p:nvSpPr>
        <p:spPr>
          <a:xfrm>
            <a:off x="594360" y="3829050"/>
            <a:ext cx="5588000" cy="10922"/>
          </a:xfrm>
          <a:prstGeom prst="rect">
            <a:avLst/>
          </a:prstGeom>
          <a:solidFill>
            <a:srgbClr val="E4EBE6"/>
          </a:solidFill>
          <a:ln>
            <a:noFill/>
          </a:ln>
        </p:spPr>
        <p:txBody>
          <a:bodyPr rtlCol="0" anchor="ctr"/>
          <a:lstStyle/>
          <a:p>
            <a:endParaRPr lang="en-US"/>
          </a:p>
        </p:txBody>
      </p:sp>
      <p:sp>
        <p:nvSpPr>
          <p:cNvPr id="23" name="Cell r5c1"/>
          <p:cNvSpPr txBox="1"/>
          <p:nvPr/>
        </p:nvSpPr>
        <p:spPr>
          <a:xfrm>
            <a:off x="721360" y="38735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MIT NANDA, Jul 2025 (52 orgs, 153 leaders)</a:t>
            </a:r>
          </a:p>
        </p:txBody>
      </p:sp>
      <p:sp>
        <p:nvSpPr>
          <p:cNvPr id="24" name="Cell r5c2"/>
          <p:cNvSpPr txBox="1"/>
          <p:nvPr/>
        </p:nvSpPr>
        <p:spPr>
          <a:xfrm>
            <a:off x="4328160" y="38735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Preliminary report</a:t>
            </a:r>
          </a:p>
        </p:txBody>
      </p:sp>
      <p:sp>
        <p:nvSpPr>
          <p:cNvPr id="25" name="Row rule"/>
          <p:cNvSpPr/>
          <p:nvPr/>
        </p:nvSpPr>
        <p:spPr>
          <a:xfrm>
            <a:off x="594360" y="4311650"/>
            <a:ext cx="5588000" cy="10922"/>
          </a:xfrm>
          <a:prstGeom prst="rect">
            <a:avLst/>
          </a:prstGeom>
          <a:solidFill>
            <a:srgbClr val="E4EBE6"/>
          </a:solidFill>
          <a:ln>
            <a:noFill/>
          </a:ln>
        </p:spPr>
        <p:txBody>
          <a:bodyPr rtlCol="0" anchor="ctr"/>
          <a:lstStyle/>
          <a:p>
            <a:endParaRPr lang="en-US"/>
          </a:p>
        </p:txBody>
      </p:sp>
      <p:sp>
        <p:nvSpPr>
          <p:cNvPr id="26" name="Cell r6c1"/>
          <p:cNvSpPr txBox="1"/>
          <p:nvPr/>
        </p:nvSpPr>
        <p:spPr>
          <a:xfrm>
            <a:off x="721360" y="43561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Palantir S-1; a16z; SVPG</a:t>
            </a:r>
          </a:p>
        </p:txBody>
      </p:sp>
      <p:sp>
        <p:nvSpPr>
          <p:cNvPr id="27" name="Cell r6c2"/>
          <p:cNvSpPr txBox="1"/>
          <p:nvPr/>
        </p:nvSpPr>
        <p:spPr>
          <a:xfrm>
            <a:off x="4328160" y="43561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Filing; commentary</a:t>
            </a:r>
          </a:p>
        </p:txBody>
      </p:sp>
      <p:sp>
        <p:nvSpPr>
          <p:cNvPr id="28" name="Row rule"/>
          <p:cNvSpPr/>
          <p:nvPr/>
        </p:nvSpPr>
        <p:spPr>
          <a:xfrm>
            <a:off x="594360" y="4794250"/>
            <a:ext cx="5588000" cy="10922"/>
          </a:xfrm>
          <a:prstGeom prst="rect">
            <a:avLst/>
          </a:prstGeom>
          <a:solidFill>
            <a:srgbClr val="E4EBE6"/>
          </a:solidFill>
          <a:ln>
            <a:noFill/>
          </a:ln>
        </p:spPr>
        <p:txBody>
          <a:bodyPr rtlCol="0" anchor="ctr"/>
          <a:lstStyle/>
          <a:p>
            <a:endParaRPr lang="en-US"/>
          </a:p>
        </p:txBody>
      </p:sp>
      <p:sp>
        <p:nvSpPr>
          <p:cNvPr id="29" name="Cell r7c1"/>
          <p:cNvSpPr txBox="1"/>
          <p:nvPr/>
        </p:nvSpPr>
        <p:spPr>
          <a:xfrm>
            <a:off x="721360" y="48387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Indeed index via Business Insider</a:t>
            </a:r>
          </a:p>
        </p:txBody>
      </p:sp>
      <p:sp>
        <p:nvSpPr>
          <p:cNvPr id="30" name="Cell r7c2"/>
          <p:cNvSpPr txBox="1"/>
          <p:nvPr/>
        </p:nvSpPr>
        <p:spPr>
          <a:xfrm>
            <a:off x="4328160" y="48387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Job-posting index</a:t>
            </a:r>
          </a:p>
        </p:txBody>
      </p:sp>
      <p:sp>
        <p:nvSpPr>
          <p:cNvPr id="31" name="Row rule"/>
          <p:cNvSpPr/>
          <p:nvPr/>
        </p:nvSpPr>
        <p:spPr>
          <a:xfrm>
            <a:off x="594360" y="5276850"/>
            <a:ext cx="5588000" cy="10922"/>
          </a:xfrm>
          <a:prstGeom prst="rect">
            <a:avLst/>
          </a:prstGeom>
          <a:solidFill>
            <a:srgbClr val="E4EBE6"/>
          </a:solidFill>
          <a:ln>
            <a:noFill/>
          </a:ln>
        </p:spPr>
        <p:txBody>
          <a:bodyPr rtlCol="0" anchor="ctr"/>
          <a:lstStyle/>
          <a:p>
            <a:endParaRPr lang="en-US"/>
          </a:p>
        </p:txBody>
      </p:sp>
      <p:sp>
        <p:nvSpPr>
          <p:cNvPr id="32" name="Cell r8c1"/>
          <p:cNvSpPr txBox="1"/>
          <p:nvPr/>
        </p:nvSpPr>
        <p:spPr>
          <a:xfrm>
            <a:off x="721360" y="5321300"/>
            <a:ext cx="34036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101411"/>
                </a:solidFill>
                <a:latin typeface="Arial"/>
                <a:cs typeface="Arial"/>
              </a:rPr>
              <a:t>GitHub Docs: private Pages access</a:t>
            </a:r>
          </a:p>
        </p:txBody>
      </p:sp>
      <p:sp>
        <p:nvSpPr>
          <p:cNvPr id="33" name="Cell r8c2"/>
          <p:cNvSpPr txBox="1"/>
          <p:nvPr/>
        </p:nvSpPr>
        <p:spPr>
          <a:xfrm>
            <a:off x="4328160" y="5321300"/>
            <a:ext cx="1778000" cy="406400"/>
          </a:xfrm>
          <a:prstGeom prst="rect">
            <a:avLst/>
          </a:prstGeom>
          <a:noFill/>
          <a:ln>
            <a:noFill/>
          </a:ln>
        </p:spPr>
        <p:txBody>
          <a:bodyPr wrap="square" lIns="0" tIns="0" rIns="0" bIns="0" anchor="ctr">
            <a:noAutofit/>
          </a:bodyPr>
          <a:lstStyle/>
          <a:p>
            <a:pPr algn="l">
              <a:lnSpc>
                <a:spcPct val="100000"/>
              </a:lnSpc>
              <a:spcBef>
                <a:spcPts val="0"/>
              </a:spcBef>
              <a:spcAft>
                <a:spcPts val="0"/>
              </a:spcAft>
              <a:buNone/>
            </a:pPr>
            <a:r>
              <a:rPr lang="en-US" sz="1350" b="0" i="0" dirty="0">
                <a:solidFill>
                  <a:srgbClr val="232925"/>
                </a:solidFill>
                <a:latin typeface="Arial"/>
                <a:cs typeface="Arial"/>
              </a:rPr>
              <a:t>Documentation</a:t>
            </a:r>
          </a:p>
        </p:txBody>
      </p:sp>
      <p:sp>
        <p:nvSpPr>
          <p:cNvPr id="34" name="Row rule"/>
          <p:cNvSpPr/>
          <p:nvPr/>
        </p:nvSpPr>
        <p:spPr>
          <a:xfrm>
            <a:off x="594360" y="5759450"/>
            <a:ext cx="5588000" cy="10922"/>
          </a:xfrm>
          <a:prstGeom prst="rect">
            <a:avLst/>
          </a:prstGeom>
          <a:solidFill>
            <a:srgbClr val="E4EBE6"/>
          </a:solidFill>
          <a:ln>
            <a:noFill/>
          </a:ln>
        </p:spPr>
        <p:txBody>
          <a:bodyPr rtlCol="0" anchor="ctr"/>
          <a:lstStyle/>
          <a:p>
            <a:endParaRPr lang="en-US"/>
          </a:p>
        </p:txBody>
      </p:sp>
      <p:sp>
        <p:nvSpPr>
          <p:cNvPr id="35" name="Tags title"/>
          <p:cNvSpPr txBox="1"/>
          <p:nvPr/>
        </p:nvSpPr>
        <p:spPr>
          <a:xfrm>
            <a:off x="6563360" y="1498600"/>
            <a:ext cx="50038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Status tags</a:t>
            </a:r>
          </a:p>
        </p:txBody>
      </p:sp>
      <p:sp>
        <p:nvSpPr>
          <p:cNvPr id="36" name="Tag Prototype"/>
          <p:cNvSpPr txBox="1"/>
          <p:nvPr/>
        </p:nvSpPr>
        <p:spPr>
          <a:xfrm>
            <a:off x="6563360" y="1917700"/>
            <a:ext cx="1066800" cy="274320"/>
          </a:xfrm>
          <a:prstGeom prst="roundRect">
            <a:avLst>
              <a:gd name="adj" fmla="val 22000"/>
            </a:avLst>
          </a:prstGeom>
          <a:solidFill>
            <a:srgbClr val="08872B"/>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Prototype</a:t>
            </a:r>
          </a:p>
        </p:txBody>
      </p:sp>
      <p:sp>
        <p:nvSpPr>
          <p:cNvPr id="37" name="Prototype definition"/>
          <p:cNvSpPr txBox="1"/>
          <p:nvPr/>
        </p:nvSpPr>
        <p:spPr>
          <a:xfrm>
            <a:off x="7782560" y="1854200"/>
            <a:ext cx="3784600" cy="406400"/>
          </a:xfrm>
          <a:prstGeom prst="rect">
            <a:avLst/>
          </a:prstGeom>
          <a:noFill/>
          <a:ln>
            <a:noFill/>
          </a:ln>
        </p:spPr>
        <p:txBody>
          <a:bodyPr wrap="square" lIns="0" tIns="0" rIns="0" bIns="0" anchor="ctr">
            <a:noAutofit/>
          </a:bodyPr>
          <a:lstStyle/>
          <a:p>
            <a:pPr algn="l">
              <a:lnSpc>
                <a:spcPct val="96000"/>
              </a:lnSpc>
              <a:spcBef>
                <a:spcPts val="0"/>
              </a:spcBef>
              <a:spcAft>
                <a:spcPts val="0"/>
              </a:spcAft>
              <a:buNone/>
            </a:pPr>
            <a:r>
              <a:rPr lang="en-US" sz="1350" b="0" i="0" dirty="0">
                <a:solidFill>
                  <a:srgbClr val="232925"/>
                </a:solidFill>
                <a:latin typeface="Arial"/>
                <a:cs typeface="Arial"/>
              </a:rPr>
              <a:t>Built and runnable in this repo.</a:t>
            </a:r>
          </a:p>
        </p:txBody>
      </p:sp>
      <p:sp>
        <p:nvSpPr>
          <p:cNvPr id="38" name="Tag Emerging"/>
          <p:cNvSpPr txBox="1"/>
          <p:nvPr/>
        </p:nvSpPr>
        <p:spPr>
          <a:xfrm>
            <a:off x="6563360" y="2374900"/>
            <a:ext cx="1066800" cy="274320"/>
          </a:xfrm>
          <a:prstGeom prst="roundRect">
            <a:avLst>
              <a:gd name="adj" fmla="val 22000"/>
            </a:avLst>
          </a:prstGeom>
          <a:solidFill>
            <a:srgbClr val="101411"/>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Emerging</a:t>
            </a:r>
          </a:p>
        </p:txBody>
      </p:sp>
      <p:sp>
        <p:nvSpPr>
          <p:cNvPr id="39" name="Emerging definition"/>
          <p:cNvSpPr txBox="1"/>
          <p:nvPr/>
        </p:nvSpPr>
        <p:spPr>
          <a:xfrm>
            <a:off x="7782560" y="2311400"/>
            <a:ext cx="3784600" cy="406400"/>
          </a:xfrm>
          <a:prstGeom prst="rect">
            <a:avLst/>
          </a:prstGeom>
          <a:noFill/>
          <a:ln>
            <a:noFill/>
          </a:ln>
        </p:spPr>
        <p:txBody>
          <a:bodyPr wrap="square" lIns="0" tIns="0" rIns="0" bIns="0" anchor="ctr">
            <a:noAutofit/>
          </a:bodyPr>
          <a:lstStyle/>
          <a:p>
            <a:pPr algn="l">
              <a:lnSpc>
                <a:spcPct val="96000"/>
              </a:lnSpc>
              <a:spcBef>
                <a:spcPts val="0"/>
              </a:spcBef>
              <a:spcAft>
                <a:spcPts val="0"/>
              </a:spcAft>
              <a:buNone/>
            </a:pPr>
            <a:r>
              <a:rPr lang="en-US" sz="1350" b="0" i="0" dirty="0">
                <a:solidFill>
                  <a:srgbClr val="232925"/>
                </a:solidFill>
                <a:latin typeface="Arial"/>
                <a:cs typeface="Arial"/>
              </a:rPr>
              <a:t>A document or design; not validated or automated.</a:t>
            </a:r>
          </a:p>
        </p:txBody>
      </p:sp>
      <p:sp>
        <p:nvSpPr>
          <p:cNvPr id="40" name="Tag Proposed"/>
          <p:cNvSpPr txBox="1"/>
          <p:nvPr/>
        </p:nvSpPr>
        <p:spPr>
          <a:xfrm>
            <a:off x="6563360" y="2832100"/>
            <a:ext cx="1066800" cy="274320"/>
          </a:xfrm>
          <a:prstGeom prst="roundRect">
            <a:avLst>
              <a:gd name="adj" fmla="val 22000"/>
            </a:avLst>
          </a:prstGeom>
          <a:solidFill>
            <a:srgbClr val="8534F3"/>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Proposed</a:t>
            </a:r>
          </a:p>
        </p:txBody>
      </p:sp>
      <p:sp>
        <p:nvSpPr>
          <p:cNvPr id="41" name="Proposed definition"/>
          <p:cNvSpPr txBox="1"/>
          <p:nvPr/>
        </p:nvSpPr>
        <p:spPr>
          <a:xfrm>
            <a:off x="7782560" y="2768600"/>
            <a:ext cx="3784600" cy="406400"/>
          </a:xfrm>
          <a:prstGeom prst="rect">
            <a:avLst/>
          </a:prstGeom>
          <a:noFill/>
          <a:ln>
            <a:noFill/>
          </a:ln>
        </p:spPr>
        <p:txBody>
          <a:bodyPr wrap="square" lIns="0" tIns="0" rIns="0" bIns="0" anchor="ctr">
            <a:noAutofit/>
          </a:bodyPr>
          <a:lstStyle/>
          <a:p>
            <a:pPr algn="l">
              <a:lnSpc>
                <a:spcPct val="96000"/>
              </a:lnSpc>
              <a:spcBef>
                <a:spcPts val="0"/>
              </a:spcBef>
              <a:spcAft>
                <a:spcPts val="0"/>
              </a:spcAft>
              <a:buNone/>
            </a:pPr>
            <a:r>
              <a:rPr lang="en-US" sz="1350" b="0" i="0" dirty="0">
                <a:solidFill>
                  <a:srgbClr val="232925"/>
                </a:solidFill>
                <a:latin typeface="Arial"/>
                <a:cs typeface="Arial"/>
              </a:rPr>
              <a:t>Not built.</a:t>
            </a:r>
          </a:p>
        </p:txBody>
      </p:sp>
      <p:sp>
        <p:nvSpPr>
          <p:cNvPr id="42" name="Tag Illustrative"/>
          <p:cNvSpPr txBox="1"/>
          <p:nvPr/>
        </p:nvSpPr>
        <p:spPr>
          <a:xfrm>
            <a:off x="6563360" y="3289300"/>
            <a:ext cx="1066800" cy="274320"/>
          </a:xfrm>
          <a:prstGeom prst="roundRect">
            <a:avLst>
              <a:gd name="adj" fmla="val 22000"/>
            </a:avLst>
          </a:prstGeom>
          <a:solidFill>
            <a:srgbClr val="9A5B00"/>
          </a:solidFill>
          <a:ln>
            <a:noFill/>
          </a:ln>
        </p:spPr>
        <p:txBody>
          <a:bodyPr wrap="square" lIns="0" tIns="0" rIns="0" bIns="0" anchor="ctr">
            <a:noAutofit/>
          </a:bodyPr>
          <a:lstStyle/>
          <a:p>
            <a:pPr algn="ctr">
              <a:lnSpc>
                <a:spcPct val="100000"/>
              </a:lnSpc>
              <a:spcBef>
                <a:spcPts val="0"/>
              </a:spcBef>
              <a:spcAft>
                <a:spcPts val="0"/>
              </a:spcAft>
              <a:buNone/>
            </a:pPr>
            <a:r>
              <a:rPr lang="en-US" sz="1100" b="1" i="0" dirty="0">
                <a:solidFill>
                  <a:srgbClr val="FFFFFF"/>
                </a:solidFill>
                <a:latin typeface="Arial"/>
                <a:cs typeface="Arial"/>
              </a:rPr>
              <a:t>Illustrative</a:t>
            </a:r>
          </a:p>
        </p:txBody>
      </p:sp>
      <p:sp>
        <p:nvSpPr>
          <p:cNvPr id="43" name="Illustrative definition"/>
          <p:cNvSpPr txBox="1"/>
          <p:nvPr/>
        </p:nvSpPr>
        <p:spPr>
          <a:xfrm>
            <a:off x="7782560" y="3225800"/>
            <a:ext cx="3784600" cy="406400"/>
          </a:xfrm>
          <a:prstGeom prst="rect">
            <a:avLst/>
          </a:prstGeom>
          <a:noFill/>
          <a:ln>
            <a:noFill/>
          </a:ln>
        </p:spPr>
        <p:txBody>
          <a:bodyPr wrap="square" lIns="0" tIns="0" rIns="0" bIns="0" anchor="ctr">
            <a:noAutofit/>
          </a:bodyPr>
          <a:lstStyle/>
          <a:p>
            <a:pPr algn="l">
              <a:lnSpc>
                <a:spcPct val="96000"/>
              </a:lnSpc>
              <a:spcBef>
                <a:spcPts val="0"/>
              </a:spcBef>
              <a:spcAft>
                <a:spcPts val="0"/>
              </a:spcAft>
              <a:buNone/>
            </a:pPr>
            <a:r>
              <a:rPr lang="en-US" sz="1350" b="0" i="0" dirty="0">
                <a:solidFill>
                  <a:srgbClr val="232925"/>
                </a:solidFill>
                <a:latin typeface="Arial"/>
                <a:cs typeface="Arial"/>
              </a:rPr>
              <a:t>Invented example, not a real customer.</a:t>
            </a:r>
          </a:p>
        </p:txBody>
      </p:sp>
      <p:sp>
        <p:nvSpPr>
          <p:cNvPr id="44" name="Limits title"/>
          <p:cNvSpPr txBox="1"/>
          <p:nvPr/>
        </p:nvSpPr>
        <p:spPr>
          <a:xfrm>
            <a:off x="6563360" y="3886200"/>
            <a:ext cx="5003800" cy="279400"/>
          </a:xfrm>
          <a:prstGeom prst="rect">
            <a:avLst/>
          </a:prstGeom>
          <a:noFill/>
          <a:ln>
            <a:noFill/>
          </a:ln>
        </p:spPr>
        <p:txBody>
          <a:bodyPr wrap="square" lIns="0" tIns="0" rIns="0" bIns="0" anchor="t">
            <a:noAutofit/>
          </a:bodyPr>
          <a:lstStyle/>
          <a:p>
            <a:pPr algn="l">
              <a:lnSpc>
                <a:spcPct val="100000"/>
              </a:lnSpc>
              <a:spcBef>
                <a:spcPts val="0"/>
              </a:spcBef>
              <a:spcAft>
                <a:spcPts val="0"/>
              </a:spcAft>
              <a:buNone/>
            </a:pPr>
            <a:r>
              <a:rPr lang="en-US" sz="1500" b="1" i="0" dirty="0">
                <a:solidFill>
                  <a:srgbClr val="101411"/>
                </a:solidFill>
                <a:latin typeface="Mona Sans"/>
                <a:cs typeface="Mona Sans"/>
              </a:rPr>
              <a:t>Honest limits</a:t>
            </a:r>
          </a:p>
        </p:txBody>
      </p:sp>
      <p:sp>
        <p:nvSpPr>
          <p:cNvPr id="45" name="Limits"/>
          <p:cNvSpPr txBox="1"/>
          <p:nvPr/>
        </p:nvSpPr>
        <p:spPr>
          <a:xfrm>
            <a:off x="6563360" y="4241800"/>
            <a:ext cx="5003800" cy="1625600"/>
          </a:xfrm>
          <a:prstGeom prst="rect">
            <a:avLst/>
          </a:prstGeom>
          <a:noFill/>
          <a:ln>
            <a:noFill/>
          </a:ln>
        </p:spPr>
        <p:txBody>
          <a:bodyPr wrap="square" lIns="0" tIns="0" rIns="0" bIns="0" anchor="t">
            <a:noAutofit/>
          </a:bodyPr>
          <a:lstStyle/>
          <a:p>
            <a:pPr algn="l" marL="188595" indent="-188595">
              <a:lnSpc>
                <a:spcPct val="100000"/>
              </a:lnSpc>
              <a:spcBef>
                <a:spcPts val="0"/>
              </a:spcBef>
              <a:spcAft>
                <a:spcPts val="500"/>
              </a:spcAft>
              <a:buClr>
                <a:srgbClr val="08872B"/>
              </a:buClr>
              <a:buFont typeface="Arial"/>
              <a:buChar char="■"/>
            </a:pPr>
            <a:r>
              <a:rPr lang="en-US" sz="1350" b="0" i="0" dirty="0">
                <a:solidFill>
                  <a:srgbClr val="232925"/>
                </a:solidFill>
                <a:latin typeface="Arial"/>
                <a:cs typeface="Arial"/>
              </a:rPr>
              <a:t>No rigorous study of FDE effectiveness was found.</a:t>
            </a:r>
          </a:p>
          <a:p>
            <a:pPr algn="l" marL="188595" indent="-188595">
              <a:lnSpc>
                <a:spcPct val="100000"/>
              </a:lnSpc>
              <a:spcBef>
                <a:spcPts val="0"/>
              </a:spcBef>
              <a:spcAft>
                <a:spcPts val="500"/>
              </a:spcAft>
              <a:buClr>
                <a:srgbClr val="08872B"/>
              </a:buClr>
              <a:buFont typeface="Arial"/>
              <a:buChar char="■"/>
            </a:pPr>
            <a:r>
              <a:rPr lang="en-US" sz="1350" b="0" i="0" dirty="0">
                <a:solidFill>
                  <a:srgbClr val="232925"/>
                </a:solidFill>
                <a:latin typeface="Arial"/>
                <a:cs typeface="Arial"/>
              </a:rPr>
              <a:t>Industry signals are not findings about our customers.</a:t>
            </a:r>
          </a:p>
          <a:p>
            <a:pPr algn="l" marL="188595" indent="-188595">
              <a:lnSpc>
                <a:spcPct val="100000"/>
              </a:lnSpc>
              <a:spcBef>
                <a:spcPts val="0"/>
              </a:spcBef>
              <a:spcAft>
                <a:spcPts val="500"/>
              </a:spcAft>
              <a:buClr>
                <a:srgbClr val="08872B"/>
              </a:buClr>
              <a:buFont typeface="Arial"/>
              <a:buChar char="■"/>
            </a:pPr>
            <a:r>
              <a:rPr lang="en-US" sz="1350" b="0" i="0" dirty="0">
                <a:solidFill>
                  <a:srgbClr val="232925"/>
                </a:solidFill>
                <a:latin typeface="Arial"/>
                <a:cs typeface="Arial"/>
              </a:rPr>
              <a:t>No measured results, savings, telemetry or customer validation.</a:t>
            </a:r>
          </a:p>
          <a:p>
            <a:pPr algn="l" marL="188595" indent="-188595">
              <a:lnSpc>
                <a:spcPct val="100000"/>
              </a:lnSpc>
              <a:spcBef>
                <a:spcPts val="0"/>
              </a:spcBef>
              <a:spcAft>
                <a:spcPts val="500"/>
              </a:spcAft>
              <a:buClr>
                <a:srgbClr val="08872B"/>
              </a:buClr>
              <a:buFont typeface="Arial"/>
              <a:buChar char="■"/>
            </a:pPr>
            <a:r>
              <a:rPr lang="en-US" sz="1350" b="0" i="0" dirty="0">
                <a:solidFill>
                  <a:srgbClr val="232925"/>
                </a:solidFill>
                <a:latin typeface="Arial"/>
                <a:cs typeface="Arial"/>
              </a:rPr>
              <a:t>Path and line checks validate references, not correctness.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FDE as a service</dc:title>
  <dc:subject>A GitHub Copilot App workflow to help field teams move customers from AI adoption to AI outcomes</dc:subject>
  <dc:creator>Bearing</dc:creator>
  <cp:keywords/>
  <dc:description/>
  <cp:lastModifiedBy>Bearing</cp:lastModifiedBy>
  <cp:revision>1</cp:revision>
  <dcterms:created xsi:type="dcterms:W3CDTF">2026-10-07T00:00:00Z</dcterms:created>
  <dcterms:modified xsi:type="dcterms:W3CDTF">2026-10-07T00:00:00Z</dcterms:modified>
  <cp:category/>
</cp:coreProperties>
</file>